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11/6/2022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2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11/6/2022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55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11/6/2022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55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11/6/2022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39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11/6/2022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25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01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12" y="843978"/>
            <a:ext cx="7858175" cy="58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999" y="1676755"/>
            <a:ext cx="7905750" cy="441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40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288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336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384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432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480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528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3576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24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9672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720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5768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16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864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4912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960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008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56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104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52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00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7" y="0"/>
            <a:ext cx="9143" cy="64770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027" y="0"/>
            <a:ext cx="9143" cy="64770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827" y="0"/>
            <a:ext cx="9143" cy="64770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4627" y="0"/>
            <a:ext cx="9143" cy="64770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427" y="0"/>
            <a:ext cx="9143" cy="647700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4227" y="0"/>
            <a:ext cx="9144" cy="6477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9027" y="0"/>
            <a:ext cx="9144" cy="64770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3827" y="0"/>
            <a:ext cx="9144" cy="64770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627" y="0"/>
            <a:ext cx="9144" cy="64770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3427" y="0"/>
            <a:ext cx="9144" cy="647700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48228" y="0"/>
            <a:ext cx="9144" cy="64770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3028" y="0"/>
            <a:ext cx="9144" cy="647700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7828" y="0"/>
            <a:ext cx="9144" cy="64770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2628" y="0"/>
            <a:ext cx="9144" cy="647700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7428" y="0"/>
            <a:ext cx="9144" cy="64770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228" y="0"/>
            <a:ext cx="9144" cy="6477000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7028" y="0"/>
            <a:ext cx="9144" cy="647700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1828" y="0"/>
            <a:ext cx="9144" cy="647700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6628" y="0"/>
            <a:ext cx="9144" cy="6477000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1428" y="0"/>
            <a:ext cx="9144" cy="6477000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6228" y="0"/>
            <a:ext cx="9144" cy="6477000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028" y="0"/>
            <a:ext cx="9144" cy="64770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5828" y="0"/>
            <a:ext cx="9144" cy="6477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0628" y="0"/>
            <a:ext cx="9144" cy="6477000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5428" y="0"/>
            <a:ext cx="9144" cy="6477000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0228" y="0"/>
            <a:ext cx="9144" cy="6477000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5028" y="0"/>
            <a:ext cx="9144" cy="647700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9828" y="0"/>
            <a:ext cx="9144" cy="6477000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628" y="0"/>
            <a:ext cx="9144" cy="6477000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68" name="bg 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030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80746"/>
            <a:ext cx="7767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690" y="1155953"/>
            <a:ext cx="774255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11/6/2022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73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5331153" cy="124392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b="1" spc="-5" dirty="0" smtClean="0"/>
              <a:t>Chaines de Caractères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845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87" y="1214448"/>
            <a:ext cx="7787005" cy="5570855"/>
          </a:xfrm>
          <a:custGeom>
            <a:avLst/>
            <a:gdLst/>
            <a:ahLst/>
            <a:cxnLst/>
            <a:rect l="l" t="t" r="r" b="b"/>
            <a:pathLst>
              <a:path w="7787005" h="5570855">
                <a:moveTo>
                  <a:pt x="7786751" y="0"/>
                </a:moveTo>
                <a:lnTo>
                  <a:pt x="0" y="0"/>
                </a:lnTo>
                <a:lnTo>
                  <a:pt x="0" y="5570728"/>
                </a:lnTo>
                <a:lnTo>
                  <a:pt x="7786751" y="5570728"/>
                </a:lnTo>
                <a:lnTo>
                  <a:pt x="7786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4819" y="1227785"/>
            <a:ext cx="7630795" cy="545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Construire</a:t>
            </a:r>
            <a:r>
              <a:rPr sz="2400" spc="2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r>
              <a:rPr sz="2400" spc="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algorithmes</a:t>
            </a:r>
            <a:r>
              <a:rPr sz="2400" spc="2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</a:t>
            </a:r>
            <a:r>
              <a:rPr sz="2400" spc="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traitent</a:t>
            </a:r>
            <a:r>
              <a:rPr sz="2400" spc="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2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</a:t>
            </a:r>
            <a:r>
              <a:rPr sz="2400" spc="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2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des</a:t>
            </a:r>
            <a:endParaRPr sz="2400">
              <a:latin typeface="Calibri"/>
              <a:cs typeface="Calibri"/>
            </a:endParaRPr>
          </a:p>
          <a:p>
            <a:pPr marL="12700" marR="495300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chaines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Le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type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caractère</a:t>
            </a:r>
            <a:endParaRPr sz="2400">
              <a:latin typeface="Calibri"/>
              <a:cs typeface="Calibri"/>
            </a:endParaRPr>
          </a:p>
          <a:p>
            <a:pPr marL="350520" indent="-338455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351155" algn="l"/>
              </a:tabLst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Définition</a:t>
            </a:r>
            <a:endParaRPr sz="2400">
              <a:latin typeface="Calibri"/>
              <a:cs typeface="Calibri"/>
            </a:endParaRPr>
          </a:p>
          <a:p>
            <a:pPr marL="12700" marR="6350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type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s’applique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tout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de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ASCII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Americain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Standard Code 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for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Information 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Intercharge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).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liste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comprend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923925" lvl="1" indent="-231140">
              <a:lnSpc>
                <a:spcPct val="100000"/>
              </a:lnSpc>
              <a:buChar char="-"/>
              <a:tabLst>
                <a:tab pos="923925" algn="l"/>
                <a:tab pos="92456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lettres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"A".."Z",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"a".."z"</a:t>
            </a:r>
            <a:endParaRPr sz="2400">
              <a:latin typeface="Calibri"/>
              <a:cs typeface="Calibri"/>
            </a:endParaRPr>
          </a:p>
          <a:p>
            <a:pPr marL="923925" lvl="1" indent="-231140">
              <a:lnSpc>
                <a:spcPct val="100000"/>
              </a:lnSpc>
              <a:buChar char="-"/>
              <a:tabLst>
                <a:tab pos="923925" algn="l"/>
                <a:tab pos="92456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chiffres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"0".."9"</a:t>
            </a:r>
            <a:endParaRPr sz="2400">
              <a:latin typeface="Calibri"/>
              <a:cs typeface="Calibri"/>
            </a:endParaRPr>
          </a:p>
          <a:p>
            <a:pPr marL="923925" lvl="1" indent="-231140">
              <a:lnSpc>
                <a:spcPct val="100000"/>
              </a:lnSpc>
              <a:buChar char="-"/>
              <a:tabLst>
                <a:tab pos="923925" algn="l"/>
                <a:tab pos="92456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spéciaux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"/"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;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"*"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;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"?"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"&amp;"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146175" lvl="1" indent="-450215">
              <a:lnSpc>
                <a:spcPct val="100000"/>
              </a:lnSpc>
              <a:spcBef>
                <a:spcPts val="5"/>
              </a:spcBef>
              <a:buChar char="-"/>
              <a:tabLst>
                <a:tab pos="1146175" algn="l"/>
                <a:tab pos="1146810" algn="l"/>
                <a:tab pos="1724025" algn="l"/>
                <a:tab pos="3173095" algn="l"/>
                <a:tab pos="3664585" algn="l"/>
                <a:tab pos="4872990" algn="l"/>
                <a:tab pos="5133975" algn="l"/>
                <a:tab pos="6299835" algn="l"/>
                <a:tab pos="753618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	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è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es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ôl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:	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&lt;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r	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Chari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t&gt;	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&lt;Echap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2700" marR="8255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Chaque</a:t>
            </a:r>
            <a:r>
              <a:rPr sz="2400" spc="20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1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définit</a:t>
            </a:r>
            <a:r>
              <a:rPr sz="2400" spc="2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</a:t>
            </a:r>
            <a:r>
              <a:rPr sz="2400" spc="2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son</a:t>
            </a:r>
            <a:r>
              <a:rPr sz="2400" spc="1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numéro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d’ordre</a:t>
            </a:r>
            <a:r>
              <a:rPr sz="2400" spc="20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unique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compris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0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25.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428650"/>
            <a:ext cx="285750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2800" b="1" spc="-10" dirty="0">
                <a:latin typeface="Calibri"/>
                <a:cs typeface="Calibri"/>
              </a:rPr>
              <a:t>Objectif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74" y="428650"/>
            <a:ext cx="5877560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2800" b="1" spc="-5" dirty="0">
                <a:latin typeface="Calibri"/>
                <a:cs typeface="Calibri"/>
              </a:rPr>
              <a:t>I. </a:t>
            </a:r>
            <a:r>
              <a:rPr sz="2800" b="1" spc="-45" dirty="0">
                <a:latin typeface="Calibri"/>
                <a:cs typeface="Calibri"/>
              </a:rPr>
              <a:t>F</a:t>
            </a:r>
            <a:r>
              <a:rPr sz="2800" b="1" spc="-5" dirty="0">
                <a:latin typeface="Calibri"/>
                <a:cs typeface="Calibri"/>
              </a:rPr>
              <a:t>onction</a:t>
            </a:r>
            <a:r>
              <a:rPr sz="2800" b="1" spc="-225" dirty="0">
                <a:latin typeface="Calibri"/>
                <a:cs typeface="Calibri"/>
              </a:rPr>
              <a:t> </a:t>
            </a:r>
            <a:r>
              <a:rPr sz="2800" b="1" spc="-45" dirty="0">
                <a:latin typeface="Calibri"/>
                <a:cs typeface="Calibri"/>
              </a:rPr>
              <a:t>s</a:t>
            </a:r>
            <a:r>
              <a:rPr sz="2800" b="1" spc="-30" dirty="0">
                <a:latin typeface="Calibri"/>
                <a:cs typeface="Calibri"/>
              </a:rPr>
              <a:t>t</a:t>
            </a:r>
            <a:r>
              <a:rPr sz="2800" b="1" spc="-5" dirty="0">
                <a:latin typeface="Calibri"/>
                <a:cs typeface="Calibri"/>
              </a:rPr>
              <a:t>anda</a:t>
            </a:r>
            <a:r>
              <a:rPr sz="2800" b="1" spc="-45" dirty="0">
                <a:latin typeface="Calibri"/>
                <a:cs typeface="Calibri"/>
              </a:rPr>
              <a:t>r</a:t>
            </a:r>
            <a:r>
              <a:rPr sz="2800" b="1" spc="-5" dirty="0">
                <a:latin typeface="Calibri"/>
                <a:cs typeface="Calibri"/>
              </a:rPr>
              <a:t>ds</a:t>
            </a:r>
            <a:r>
              <a:rPr sz="2800" b="1" spc="-20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sur</a:t>
            </a:r>
            <a:r>
              <a:rPr sz="2800" b="1" spc="-2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les</a:t>
            </a:r>
            <a:r>
              <a:rPr sz="2800" b="1" spc="-2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ca</a:t>
            </a:r>
            <a:r>
              <a:rPr sz="2800" b="1" spc="-70" dirty="0">
                <a:latin typeface="Calibri"/>
                <a:cs typeface="Calibri"/>
              </a:rPr>
              <a:t>r</a:t>
            </a:r>
            <a:r>
              <a:rPr sz="2800" b="1" spc="-5" dirty="0">
                <a:latin typeface="Calibri"/>
                <a:cs typeface="Calibri"/>
              </a:rPr>
              <a:t>ac</a:t>
            </a:r>
            <a:r>
              <a:rPr sz="2800" b="1" spc="-35" dirty="0">
                <a:latin typeface="Calibri"/>
                <a:cs typeface="Calibri"/>
              </a:rPr>
              <a:t>t</a:t>
            </a:r>
            <a:r>
              <a:rPr sz="2800" b="1" spc="-10" dirty="0">
                <a:latin typeface="Calibri"/>
                <a:cs typeface="Calibri"/>
              </a:rPr>
              <a:t>è</a:t>
            </a:r>
            <a:r>
              <a:rPr sz="2800" b="1" spc="-45" dirty="0">
                <a:latin typeface="Calibri"/>
                <a:cs typeface="Calibri"/>
              </a:rPr>
              <a:t>r</a:t>
            </a:r>
            <a:r>
              <a:rPr sz="2800" b="1" spc="-10" dirty="0">
                <a:latin typeface="Calibri"/>
                <a:cs typeface="Calibri"/>
              </a:rPr>
              <a:t>es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4824" y="1347724"/>
          <a:ext cx="8000999" cy="46947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/>
                <a:gridCol w="3615054"/>
                <a:gridCol w="2957195"/>
              </a:tblGrid>
              <a:tr h="61201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Fonction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Rôle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Exemple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66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Asc</a:t>
                      </a:r>
                      <a:r>
                        <a:rPr sz="2400" spc="-6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ASCII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du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r>
                        <a:rPr sz="2400" spc="-7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600" spc="-2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Asc</a:t>
                      </a:r>
                      <a:r>
                        <a:rPr sz="2400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("A")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=&gt;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65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648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Car</a:t>
                      </a:r>
                      <a:r>
                        <a:rPr sz="2400" spc="-6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(i)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4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dont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l’ASCII</a:t>
                      </a:r>
                      <a:r>
                        <a:rPr sz="2400" spc="-6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est</a:t>
                      </a: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égal</a:t>
                      </a:r>
                      <a:r>
                        <a:rPr sz="24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6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Car</a:t>
                      </a:r>
                      <a:r>
                        <a:rPr sz="2400" spc="-4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("65")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=&gt;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4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“A”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66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Succ</a:t>
                      </a:r>
                      <a:r>
                        <a:rPr sz="2400" spc="-7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successeur</a:t>
                      </a: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du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r>
                        <a:rPr sz="2400" spc="-7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6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Succ</a:t>
                      </a:r>
                      <a:r>
                        <a:rPr sz="2400" spc="-4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("a")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=&gt;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“b”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648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Pred</a:t>
                      </a:r>
                      <a:r>
                        <a:rPr sz="2400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4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prédécesseur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du</a:t>
                      </a:r>
                      <a:r>
                        <a:rPr sz="24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r>
                        <a:rPr sz="24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6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Pred</a:t>
                      </a:r>
                      <a:r>
                        <a:rPr sz="2400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("b")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=&gt;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“a”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65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Majus</a:t>
                      </a:r>
                      <a:r>
                        <a:rPr sz="2400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4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majuscule</a:t>
                      </a:r>
                      <a:r>
                        <a:rPr sz="24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du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4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r>
                        <a:rPr sz="2400" spc="-7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600" spc="-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Majus</a:t>
                      </a:r>
                      <a:r>
                        <a:rPr sz="2400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("a")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=&gt;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4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“A”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8274050" y="6345263"/>
            <a:ext cx="311150" cy="311150"/>
            <a:chOff x="8274050" y="6345263"/>
            <a:chExt cx="311150" cy="311150"/>
          </a:xfrm>
        </p:grpSpPr>
        <p:sp>
          <p:nvSpPr>
            <p:cNvPr id="5" name="object 5"/>
            <p:cNvSpPr/>
            <p:nvPr/>
          </p:nvSpPr>
          <p:spPr>
            <a:xfrm>
              <a:off x="8286750" y="6357963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0" y="0"/>
                  </a:lnTo>
                  <a:lnTo>
                    <a:pt x="0" y="285749"/>
                  </a:lnTo>
                  <a:lnTo>
                    <a:pt x="285750" y="285749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86750" y="6357963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49"/>
                  </a:moveTo>
                  <a:lnTo>
                    <a:pt x="285750" y="285749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7224" y="1428750"/>
            <a:ext cx="7858125" cy="5201920"/>
          </a:xfrm>
          <a:custGeom>
            <a:avLst/>
            <a:gdLst/>
            <a:ahLst/>
            <a:cxnLst/>
            <a:rect l="l" t="t" r="r" b="b"/>
            <a:pathLst>
              <a:path w="7858125" h="5201920">
                <a:moveTo>
                  <a:pt x="7858125" y="0"/>
                </a:moveTo>
                <a:lnTo>
                  <a:pt x="0" y="0"/>
                </a:lnTo>
                <a:lnTo>
                  <a:pt x="0" y="5201412"/>
                </a:lnTo>
                <a:lnTo>
                  <a:pt x="7858125" y="5201412"/>
                </a:lnTo>
                <a:lnTo>
                  <a:pt x="7858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6142" y="1442465"/>
            <a:ext cx="7643495" cy="508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algorithme qui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clavier puis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son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prédécesseur,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son successeur et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ASCII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son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équivalent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majuscule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1200"/>
              </a:spcBef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624840" marR="236537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("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Entrer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:")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(c)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pred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(c))</a:t>
            </a:r>
            <a:endParaRPr sz="2400">
              <a:latin typeface="Calibri"/>
              <a:cs typeface="Calibri"/>
            </a:endParaRPr>
          </a:p>
          <a:p>
            <a:pPr marL="624840" marR="450532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succ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(c))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asc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majus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(c))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285750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15" dirty="0"/>
              <a:t>Exemple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4412" y="1142970"/>
            <a:ext cx="7358380" cy="5632450"/>
          </a:xfrm>
          <a:custGeom>
            <a:avLst/>
            <a:gdLst/>
            <a:ahLst/>
            <a:cxnLst/>
            <a:rect l="l" t="t" r="r" b="b"/>
            <a:pathLst>
              <a:path w="7358380" h="5632450">
                <a:moveTo>
                  <a:pt x="7358126" y="0"/>
                </a:moveTo>
                <a:lnTo>
                  <a:pt x="0" y="0"/>
                </a:lnTo>
                <a:lnTo>
                  <a:pt x="0" y="5632323"/>
                </a:lnTo>
                <a:lnTo>
                  <a:pt x="7358126" y="5632323"/>
                </a:lnTo>
                <a:lnTo>
                  <a:pt x="73581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3367" y="1156461"/>
            <a:ext cx="485584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Que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fait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l’algorithme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</a:t>
            </a:r>
            <a:r>
              <a:rPr sz="24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b="1" spc="-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Upcase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c1,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c2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("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Entrer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caractère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:")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lire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(c1)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(asc(c1)&gt;=97)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(asc(c1)&lt;=122)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ts val="2870"/>
              </a:lnSpc>
              <a:spcBef>
                <a:spcPts val="25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c2</a:t>
            </a:r>
            <a:r>
              <a:rPr sz="24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car(asc(c1))-32)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12700" marR="3594735">
              <a:lnSpc>
                <a:spcPct val="99700"/>
              </a:lnSpc>
              <a:spcBef>
                <a:spcPts val="30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c2 </a:t>
            </a:r>
            <a:r>
              <a:rPr sz="24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c1 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FinSi 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1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(c2)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285750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Exercice</a:t>
            </a:r>
            <a:r>
              <a:rPr spc="-70" dirty="0"/>
              <a:t> </a:t>
            </a:r>
            <a:r>
              <a:rPr dirty="0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349" y="1175156"/>
            <a:ext cx="7929880" cy="5540375"/>
          </a:xfrm>
          <a:custGeom>
            <a:avLst/>
            <a:gdLst/>
            <a:ahLst/>
            <a:cxnLst/>
            <a:rect l="l" t="t" r="r" b="b"/>
            <a:pathLst>
              <a:path w="7929880" h="5540375">
                <a:moveTo>
                  <a:pt x="7929626" y="0"/>
                </a:moveTo>
                <a:lnTo>
                  <a:pt x="0" y="0"/>
                </a:lnTo>
                <a:lnTo>
                  <a:pt x="0" y="5539994"/>
                </a:lnTo>
                <a:lnTo>
                  <a:pt x="7929626" y="5539994"/>
                </a:lnTo>
                <a:lnTo>
                  <a:pt x="79296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191" y="1188846"/>
            <a:ext cx="75196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Cet algorithme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puis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équivalent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majuscule.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Exercice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 marR="32321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algorithme qui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table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ASCII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des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lettres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minuscules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sous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forme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suivante</a:t>
            </a:r>
            <a:r>
              <a:rPr sz="24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1750" y="4571949"/>
            <a:ext cx="3786504" cy="1643380"/>
          </a:xfrm>
          <a:prstGeom prst="rect">
            <a:avLst/>
          </a:prstGeom>
          <a:solidFill>
            <a:srgbClr val="FFFFFF"/>
          </a:solidFill>
          <a:ln w="25400">
            <a:solidFill>
              <a:srgbClr val="385D89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358775" marR="349250" algn="ctr">
              <a:lnSpc>
                <a:spcPct val="100000"/>
              </a:lnSpc>
              <a:spcBef>
                <a:spcPts val="56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ASCII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97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ASCII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98</a:t>
            </a:r>
            <a:endParaRPr sz="2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ASCII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z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122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285750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Exercice</a:t>
            </a:r>
            <a:r>
              <a:rPr spc="-70" dirty="0"/>
              <a:t> </a:t>
            </a:r>
            <a:r>
              <a:rPr dirty="0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133371"/>
            <a:ext cx="7715250" cy="5725160"/>
          </a:xfrm>
          <a:custGeom>
            <a:avLst/>
            <a:gdLst/>
            <a:ahLst/>
            <a:cxnLst/>
            <a:rect l="l" t="t" r="r" b="b"/>
            <a:pathLst>
              <a:path w="7715250" h="5725159">
                <a:moveTo>
                  <a:pt x="7715250" y="0"/>
                </a:moveTo>
                <a:lnTo>
                  <a:pt x="0" y="0"/>
                </a:lnTo>
                <a:lnTo>
                  <a:pt x="0" y="5724652"/>
                </a:lnTo>
                <a:lnTo>
                  <a:pt x="7715250" y="5724652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994268"/>
            <a:ext cx="7319009" cy="568134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table_minus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Pour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"a"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"z"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faire</a:t>
            </a:r>
            <a:endParaRPr sz="2400">
              <a:latin typeface="Calibri"/>
              <a:cs typeface="Calibri"/>
            </a:endParaRPr>
          </a:p>
          <a:p>
            <a:pPr marL="69405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("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ASCII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de",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c,"est",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asc(c))</a:t>
            </a:r>
            <a:endParaRPr sz="2400">
              <a:latin typeface="Calibri"/>
              <a:cs typeface="Calibri"/>
            </a:endParaRPr>
          </a:p>
          <a:p>
            <a:pPr marL="12700" marR="632714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our 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Exercice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algorithme qui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lettre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au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clavier puis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affiche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s’il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s’agit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consonne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voyelle.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Remarque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les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voyelles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sont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"A"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"a"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"E"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"e"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"I"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"i"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"O"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"o"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"U"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"u"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"Y"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;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"y".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285750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Exercice</a:t>
            </a:r>
            <a:r>
              <a:rPr spc="-70" dirty="0"/>
              <a:t> </a:t>
            </a:r>
            <a:r>
              <a:rPr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142970"/>
            <a:ext cx="7715250" cy="5632450"/>
          </a:xfrm>
          <a:custGeom>
            <a:avLst/>
            <a:gdLst/>
            <a:ahLst/>
            <a:cxnLst/>
            <a:rect l="l" t="t" r="r" b="b"/>
            <a:pathLst>
              <a:path w="7715250" h="5632450">
                <a:moveTo>
                  <a:pt x="7715250" y="0"/>
                </a:moveTo>
                <a:lnTo>
                  <a:pt x="0" y="0"/>
                </a:lnTo>
                <a:lnTo>
                  <a:pt x="0" y="5632323"/>
                </a:lnTo>
                <a:lnTo>
                  <a:pt x="7715250" y="5632323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156461"/>
            <a:ext cx="717867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  <a:p>
            <a:pPr marL="12700" marR="4462145">
              <a:lnSpc>
                <a:spcPct val="100000"/>
              </a:lnSpc>
              <a:tabLst>
                <a:tab pos="570230" algn="l"/>
              </a:tabLst>
            </a:pP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Algorithme</a:t>
            </a:r>
            <a:r>
              <a:rPr sz="2400" b="1" spc="-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Cons_Voy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1F487C"/>
                </a:solidFill>
                <a:latin typeface="Calibri"/>
                <a:cs typeface="Calibri"/>
              </a:rPr>
              <a:t>Var	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 :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Calibri"/>
                <a:cs typeface="Calibri"/>
              </a:rPr>
              <a:t>Début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Répéter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("entrer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lettre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:")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lire(c)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Jusqu’à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(c&gt;="A"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c&lt;="Z")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(c&gt;="a"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c&lt;="z")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(Majus(c)=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"A")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 (Majus(c)=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"E")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(Majus(c)=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"I")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(Majus(c)=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"O")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(Majus(c)=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"U")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(Majus(c)=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"Y")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Alors</a:t>
            </a:r>
            <a:endParaRPr sz="2400">
              <a:latin typeface="Calibri"/>
              <a:cs typeface="Calibri"/>
            </a:endParaRPr>
          </a:p>
          <a:p>
            <a:pPr marL="694055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(c,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"est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voyelle")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Sinon</a:t>
            </a:r>
            <a:endParaRPr sz="2400">
              <a:latin typeface="Calibri"/>
              <a:cs typeface="Calibri"/>
            </a:endParaRPr>
          </a:p>
          <a:p>
            <a:pPr marL="69405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Ecrire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(c,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"est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consonne")</a:t>
            </a:r>
            <a:endParaRPr sz="2400">
              <a:latin typeface="Calibri"/>
              <a:cs typeface="Calibri"/>
            </a:endParaRPr>
          </a:p>
          <a:p>
            <a:pPr marL="12700" marR="656082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FinSi 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Fin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285750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Exercice</a:t>
            </a:r>
            <a:r>
              <a:rPr spc="-70" dirty="0"/>
              <a:t> </a:t>
            </a:r>
            <a:r>
              <a:rPr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428788"/>
            <a:ext cx="7715250" cy="5140325"/>
          </a:xfrm>
          <a:custGeom>
            <a:avLst/>
            <a:gdLst/>
            <a:ahLst/>
            <a:cxnLst/>
            <a:rect l="l" t="t" r="r" b="b"/>
            <a:pathLst>
              <a:path w="7715250" h="5140325">
                <a:moveTo>
                  <a:pt x="7715250" y="0"/>
                </a:moveTo>
                <a:lnTo>
                  <a:pt x="0" y="0"/>
                </a:lnTo>
                <a:lnTo>
                  <a:pt x="0" y="5139817"/>
                </a:lnTo>
                <a:lnTo>
                  <a:pt x="7715250" y="5139817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442465"/>
            <a:ext cx="7557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9295" algn="l"/>
                <a:tab pos="1716405" algn="l"/>
                <a:tab pos="2275840" algn="l"/>
                <a:tab pos="2937510" algn="l"/>
                <a:tab pos="3725545" algn="l"/>
                <a:tab pos="4227195" algn="l"/>
                <a:tab pos="5763260" algn="l"/>
                <a:tab pos="6225540" algn="l"/>
                <a:tab pos="7233284" algn="l"/>
              </a:tabLst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Une	ch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ine	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ui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	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ac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è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.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	ch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ine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7465" y="1679808"/>
            <a:ext cx="6381115" cy="27152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contenant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aucun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caractère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appelée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vide.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II</a:t>
            </a:r>
            <a:r>
              <a:rPr sz="28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.1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r>
              <a:rPr sz="2800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Décla</a:t>
            </a:r>
            <a:r>
              <a:rPr sz="2800" spc="-70" dirty="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sz="2800" spc="-25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tion</a:t>
            </a:r>
            <a:r>
              <a:rPr sz="2800" spc="-2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2800" spc="-75" dirty="0">
                <a:solidFill>
                  <a:srgbClr val="6F2F9F"/>
                </a:solidFill>
                <a:latin typeface="Calibri"/>
                <a:cs typeface="Calibri"/>
              </a:rPr>
              <a:t>’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un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spc="-1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chaine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829310" marR="3938270" indent="68580">
              <a:lnSpc>
                <a:spcPct val="100000"/>
              </a:lnSpc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</a:t>
            </a:r>
            <a:endParaRPr sz="2400">
              <a:latin typeface="Calibri"/>
              <a:cs typeface="Calibri"/>
            </a:endParaRPr>
          </a:p>
          <a:p>
            <a:pPr marL="82931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chn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[20]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7465" y="4734814"/>
            <a:ext cx="73621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ch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contenir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jusqu'à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255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alors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chn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peut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contenir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au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maximum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20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dirty="0"/>
              <a:t>II. le</a:t>
            </a:r>
            <a:r>
              <a:rPr spc="-5" dirty="0"/>
              <a:t> type chaine</a:t>
            </a:r>
            <a:r>
              <a:rPr spc="5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20" dirty="0"/>
              <a:t>caractère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143012"/>
            <a:ext cx="7715250" cy="5570855"/>
          </a:xfrm>
          <a:custGeom>
            <a:avLst/>
            <a:gdLst/>
            <a:ahLst/>
            <a:cxnLst/>
            <a:rect l="l" t="t" r="r" b="b"/>
            <a:pathLst>
              <a:path w="7715250" h="5570855">
                <a:moveTo>
                  <a:pt x="7715250" y="0"/>
                </a:moveTo>
                <a:lnTo>
                  <a:pt x="0" y="0"/>
                </a:lnTo>
                <a:lnTo>
                  <a:pt x="0" y="5570728"/>
                </a:lnTo>
                <a:lnTo>
                  <a:pt x="7715250" y="5570728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059935"/>
            <a:ext cx="7557770" cy="539623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712470" lvl="1" indent="-700405">
              <a:lnSpc>
                <a:spcPct val="100000"/>
              </a:lnSpc>
              <a:spcBef>
                <a:spcPts val="830"/>
              </a:spcBef>
              <a:buAutoNum type="arabicPeriod" startAt="2"/>
              <a:tabLst>
                <a:tab pos="712470" algn="l"/>
                <a:tab pos="713105" algn="l"/>
              </a:tabLst>
            </a:pPr>
            <a:r>
              <a:rPr sz="2800" spc="-15" dirty="0">
                <a:solidFill>
                  <a:srgbClr val="6F2F9F"/>
                </a:solidFill>
                <a:latin typeface="Calibri"/>
                <a:cs typeface="Calibri"/>
              </a:rPr>
              <a:t>opération</a:t>
            </a:r>
            <a:r>
              <a:rPr sz="2800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sur</a:t>
            </a:r>
            <a:r>
              <a:rPr sz="2800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les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 chaines</a:t>
            </a:r>
            <a:r>
              <a:rPr sz="2800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F2F9F"/>
                </a:solidFill>
                <a:latin typeface="Calibri"/>
                <a:cs typeface="Calibri"/>
              </a:rPr>
              <a:t>caractères</a:t>
            </a:r>
            <a:endParaRPr sz="2800">
              <a:latin typeface="Calibri"/>
              <a:cs typeface="Calibri"/>
            </a:endParaRPr>
          </a:p>
          <a:p>
            <a:pPr marL="1002030" lvl="2" indent="-308610">
              <a:lnSpc>
                <a:spcPct val="100000"/>
              </a:lnSpc>
              <a:spcBef>
                <a:spcPts val="630"/>
              </a:spcBef>
              <a:buAutoNum type="alphaLcPeriod"/>
              <a:tabLst>
                <a:tab pos="1002665" algn="l"/>
              </a:tabLst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Concaténation</a:t>
            </a:r>
            <a:endParaRPr sz="2400">
              <a:latin typeface="Calibri"/>
              <a:cs typeface="Calibri"/>
            </a:endParaRPr>
          </a:p>
          <a:p>
            <a:pPr marL="12700" marR="74295">
              <a:lnSpc>
                <a:spcPct val="100000"/>
              </a:lnSpc>
              <a:spcBef>
                <a:spcPts val="600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C’est l’assemblage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deux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utilisant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l’opérateur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"+"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Exemple</a:t>
            </a:r>
            <a:endParaRPr sz="2400">
              <a:latin typeface="Calibri"/>
              <a:cs typeface="Calibri"/>
            </a:endParaRPr>
          </a:p>
          <a:p>
            <a:pPr marL="12700" marR="3324225">
              <a:lnSpc>
                <a:spcPct val="100000"/>
              </a:lnSpc>
              <a:spcBef>
                <a:spcPts val="5"/>
              </a:spcBef>
              <a:tabLst>
                <a:tab pos="783590" algn="l"/>
                <a:tab pos="2200275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Chn1</a:t>
            </a:r>
            <a:r>
              <a:rPr sz="20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"Turbo"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Chn2</a:t>
            </a:r>
            <a:r>
              <a:rPr sz="240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"Pascal" </a:t>
            </a:r>
            <a:r>
              <a:rPr sz="2400" spc="-5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Chn3	</a:t>
            </a:r>
            <a:r>
              <a:rPr sz="20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000" spc="4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chn1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+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"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chn2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chn3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contiendra</a:t>
            </a:r>
            <a:r>
              <a:rPr sz="24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"Turbo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pascal"</a:t>
            </a:r>
            <a:endParaRPr sz="2400">
              <a:latin typeface="Calibri"/>
              <a:cs typeface="Calibri"/>
            </a:endParaRPr>
          </a:p>
          <a:p>
            <a:pPr marL="1015365" lvl="2" indent="-321945">
              <a:lnSpc>
                <a:spcPct val="100000"/>
              </a:lnSpc>
              <a:spcBef>
                <a:spcPts val="600"/>
              </a:spcBef>
              <a:buAutoNum type="alphaLcPeriod" startAt="2"/>
              <a:tabLst>
                <a:tab pos="1016000" algn="l"/>
              </a:tabLst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Les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opérateurs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rationnels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(&gt;,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&gt;=,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&lt;, &lt;=,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=,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#)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Il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possible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d’effectuer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comparaison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deux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chaines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caractères,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le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résultat 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type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booléen. La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comparaison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fait caractère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par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la gauche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vers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droite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selon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code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/>
                <a:cs typeface="Calibri"/>
              </a:rPr>
              <a:t>ASCII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dirty="0"/>
              <a:t>II. le</a:t>
            </a:r>
            <a:r>
              <a:rPr spc="-5" dirty="0"/>
              <a:t> type chaine</a:t>
            </a:r>
            <a:r>
              <a:rPr spc="5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20" dirty="0"/>
              <a:t>caractère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62" y="1142993"/>
            <a:ext cx="7715250" cy="5647690"/>
          </a:xfrm>
          <a:custGeom>
            <a:avLst/>
            <a:gdLst/>
            <a:ahLst/>
            <a:cxnLst/>
            <a:rect l="l" t="t" r="r" b="b"/>
            <a:pathLst>
              <a:path w="7715250" h="5647690">
                <a:moveTo>
                  <a:pt x="7715250" y="0"/>
                </a:moveTo>
                <a:lnTo>
                  <a:pt x="0" y="0"/>
                </a:lnTo>
                <a:lnTo>
                  <a:pt x="0" y="5647690"/>
                </a:lnTo>
                <a:lnTo>
                  <a:pt x="7715250" y="5647690"/>
                </a:lnTo>
                <a:lnTo>
                  <a:pt x="771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7465" y="1080262"/>
            <a:ext cx="7559040" cy="56045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Exemples</a:t>
            </a:r>
            <a:endParaRPr sz="2400">
              <a:latin typeface="Calibri"/>
              <a:cs typeface="Calibri"/>
            </a:endParaRPr>
          </a:p>
          <a:p>
            <a:pPr marL="256540" marR="5715" indent="-25654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56540" algn="l"/>
                <a:tab pos="257175" algn="l"/>
              </a:tabLst>
            </a:pP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L’expression</a:t>
            </a:r>
            <a:r>
              <a:rPr sz="2400" spc="1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("a"</a:t>
            </a:r>
            <a:r>
              <a:rPr sz="2400" spc="1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2400" spc="1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"A")</a:t>
            </a:r>
            <a:r>
              <a:rPr sz="2400" spc="1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vraie</a:t>
            </a:r>
            <a:r>
              <a:rPr sz="2400" spc="1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puisque</a:t>
            </a:r>
            <a:r>
              <a:rPr sz="2400" spc="1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1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code</a:t>
            </a:r>
            <a:r>
              <a:rPr sz="2400" spc="1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ASCII</a:t>
            </a:r>
            <a:r>
              <a:rPr sz="2400" spc="1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"a"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(97)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supérieur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celui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"A"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(65)</a:t>
            </a:r>
            <a:endParaRPr sz="2400">
              <a:latin typeface="Calibri"/>
              <a:cs typeface="Calibri"/>
            </a:endParaRPr>
          </a:p>
          <a:p>
            <a:pPr marL="256540" marR="6985" indent="-256540">
              <a:lnSpc>
                <a:spcPct val="100000"/>
              </a:lnSpc>
              <a:buFont typeface="Arial MT"/>
              <a:buChar char="•"/>
              <a:tabLst>
                <a:tab pos="256540" algn="l"/>
                <a:tab pos="257175" algn="l"/>
              </a:tabLst>
            </a:pP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L’expression</a:t>
            </a:r>
            <a:r>
              <a:rPr sz="2400" spc="1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("programm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"</a:t>
            </a:r>
            <a:r>
              <a:rPr sz="2400" spc="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&lt;</a:t>
            </a:r>
            <a:r>
              <a:rPr sz="2400" spc="1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"programm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tion")</a:t>
            </a:r>
            <a:r>
              <a:rPr sz="2400" spc="1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1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fausse </a:t>
            </a:r>
            <a:r>
              <a:rPr sz="2400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puisque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"e"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"a"</a:t>
            </a:r>
            <a:endParaRPr sz="2400">
              <a:latin typeface="Calibri"/>
              <a:cs typeface="Calibri"/>
            </a:endParaRPr>
          </a:p>
          <a:p>
            <a:pPr marL="256540" indent="-24447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56540" algn="l"/>
                <a:tab pos="257175" algn="l"/>
              </a:tabLst>
            </a:pP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L’expression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(""</a:t>
            </a:r>
            <a:r>
              <a:rPr sz="2400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400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"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")</a:t>
            </a:r>
            <a:r>
              <a:rPr sz="24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fausse</a:t>
            </a:r>
            <a:r>
              <a:rPr sz="24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(le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vide</a:t>
            </a:r>
            <a:r>
              <a:rPr sz="24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est</a:t>
            </a:r>
            <a:r>
              <a:rPr sz="24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différent</a:t>
            </a:r>
            <a:r>
              <a:rPr sz="24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du</a:t>
            </a:r>
            <a:endParaRPr sz="240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r>
              <a:rPr sz="240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espace).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c-</a:t>
            </a:r>
            <a:r>
              <a:rPr sz="2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Accès</a:t>
            </a:r>
            <a:r>
              <a:rPr sz="2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un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caractère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dans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une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chaine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Pour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accéder à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chaine,</a:t>
            </a:r>
            <a:r>
              <a:rPr sz="2400" spc="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il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suffit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d’indiquer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nom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la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suivi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d’un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entier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entre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crochets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qui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indique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position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dans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Exemple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778760" algn="l"/>
              </a:tabLst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Chn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1800" spc="9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"Turbo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ascal"	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1800" spc="-5" dirty="0">
                <a:solidFill>
                  <a:srgbClr val="1F487C"/>
                </a:solidFill>
                <a:latin typeface="Wingdings"/>
                <a:cs typeface="Wingdings"/>
              </a:rPr>
              <a:t>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chn[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7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La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variable</a:t>
            </a:r>
            <a:r>
              <a:rPr sz="24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contiendra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le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"P"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49" y="357187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dirty="0"/>
              <a:t>II. le</a:t>
            </a:r>
            <a:r>
              <a:rPr spc="-5" dirty="0"/>
              <a:t> type chaine</a:t>
            </a:r>
            <a:r>
              <a:rPr spc="5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20" dirty="0"/>
              <a:t>caractère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8662" y="1582902"/>
            <a:ext cx="7644130" cy="462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4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III.1.</a:t>
            </a:r>
            <a:r>
              <a:rPr sz="2400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procédures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 standards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785812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19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2400" spc="-5" dirty="0"/>
              <a:t>III.</a:t>
            </a:r>
            <a:r>
              <a:rPr sz="2400" spc="-35" dirty="0"/>
              <a:t> </a:t>
            </a:r>
            <a:r>
              <a:rPr sz="2400" spc="-10" dirty="0"/>
              <a:t>Procédures </a:t>
            </a:r>
            <a:r>
              <a:rPr sz="2400" spc="-5" dirty="0"/>
              <a:t>et</a:t>
            </a:r>
            <a:r>
              <a:rPr sz="2400" spc="-20" dirty="0"/>
              <a:t> </a:t>
            </a:r>
            <a:r>
              <a:rPr sz="2400" spc="-10" dirty="0"/>
              <a:t>fonctions</a:t>
            </a:r>
            <a:r>
              <a:rPr sz="2400" spc="-20" dirty="0"/>
              <a:t> </a:t>
            </a:r>
            <a:r>
              <a:rPr sz="2400" spc="-10" dirty="0"/>
              <a:t>standards</a:t>
            </a:r>
            <a:r>
              <a:rPr sz="2400" spc="-30" dirty="0"/>
              <a:t> </a:t>
            </a:r>
            <a:r>
              <a:rPr sz="2400" spc="-5" dirty="0"/>
              <a:t>sur</a:t>
            </a:r>
            <a:r>
              <a:rPr sz="2400" spc="-10" dirty="0"/>
              <a:t> </a:t>
            </a:r>
            <a:r>
              <a:rPr sz="2400" dirty="0"/>
              <a:t>les</a:t>
            </a:r>
            <a:r>
              <a:rPr sz="2400" spc="-10" dirty="0"/>
              <a:t> </a:t>
            </a:r>
            <a:r>
              <a:rPr sz="2400" dirty="0"/>
              <a:t>chaines</a:t>
            </a:r>
            <a:endParaRPr sz="24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76262" y="2133600"/>
          <a:ext cx="8001000" cy="43957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6260"/>
                <a:gridCol w="2971165"/>
                <a:gridCol w="3203575"/>
              </a:tblGrid>
              <a:tr h="37668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Procédure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Rôle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Exemple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3004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2000" b="1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ace</a:t>
                      </a:r>
                      <a:r>
                        <a:rPr sz="20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(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h, </a:t>
                      </a:r>
                      <a:r>
                        <a:rPr sz="2000" b="1" spc="-2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20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Enlève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de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partir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sz="2000" b="1" spc="-7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donnée.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chn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"Turbo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Pascal"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efface</a:t>
                      </a:r>
                      <a:r>
                        <a:rPr sz="2000" b="1" spc="-2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(chn,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6,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7)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 indent="-343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Wingdings"/>
                        <a:buChar char=""/>
                        <a:tabLst>
                          <a:tab pos="412750" algn="l"/>
                        </a:tabLst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chn</a:t>
                      </a:r>
                      <a:r>
                        <a:rPr sz="2000" b="1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"Turbo"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0660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Insert</a:t>
                      </a:r>
                      <a:r>
                        <a:rPr sz="2000" b="1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(Ch1,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Ch2,</a:t>
                      </a:r>
                      <a:r>
                        <a:rPr sz="2000" b="1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Insère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Ch1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dans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 marR="98425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 Ch2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à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partir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sz="2000" b="1" spc="-4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sz="2000" b="1" spc="-5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donnée.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Ch1</a:t>
                      </a:r>
                      <a:r>
                        <a:rPr sz="2000" b="1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-1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"D"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</a:t>
                      </a:r>
                      <a:r>
                        <a:rPr sz="2000" b="1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"AA"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Insert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(Ch1,</a:t>
                      </a:r>
                      <a:r>
                        <a:rPr sz="2000" b="1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Ch2,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2)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 indent="-343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Wingdings"/>
                        <a:buChar char=""/>
                        <a:tabLst>
                          <a:tab pos="412750" algn="l"/>
                        </a:tabLst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"ADA"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55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2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Convch(Nbr,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Ch)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Converti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Nbr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une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caractère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1665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convch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(n,</a:t>
                      </a:r>
                      <a:r>
                        <a:rPr sz="2000" b="1" spc="-8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chn)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 indent="-343535">
                        <a:lnSpc>
                          <a:spcPct val="100000"/>
                        </a:lnSpc>
                        <a:spcBef>
                          <a:spcPts val="365"/>
                        </a:spcBef>
                        <a:buFont typeface="Wingdings"/>
                        <a:buChar char=""/>
                        <a:tabLst>
                          <a:tab pos="412750" algn="l"/>
                        </a:tabLst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chn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"1665"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8662" y="1571599"/>
            <a:ext cx="7644130" cy="462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4"/>
              </a:spcBef>
            </a:pPr>
            <a:r>
              <a:rPr sz="2400" spc="-5" dirty="0">
                <a:solidFill>
                  <a:srgbClr val="6F2F9F"/>
                </a:solidFill>
                <a:latin typeface="Calibri"/>
                <a:cs typeface="Calibri"/>
              </a:rPr>
              <a:t>III.2.</a:t>
            </a:r>
            <a:r>
              <a:rPr sz="2400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fonctions</a:t>
            </a:r>
            <a:r>
              <a:rPr sz="24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F2F9F"/>
                </a:solidFill>
                <a:latin typeface="Calibri"/>
                <a:cs typeface="Calibri"/>
              </a:rPr>
              <a:t>standards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6262" y="2204973"/>
          <a:ext cx="7858123" cy="4124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239"/>
                <a:gridCol w="3405504"/>
                <a:gridCol w="2659380"/>
              </a:tblGrid>
              <a:tr h="3299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Fonction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Rôle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Exemple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3098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Long</a:t>
                      </a:r>
                      <a:r>
                        <a:rPr sz="2000" b="1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(Ch)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000" b="1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longueur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b="1" spc="-5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chn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"Turbo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Pascal"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-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Long</a:t>
                      </a:r>
                      <a:r>
                        <a:rPr sz="2000" b="1" spc="-3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(chn)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 indent="-343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Wingdings"/>
                        <a:buChar char=""/>
                        <a:tabLst>
                          <a:tab pos="412750" algn="l"/>
                        </a:tabLst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50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</a:t>
                      </a:r>
                      <a:r>
                        <a:rPr sz="2000" b="1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20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20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h, </a:t>
                      </a:r>
                      <a:r>
                        <a:rPr sz="2000" b="1" spc="-2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20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Copie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caractères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de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 marR="306705">
                        <a:lnSpc>
                          <a:spcPct val="114999"/>
                        </a:lnSpc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partir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sz="2000" b="1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 </a:t>
                      </a:r>
                      <a:r>
                        <a:rPr sz="2000" b="1" spc="-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donnée.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Ch1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"Turbo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Pascal"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copy</a:t>
                      </a:r>
                      <a:r>
                        <a:rPr sz="2000" b="1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(Ch1,7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6)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 marR="643890" indent="-342900">
                        <a:lnSpc>
                          <a:spcPct val="114999"/>
                        </a:lnSpc>
                        <a:buFont typeface="Wingdings"/>
                        <a:buChar char=""/>
                        <a:tabLst>
                          <a:tab pos="412750" algn="l"/>
                        </a:tabLst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</a:t>
                      </a:r>
                      <a:r>
                        <a:rPr sz="2000" b="1" spc="-7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 </a:t>
                      </a:r>
                      <a:r>
                        <a:rPr sz="2000" b="1" spc="-434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"Pascal"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55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sz="2000" b="1" spc="-8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(Ch1,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Ch2)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Retourne</a:t>
                      </a:r>
                      <a:r>
                        <a:rPr sz="2000" b="1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sz="2000" b="1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première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occurrence</a:t>
                      </a:r>
                      <a:r>
                        <a:rPr sz="2000" b="1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b="1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Ch1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dans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Ch2.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Ch1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as"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"Turbo</a:t>
                      </a:r>
                      <a:r>
                        <a:rPr sz="2000" b="1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Pascal"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8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sz="2000" b="1" spc="-4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(Ch1,</a:t>
                      </a:r>
                      <a:r>
                        <a:rPr sz="2000" b="1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Ch2)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2115" indent="-343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Wingdings"/>
                        <a:buChar char=""/>
                        <a:tabLst>
                          <a:tab pos="412750" algn="l"/>
                        </a:tabLst>
                      </a:pP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contiendra</a:t>
                      </a:r>
                      <a:r>
                        <a:rPr sz="2000" b="1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2912" y="785812"/>
            <a:ext cx="7572375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19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2400" spc="-5" dirty="0"/>
              <a:t>III.</a:t>
            </a:r>
            <a:r>
              <a:rPr sz="2400" spc="-35" dirty="0"/>
              <a:t> </a:t>
            </a:r>
            <a:r>
              <a:rPr sz="2400" spc="-10" dirty="0"/>
              <a:t>Procédures </a:t>
            </a:r>
            <a:r>
              <a:rPr sz="2400" spc="-5" dirty="0"/>
              <a:t>et</a:t>
            </a:r>
            <a:r>
              <a:rPr sz="2400" spc="-20" dirty="0"/>
              <a:t> </a:t>
            </a:r>
            <a:r>
              <a:rPr sz="2400" spc="-10" dirty="0"/>
              <a:t>fonctions</a:t>
            </a:r>
            <a:r>
              <a:rPr sz="2400" spc="-20" dirty="0"/>
              <a:t> </a:t>
            </a:r>
            <a:r>
              <a:rPr sz="2400" spc="-10" dirty="0"/>
              <a:t>standards</a:t>
            </a:r>
            <a:r>
              <a:rPr sz="2400" spc="-30" dirty="0"/>
              <a:t> </a:t>
            </a:r>
            <a:r>
              <a:rPr sz="2400" spc="-5" dirty="0"/>
              <a:t>sur</a:t>
            </a:r>
            <a:r>
              <a:rPr sz="2400" spc="-10" dirty="0"/>
              <a:t> </a:t>
            </a:r>
            <a:r>
              <a:rPr sz="2400" dirty="0"/>
              <a:t>les</a:t>
            </a:r>
            <a:r>
              <a:rPr sz="2400" spc="-10" dirty="0"/>
              <a:t> </a:t>
            </a:r>
            <a:r>
              <a:rPr sz="2400" dirty="0"/>
              <a:t>chaines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4349" y="1990089"/>
            <a:ext cx="7929880" cy="193928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91440" marR="239395">
              <a:lnSpc>
                <a:spcPct val="100000"/>
              </a:lnSpc>
              <a:spcBef>
                <a:spcPts val="204"/>
              </a:spcBef>
            </a:pP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Ecrire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algorithme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«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palind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»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lit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une chaine de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caractère </a:t>
            </a:r>
            <a:r>
              <a:rPr sz="2400" spc="-5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et</a:t>
            </a:r>
            <a:r>
              <a:rPr sz="24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vérifie</a:t>
            </a:r>
            <a:r>
              <a:rPr sz="24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si</a:t>
            </a:r>
            <a:r>
              <a:rPr sz="240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cette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chaine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 est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palindrome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ou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non.</a:t>
            </a:r>
            <a:endParaRPr sz="2400">
              <a:latin typeface="Calibri"/>
              <a:cs typeface="Calibri"/>
            </a:endParaRPr>
          </a:p>
          <a:p>
            <a:pPr marL="91440" marR="2171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palindrome est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un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mot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qui peut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être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lu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indifféremment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de </a:t>
            </a:r>
            <a:r>
              <a:rPr sz="2400" spc="-5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droite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à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gauche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ou de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gauche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à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droite </a:t>
            </a:r>
            <a:r>
              <a:rPr sz="2400" spc="-15" dirty="0">
                <a:solidFill>
                  <a:srgbClr val="1F487C"/>
                </a:solidFill>
                <a:latin typeface="Calibri"/>
                <a:cs typeface="Calibri"/>
              </a:rPr>
              <a:t>(exemple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"AZIZA", 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"LAVAL",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 "RADAR,</a:t>
            </a:r>
            <a:r>
              <a:rPr sz="240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Calibri"/>
                <a:cs typeface="Calibri"/>
              </a:rPr>
              <a:t>"2002".).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2912" y="843978"/>
            <a:ext cx="764413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Exercice</a:t>
            </a:r>
            <a:r>
              <a:rPr spc="-70" dirty="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2927"/>
            <a:ext cx="9136379" cy="62222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2912" y="843978"/>
            <a:ext cx="7644130" cy="5848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pc="-20" dirty="0"/>
              <a:t>Exercice</a:t>
            </a:r>
            <a:r>
              <a:rPr spc="-70" dirty="0"/>
              <a:t> </a:t>
            </a:r>
            <a:r>
              <a:rPr dirty="0"/>
              <a:t>4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7999" y="1676755"/>
          <a:ext cx="7886065" cy="440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6250"/>
                <a:gridCol w="3599815"/>
              </a:tblGrid>
              <a:tr h="4027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b="1" spc="-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Correction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Tant</a:t>
                      </a:r>
                      <a:r>
                        <a:rPr sz="20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sz="2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(i&lt;L/2)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et (Pal)</a:t>
                      </a:r>
                      <a:r>
                        <a:rPr sz="2000" spc="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faire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610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2380"/>
                        </a:lnSpc>
                        <a:spcBef>
                          <a:spcPts val="5"/>
                        </a:spcBef>
                      </a:pP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Algorithme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Palind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000" b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(ch[i]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ch[L-i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+1]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alors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0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7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09727">
                <a:tc>
                  <a:txBody>
                    <a:bodyPr/>
                    <a:lstStyle/>
                    <a:p>
                      <a:pPr marL="91440">
                        <a:lnSpc>
                          <a:spcPts val="2320"/>
                        </a:lnSpc>
                      </a:pPr>
                      <a:r>
                        <a:rPr sz="20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Var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46050">
                        <a:lnSpc>
                          <a:spcPts val="2380"/>
                        </a:lnSpc>
                      </a:pP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</a:t>
                      </a:r>
                      <a:r>
                        <a:rPr sz="20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Sinon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Pal</a:t>
                      </a:r>
                      <a:r>
                        <a:rPr sz="20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8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Faux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04876">
                <a:tc>
                  <a:txBody>
                    <a:bodyPr/>
                    <a:lstStyle/>
                    <a:p>
                      <a:pPr marL="91440">
                        <a:lnSpc>
                          <a:spcPts val="2300"/>
                        </a:lnSpc>
                      </a:pP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i,L</a:t>
                      </a:r>
                      <a:r>
                        <a:rPr sz="2000" spc="-5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Entier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FinSi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04914">
                <a:tc>
                  <a:txBody>
                    <a:bodyPr/>
                    <a:lstStyle/>
                    <a:p>
                      <a:pPr marL="91440">
                        <a:lnSpc>
                          <a:spcPts val="2300"/>
                        </a:lnSpc>
                      </a:pP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Pal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booléen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FinTantQue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ts val="2300"/>
                        </a:lnSpc>
                      </a:pP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Début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(Pal)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alors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04927">
                <a:tc>
                  <a:txBody>
                    <a:bodyPr/>
                    <a:lstStyle/>
                    <a:p>
                      <a:pPr marL="91440">
                        <a:lnSpc>
                          <a:spcPts val="2300"/>
                        </a:lnSpc>
                      </a:pP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Ecrire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("Entrer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une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chaine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vide</a:t>
                      </a:r>
                      <a:r>
                        <a:rPr sz="2000" spc="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:")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Ecrire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(ch,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"est</a:t>
                      </a:r>
                      <a:r>
                        <a:rPr sz="2000" spc="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palindrome")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1559756">
                <a:tc>
                  <a:txBody>
                    <a:bodyPr/>
                    <a:lstStyle/>
                    <a:p>
                      <a:pPr marL="91440">
                        <a:lnSpc>
                          <a:spcPts val="2320"/>
                        </a:lnSpc>
                      </a:pP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lire</a:t>
                      </a:r>
                      <a:r>
                        <a:rPr sz="2000" spc="-3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20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7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long</a:t>
                      </a:r>
                      <a:r>
                        <a:rPr sz="2000" spc="-4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Pal</a:t>
                      </a:r>
                      <a:r>
                        <a:rPr sz="2000" spc="-2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7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vrai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000" spc="-4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5" dirty="0">
                          <a:solidFill>
                            <a:srgbClr val="1F487C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000" spc="-8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B w="1270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Sinon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Ecrire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(ch,</a:t>
                      </a:r>
                      <a:r>
                        <a:rPr sz="2000" spc="-2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3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"n’est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pas</a:t>
                      </a: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un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spc="-10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palindrome")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 marR="299974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  </a:t>
                      </a:r>
                      <a:r>
                        <a:rPr sz="2000" b="1" dirty="0">
                          <a:solidFill>
                            <a:srgbClr val="1F487C"/>
                          </a:solidFill>
                          <a:latin typeface="Calibri"/>
                          <a:cs typeface="Calibri"/>
                        </a:rPr>
                        <a:t>Fin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B w="19050">
                      <a:solidFill>
                        <a:srgbClr val="1F487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1119</Words>
  <Application>Microsoft Office PowerPoint</Application>
  <PresentationFormat>Affichage à l'écran (4:3)</PresentationFormat>
  <Paragraphs>214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Chaines de Caractères</vt:lpstr>
      <vt:lpstr>Objectif</vt:lpstr>
      <vt:lpstr>I. Fonction standards sur les caractères</vt:lpstr>
      <vt:lpstr>Exemple</vt:lpstr>
      <vt:lpstr>Exercice 1</vt:lpstr>
      <vt:lpstr>Exercice 1</vt:lpstr>
      <vt:lpstr>Exercice 2</vt:lpstr>
      <vt:lpstr>Exercice 3</vt:lpstr>
      <vt:lpstr>II. le type chaine de caractère</vt:lpstr>
      <vt:lpstr>II. le type chaine de caractère</vt:lpstr>
      <vt:lpstr>II. le type chaine de caractère</vt:lpstr>
      <vt:lpstr>III. Procédures et fonctions standards sur les chaines</vt:lpstr>
      <vt:lpstr>III. Procédures et fonctions standards sur les chaines</vt:lpstr>
      <vt:lpstr>Exercice 4</vt:lpstr>
      <vt:lpstr>Exercice 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hamdi</dc:creator>
  <cp:lastModifiedBy>PC ASUS</cp:lastModifiedBy>
  <cp:revision>6</cp:revision>
  <dcterms:created xsi:type="dcterms:W3CDTF">2021-09-26T10:40:35Z</dcterms:created>
  <dcterms:modified xsi:type="dcterms:W3CDTF">2022-11-06T19:51:41Z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2018-11-13T00:00:00Z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2021-09-26T00:00:00Z</vt:filetime>
  </property>
</Properties>
</file>