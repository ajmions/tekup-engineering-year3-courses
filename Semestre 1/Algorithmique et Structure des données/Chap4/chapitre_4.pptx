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00099" y="1642998"/>
            <a:ext cx="6358255" cy="1939289"/>
          </a:xfrm>
          <a:custGeom>
            <a:avLst/>
            <a:gdLst/>
            <a:ahLst/>
            <a:cxnLst/>
            <a:rect l="l" t="t" r="r" b="b"/>
            <a:pathLst>
              <a:path w="6358255" h="1939289">
                <a:moveTo>
                  <a:pt x="6358001" y="0"/>
                </a:moveTo>
                <a:lnTo>
                  <a:pt x="0" y="0"/>
                </a:lnTo>
                <a:lnTo>
                  <a:pt x="0" y="1939036"/>
                </a:lnTo>
                <a:lnTo>
                  <a:pt x="6358001" y="1939036"/>
                </a:lnTo>
                <a:lnTo>
                  <a:pt x="63580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79093" y="1644523"/>
            <a:ext cx="6985812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2927"/>
            <a:ext cx="9136379" cy="62222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7465" y="1373885"/>
            <a:ext cx="2947670" cy="478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85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23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26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79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1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912" y="785774"/>
            <a:ext cx="7858175" cy="523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7465" y="2178811"/>
            <a:ext cx="6270625" cy="1568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4027"/>
            <a:ext cx="9144000" cy="91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28827"/>
            <a:ext cx="9144000" cy="91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33627"/>
            <a:ext cx="9144000" cy="91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38427"/>
            <a:ext cx="9144000" cy="91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43227"/>
            <a:ext cx="9144000" cy="91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48027"/>
            <a:ext cx="9144000" cy="914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52827"/>
            <a:ext cx="9144000" cy="914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357627"/>
            <a:ext cx="9144000" cy="914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2427"/>
            <a:ext cx="9144000" cy="914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967227"/>
            <a:ext cx="9144000" cy="914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272028"/>
            <a:ext cx="9144000" cy="914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576828"/>
            <a:ext cx="9144000" cy="914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881628"/>
            <a:ext cx="9144000" cy="914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186428"/>
            <a:ext cx="9144000" cy="914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491228"/>
            <a:ext cx="9144000" cy="914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796028"/>
            <a:ext cx="9144000" cy="914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100828"/>
            <a:ext cx="9144000" cy="914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05628"/>
            <a:ext cx="9144000" cy="914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710428"/>
            <a:ext cx="9144000" cy="914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15228"/>
            <a:ext cx="9144000" cy="914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20028"/>
            <a:ext cx="9144000" cy="914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227" y="0"/>
            <a:ext cx="9143" cy="647700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027" y="0"/>
            <a:ext cx="9143" cy="64770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827" y="0"/>
            <a:ext cx="9143" cy="64770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4627" y="0"/>
            <a:ext cx="9143" cy="64770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9427" y="0"/>
            <a:ext cx="9143" cy="647700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4227" y="0"/>
            <a:ext cx="9144" cy="64770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9027" y="0"/>
            <a:ext cx="9144" cy="647700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3827" y="0"/>
            <a:ext cx="9144" cy="64770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38627" y="0"/>
            <a:ext cx="9144" cy="6477000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3427" y="0"/>
            <a:ext cx="9144" cy="6477000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48228" y="0"/>
            <a:ext cx="9144" cy="647700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3028" y="0"/>
            <a:ext cx="9144" cy="6477000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57828" y="0"/>
            <a:ext cx="9144" cy="6477000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62628" y="0"/>
            <a:ext cx="9144" cy="6477000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7428" y="0"/>
            <a:ext cx="9144" cy="647700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72228" y="0"/>
            <a:ext cx="9144" cy="6477000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7028" y="0"/>
            <a:ext cx="9144" cy="6477000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1828" y="0"/>
            <a:ext cx="9144" cy="6477000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86628" y="0"/>
            <a:ext cx="9144" cy="6477000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1428" y="0"/>
            <a:ext cx="9144" cy="6477000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96228" y="0"/>
            <a:ext cx="9144" cy="6477000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1028" y="0"/>
            <a:ext cx="9144" cy="6477000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5828" y="0"/>
            <a:ext cx="9144" cy="6477000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0628" y="0"/>
            <a:ext cx="9144" cy="6477000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5428" y="0"/>
            <a:ext cx="9144" cy="6477000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20228" y="0"/>
            <a:ext cx="9144" cy="6477000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5028" y="0"/>
            <a:ext cx="9144" cy="6477000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29828" y="0"/>
            <a:ext cx="9144" cy="6477000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4628" y="0"/>
            <a:ext cx="9144" cy="6477000"/>
          </a:xfrm>
          <a:prstGeom prst="rect">
            <a:avLst/>
          </a:prstGeom>
        </p:spPr>
      </p:pic>
      <p:sp>
        <p:nvSpPr>
          <p:cNvPr id="66" name="bg object 66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7" name="bg object 67"/>
          <p:cNvSpPr/>
          <p:nvPr/>
        </p:nvSpPr>
        <p:spPr>
          <a:xfrm>
            <a:off x="414527" y="1037844"/>
            <a:ext cx="1784985" cy="2321560"/>
          </a:xfrm>
          <a:custGeom>
            <a:avLst/>
            <a:gdLst/>
            <a:ahLst/>
            <a:cxnLst/>
            <a:rect l="l" t="t" r="r" b="b"/>
            <a:pathLst>
              <a:path w="1784985" h="2321560">
                <a:moveTo>
                  <a:pt x="1784603" y="96011"/>
                </a:moveTo>
                <a:lnTo>
                  <a:pt x="0" y="96011"/>
                </a:lnTo>
              </a:path>
              <a:path w="1784985" h="2321560">
                <a:moveTo>
                  <a:pt x="193548" y="0"/>
                </a:moveTo>
                <a:lnTo>
                  <a:pt x="193548" y="2321052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pic>
        <p:nvPicPr>
          <p:cNvPr id="68" name="bg object 6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016" y="1030224"/>
            <a:ext cx="201168" cy="2026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380746"/>
            <a:ext cx="77673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8690" y="1155953"/>
            <a:ext cx="7742555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10/9/2022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62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pPr defTabSz="801590"/>
            <a:endParaRPr>
              <a:solidFill>
                <a:prstClr val="black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9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30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30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30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9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30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31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31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9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30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-54299" y="0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69647" y="1542034"/>
            <a:ext cx="5331153" cy="62837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7">
              <a:spcBef>
                <a:spcPts val="100"/>
              </a:spcBef>
            </a:pPr>
            <a:r>
              <a:rPr lang="fr-FR" sz="4000" b="1" spc="-5" dirty="0" smtClean="0"/>
              <a:t>Les </a:t>
            </a:r>
            <a:r>
              <a:rPr lang="fr-FR" sz="4000" b="1" spc="-5" dirty="0" smtClean="0"/>
              <a:t>Enregistrements</a:t>
            </a:r>
            <a:endParaRPr sz="40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8231123" y="6433735"/>
            <a:ext cx="173990" cy="237396"/>
          </a:xfrm>
          <a:prstGeom prst="rect">
            <a:avLst/>
          </a:prstGeom>
        </p:spPr>
        <p:txBody>
          <a:bodyPr vert="horz" wrap="square" lIns="0" tIns="13331" rIns="0" bIns="0" rtlCol="0">
            <a:spAutoFit/>
          </a:bodyPr>
          <a:lstStyle/>
          <a:p>
            <a:pPr marL="38089" defTabSz="801590"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pPr marL="38089" defTabSz="801590">
                <a:spcBef>
                  <a:spcPts val="105"/>
                </a:spcBef>
              </a:pPr>
              <a:t>1</a:t>
            </a:fld>
            <a:endParaRPr sz="14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05456" y="5565140"/>
            <a:ext cx="4013835" cy="56617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7" defTabSz="801590">
              <a:spcBef>
                <a:spcPts val="95"/>
              </a:spcBef>
            </a:pPr>
            <a:r>
              <a:rPr spc="-5" dirty="0" err="1">
                <a:solidFill>
                  <a:srgbClr val="40458B"/>
                </a:solidFill>
                <a:latin typeface="Tahoma"/>
                <a:cs typeface="Tahoma"/>
              </a:rPr>
              <a:t>Année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lang="fr-FR" spc="-10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pc="-10" dirty="0" err="1">
                <a:solidFill>
                  <a:srgbClr val="40458B"/>
                </a:solidFill>
                <a:latin typeface="Tahoma"/>
                <a:cs typeface="Tahoma"/>
              </a:rPr>
              <a:t>niversitaire</a:t>
            </a:r>
            <a:r>
              <a:rPr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22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/20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23</a:t>
            </a:r>
            <a:r>
              <a:rPr dirty="0" smtClean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–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Semestre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33"/>
          <p:cNvSpPr txBox="1">
            <a:spLocks/>
          </p:cNvSpPr>
          <p:nvPr/>
        </p:nvSpPr>
        <p:spPr>
          <a:xfrm>
            <a:off x="3547400" y="4282670"/>
            <a:ext cx="3013944" cy="64376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>
            <a:lvl1pPr>
              <a:defRPr sz="4100" b="1" i="0">
                <a:solidFill>
                  <a:srgbClr val="660066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697" defTabSz="801590">
              <a:spcBef>
                <a:spcPts val="100"/>
              </a:spcBef>
            </a:pPr>
            <a:r>
              <a:rPr lang="fr-FR" spc="-5" dirty="0" smtClean="0"/>
              <a:t>CHAP:4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50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767195"/>
            <a:chOff x="0" y="0"/>
            <a:chExt cx="9144000" cy="6767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7669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5787" y="1370863"/>
              <a:ext cx="7956550" cy="5201920"/>
            </a:xfrm>
            <a:custGeom>
              <a:avLst/>
              <a:gdLst/>
              <a:ahLst/>
              <a:cxnLst/>
              <a:rect l="l" t="t" r="r" b="b"/>
              <a:pathLst>
                <a:path w="7956550" h="5201920">
                  <a:moveTo>
                    <a:pt x="7956042" y="0"/>
                  </a:moveTo>
                  <a:lnTo>
                    <a:pt x="0" y="0"/>
                  </a:lnTo>
                  <a:lnTo>
                    <a:pt x="0" y="5201412"/>
                  </a:lnTo>
                  <a:lnTo>
                    <a:pt x="7956042" y="5201412"/>
                  </a:lnTo>
                  <a:lnTo>
                    <a:pt x="7956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64819" y="1232153"/>
            <a:ext cx="7800340" cy="523875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79375" algn="just">
              <a:lnSpc>
                <a:spcPct val="100000"/>
              </a:lnSpc>
              <a:spcBef>
                <a:spcPts val="130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Maitriser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définition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manipulation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enregistrements.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I.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Notion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d’enregistrement</a:t>
            </a:r>
            <a:endParaRPr sz="2400">
              <a:latin typeface="Calibri"/>
              <a:cs typeface="Calibri"/>
            </a:endParaRPr>
          </a:p>
          <a:p>
            <a:pPr marL="12700" marR="6985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variables que nous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avons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jusqu'a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présent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utilisées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constituent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seul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type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données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(entier,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réel,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caractère,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etc...).</a:t>
            </a:r>
            <a:endParaRPr sz="2400">
              <a:latin typeface="Calibri"/>
              <a:cs typeface="Calibri"/>
            </a:endParaRPr>
          </a:p>
          <a:p>
            <a:pPr marL="12700" marR="6350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tableaux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constituent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extension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puisque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nous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y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déclarons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variable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composée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plusieurs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éléments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même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type.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enregistrement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(ou un article)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permet de rassembler un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ensemble d'éléments de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types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différents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sous un nom unique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définit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ainsi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un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composé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titre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d'exemple,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date,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adresse ou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complexe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peuvent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considérés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comme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enregistrements.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428650"/>
            <a:ext cx="285750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b="1" spc="-10" dirty="0">
                <a:latin typeface="Calibri"/>
                <a:cs typeface="Calibri"/>
              </a:rPr>
              <a:t>Objectif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1474" y="428650"/>
            <a:ext cx="787336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b="1" spc="-5" dirty="0">
                <a:latin typeface="Calibri"/>
                <a:cs typeface="Calibri"/>
              </a:rPr>
              <a:t>II.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Déclaration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des</a:t>
            </a:r>
            <a:r>
              <a:rPr b="1" spc="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variables</a:t>
            </a:r>
            <a:r>
              <a:rPr b="1" spc="3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de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type</a:t>
            </a:r>
            <a:r>
              <a:rPr b="1" spc="1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enregistrement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85787" y="1285875"/>
            <a:ext cx="7799705" cy="5370830"/>
            <a:chOff x="785787" y="1285875"/>
            <a:chExt cx="7799705" cy="5370830"/>
          </a:xfrm>
        </p:grpSpPr>
        <p:sp>
          <p:nvSpPr>
            <p:cNvPr id="5" name="object 5"/>
            <p:cNvSpPr/>
            <p:nvPr/>
          </p:nvSpPr>
          <p:spPr>
            <a:xfrm>
              <a:off x="8286750" y="6357963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0"/>
                  </a:moveTo>
                  <a:lnTo>
                    <a:pt x="0" y="0"/>
                  </a:lnTo>
                  <a:lnTo>
                    <a:pt x="0" y="285749"/>
                  </a:lnTo>
                  <a:lnTo>
                    <a:pt x="285750" y="285749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86750" y="6357963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285749"/>
                  </a:moveTo>
                  <a:lnTo>
                    <a:pt x="285750" y="285749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2857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5787" y="1285875"/>
              <a:ext cx="7787005" cy="5201920"/>
            </a:xfrm>
            <a:custGeom>
              <a:avLst/>
              <a:gdLst/>
              <a:ahLst/>
              <a:cxnLst/>
              <a:rect l="l" t="t" r="r" b="b"/>
              <a:pathLst>
                <a:path w="7787005" h="5201920">
                  <a:moveTo>
                    <a:pt x="7786751" y="0"/>
                  </a:moveTo>
                  <a:lnTo>
                    <a:pt x="0" y="0"/>
                  </a:lnTo>
                  <a:lnTo>
                    <a:pt x="0" y="5201412"/>
                  </a:lnTo>
                  <a:lnTo>
                    <a:pt x="7786751" y="5201412"/>
                  </a:lnTo>
                  <a:lnTo>
                    <a:pt x="7786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4819" y="1299464"/>
            <a:ext cx="7630159" cy="5086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Une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enregistrement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 une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déclaration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type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contenant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champs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précédée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mot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Struct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terminée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FinStruct.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1800"/>
              </a:spcBef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Exemple:</a:t>
            </a:r>
            <a:endParaRPr sz="2400">
              <a:latin typeface="Calibri"/>
              <a:cs typeface="Calibri"/>
            </a:endParaRPr>
          </a:p>
          <a:p>
            <a:pPr marL="12700" marR="4382135" indent="135255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d'une adresse: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4210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Adresse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Struct</a:t>
            </a:r>
            <a:endParaRPr sz="2400">
              <a:latin typeface="Calibri"/>
              <a:cs typeface="Calibri"/>
            </a:endParaRPr>
          </a:p>
          <a:p>
            <a:pPr marL="1308100" marR="4674235" indent="68580">
              <a:lnSpc>
                <a:spcPct val="100000"/>
              </a:lnSpc>
              <a:tabLst>
                <a:tab pos="1763395" algn="l"/>
              </a:tabLst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Rue : chaine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Ville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chaine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CP	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FinStruct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47955">
              <a:lnSpc>
                <a:spcPct val="100000"/>
              </a:lnSpc>
            </a:pP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69342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Adr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Adresse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92988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b="1" spc="-5" dirty="0">
                <a:latin typeface="Calibri"/>
                <a:cs typeface="Calibri"/>
              </a:rPr>
              <a:t>II.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Déclaration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des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variables</a:t>
            </a:r>
            <a:r>
              <a:rPr b="1" spc="3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de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type</a:t>
            </a:r>
            <a:r>
              <a:rPr b="1" spc="1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enregistrement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22312" y="1353819"/>
            <a:ext cx="7799705" cy="5238115"/>
            <a:chOff x="922312" y="1353819"/>
            <a:chExt cx="7799705" cy="5238115"/>
          </a:xfrm>
        </p:grpSpPr>
        <p:sp>
          <p:nvSpPr>
            <p:cNvPr id="4" name="object 4"/>
            <p:cNvSpPr/>
            <p:nvPr/>
          </p:nvSpPr>
          <p:spPr>
            <a:xfrm>
              <a:off x="928662" y="1360207"/>
              <a:ext cx="7787005" cy="5212080"/>
            </a:xfrm>
            <a:custGeom>
              <a:avLst/>
              <a:gdLst/>
              <a:ahLst/>
              <a:cxnLst/>
              <a:rect l="l" t="t" r="r" b="b"/>
              <a:pathLst>
                <a:path w="7787005" h="5212080">
                  <a:moveTo>
                    <a:pt x="3893312" y="0"/>
                  </a:moveTo>
                  <a:lnTo>
                    <a:pt x="0" y="0"/>
                  </a:lnTo>
                  <a:lnTo>
                    <a:pt x="0" y="5212067"/>
                  </a:lnTo>
                  <a:lnTo>
                    <a:pt x="3893312" y="5212067"/>
                  </a:lnTo>
                  <a:lnTo>
                    <a:pt x="3893312" y="0"/>
                  </a:lnTo>
                  <a:close/>
                </a:path>
                <a:path w="7787005" h="5212080">
                  <a:moveTo>
                    <a:pt x="7786713" y="0"/>
                  </a:moveTo>
                  <a:lnTo>
                    <a:pt x="3893401" y="0"/>
                  </a:lnTo>
                  <a:lnTo>
                    <a:pt x="3893401" y="5212067"/>
                  </a:lnTo>
                  <a:lnTo>
                    <a:pt x="7786713" y="5212067"/>
                  </a:lnTo>
                  <a:lnTo>
                    <a:pt x="7786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2312" y="1353819"/>
              <a:ext cx="7799705" cy="5238115"/>
            </a:xfrm>
            <a:custGeom>
              <a:avLst/>
              <a:gdLst/>
              <a:ahLst/>
              <a:cxnLst/>
              <a:rect l="l" t="t" r="r" b="b"/>
              <a:pathLst>
                <a:path w="7799705" h="5238115">
                  <a:moveTo>
                    <a:pt x="3899750" y="0"/>
                  </a:moveTo>
                  <a:lnTo>
                    <a:pt x="3899750" y="5237505"/>
                  </a:lnTo>
                </a:path>
                <a:path w="7799705" h="5238115">
                  <a:moveTo>
                    <a:pt x="6350" y="0"/>
                  </a:moveTo>
                  <a:lnTo>
                    <a:pt x="6350" y="5237505"/>
                  </a:lnTo>
                </a:path>
                <a:path w="7799705" h="5238115">
                  <a:moveTo>
                    <a:pt x="7793062" y="0"/>
                  </a:moveTo>
                  <a:lnTo>
                    <a:pt x="7793062" y="5237505"/>
                  </a:lnTo>
                </a:path>
                <a:path w="7799705" h="5238115">
                  <a:moveTo>
                    <a:pt x="0" y="6350"/>
                  </a:moveTo>
                  <a:lnTo>
                    <a:pt x="7799412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2312" y="6572275"/>
              <a:ext cx="7799705" cy="0"/>
            </a:xfrm>
            <a:custGeom>
              <a:avLst/>
              <a:gdLst/>
              <a:ahLst/>
              <a:cxnLst/>
              <a:rect l="l" t="t" r="r" b="b"/>
              <a:pathLst>
                <a:path w="7799705">
                  <a:moveTo>
                    <a:pt x="0" y="0"/>
                  </a:moveTo>
                  <a:lnTo>
                    <a:pt x="779941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24765" indent="-673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Définition </a:t>
            </a:r>
            <a:r>
              <a:rPr spc="-5" dirty="0"/>
              <a:t>d'un </a:t>
            </a:r>
            <a:r>
              <a:rPr spc="-10" dirty="0"/>
              <a:t>produit: </a:t>
            </a:r>
            <a:r>
              <a:rPr spc="-530" dirty="0"/>
              <a:t> </a:t>
            </a:r>
            <a:r>
              <a:rPr spc="-25" dirty="0"/>
              <a:t>Types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/>
          </a:p>
          <a:p>
            <a:pPr marL="352425">
              <a:lnSpc>
                <a:spcPct val="100000"/>
              </a:lnSpc>
            </a:pPr>
            <a:r>
              <a:rPr spc="-10" dirty="0">
                <a:solidFill>
                  <a:srgbClr val="C00000"/>
                </a:solidFill>
              </a:rPr>
              <a:t>Produit</a:t>
            </a:r>
            <a:r>
              <a:rPr spc="-30" dirty="0">
                <a:solidFill>
                  <a:srgbClr val="C00000"/>
                </a:solidFill>
              </a:rPr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b="1" spc="-5" dirty="0">
                <a:latin typeface="Calibri"/>
                <a:cs typeface="Calibri"/>
              </a:rPr>
              <a:t>Stuct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1035050" marR="508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Codp :Entier </a:t>
            </a:r>
            <a:r>
              <a:rPr dirty="0"/>
              <a:t> libellé: </a:t>
            </a:r>
            <a:r>
              <a:rPr spc="-5" dirty="0"/>
              <a:t>Chaine </a:t>
            </a:r>
            <a:r>
              <a:rPr dirty="0"/>
              <a:t> Prix_Unit</a:t>
            </a:r>
            <a:r>
              <a:rPr spc="-65" dirty="0"/>
              <a:t> </a:t>
            </a:r>
            <a:r>
              <a:rPr dirty="0"/>
              <a:t>:</a:t>
            </a:r>
            <a:r>
              <a:rPr spc="-55" dirty="0"/>
              <a:t> </a:t>
            </a:r>
            <a:r>
              <a:rPr spc="-10" dirty="0"/>
              <a:t>Réel </a:t>
            </a:r>
            <a:r>
              <a:rPr spc="-525" dirty="0"/>
              <a:t> </a:t>
            </a:r>
            <a:r>
              <a:rPr spc="-10" dirty="0"/>
              <a:t>Stock </a:t>
            </a:r>
            <a:r>
              <a:rPr dirty="0"/>
              <a:t>: </a:t>
            </a:r>
            <a:r>
              <a:rPr spc="-10" dirty="0"/>
              <a:t>Réel </a:t>
            </a:r>
            <a:r>
              <a:rPr spc="-5" dirty="0"/>
              <a:t> </a:t>
            </a:r>
            <a:r>
              <a:rPr b="1" spc="-5" dirty="0">
                <a:latin typeface="Calibri"/>
                <a:cs typeface="Calibri"/>
              </a:rPr>
              <a:t>FinStruct</a:t>
            </a:r>
            <a:r>
              <a:rPr spc="-5" dirty="0"/>
              <a:t>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/>
          </a:p>
          <a:p>
            <a:pPr marL="79375">
              <a:lnSpc>
                <a:spcPct val="100000"/>
              </a:lnSpc>
            </a:pPr>
            <a:r>
              <a:rPr spc="-50" dirty="0"/>
              <a:t>Var</a:t>
            </a:r>
          </a:p>
          <a:p>
            <a:pPr marL="421005">
              <a:lnSpc>
                <a:spcPct val="100000"/>
              </a:lnSpc>
            </a:pPr>
            <a:r>
              <a:rPr spc="-5" dirty="0"/>
              <a:t>P1,P2</a:t>
            </a:r>
            <a:r>
              <a:rPr spc="-35" dirty="0"/>
              <a:t> </a:t>
            </a:r>
            <a:r>
              <a:rPr dirty="0"/>
              <a:t>:</a:t>
            </a:r>
            <a:r>
              <a:rPr spc="-35" dirty="0"/>
              <a:t> </a:t>
            </a:r>
            <a:r>
              <a:rPr spc="-10" dirty="0">
                <a:solidFill>
                  <a:srgbClr val="C00000"/>
                </a:solidFill>
              </a:rPr>
              <a:t>Produit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01565" y="1373885"/>
            <a:ext cx="30232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fr-FR" sz="2400" spc="-15" dirty="0" smtClean="0">
                <a:solidFill>
                  <a:srgbClr val="6F2F9F"/>
                </a:solidFill>
                <a:latin typeface="Calibri"/>
                <a:cs typeface="Calibri"/>
              </a:rPr>
              <a:t>Exemple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Définir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type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complexe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1565" y="2471115"/>
            <a:ext cx="10496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Solution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1565" y="5398109"/>
            <a:ext cx="433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40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78577" y="3202940"/>
            <a:ext cx="247904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</a:pP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Complexe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Struct</a:t>
            </a:r>
            <a:endParaRPr sz="2400">
              <a:latin typeface="Calibri"/>
              <a:cs typeface="Calibri"/>
            </a:endParaRPr>
          </a:p>
          <a:p>
            <a:pPr marL="968375" marR="214629" algn="just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Reel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:Réel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imag</a:t>
            </a:r>
            <a:r>
              <a:rPr sz="2400" spc="-1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:Réel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FinStruct.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Calibri"/>
              <a:cs typeface="Calibri"/>
            </a:endParaRPr>
          </a:p>
          <a:p>
            <a:pPr marL="421005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Complexe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02120"/>
            <a:chOff x="0" y="0"/>
            <a:chExt cx="9144000" cy="6802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015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5787" y="1214462"/>
              <a:ext cx="7929880" cy="5494020"/>
            </a:xfrm>
            <a:custGeom>
              <a:avLst/>
              <a:gdLst/>
              <a:ahLst/>
              <a:cxnLst/>
              <a:rect l="l" t="t" r="r" b="b"/>
              <a:pathLst>
                <a:path w="7929880" h="5494020">
                  <a:moveTo>
                    <a:pt x="7929626" y="0"/>
                  </a:moveTo>
                  <a:lnTo>
                    <a:pt x="0" y="0"/>
                  </a:lnTo>
                  <a:lnTo>
                    <a:pt x="0" y="5493766"/>
                  </a:lnTo>
                  <a:lnTo>
                    <a:pt x="7929626" y="5493766"/>
                  </a:lnTo>
                  <a:lnTo>
                    <a:pt x="79296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64819" y="1227835"/>
            <a:ext cx="7773034" cy="464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enregistrements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peuvent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pas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référencés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globalement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instruction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ils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composés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d'éléments 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types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différents.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Par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contre,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il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est possible 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faire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référence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élément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enregistrement.</a:t>
            </a:r>
            <a:endParaRPr sz="2400">
              <a:latin typeface="Calibri"/>
              <a:cs typeface="Calibri"/>
            </a:endParaRPr>
          </a:p>
          <a:p>
            <a:pPr marL="12700" marR="5080" indent="68580" algn="just">
              <a:lnSpc>
                <a:spcPct val="100000"/>
              </a:lnSpc>
              <a:spcBef>
                <a:spcPts val="605"/>
              </a:spcBef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Pour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cela, il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nécessaire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préciser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nom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(identificateur)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l'enregistrement,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suivi d'un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suffixe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indiquant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l'identificateur </a:t>
            </a:r>
            <a:r>
              <a:rPr sz="2400" spc="-5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 champs concerné.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Les deux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identificateurs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sont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séparés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par </a:t>
            </a:r>
            <a:r>
              <a:rPr sz="2400" spc="-5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un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point.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Exemple</a:t>
            </a:r>
            <a:endParaRPr sz="2400">
              <a:latin typeface="Calibri"/>
              <a:cs typeface="Calibri"/>
            </a:endParaRPr>
          </a:p>
          <a:p>
            <a:pPr marL="79375" marR="4702175">
              <a:lnSpc>
                <a:spcPct val="100000"/>
              </a:lnSpc>
              <a:spcBef>
                <a:spcPts val="600"/>
              </a:spcBef>
            </a:pP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Adr.Rue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1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"Ibn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Roched"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Adr.ville</a:t>
            </a:r>
            <a:r>
              <a:rPr sz="2000" spc="-2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"Monastir"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Adr.CP</a:t>
            </a:r>
            <a:r>
              <a:rPr sz="2000" spc="-3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5000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800100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dirty="0"/>
              <a:t>III.</a:t>
            </a:r>
            <a:r>
              <a:rPr spc="-35" dirty="0"/>
              <a:t> </a:t>
            </a:r>
            <a:r>
              <a:rPr spc="-10" dirty="0"/>
              <a:t>Manipulation</a:t>
            </a:r>
            <a:r>
              <a:rPr spc="40" dirty="0"/>
              <a:t> </a:t>
            </a:r>
            <a:r>
              <a:rPr spc="-10" dirty="0"/>
              <a:t>des</a:t>
            </a:r>
            <a:r>
              <a:rPr spc="20" dirty="0"/>
              <a:t> </a:t>
            </a:r>
            <a:r>
              <a:rPr spc="-10" dirty="0"/>
              <a:t>variables</a:t>
            </a:r>
            <a:r>
              <a:rPr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spc="-10" dirty="0"/>
              <a:t>type</a:t>
            </a:r>
            <a:r>
              <a:rPr spc="15" dirty="0"/>
              <a:t> </a:t>
            </a:r>
            <a:r>
              <a:rPr spc="-15" dirty="0"/>
              <a:t>enregistrement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767195"/>
            <a:chOff x="0" y="0"/>
            <a:chExt cx="9144000" cy="6767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7669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28662" y="1357312"/>
              <a:ext cx="7715250" cy="5201920"/>
            </a:xfrm>
            <a:custGeom>
              <a:avLst/>
              <a:gdLst/>
              <a:ahLst/>
              <a:cxnLst/>
              <a:rect l="l" t="t" r="r" b="b"/>
              <a:pathLst>
                <a:path w="7715250" h="5201920">
                  <a:moveTo>
                    <a:pt x="7715250" y="0"/>
                  </a:moveTo>
                  <a:lnTo>
                    <a:pt x="0" y="0"/>
                  </a:lnTo>
                  <a:lnTo>
                    <a:pt x="0" y="5201412"/>
                  </a:lnTo>
                  <a:lnTo>
                    <a:pt x="7715250" y="5201412"/>
                  </a:lnTo>
                  <a:lnTo>
                    <a:pt x="7715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7465" y="1294764"/>
            <a:ext cx="7557770" cy="90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Remarque</a:t>
            </a:r>
            <a:endParaRPr sz="24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Il</a:t>
            </a:r>
            <a:r>
              <a:rPr sz="2400" spc="1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1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possible</a:t>
            </a:r>
            <a:r>
              <a:rPr sz="2400" spc="1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d‘utiliser</a:t>
            </a:r>
            <a:r>
              <a:rPr sz="2400" spc="1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l'opérateur</a:t>
            </a:r>
            <a:r>
              <a:rPr sz="2400" spc="1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d'affectation</a:t>
            </a:r>
            <a:r>
              <a:rPr sz="2400" spc="1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entre</a:t>
            </a:r>
            <a:r>
              <a:rPr sz="2400" spc="1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deux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0206" y="2178811"/>
            <a:ext cx="1076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x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emple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enregistrements</a:t>
            </a:r>
            <a:r>
              <a:rPr spc="375" dirty="0"/>
              <a:t> </a:t>
            </a:r>
            <a:r>
              <a:rPr spc="-5" dirty="0"/>
              <a:t>de</a:t>
            </a:r>
            <a:r>
              <a:rPr spc="390" dirty="0"/>
              <a:t> </a:t>
            </a:r>
            <a:r>
              <a:rPr dirty="0"/>
              <a:t>même</a:t>
            </a:r>
            <a:r>
              <a:rPr spc="385" dirty="0"/>
              <a:t> </a:t>
            </a:r>
            <a:r>
              <a:rPr spc="-5" dirty="0"/>
              <a:t>type</a:t>
            </a:r>
            <a:r>
              <a:rPr spc="395" dirty="0"/>
              <a:t> </a:t>
            </a:r>
            <a:r>
              <a:rPr spc="-10" dirty="0"/>
              <a:t>comme</a:t>
            </a:r>
            <a:r>
              <a:rPr spc="400" dirty="0"/>
              <a:t> </a:t>
            </a:r>
            <a:r>
              <a:rPr spc="-5" dirty="0"/>
              <a:t>dans</a:t>
            </a:r>
            <a:r>
              <a:rPr spc="385" dirty="0"/>
              <a:t> </a:t>
            </a:r>
            <a:r>
              <a:rPr spc="-5" dirty="0"/>
              <a:t>les </a:t>
            </a:r>
            <a:r>
              <a:rPr spc="-530" dirty="0"/>
              <a:t> </a:t>
            </a:r>
            <a:r>
              <a:rPr spc="-15" dirty="0"/>
              <a:t>suivant:</a:t>
            </a:r>
          </a:p>
          <a:p>
            <a:pPr marL="2332355">
              <a:lnSpc>
                <a:spcPct val="100000"/>
              </a:lnSpc>
              <a:spcBef>
                <a:spcPts val="625"/>
              </a:spcBef>
            </a:pPr>
            <a:r>
              <a:rPr spc="-5" dirty="0">
                <a:solidFill>
                  <a:srgbClr val="C00000"/>
                </a:solidFill>
              </a:rPr>
              <a:t>P1</a:t>
            </a:r>
            <a:r>
              <a:rPr spc="-25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Codp</a:t>
            </a:r>
            <a:r>
              <a:rPr spc="-2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  <a:latin typeface="Wingdings"/>
                <a:cs typeface="Wingdings"/>
              </a:rPr>
              <a:t></a:t>
            </a:r>
            <a:r>
              <a:rPr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C00000"/>
                </a:solidFill>
              </a:rPr>
              <a:t>P2.Codp</a:t>
            </a:r>
          </a:p>
          <a:p>
            <a:pPr marL="2332355">
              <a:lnSpc>
                <a:spcPct val="100000"/>
              </a:lnSpc>
            </a:pPr>
            <a:r>
              <a:rPr spc="-5" dirty="0">
                <a:solidFill>
                  <a:srgbClr val="C00000"/>
                </a:solidFill>
              </a:rPr>
              <a:t>P1.Libellé</a:t>
            </a:r>
            <a:r>
              <a:rPr spc="-1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  <a:latin typeface="Wingdings"/>
                <a:cs typeface="Wingdings"/>
              </a:rPr>
              <a:t></a:t>
            </a:r>
            <a:r>
              <a:rPr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C00000"/>
                </a:solidFill>
              </a:rPr>
              <a:t>P2.Libellé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27653" y="3645153"/>
            <a:ext cx="349186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P1.Prix_unit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Wingdings"/>
                <a:cs typeface="Wingdings"/>
              </a:rPr>
              <a:t></a:t>
            </a:r>
            <a:r>
              <a:rPr sz="24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P2.Prix_Unit </a:t>
            </a:r>
            <a:r>
              <a:rPr sz="2400" spc="-5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P1.Stock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Wingdings"/>
                <a:cs typeface="Wingdings"/>
              </a:rPr>
              <a:t></a:t>
            </a:r>
            <a:r>
              <a:rPr sz="24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P2.Stock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465" y="4526102"/>
            <a:ext cx="7559675" cy="193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même,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effectuer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comparaison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égalitaire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ou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inégalitaire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entre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deux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enregistrements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même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type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comme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2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exemples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suivants:</a:t>
            </a:r>
            <a:endParaRPr sz="2400">
              <a:latin typeface="Calibri"/>
              <a:cs typeface="Calibri"/>
            </a:endParaRPr>
          </a:p>
          <a:p>
            <a:pPr marL="1101090" indent="-174625" algn="just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0172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Si(P1=P2)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Alors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....</a:t>
            </a:r>
            <a:endParaRPr sz="2400">
              <a:latin typeface="Calibri"/>
              <a:cs typeface="Calibri"/>
            </a:endParaRPr>
          </a:p>
          <a:p>
            <a:pPr marL="1101090" indent="-174625" algn="just">
              <a:lnSpc>
                <a:spcPct val="100000"/>
              </a:lnSpc>
              <a:buFont typeface="Arial MT"/>
              <a:buChar char="•"/>
              <a:tabLst>
                <a:tab pos="1101725" algn="l"/>
              </a:tabLst>
            </a:pP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TantQue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(P1&lt;&gt;P2)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Faire...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42912" y="405409"/>
            <a:ext cx="7992109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dirty="0"/>
              <a:t>III.</a:t>
            </a:r>
            <a:r>
              <a:rPr spc="-35" dirty="0"/>
              <a:t> </a:t>
            </a:r>
            <a:r>
              <a:rPr spc="-10" dirty="0"/>
              <a:t>Manipulation</a:t>
            </a:r>
            <a:r>
              <a:rPr spc="40" dirty="0"/>
              <a:t> </a:t>
            </a:r>
            <a:r>
              <a:rPr spc="-10" dirty="0"/>
              <a:t>des</a:t>
            </a:r>
            <a:r>
              <a:rPr spc="20" dirty="0"/>
              <a:t> </a:t>
            </a:r>
            <a:r>
              <a:rPr spc="-10" dirty="0"/>
              <a:t>variables</a:t>
            </a:r>
            <a:r>
              <a:rPr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spc="-10" dirty="0"/>
              <a:t>type</a:t>
            </a:r>
            <a:r>
              <a:rPr spc="15" dirty="0"/>
              <a:t> </a:t>
            </a:r>
            <a:r>
              <a:rPr spc="-15" dirty="0"/>
              <a:t>enregistrement</a:t>
            </a:r>
          </a:p>
        </p:txBody>
      </p:sp>
      <p:sp>
        <p:nvSpPr>
          <p:cNvPr id="11" name="object 11"/>
          <p:cNvSpPr/>
          <p:nvPr/>
        </p:nvSpPr>
        <p:spPr>
          <a:xfrm>
            <a:off x="1142974" y="3385756"/>
            <a:ext cx="1929130" cy="786130"/>
          </a:xfrm>
          <a:custGeom>
            <a:avLst/>
            <a:gdLst/>
            <a:ahLst/>
            <a:cxnLst/>
            <a:rect l="l" t="t" r="r" b="b"/>
            <a:pathLst>
              <a:path w="1929130" h="786129">
                <a:moveTo>
                  <a:pt x="0" y="785812"/>
                </a:moveTo>
                <a:lnTo>
                  <a:pt x="1928876" y="785812"/>
                </a:lnTo>
                <a:lnTo>
                  <a:pt x="1928876" y="0"/>
                </a:lnTo>
                <a:lnTo>
                  <a:pt x="0" y="0"/>
                </a:lnTo>
                <a:lnTo>
                  <a:pt x="0" y="785812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19911" y="3564128"/>
            <a:ext cx="1574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P1</a:t>
            </a:r>
            <a:r>
              <a:rPr sz="2000" spc="-5" dirty="0">
                <a:solidFill>
                  <a:srgbClr val="C00000"/>
                </a:solidFill>
                <a:latin typeface="Wingdings"/>
                <a:cs typeface="Wingdings"/>
              </a:rPr>
              <a:t>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P2</a:t>
            </a:r>
            <a:r>
              <a:rPr sz="2400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&lt;==&gt;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00375" y="3000375"/>
            <a:ext cx="357505" cy="1571625"/>
          </a:xfrm>
          <a:custGeom>
            <a:avLst/>
            <a:gdLst/>
            <a:ahLst/>
            <a:cxnLst/>
            <a:rect l="l" t="t" r="r" b="b"/>
            <a:pathLst>
              <a:path w="357504" h="1571625">
                <a:moveTo>
                  <a:pt x="357124" y="1571625"/>
                </a:moveTo>
                <a:lnTo>
                  <a:pt x="316201" y="1565264"/>
                </a:lnTo>
                <a:lnTo>
                  <a:pt x="278625" y="1547147"/>
                </a:lnTo>
                <a:lnTo>
                  <a:pt x="245469" y="1518720"/>
                </a:lnTo>
                <a:lnTo>
                  <a:pt x="217810" y="1481429"/>
                </a:lnTo>
                <a:lnTo>
                  <a:pt x="196722" y="1436719"/>
                </a:lnTo>
                <a:lnTo>
                  <a:pt x="183281" y="1386039"/>
                </a:lnTo>
                <a:lnTo>
                  <a:pt x="178562" y="1330833"/>
                </a:lnTo>
                <a:lnTo>
                  <a:pt x="178562" y="1026541"/>
                </a:lnTo>
                <a:lnTo>
                  <a:pt x="173849" y="971341"/>
                </a:lnTo>
                <a:lnTo>
                  <a:pt x="160423" y="920679"/>
                </a:lnTo>
                <a:lnTo>
                  <a:pt x="139353" y="875994"/>
                </a:lnTo>
                <a:lnTo>
                  <a:pt x="111707" y="838730"/>
                </a:lnTo>
                <a:lnTo>
                  <a:pt x="78554" y="810328"/>
                </a:lnTo>
                <a:lnTo>
                  <a:pt x="40962" y="792229"/>
                </a:lnTo>
                <a:lnTo>
                  <a:pt x="0" y="785876"/>
                </a:lnTo>
                <a:lnTo>
                  <a:pt x="40962" y="779515"/>
                </a:lnTo>
                <a:lnTo>
                  <a:pt x="78554" y="761398"/>
                </a:lnTo>
                <a:lnTo>
                  <a:pt x="111707" y="732971"/>
                </a:lnTo>
                <a:lnTo>
                  <a:pt x="139353" y="695680"/>
                </a:lnTo>
                <a:lnTo>
                  <a:pt x="160423" y="650970"/>
                </a:lnTo>
                <a:lnTo>
                  <a:pt x="173849" y="600290"/>
                </a:lnTo>
                <a:lnTo>
                  <a:pt x="178562" y="545084"/>
                </a:lnTo>
                <a:lnTo>
                  <a:pt x="178562" y="240791"/>
                </a:lnTo>
                <a:lnTo>
                  <a:pt x="183281" y="185585"/>
                </a:lnTo>
                <a:lnTo>
                  <a:pt x="196722" y="134905"/>
                </a:lnTo>
                <a:lnTo>
                  <a:pt x="217810" y="90195"/>
                </a:lnTo>
                <a:lnTo>
                  <a:pt x="245469" y="52904"/>
                </a:lnTo>
                <a:lnTo>
                  <a:pt x="278625" y="24477"/>
                </a:lnTo>
                <a:lnTo>
                  <a:pt x="316201" y="6360"/>
                </a:lnTo>
                <a:lnTo>
                  <a:pt x="357124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02120"/>
            <a:chOff x="0" y="0"/>
            <a:chExt cx="9144000" cy="6802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015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28662" y="1142949"/>
              <a:ext cx="7715250" cy="5263515"/>
            </a:xfrm>
            <a:custGeom>
              <a:avLst/>
              <a:gdLst/>
              <a:ahLst/>
              <a:cxnLst/>
              <a:rect l="l" t="t" r="r" b="b"/>
              <a:pathLst>
                <a:path w="7715250" h="5263515">
                  <a:moveTo>
                    <a:pt x="7715250" y="0"/>
                  </a:moveTo>
                  <a:lnTo>
                    <a:pt x="0" y="0"/>
                  </a:lnTo>
                  <a:lnTo>
                    <a:pt x="0" y="5263007"/>
                  </a:lnTo>
                  <a:lnTo>
                    <a:pt x="7715250" y="5263007"/>
                  </a:lnTo>
                  <a:lnTo>
                    <a:pt x="7715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7465" y="1156461"/>
            <a:ext cx="755840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Exercice</a:t>
            </a:r>
            <a:r>
              <a:rPr sz="2400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 marR="5715" indent="68580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2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spc="2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algorithme</a:t>
            </a:r>
            <a:r>
              <a:rPr sz="2400" spc="2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</a:t>
            </a:r>
            <a:r>
              <a:rPr sz="2400" spc="2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lit</a:t>
            </a:r>
            <a:r>
              <a:rPr sz="2400" spc="229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deux</a:t>
            </a:r>
            <a:r>
              <a:rPr sz="2400" spc="2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nombres</a:t>
            </a:r>
            <a:r>
              <a:rPr sz="2400" spc="2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complexes</a:t>
            </a:r>
            <a:r>
              <a:rPr sz="2400" spc="229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C1</a:t>
            </a:r>
            <a:r>
              <a:rPr sz="2400" spc="2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C2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ensuite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leur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produit.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utilisera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formules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calcul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suivantes:</a:t>
            </a:r>
            <a:endParaRPr sz="2400">
              <a:latin typeface="Calibri"/>
              <a:cs typeface="Calibri"/>
            </a:endParaRPr>
          </a:p>
          <a:p>
            <a:pPr marL="76263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.(a+bi)+(c+di)=(a+c)+(b+d)i</a:t>
            </a:r>
            <a:endParaRPr sz="2400">
              <a:latin typeface="Calibri"/>
              <a:cs typeface="Calibri"/>
            </a:endParaRPr>
          </a:p>
          <a:p>
            <a:pPr marL="76263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.(a+bi)(c+di)=(ac-bd)+(ad+bc)i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Calibri"/>
              <a:cs typeface="Calibri"/>
            </a:endParaRPr>
          </a:p>
          <a:p>
            <a:pPr marL="147955" algn="just">
              <a:lnSpc>
                <a:spcPct val="100000"/>
              </a:lnSpc>
            </a:pP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Exercice</a:t>
            </a:r>
            <a:r>
              <a:rPr sz="2400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Créer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tableau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TabEmp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contiendra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informations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sur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50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employées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d'une entreprise (Matricule, nom,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salaire,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etat_civil).le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remplir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puis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afficher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5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</a:t>
            </a:r>
            <a:r>
              <a:rPr sz="2400" spc="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d'employés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dont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salaire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compris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entre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500 et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700D.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20" dirty="0"/>
              <a:t>Exercice</a:t>
            </a:r>
            <a:r>
              <a:rPr spc="-40" dirty="0"/>
              <a:t> </a:t>
            </a:r>
            <a:r>
              <a:rPr spc="-10" dirty="0"/>
              <a:t>d'application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00124"/>
            <a:ext cx="7858125" cy="4893945"/>
          </a:xfrm>
          <a:custGeom>
            <a:avLst/>
            <a:gdLst/>
            <a:ahLst/>
            <a:cxnLst/>
            <a:rect l="l" t="t" r="r" b="b"/>
            <a:pathLst>
              <a:path w="7858125" h="4893945">
                <a:moveTo>
                  <a:pt x="7858125" y="0"/>
                </a:moveTo>
                <a:lnTo>
                  <a:pt x="0" y="0"/>
                </a:lnTo>
                <a:lnTo>
                  <a:pt x="0" y="4893691"/>
                </a:lnTo>
                <a:lnTo>
                  <a:pt x="7858125" y="4893691"/>
                </a:lnTo>
                <a:lnTo>
                  <a:pt x="7858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13713"/>
            <a:ext cx="7382509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170815" indent="-6731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Exercice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: somme et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produit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deux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complexes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Algorithme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CalculComplexe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421005">
              <a:lnSpc>
                <a:spcPct val="100000"/>
              </a:lnSpc>
            </a:pP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complexe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Struct</a:t>
            </a:r>
            <a:endParaRPr sz="2400">
              <a:latin typeface="Calibri"/>
              <a:cs typeface="Calibri"/>
            </a:endParaRPr>
          </a:p>
          <a:p>
            <a:pPr marL="1239520">
              <a:lnSpc>
                <a:spcPct val="100000"/>
              </a:lnSpc>
              <a:tabLst>
                <a:tab pos="2656840" algn="l"/>
              </a:tabLst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Reel,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imag	: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Réel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FinStruct.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79375" marR="4189729" indent="61404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C1,C2,S,P:</a:t>
            </a:r>
            <a:r>
              <a:rPr sz="2400" spc="-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complexe </a:t>
            </a:r>
            <a:r>
              <a:rPr sz="2400" spc="-5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79375" marR="5080" indent="-6731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Ecrire("partie réelle du 1er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:")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Lire(C1.Reel)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Ecrire("partie imaginaire du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1er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:")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Lire(C1.Imag)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Ecrire("Partie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réelle du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2éme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:")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Lire(C2.Reel)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Ecrire("Partie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imaginaire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2éme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nombre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:")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Lire(C2.imag)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10" dirty="0"/>
              <a:t>Solutions</a:t>
            </a:r>
            <a:r>
              <a:rPr spc="5" dirty="0"/>
              <a:t> </a:t>
            </a:r>
            <a:r>
              <a:rPr spc="-10" dirty="0"/>
              <a:t>des </a:t>
            </a:r>
            <a:r>
              <a:rPr spc="-20" dirty="0"/>
              <a:t>exercices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631442"/>
            <a:ext cx="7644130" cy="2677795"/>
          </a:xfrm>
          <a:custGeom>
            <a:avLst/>
            <a:gdLst/>
            <a:ahLst/>
            <a:cxnLst/>
            <a:rect l="l" t="t" r="r" b="b"/>
            <a:pathLst>
              <a:path w="7644130" h="2677795">
                <a:moveTo>
                  <a:pt x="7643876" y="0"/>
                </a:moveTo>
                <a:lnTo>
                  <a:pt x="0" y="0"/>
                </a:lnTo>
                <a:lnTo>
                  <a:pt x="0" y="2677667"/>
                </a:lnTo>
                <a:lnTo>
                  <a:pt x="7643876" y="2677667"/>
                </a:lnTo>
                <a:lnTo>
                  <a:pt x="76438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645158"/>
            <a:ext cx="589978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2381250" indent="-6731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S.reel</a:t>
            </a:r>
            <a:r>
              <a:rPr sz="2000" spc="-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C1.reel+C2.reel)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S.imag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6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C1.imag+C2.imag)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Ecrire("somme=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",S.reel,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"+"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,S.imag,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"i")</a:t>
            </a:r>
            <a:endParaRPr sz="2400">
              <a:latin typeface="Calibri"/>
              <a:cs typeface="Calibri"/>
            </a:endParaRPr>
          </a:p>
          <a:p>
            <a:pPr marL="79375" marR="5080">
              <a:lnSpc>
                <a:spcPct val="100000"/>
              </a:lnSpc>
            </a:pP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P.reel </a:t>
            </a:r>
            <a:r>
              <a:rPr sz="2000" spc="-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(C1.reel*C2.reel)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-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(C1.imag*C2.imag)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P.imag </a:t>
            </a:r>
            <a:r>
              <a:rPr sz="2000" spc="-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(C1.reel*C2.imag)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(C1.imag*C2.reel)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Ecrire("Produit=",P.reel,"+",P.imag,"i")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10" dirty="0"/>
              <a:t>Solutions</a:t>
            </a:r>
            <a:r>
              <a:rPr spc="5" dirty="0"/>
              <a:t> </a:t>
            </a:r>
            <a:r>
              <a:rPr spc="-10" dirty="0"/>
              <a:t>des </a:t>
            </a:r>
            <a:r>
              <a:rPr spc="-20" dirty="0"/>
              <a:t>exercices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00145"/>
            <a:ext cx="7858125" cy="5263515"/>
          </a:xfrm>
          <a:custGeom>
            <a:avLst/>
            <a:gdLst/>
            <a:ahLst/>
            <a:cxnLst/>
            <a:rect l="l" t="t" r="r" b="b"/>
            <a:pathLst>
              <a:path w="7858125" h="5263515">
                <a:moveTo>
                  <a:pt x="7858125" y="0"/>
                </a:moveTo>
                <a:lnTo>
                  <a:pt x="0" y="0"/>
                </a:lnTo>
                <a:lnTo>
                  <a:pt x="0" y="5263007"/>
                </a:lnTo>
                <a:lnTo>
                  <a:pt x="7858125" y="5263007"/>
                </a:lnTo>
                <a:lnTo>
                  <a:pt x="7858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13713"/>
            <a:ext cx="429831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139700" indent="-6731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Exercice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2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tableau des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employés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Algorithme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Personnel</a:t>
            </a:r>
            <a:endParaRPr sz="2400">
              <a:latin typeface="Calibri"/>
              <a:cs typeface="Calibri"/>
            </a:endParaRPr>
          </a:p>
          <a:p>
            <a:pPr marL="79375" marR="2783840">
              <a:lnSpc>
                <a:spcPct val="100000"/>
              </a:lnSpc>
              <a:tabLst>
                <a:tab pos="88582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50 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421005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employé=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Struct</a:t>
            </a:r>
            <a:endParaRPr sz="2400">
              <a:latin typeface="Calibri"/>
              <a:cs typeface="Calibri"/>
            </a:endParaRPr>
          </a:p>
          <a:p>
            <a:pPr marL="13766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Matricule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400">
              <a:latin typeface="Calibri"/>
              <a:cs typeface="Calibri"/>
            </a:endParaRPr>
          </a:p>
          <a:p>
            <a:pPr marL="1376680" marR="12446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Nom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Chaine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Sal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réel</a:t>
            </a:r>
            <a:endParaRPr sz="2400">
              <a:latin typeface="Calibri"/>
              <a:cs typeface="Calibri"/>
            </a:endParaRPr>
          </a:p>
          <a:p>
            <a:pPr marL="137668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Etat_civil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Caractére</a:t>
            </a:r>
            <a:endParaRPr sz="2400">
              <a:latin typeface="Calibri"/>
              <a:cs typeface="Calibri"/>
            </a:endParaRPr>
          </a:p>
          <a:p>
            <a:pPr marL="13081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FinStruct</a:t>
            </a:r>
            <a:endParaRPr sz="2400">
              <a:latin typeface="Calibri"/>
              <a:cs typeface="Calibri"/>
            </a:endParaRPr>
          </a:p>
          <a:p>
            <a:pPr marL="421005">
              <a:lnSpc>
                <a:spcPct val="100000"/>
              </a:lnSpc>
            </a:pPr>
            <a:r>
              <a:rPr sz="2400" spc="-70" dirty="0">
                <a:solidFill>
                  <a:srgbClr val="1F487C"/>
                </a:solidFill>
                <a:latin typeface="Calibri"/>
                <a:cs typeface="Calibri"/>
              </a:rPr>
              <a:t>Tab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=Tableau[1...n]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employé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624840" marR="1504315">
              <a:lnSpc>
                <a:spcPct val="100000"/>
              </a:lnSpc>
            </a:pP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TabEmp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Tableau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i,nb:Entier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10" dirty="0"/>
              <a:t>Solutions</a:t>
            </a:r>
            <a:r>
              <a:rPr spc="5" dirty="0"/>
              <a:t> </a:t>
            </a:r>
            <a:r>
              <a:rPr spc="-10" dirty="0"/>
              <a:t>des </a:t>
            </a:r>
            <a:r>
              <a:rPr spc="-20" dirty="0"/>
              <a:t>exercices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00124"/>
            <a:ext cx="7644130" cy="4893945"/>
          </a:xfrm>
          <a:custGeom>
            <a:avLst/>
            <a:gdLst/>
            <a:ahLst/>
            <a:cxnLst/>
            <a:rect l="l" t="t" r="r" b="b"/>
            <a:pathLst>
              <a:path w="7644130" h="4893945">
                <a:moveTo>
                  <a:pt x="7643876" y="0"/>
                </a:moveTo>
                <a:lnTo>
                  <a:pt x="0" y="0"/>
                </a:lnTo>
                <a:lnTo>
                  <a:pt x="0" y="4893691"/>
                </a:lnTo>
                <a:lnTo>
                  <a:pt x="7643876" y="4893691"/>
                </a:lnTo>
                <a:lnTo>
                  <a:pt x="76438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13713"/>
            <a:ext cx="518096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56055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remplir(Var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 :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Tab)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352425">
              <a:lnSpc>
                <a:spcPct val="100000"/>
              </a:lnSpc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Faire</a:t>
            </a:r>
            <a:endParaRPr sz="2400">
              <a:latin typeface="Calibri"/>
              <a:cs typeface="Calibri"/>
            </a:endParaRPr>
          </a:p>
          <a:p>
            <a:pPr marL="1035050" marR="508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Ecrire("Matricule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l'employé :")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Lire(T[i].Matricule)</a:t>
            </a:r>
            <a:endParaRPr sz="2400">
              <a:latin typeface="Calibri"/>
              <a:cs typeface="Calibri"/>
            </a:endParaRPr>
          </a:p>
          <a:p>
            <a:pPr marL="103505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Ecrire("nom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l'employé:")</a:t>
            </a:r>
            <a:endParaRPr sz="2400">
              <a:latin typeface="Calibri"/>
              <a:cs typeface="Calibri"/>
            </a:endParaRPr>
          </a:p>
          <a:p>
            <a:pPr marL="103505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Lire(T[i].nom)</a:t>
            </a:r>
            <a:endParaRPr sz="2400">
              <a:latin typeface="Calibri"/>
              <a:cs typeface="Calibri"/>
            </a:endParaRPr>
          </a:p>
          <a:p>
            <a:pPr marL="1035050" marR="436245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Ecrire("Salaire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l'employé:")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Lire(T[i].Sal)</a:t>
            </a:r>
            <a:endParaRPr sz="2400">
              <a:latin typeface="Calibri"/>
              <a:cs typeface="Calibri"/>
            </a:endParaRPr>
          </a:p>
          <a:p>
            <a:pPr marL="103505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Ecrire("état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civil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employé:")</a:t>
            </a:r>
            <a:endParaRPr sz="2400">
              <a:latin typeface="Calibri"/>
              <a:cs typeface="Calibri"/>
            </a:endParaRPr>
          </a:p>
          <a:p>
            <a:pPr marL="352425" marR="1899285" indent="682625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Lire(T[i].Etat_civil)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FinPour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10" dirty="0"/>
              <a:t>Solutions</a:t>
            </a:r>
            <a:r>
              <a:rPr spc="5" dirty="0"/>
              <a:t> </a:t>
            </a:r>
            <a:r>
              <a:rPr spc="-10" dirty="0"/>
              <a:t>des </a:t>
            </a:r>
            <a:r>
              <a:rPr spc="-20" dirty="0"/>
              <a:t>exercices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523578"/>
            <a:ext cx="7644130" cy="5263515"/>
          </a:xfrm>
          <a:custGeom>
            <a:avLst/>
            <a:gdLst/>
            <a:ahLst/>
            <a:cxnLst/>
            <a:rect l="l" t="t" r="r" b="b"/>
            <a:pathLst>
              <a:path w="7644130" h="5263515">
                <a:moveTo>
                  <a:pt x="7643876" y="0"/>
                </a:moveTo>
                <a:lnTo>
                  <a:pt x="0" y="0"/>
                </a:lnTo>
                <a:lnTo>
                  <a:pt x="0" y="5263007"/>
                </a:lnTo>
                <a:lnTo>
                  <a:pt x="7643876" y="5263007"/>
                </a:lnTo>
                <a:lnTo>
                  <a:pt x="76438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537208"/>
            <a:ext cx="6782434" cy="514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3525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 compter(T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Tab)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352425">
              <a:lnSpc>
                <a:spcPts val="2870"/>
              </a:lnSpc>
              <a:spcBef>
                <a:spcPts val="25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compter</a:t>
            </a:r>
            <a:r>
              <a:rPr sz="2400" spc="-1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352425">
              <a:lnSpc>
                <a:spcPts val="2870"/>
              </a:lnSpc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Faire</a:t>
            </a:r>
            <a:endParaRPr sz="2400">
              <a:latin typeface="Calibri"/>
              <a:cs typeface="Calibri"/>
            </a:endParaRPr>
          </a:p>
          <a:p>
            <a:pPr marL="1445260" marR="1210945" indent="-615950">
              <a:lnSpc>
                <a:spcPts val="2900"/>
              </a:lnSpc>
              <a:spcBef>
                <a:spcPts val="8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(T[i].Sal&gt;= 500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 (T[i]sal&lt;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700)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Alors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Compter</a:t>
            </a:r>
            <a:r>
              <a:rPr sz="2400" spc="-1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Compter+1</a:t>
            </a:r>
            <a:endParaRPr sz="2400">
              <a:latin typeface="Calibri"/>
              <a:cs typeface="Calibri"/>
            </a:endParaRPr>
          </a:p>
          <a:p>
            <a:pPr marL="762000">
              <a:lnSpc>
                <a:spcPts val="2765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79375" marR="5405120" indent="34099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our  Fin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489584" marR="3413125">
              <a:lnSpc>
                <a:spcPts val="2900"/>
              </a:lnSpc>
              <a:spcBef>
                <a:spcPts val="80"/>
              </a:spcBef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Remplir(TabEmp)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nb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Com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er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2400" spc="-200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abEmp)</a:t>
            </a:r>
            <a:endParaRPr sz="2400">
              <a:latin typeface="Calibri"/>
              <a:cs typeface="Calibri"/>
            </a:endParaRPr>
          </a:p>
          <a:p>
            <a:pPr marL="421005">
              <a:lnSpc>
                <a:spcPts val="276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Ecrire(nb,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"employés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touchent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entre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500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700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D")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774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10" dirty="0"/>
              <a:t>Solutions</a:t>
            </a:r>
            <a:r>
              <a:rPr spc="5" dirty="0"/>
              <a:t> </a:t>
            </a:r>
            <a:r>
              <a:rPr spc="-10" dirty="0"/>
              <a:t>des </a:t>
            </a:r>
            <a:r>
              <a:rPr spc="-20" dirty="0"/>
              <a:t>exercices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695</Words>
  <Application>Microsoft Office PowerPoint</Application>
  <PresentationFormat>Affichage à l'écran (4:3)</PresentationFormat>
  <Paragraphs>110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Office Theme</vt:lpstr>
      <vt:lpstr>1_Office Theme</vt:lpstr>
      <vt:lpstr>Les Enregistrements</vt:lpstr>
      <vt:lpstr>Objectif</vt:lpstr>
      <vt:lpstr>II. Déclaration des variables de type enregistrement</vt:lpstr>
      <vt:lpstr>II. Déclaration des variables de type enregistrement</vt:lpstr>
      <vt:lpstr>III. Manipulation des variables de type enregistrement</vt:lpstr>
      <vt:lpstr>III. Manipulation des variables de type enregistrement</vt:lpstr>
      <vt:lpstr>Exercice d'application</vt:lpstr>
      <vt:lpstr>Solutions des exercices</vt:lpstr>
      <vt:lpstr>Solutions des exercices</vt:lpstr>
      <vt:lpstr>Solutions des exercices</vt:lpstr>
      <vt:lpstr>Solutions des exercices</vt:lpstr>
      <vt:lpstr>Solutions des exercices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hamdi</dc:creator>
  <cp:lastModifiedBy>PC ASUS</cp:lastModifiedBy>
  <cp:revision>6</cp:revision>
  <dcterms:created xsi:type="dcterms:W3CDTF">2021-09-26T10:41:29Z</dcterms:created>
  <dcterms:modified xsi:type="dcterms:W3CDTF">2022-10-09T18:30:24Z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2021-09-26T00:00:00Z</vt:filetime>
  </property>
</Properties>
</file>