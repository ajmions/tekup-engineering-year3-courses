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5" autoAdjust="0"/>
    <p:restoredTop sz="98932" autoAdjust="0"/>
  </p:normalViewPr>
  <p:slideViewPr>
    <p:cSldViewPr>
      <p:cViewPr>
        <p:scale>
          <a:sx n="76" d="100"/>
          <a:sy n="76" d="100"/>
        </p:scale>
        <p:origin x="-1098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4027"/>
            <a:ext cx="9144000" cy="91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28827"/>
            <a:ext cx="9144000" cy="91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33627"/>
            <a:ext cx="9144000" cy="91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38427"/>
            <a:ext cx="9144000" cy="91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43227"/>
            <a:ext cx="9144000" cy="91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48027"/>
            <a:ext cx="9144000" cy="914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52827"/>
            <a:ext cx="9144000" cy="914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357627"/>
            <a:ext cx="9144000" cy="914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662427"/>
            <a:ext cx="9144000" cy="914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967227"/>
            <a:ext cx="9144000" cy="914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272028"/>
            <a:ext cx="9144000" cy="914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576828"/>
            <a:ext cx="9144000" cy="914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881628"/>
            <a:ext cx="9144000" cy="914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186428"/>
            <a:ext cx="9144000" cy="914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491228"/>
            <a:ext cx="9144000" cy="914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796028"/>
            <a:ext cx="9144000" cy="914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100828"/>
            <a:ext cx="9144000" cy="914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05628"/>
            <a:ext cx="9144000" cy="914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710428"/>
            <a:ext cx="9144000" cy="914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15228"/>
            <a:ext cx="9144000" cy="914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20028"/>
            <a:ext cx="9144000" cy="914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0227" y="0"/>
            <a:ext cx="9143" cy="647700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027" y="0"/>
            <a:ext cx="9143" cy="64770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827" y="0"/>
            <a:ext cx="9143" cy="64770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4627" y="0"/>
            <a:ext cx="9143" cy="64770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9427" y="0"/>
            <a:ext cx="9143" cy="647700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4227" y="0"/>
            <a:ext cx="9144" cy="647700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9027" y="0"/>
            <a:ext cx="9144" cy="6477000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3827" y="0"/>
            <a:ext cx="9144" cy="6477000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38627" y="0"/>
            <a:ext cx="9144" cy="6477000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3427" y="0"/>
            <a:ext cx="9144" cy="6477000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48228" y="0"/>
            <a:ext cx="9144" cy="6477000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3028" y="0"/>
            <a:ext cx="9144" cy="6477000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57828" y="0"/>
            <a:ext cx="9144" cy="6477000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62628" y="0"/>
            <a:ext cx="9144" cy="6477000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67428" y="0"/>
            <a:ext cx="9144" cy="647700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72228" y="0"/>
            <a:ext cx="9144" cy="6477000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7028" y="0"/>
            <a:ext cx="9144" cy="6477000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1828" y="0"/>
            <a:ext cx="9144" cy="6477000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86628" y="0"/>
            <a:ext cx="9144" cy="6477000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1428" y="0"/>
            <a:ext cx="9144" cy="6477000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96228" y="0"/>
            <a:ext cx="9144" cy="6477000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1028" y="0"/>
            <a:ext cx="9144" cy="6477000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5828" y="0"/>
            <a:ext cx="9144" cy="6477000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0628" y="0"/>
            <a:ext cx="9144" cy="6477000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5428" y="0"/>
            <a:ext cx="9144" cy="6477000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20228" y="0"/>
            <a:ext cx="9144" cy="6477000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5028" y="0"/>
            <a:ext cx="9144" cy="6477000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29828" y="0"/>
            <a:ext cx="9144" cy="6477000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4628" y="0"/>
            <a:ext cx="9144" cy="6477000"/>
          </a:xfrm>
          <a:prstGeom prst="rect">
            <a:avLst/>
          </a:prstGeom>
        </p:spPr>
      </p:pic>
      <p:sp>
        <p:nvSpPr>
          <p:cNvPr id="66" name="bg object 66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414527" y="1037844"/>
            <a:ext cx="1784985" cy="2321560"/>
          </a:xfrm>
          <a:custGeom>
            <a:avLst/>
            <a:gdLst/>
            <a:ahLst/>
            <a:cxnLst/>
            <a:rect l="l" t="t" r="r" b="b"/>
            <a:pathLst>
              <a:path w="1784985" h="2321560">
                <a:moveTo>
                  <a:pt x="1784603" y="96011"/>
                </a:moveTo>
                <a:lnTo>
                  <a:pt x="0" y="96011"/>
                </a:lnTo>
              </a:path>
              <a:path w="1784985" h="2321560">
                <a:moveTo>
                  <a:pt x="193548" y="0"/>
                </a:moveTo>
                <a:lnTo>
                  <a:pt x="193548" y="2321052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bg object 6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016" y="1030224"/>
            <a:ext cx="201168" cy="2026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380746"/>
            <a:ext cx="77673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00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8690" y="1155953"/>
            <a:ext cx="7742555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pPr defTabSz="801590"/>
            <a:endParaRPr>
              <a:solidFill>
                <a:prstClr val="black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9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30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30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30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9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30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31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31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9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30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-54299" y="0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69647" y="1542034"/>
            <a:ext cx="5331153" cy="124392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7">
              <a:spcBef>
                <a:spcPts val="100"/>
              </a:spcBef>
            </a:pPr>
            <a:r>
              <a:rPr lang="fr-FR" sz="4000" b="1" spc="-5" dirty="0" smtClean="0"/>
              <a:t>Procédures et Fonctions </a:t>
            </a:r>
            <a:endParaRPr sz="40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8231123" y="6433735"/>
            <a:ext cx="173990" cy="237396"/>
          </a:xfrm>
          <a:prstGeom prst="rect">
            <a:avLst/>
          </a:prstGeom>
        </p:spPr>
        <p:txBody>
          <a:bodyPr vert="horz" wrap="square" lIns="0" tIns="13331" rIns="0" bIns="0" rtlCol="0">
            <a:spAutoFit/>
          </a:bodyPr>
          <a:lstStyle/>
          <a:p>
            <a:pPr marL="38089" defTabSz="801590"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pPr marL="38089" defTabSz="801590">
                <a:spcBef>
                  <a:spcPts val="105"/>
                </a:spcBef>
              </a:pPr>
              <a:t>1</a:t>
            </a:fld>
            <a:endParaRPr sz="14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05456" y="5565140"/>
            <a:ext cx="4013835" cy="56617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7" defTabSz="801590">
              <a:spcBef>
                <a:spcPts val="95"/>
              </a:spcBef>
            </a:pPr>
            <a:r>
              <a:rPr spc="-5" dirty="0" err="1">
                <a:solidFill>
                  <a:srgbClr val="40458B"/>
                </a:solidFill>
                <a:latin typeface="Tahoma"/>
                <a:cs typeface="Tahoma"/>
              </a:rPr>
              <a:t>Année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lang="fr-FR" spc="-10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pc="-10" dirty="0" err="1">
                <a:solidFill>
                  <a:srgbClr val="40458B"/>
                </a:solidFill>
                <a:latin typeface="Tahoma"/>
                <a:cs typeface="Tahoma"/>
              </a:rPr>
              <a:t>niversitaire</a:t>
            </a:r>
            <a:r>
              <a:rPr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22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/20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23</a:t>
            </a:r>
            <a:r>
              <a:rPr dirty="0" smtClean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–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Semestre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33"/>
          <p:cNvSpPr txBox="1">
            <a:spLocks/>
          </p:cNvSpPr>
          <p:nvPr/>
        </p:nvSpPr>
        <p:spPr>
          <a:xfrm>
            <a:off x="3547400" y="4282670"/>
            <a:ext cx="3013944" cy="64376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>
            <a:lvl1pPr>
              <a:defRPr sz="4100" b="1" i="0">
                <a:solidFill>
                  <a:srgbClr val="660066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697" defTabSz="801590">
              <a:spcBef>
                <a:spcPts val="100"/>
              </a:spcBef>
            </a:pPr>
            <a:r>
              <a:rPr lang="fr-FR" spc="-5" dirty="0" smtClean="0"/>
              <a:t>CHAP:5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447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2496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555445"/>
            <a:ext cx="8012430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Confronté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problème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complexe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,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donc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difficile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appréhender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sa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totalité,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l'idée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décomposer</a:t>
            </a:r>
            <a:r>
              <a:rPr sz="2200" b="1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200" b="1" spc="-6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problème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initial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en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sous</a:t>
            </a:r>
            <a:r>
              <a:rPr sz="2200" b="1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problèmes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moindre 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complexité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Cette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décomposition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se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poursuit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au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niveau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chaque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sous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problème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jusqu'à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l'obtention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200" b="1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sous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problèmes 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40458B"/>
                </a:solidFill>
                <a:latin typeface="Tahoma"/>
                <a:cs typeface="Tahoma"/>
              </a:rPr>
              <a:t>suffisamment simples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pour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être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codés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sans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difficulté à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l'aide 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d'instructions.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2496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</a:p>
        </p:txBody>
      </p:sp>
      <p:sp>
        <p:nvSpPr>
          <p:cNvPr id="4" name="object 4"/>
          <p:cNvSpPr/>
          <p:nvPr/>
        </p:nvSpPr>
        <p:spPr>
          <a:xfrm>
            <a:off x="4395479" y="1567162"/>
            <a:ext cx="1065530" cy="384175"/>
          </a:xfrm>
          <a:custGeom>
            <a:avLst/>
            <a:gdLst/>
            <a:ahLst/>
            <a:cxnLst/>
            <a:rect l="l" t="t" r="r" b="b"/>
            <a:pathLst>
              <a:path w="1065529" h="384175">
                <a:moveTo>
                  <a:pt x="0" y="383706"/>
                </a:moveTo>
                <a:lnTo>
                  <a:pt x="1065527" y="383706"/>
                </a:lnTo>
                <a:lnTo>
                  <a:pt x="1065527" y="0"/>
                </a:lnTo>
                <a:lnTo>
                  <a:pt x="0" y="0"/>
                </a:lnTo>
                <a:lnTo>
                  <a:pt x="0" y="383706"/>
                </a:lnTo>
                <a:close/>
              </a:path>
            </a:pathLst>
          </a:custGeom>
          <a:ln w="15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47779" y="1622351"/>
            <a:ext cx="7734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Prgm</a:t>
            </a:r>
            <a:r>
              <a:rPr sz="1550" spc="-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n°1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77638" y="2707068"/>
            <a:ext cx="1153795" cy="384175"/>
          </a:xfrm>
          <a:custGeom>
            <a:avLst/>
            <a:gdLst/>
            <a:ahLst/>
            <a:cxnLst/>
            <a:rect l="l" t="t" r="r" b="b"/>
            <a:pathLst>
              <a:path w="1153795" h="384175">
                <a:moveTo>
                  <a:pt x="0" y="383706"/>
                </a:moveTo>
                <a:lnTo>
                  <a:pt x="1153637" y="383706"/>
                </a:lnTo>
                <a:lnTo>
                  <a:pt x="1153637" y="0"/>
                </a:lnTo>
                <a:lnTo>
                  <a:pt x="0" y="0"/>
                </a:lnTo>
                <a:lnTo>
                  <a:pt x="0" y="383706"/>
                </a:lnTo>
                <a:close/>
              </a:path>
            </a:pathLst>
          </a:custGeom>
          <a:ln w="15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29938" y="2761781"/>
            <a:ext cx="8737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Prgm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n°13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15249" y="2707068"/>
            <a:ext cx="1149985" cy="384175"/>
          </a:xfrm>
          <a:custGeom>
            <a:avLst/>
            <a:gdLst/>
            <a:ahLst/>
            <a:cxnLst/>
            <a:rect l="l" t="t" r="r" b="b"/>
            <a:pathLst>
              <a:path w="1149985" h="384175">
                <a:moveTo>
                  <a:pt x="0" y="383706"/>
                </a:moveTo>
                <a:lnTo>
                  <a:pt x="1149531" y="383706"/>
                </a:lnTo>
                <a:lnTo>
                  <a:pt x="1149531" y="0"/>
                </a:lnTo>
                <a:lnTo>
                  <a:pt x="0" y="0"/>
                </a:lnTo>
                <a:lnTo>
                  <a:pt x="0" y="383706"/>
                </a:lnTo>
                <a:close/>
              </a:path>
            </a:pathLst>
          </a:custGeom>
          <a:ln w="15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67310" y="2761781"/>
            <a:ext cx="8737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Prgm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n°12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77638" y="3546546"/>
            <a:ext cx="1249680" cy="384175"/>
          </a:xfrm>
          <a:custGeom>
            <a:avLst/>
            <a:gdLst/>
            <a:ahLst/>
            <a:cxnLst/>
            <a:rect l="l" t="t" r="r" b="b"/>
            <a:pathLst>
              <a:path w="1249679" h="384175">
                <a:moveTo>
                  <a:pt x="0" y="383706"/>
                </a:moveTo>
                <a:lnTo>
                  <a:pt x="1249386" y="383706"/>
                </a:lnTo>
                <a:lnTo>
                  <a:pt x="1249386" y="0"/>
                </a:lnTo>
                <a:lnTo>
                  <a:pt x="0" y="0"/>
                </a:lnTo>
                <a:lnTo>
                  <a:pt x="0" y="383706"/>
                </a:lnTo>
                <a:close/>
              </a:path>
            </a:pathLst>
          </a:custGeom>
          <a:ln w="15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29938" y="3601212"/>
            <a:ext cx="97281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Prgm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n°131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0595" y="2707068"/>
            <a:ext cx="1150620" cy="384175"/>
          </a:xfrm>
          <a:custGeom>
            <a:avLst/>
            <a:gdLst/>
            <a:ahLst/>
            <a:cxnLst/>
            <a:rect l="l" t="t" r="r" b="b"/>
            <a:pathLst>
              <a:path w="1150620" h="384175">
                <a:moveTo>
                  <a:pt x="0" y="383706"/>
                </a:moveTo>
                <a:lnTo>
                  <a:pt x="1150104" y="383706"/>
                </a:lnTo>
                <a:lnTo>
                  <a:pt x="1150104" y="0"/>
                </a:lnTo>
                <a:lnTo>
                  <a:pt x="0" y="0"/>
                </a:lnTo>
                <a:lnTo>
                  <a:pt x="0" y="383706"/>
                </a:lnTo>
                <a:close/>
              </a:path>
            </a:pathLst>
          </a:custGeom>
          <a:ln w="15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83324" y="2761781"/>
            <a:ext cx="8737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Prgm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n°11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30595" y="3546546"/>
            <a:ext cx="1254125" cy="384175"/>
          </a:xfrm>
          <a:custGeom>
            <a:avLst/>
            <a:gdLst/>
            <a:ahLst/>
            <a:cxnLst/>
            <a:rect l="l" t="t" r="r" b="b"/>
            <a:pathLst>
              <a:path w="1254125" h="384175">
                <a:moveTo>
                  <a:pt x="0" y="383706"/>
                </a:moveTo>
                <a:lnTo>
                  <a:pt x="1254064" y="383706"/>
                </a:lnTo>
                <a:lnTo>
                  <a:pt x="1254064" y="0"/>
                </a:lnTo>
                <a:lnTo>
                  <a:pt x="0" y="0"/>
                </a:lnTo>
                <a:lnTo>
                  <a:pt x="0" y="383706"/>
                </a:lnTo>
                <a:close/>
              </a:path>
            </a:pathLst>
          </a:custGeom>
          <a:ln w="15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83324" y="3601212"/>
            <a:ext cx="97281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Prgm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n°121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30595" y="4506110"/>
            <a:ext cx="1350645" cy="384175"/>
          </a:xfrm>
          <a:custGeom>
            <a:avLst/>
            <a:gdLst/>
            <a:ahLst/>
            <a:cxnLst/>
            <a:rect l="l" t="t" r="r" b="b"/>
            <a:pathLst>
              <a:path w="1350645" h="384175">
                <a:moveTo>
                  <a:pt x="0" y="383706"/>
                </a:moveTo>
                <a:lnTo>
                  <a:pt x="1350410" y="383706"/>
                </a:lnTo>
                <a:lnTo>
                  <a:pt x="1350410" y="0"/>
                </a:lnTo>
                <a:lnTo>
                  <a:pt x="0" y="0"/>
                </a:lnTo>
                <a:lnTo>
                  <a:pt x="0" y="383706"/>
                </a:lnTo>
                <a:close/>
              </a:path>
            </a:pathLst>
          </a:custGeom>
          <a:ln w="15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83324" y="4560776"/>
            <a:ext cx="10731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Prgm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n°1211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5069" y="1755327"/>
            <a:ext cx="5320030" cy="4082415"/>
            <a:chOff x="1495069" y="1755327"/>
            <a:chExt cx="5320030" cy="4082415"/>
          </a:xfrm>
        </p:grpSpPr>
        <p:sp>
          <p:nvSpPr>
            <p:cNvPr id="19" name="object 19"/>
            <p:cNvSpPr/>
            <p:nvPr/>
          </p:nvSpPr>
          <p:spPr>
            <a:xfrm>
              <a:off x="1915637" y="1763265"/>
              <a:ext cx="2512060" cy="795655"/>
            </a:xfrm>
            <a:custGeom>
              <a:avLst/>
              <a:gdLst/>
              <a:ahLst/>
              <a:cxnLst/>
              <a:rect l="l" t="t" r="r" b="b"/>
              <a:pathLst>
                <a:path w="2512060" h="795655">
                  <a:moveTo>
                    <a:pt x="2511591" y="3571"/>
                  </a:moveTo>
                  <a:lnTo>
                    <a:pt x="0" y="0"/>
                  </a:lnTo>
                  <a:lnTo>
                    <a:pt x="0" y="795648"/>
                  </a:lnTo>
                </a:path>
              </a:pathLst>
            </a:custGeom>
            <a:ln w="15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35739" y="2550581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4">
                  <a:moveTo>
                    <a:pt x="156262" y="0"/>
                  </a:moveTo>
                  <a:lnTo>
                    <a:pt x="0" y="0"/>
                  </a:lnTo>
                  <a:lnTo>
                    <a:pt x="79897" y="156415"/>
                  </a:lnTo>
                  <a:lnTo>
                    <a:pt x="1562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72327" y="1998721"/>
              <a:ext cx="2139950" cy="672465"/>
            </a:xfrm>
            <a:custGeom>
              <a:avLst/>
              <a:gdLst/>
              <a:ahLst/>
              <a:cxnLst/>
              <a:rect l="l" t="t" r="r" b="b"/>
              <a:pathLst>
                <a:path w="2139950" h="672464">
                  <a:moveTo>
                    <a:pt x="0" y="672087"/>
                  </a:moveTo>
                  <a:lnTo>
                    <a:pt x="2139362" y="0"/>
                  </a:lnTo>
                </a:path>
              </a:pathLst>
            </a:custGeom>
            <a:ln w="158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79225" y="1927299"/>
              <a:ext cx="172720" cy="147955"/>
            </a:xfrm>
            <a:custGeom>
              <a:avLst/>
              <a:gdLst/>
              <a:ahLst/>
              <a:cxnLst/>
              <a:rect l="l" t="t" r="r" b="b"/>
              <a:pathLst>
                <a:path w="172720" h="147955">
                  <a:moveTo>
                    <a:pt x="0" y="0"/>
                  </a:moveTo>
                  <a:lnTo>
                    <a:pt x="48220" y="147606"/>
                  </a:lnTo>
                  <a:lnTo>
                    <a:pt x="172113" y="23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1889" y="1950868"/>
              <a:ext cx="4445" cy="684530"/>
            </a:xfrm>
            <a:custGeom>
              <a:avLst/>
              <a:gdLst/>
              <a:ahLst/>
              <a:cxnLst/>
              <a:rect l="l" t="t" r="r" b="b"/>
              <a:pathLst>
                <a:path w="4445" h="684530">
                  <a:moveTo>
                    <a:pt x="0" y="0"/>
                  </a:moveTo>
                  <a:lnTo>
                    <a:pt x="4058" y="684229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95500" y="2626765"/>
              <a:ext cx="156210" cy="156210"/>
            </a:xfrm>
            <a:custGeom>
              <a:avLst/>
              <a:gdLst/>
              <a:ahLst/>
              <a:cxnLst/>
              <a:rect l="l" t="t" r="r" b="b"/>
              <a:pathLst>
                <a:path w="156210" h="156210">
                  <a:moveTo>
                    <a:pt x="156119" y="0"/>
                  </a:moveTo>
                  <a:lnTo>
                    <a:pt x="0" y="0"/>
                  </a:lnTo>
                  <a:lnTo>
                    <a:pt x="80446" y="155939"/>
                  </a:lnTo>
                  <a:lnTo>
                    <a:pt x="1561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32349" y="2098951"/>
              <a:ext cx="3810" cy="572135"/>
            </a:xfrm>
            <a:custGeom>
              <a:avLst/>
              <a:gdLst/>
              <a:ahLst/>
              <a:cxnLst/>
              <a:rect l="l" t="t" r="r" b="b"/>
              <a:pathLst>
                <a:path w="3810" h="572135">
                  <a:moveTo>
                    <a:pt x="0" y="571857"/>
                  </a:moveTo>
                  <a:lnTo>
                    <a:pt x="3580" y="0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60257" y="1950868"/>
              <a:ext cx="156210" cy="156845"/>
            </a:xfrm>
            <a:custGeom>
              <a:avLst/>
              <a:gdLst/>
              <a:ahLst/>
              <a:cxnLst/>
              <a:rect l="l" t="t" r="r" b="b"/>
              <a:pathLst>
                <a:path w="156210" h="156844">
                  <a:moveTo>
                    <a:pt x="75672" y="0"/>
                  </a:moveTo>
                  <a:lnTo>
                    <a:pt x="0" y="156415"/>
                  </a:lnTo>
                  <a:lnTo>
                    <a:pt x="156119" y="156415"/>
                  </a:lnTo>
                  <a:lnTo>
                    <a:pt x="75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00534" y="3254808"/>
              <a:ext cx="2200275" cy="492125"/>
            </a:xfrm>
            <a:custGeom>
              <a:avLst/>
              <a:gdLst/>
              <a:ahLst/>
              <a:cxnLst/>
              <a:rect l="l" t="t" r="r" b="b"/>
              <a:pathLst>
                <a:path w="2200275" h="492125">
                  <a:moveTo>
                    <a:pt x="0" y="491507"/>
                  </a:moveTo>
                  <a:lnTo>
                    <a:pt x="2199805" y="491507"/>
                  </a:lnTo>
                  <a:lnTo>
                    <a:pt x="2199805" y="0"/>
                  </a:lnTo>
                </a:path>
              </a:pathLst>
            </a:custGeom>
            <a:ln w="15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23951" y="3106487"/>
              <a:ext cx="156210" cy="156210"/>
            </a:xfrm>
            <a:custGeom>
              <a:avLst/>
              <a:gdLst/>
              <a:ahLst/>
              <a:cxnLst/>
              <a:rect l="l" t="t" r="r" b="b"/>
              <a:pathLst>
                <a:path w="156210" h="156210">
                  <a:moveTo>
                    <a:pt x="76388" y="0"/>
                  </a:moveTo>
                  <a:lnTo>
                    <a:pt x="0" y="155939"/>
                  </a:lnTo>
                  <a:lnTo>
                    <a:pt x="156119" y="155939"/>
                  </a:lnTo>
                  <a:lnTo>
                    <a:pt x="76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52958" y="3150531"/>
              <a:ext cx="1658620" cy="328295"/>
            </a:xfrm>
            <a:custGeom>
              <a:avLst/>
              <a:gdLst/>
              <a:ahLst/>
              <a:cxnLst/>
              <a:rect l="l" t="t" r="r" b="b"/>
              <a:pathLst>
                <a:path w="1658620" h="328295">
                  <a:moveTo>
                    <a:pt x="1658233" y="0"/>
                  </a:moveTo>
                  <a:lnTo>
                    <a:pt x="0" y="328068"/>
                  </a:lnTo>
                </a:path>
              </a:pathLst>
            </a:custGeom>
            <a:ln w="15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08440" y="3398368"/>
              <a:ext cx="168275" cy="156845"/>
            </a:xfrm>
            <a:custGeom>
              <a:avLst/>
              <a:gdLst/>
              <a:ahLst/>
              <a:cxnLst/>
              <a:rect l="l" t="t" r="r" b="b"/>
              <a:pathLst>
                <a:path w="168275" h="156845">
                  <a:moveTo>
                    <a:pt x="136282" y="0"/>
                  </a:moveTo>
                  <a:lnTo>
                    <a:pt x="0" y="112371"/>
                  </a:lnTo>
                  <a:lnTo>
                    <a:pt x="168007" y="156415"/>
                  </a:lnTo>
                  <a:lnTo>
                    <a:pt x="1362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96910" y="1766836"/>
              <a:ext cx="865505" cy="792480"/>
            </a:xfrm>
            <a:custGeom>
              <a:avLst/>
              <a:gdLst/>
              <a:ahLst/>
              <a:cxnLst/>
              <a:rect l="l" t="t" r="r" b="b"/>
              <a:pathLst>
                <a:path w="865504" h="792480">
                  <a:moveTo>
                    <a:pt x="0" y="0"/>
                  </a:moveTo>
                  <a:lnTo>
                    <a:pt x="865341" y="0"/>
                  </a:lnTo>
                  <a:lnTo>
                    <a:pt x="865341" y="792077"/>
                  </a:lnTo>
                </a:path>
              </a:pathLst>
            </a:custGeom>
            <a:ln w="158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82282" y="2550581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5" h="156844">
                  <a:moveTo>
                    <a:pt x="156358" y="0"/>
                  </a:moveTo>
                  <a:lnTo>
                    <a:pt x="0" y="0"/>
                  </a:lnTo>
                  <a:lnTo>
                    <a:pt x="79969" y="156415"/>
                  </a:lnTo>
                  <a:lnTo>
                    <a:pt x="1563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2851" y="2070858"/>
              <a:ext cx="400685" cy="600075"/>
            </a:xfrm>
            <a:custGeom>
              <a:avLst/>
              <a:gdLst/>
              <a:ahLst/>
              <a:cxnLst/>
              <a:rect l="l" t="t" r="r" b="b"/>
              <a:pathLst>
                <a:path w="400685" h="600075">
                  <a:moveTo>
                    <a:pt x="400563" y="599950"/>
                  </a:moveTo>
                  <a:lnTo>
                    <a:pt x="0" y="0"/>
                  </a:lnTo>
                </a:path>
              </a:pathLst>
            </a:custGeom>
            <a:ln w="158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12882" y="1950868"/>
              <a:ext cx="156845" cy="172720"/>
            </a:xfrm>
            <a:custGeom>
              <a:avLst/>
              <a:gdLst/>
              <a:ahLst/>
              <a:cxnLst/>
              <a:rect l="l" t="t" r="r" b="b"/>
              <a:pathLst>
                <a:path w="156845" h="172719">
                  <a:moveTo>
                    <a:pt x="0" y="0"/>
                  </a:moveTo>
                  <a:lnTo>
                    <a:pt x="24110" y="172128"/>
                  </a:lnTo>
                  <a:lnTo>
                    <a:pt x="156358" y="8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35124" y="3150531"/>
              <a:ext cx="3810" cy="212725"/>
            </a:xfrm>
            <a:custGeom>
              <a:avLst/>
              <a:gdLst/>
              <a:ahLst/>
              <a:cxnLst/>
              <a:rect l="l" t="t" r="r" b="b"/>
              <a:pathLst>
                <a:path w="3809" h="212725">
                  <a:moveTo>
                    <a:pt x="0" y="0"/>
                  </a:moveTo>
                  <a:lnTo>
                    <a:pt x="3580" y="212125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58735" y="3354324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5" h="156845">
                  <a:moveTo>
                    <a:pt x="156358" y="0"/>
                  </a:moveTo>
                  <a:lnTo>
                    <a:pt x="0" y="0"/>
                  </a:lnTo>
                  <a:lnTo>
                    <a:pt x="79969" y="156415"/>
                  </a:lnTo>
                  <a:lnTo>
                    <a:pt x="1563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34278" y="3298852"/>
              <a:ext cx="3810" cy="212090"/>
            </a:xfrm>
            <a:custGeom>
              <a:avLst/>
              <a:gdLst/>
              <a:ahLst/>
              <a:cxnLst/>
              <a:rect l="l" t="t" r="r" b="b"/>
              <a:pathLst>
                <a:path w="3810" h="212089">
                  <a:moveTo>
                    <a:pt x="0" y="211887"/>
                  </a:moveTo>
                  <a:lnTo>
                    <a:pt x="3580" y="0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61948" y="3150531"/>
              <a:ext cx="156845" cy="156210"/>
            </a:xfrm>
            <a:custGeom>
              <a:avLst/>
              <a:gdLst/>
              <a:ahLst/>
              <a:cxnLst/>
              <a:rect l="l" t="t" r="r" b="b"/>
              <a:pathLst>
                <a:path w="156845" h="156210">
                  <a:moveTo>
                    <a:pt x="75911" y="0"/>
                  </a:moveTo>
                  <a:lnTo>
                    <a:pt x="0" y="155939"/>
                  </a:lnTo>
                  <a:lnTo>
                    <a:pt x="156358" y="155939"/>
                  </a:lnTo>
                  <a:lnTo>
                    <a:pt x="759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47790" y="3990605"/>
              <a:ext cx="4445" cy="332105"/>
            </a:xfrm>
            <a:custGeom>
              <a:avLst/>
              <a:gdLst/>
              <a:ahLst/>
              <a:cxnLst/>
              <a:rect l="l" t="t" r="r" b="b"/>
              <a:pathLst>
                <a:path w="4444" h="332104">
                  <a:moveTo>
                    <a:pt x="0" y="0"/>
                  </a:moveTo>
                  <a:lnTo>
                    <a:pt x="4105" y="331567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72021" y="4313959"/>
              <a:ext cx="156845" cy="156845"/>
            </a:xfrm>
            <a:custGeom>
              <a:avLst/>
              <a:gdLst/>
              <a:ahLst/>
              <a:cxnLst/>
              <a:rect l="l" t="t" r="r" b="b"/>
              <a:pathLst>
                <a:path w="156844" h="156845">
                  <a:moveTo>
                    <a:pt x="156238" y="0"/>
                  </a:moveTo>
                  <a:lnTo>
                    <a:pt x="0" y="0"/>
                  </a:lnTo>
                  <a:lnTo>
                    <a:pt x="79874" y="156415"/>
                  </a:lnTo>
                  <a:lnTo>
                    <a:pt x="1562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67304" y="4138212"/>
              <a:ext cx="4445" cy="332740"/>
            </a:xfrm>
            <a:custGeom>
              <a:avLst/>
              <a:gdLst/>
              <a:ahLst/>
              <a:cxnLst/>
              <a:rect l="l" t="t" r="r" b="b"/>
              <a:pathLst>
                <a:path w="4444" h="332739">
                  <a:moveTo>
                    <a:pt x="0" y="332163"/>
                  </a:moveTo>
                  <a:lnTo>
                    <a:pt x="4105" y="0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95069" y="3990605"/>
              <a:ext cx="156845" cy="156210"/>
            </a:xfrm>
            <a:custGeom>
              <a:avLst/>
              <a:gdLst/>
              <a:ahLst/>
              <a:cxnLst/>
              <a:rect l="l" t="t" r="r" b="b"/>
              <a:pathLst>
                <a:path w="156844" h="156210">
                  <a:moveTo>
                    <a:pt x="76341" y="0"/>
                  </a:moveTo>
                  <a:lnTo>
                    <a:pt x="0" y="155820"/>
                  </a:lnTo>
                  <a:lnTo>
                    <a:pt x="156238" y="155820"/>
                  </a:lnTo>
                  <a:lnTo>
                    <a:pt x="763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047790" y="4950168"/>
              <a:ext cx="4445" cy="212090"/>
            </a:xfrm>
            <a:custGeom>
              <a:avLst/>
              <a:gdLst/>
              <a:ahLst/>
              <a:cxnLst/>
              <a:rect l="l" t="t" r="r" b="b"/>
              <a:pathLst>
                <a:path w="4444" h="212089">
                  <a:moveTo>
                    <a:pt x="0" y="0"/>
                  </a:moveTo>
                  <a:lnTo>
                    <a:pt x="4105" y="212053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72021" y="5154033"/>
              <a:ext cx="156845" cy="156210"/>
            </a:xfrm>
            <a:custGeom>
              <a:avLst/>
              <a:gdLst/>
              <a:ahLst/>
              <a:cxnLst/>
              <a:rect l="l" t="t" r="r" b="b"/>
              <a:pathLst>
                <a:path w="156844" h="156210">
                  <a:moveTo>
                    <a:pt x="156238" y="0"/>
                  </a:moveTo>
                  <a:lnTo>
                    <a:pt x="0" y="0"/>
                  </a:lnTo>
                  <a:lnTo>
                    <a:pt x="79874" y="155820"/>
                  </a:lnTo>
                  <a:lnTo>
                    <a:pt x="1562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67304" y="5097799"/>
              <a:ext cx="4445" cy="212090"/>
            </a:xfrm>
            <a:custGeom>
              <a:avLst/>
              <a:gdLst/>
              <a:ahLst/>
              <a:cxnLst/>
              <a:rect l="l" t="t" r="r" b="b"/>
              <a:pathLst>
                <a:path w="4444" h="212089">
                  <a:moveTo>
                    <a:pt x="0" y="212053"/>
                  </a:moveTo>
                  <a:lnTo>
                    <a:pt x="4105" y="0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95069" y="4950180"/>
              <a:ext cx="565150" cy="887730"/>
            </a:xfrm>
            <a:custGeom>
              <a:avLst/>
              <a:gdLst/>
              <a:ahLst/>
              <a:cxnLst/>
              <a:rect l="l" t="t" r="r" b="b"/>
              <a:pathLst>
                <a:path w="565150" h="887729">
                  <a:moveTo>
                    <a:pt x="96316" y="847661"/>
                  </a:moveTo>
                  <a:lnTo>
                    <a:pt x="83972" y="847661"/>
                  </a:lnTo>
                  <a:lnTo>
                    <a:pt x="79870" y="851763"/>
                  </a:lnTo>
                  <a:lnTo>
                    <a:pt x="79870" y="863473"/>
                  </a:lnTo>
                  <a:lnTo>
                    <a:pt x="83972" y="867587"/>
                  </a:lnTo>
                  <a:lnTo>
                    <a:pt x="88099" y="871689"/>
                  </a:lnTo>
                  <a:lnTo>
                    <a:pt x="92214" y="867587"/>
                  </a:lnTo>
                  <a:lnTo>
                    <a:pt x="96316" y="867587"/>
                  </a:lnTo>
                  <a:lnTo>
                    <a:pt x="96316" y="847661"/>
                  </a:lnTo>
                  <a:close/>
                </a:path>
                <a:path w="565150" h="887729">
                  <a:moveTo>
                    <a:pt x="96316" y="783805"/>
                  </a:moveTo>
                  <a:lnTo>
                    <a:pt x="83972" y="783805"/>
                  </a:lnTo>
                  <a:lnTo>
                    <a:pt x="79870" y="787336"/>
                  </a:lnTo>
                  <a:lnTo>
                    <a:pt x="79870" y="807834"/>
                  </a:lnTo>
                  <a:lnTo>
                    <a:pt x="83972" y="811326"/>
                  </a:lnTo>
                  <a:lnTo>
                    <a:pt x="88099" y="815454"/>
                  </a:lnTo>
                  <a:lnTo>
                    <a:pt x="92214" y="815454"/>
                  </a:lnTo>
                  <a:lnTo>
                    <a:pt x="96316" y="811326"/>
                  </a:lnTo>
                  <a:lnTo>
                    <a:pt x="96316" y="791425"/>
                  </a:lnTo>
                  <a:lnTo>
                    <a:pt x="96316" y="783805"/>
                  </a:lnTo>
                  <a:close/>
                </a:path>
                <a:path w="565150" h="887729">
                  <a:moveTo>
                    <a:pt x="96316" y="671347"/>
                  </a:moveTo>
                  <a:lnTo>
                    <a:pt x="83972" y="671347"/>
                  </a:lnTo>
                  <a:lnTo>
                    <a:pt x="79870" y="675436"/>
                  </a:lnTo>
                  <a:lnTo>
                    <a:pt x="79870" y="743381"/>
                  </a:lnTo>
                  <a:lnTo>
                    <a:pt x="88099" y="751598"/>
                  </a:lnTo>
                  <a:lnTo>
                    <a:pt x="92214" y="751598"/>
                  </a:lnTo>
                  <a:lnTo>
                    <a:pt x="96316" y="747483"/>
                  </a:lnTo>
                  <a:lnTo>
                    <a:pt x="96316" y="679538"/>
                  </a:lnTo>
                  <a:lnTo>
                    <a:pt x="96316" y="671347"/>
                  </a:lnTo>
                  <a:close/>
                </a:path>
                <a:path w="565150" h="887729">
                  <a:moveTo>
                    <a:pt x="96316" y="607466"/>
                  </a:moveTo>
                  <a:lnTo>
                    <a:pt x="83972" y="607466"/>
                  </a:lnTo>
                  <a:lnTo>
                    <a:pt x="79870" y="611581"/>
                  </a:lnTo>
                  <a:lnTo>
                    <a:pt x="79870" y="631494"/>
                  </a:lnTo>
                  <a:lnTo>
                    <a:pt x="88099" y="639699"/>
                  </a:lnTo>
                  <a:lnTo>
                    <a:pt x="92214" y="639699"/>
                  </a:lnTo>
                  <a:lnTo>
                    <a:pt x="96316" y="635609"/>
                  </a:lnTo>
                  <a:lnTo>
                    <a:pt x="96316" y="615683"/>
                  </a:lnTo>
                  <a:lnTo>
                    <a:pt x="96316" y="607466"/>
                  </a:lnTo>
                  <a:close/>
                </a:path>
                <a:path w="565150" h="887729">
                  <a:moveTo>
                    <a:pt x="96316" y="503783"/>
                  </a:moveTo>
                  <a:lnTo>
                    <a:pt x="88099" y="495592"/>
                  </a:lnTo>
                  <a:lnTo>
                    <a:pt x="79870" y="503783"/>
                  </a:lnTo>
                  <a:lnTo>
                    <a:pt x="79870" y="567639"/>
                  </a:lnTo>
                  <a:lnTo>
                    <a:pt x="83972" y="571754"/>
                  </a:lnTo>
                  <a:lnTo>
                    <a:pt x="88099" y="575856"/>
                  </a:lnTo>
                  <a:lnTo>
                    <a:pt x="92214" y="575856"/>
                  </a:lnTo>
                  <a:lnTo>
                    <a:pt x="96316" y="571754"/>
                  </a:lnTo>
                  <a:lnTo>
                    <a:pt x="96316" y="503783"/>
                  </a:lnTo>
                  <a:close/>
                </a:path>
                <a:path w="565150" h="887729">
                  <a:moveTo>
                    <a:pt x="156235" y="155816"/>
                  </a:moveTo>
                  <a:lnTo>
                    <a:pt x="76339" y="0"/>
                  </a:lnTo>
                  <a:lnTo>
                    <a:pt x="0" y="155816"/>
                  </a:lnTo>
                  <a:lnTo>
                    <a:pt x="156235" y="155816"/>
                  </a:lnTo>
                  <a:close/>
                </a:path>
                <a:path w="565150" h="887729">
                  <a:moveTo>
                    <a:pt x="560946" y="623874"/>
                  </a:moveTo>
                  <a:lnTo>
                    <a:pt x="548614" y="623874"/>
                  </a:lnTo>
                  <a:lnTo>
                    <a:pt x="545071" y="627392"/>
                  </a:lnTo>
                  <a:lnTo>
                    <a:pt x="545071" y="647890"/>
                  </a:lnTo>
                  <a:lnTo>
                    <a:pt x="552716" y="655510"/>
                  </a:lnTo>
                  <a:lnTo>
                    <a:pt x="556818" y="655510"/>
                  </a:lnTo>
                  <a:lnTo>
                    <a:pt x="560946" y="651421"/>
                  </a:lnTo>
                  <a:lnTo>
                    <a:pt x="560946" y="627392"/>
                  </a:lnTo>
                  <a:lnTo>
                    <a:pt x="560946" y="623874"/>
                  </a:lnTo>
                  <a:close/>
                </a:path>
                <a:path w="565150" h="887729">
                  <a:moveTo>
                    <a:pt x="560946" y="519620"/>
                  </a:moveTo>
                  <a:lnTo>
                    <a:pt x="552716" y="511403"/>
                  </a:lnTo>
                  <a:lnTo>
                    <a:pt x="548614" y="515505"/>
                  </a:lnTo>
                  <a:lnTo>
                    <a:pt x="545071" y="519620"/>
                  </a:lnTo>
                  <a:lnTo>
                    <a:pt x="545071" y="583476"/>
                  </a:lnTo>
                  <a:lnTo>
                    <a:pt x="548614" y="587565"/>
                  </a:lnTo>
                  <a:lnTo>
                    <a:pt x="552716" y="591654"/>
                  </a:lnTo>
                  <a:lnTo>
                    <a:pt x="556818" y="591654"/>
                  </a:lnTo>
                  <a:lnTo>
                    <a:pt x="560946" y="587565"/>
                  </a:lnTo>
                  <a:lnTo>
                    <a:pt x="560946" y="519620"/>
                  </a:lnTo>
                  <a:close/>
                </a:path>
                <a:path w="565150" h="887729">
                  <a:moveTo>
                    <a:pt x="565061" y="867587"/>
                  </a:moveTo>
                  <a:lnTo>
                    <a:pt x="560946" y="863473"/>
                  </a:lnTo>
                  <a:lnTo>
                    <a:pt x="548614" y="863473"/>
                  </a:lnTo>
                  <a:lnTo>
                    <a:pt x="548614" y="883399"/>
                  </a:lnTo>
                  <a:lnTo>
                    <a:pt x="552716" y="883399"/>
                  </a:lnTo>
                  <a:lnTo>
                    <a:pt x="556818" y="887488"/>
                  </a:lnTo>
                  <a:lnTo>
                    <a:pt x="565061" y="879297"/>
                  </a:lnTo>
                  <a:lnTo>
                    <a:pt x="565061" y="867587"/>
                  </a:lnTo>
                  <a:close/>
                </a:path>
                <a:path w="565150" h="887729">
                  <a:moveTo>
                    <a:pt x="565061" y="803732"/>
                  </a:moveTo>
                  <a:lnTo>
                    <a:pt x="560946" y="799617"/>
                  </a:lnTo>
                  <a:lnTo>
                    <a:pt x="548614" y="799617"/>
                  </a:lnTo>
                  <a:lnTo>
                    <a:pt x="548614" y="827735"/>
                  </a:lnTo>
                  <a:lnTo>
                    <a:pt x="552716" y="831850"/>
                  </a:lnTo>
                  <a:lnTo>
                    <a:pt x="556818" y="831850"/>
                  </a:lnTo>
                  <a:lnTo>
                    <a:pt x="565061" y="823645"/>
                  </a:lnTo>
                  <a:lnTo>
                    <a:pt x="565061" y="803732"/>
                  </a:lnTo>
                  <a:close/>
                </a:path>
                <a:path w="565150" h="887729">
                  <a:moveTo>
                    <a:pt x="565061" y="755688"/>
                  </a:moveTo>
                  <a:lnTo>
                    <a:pt x="560946" y="691845"/>
                  </a:lnTo>
                  <a:lnTo>
                    <a:pt x="560946" y="687743"/>
                  </a:lnTo>
                  <a:lnTo>
                    <a:pt x="548614" y="687743"/>
                  </a:lnTo>
                  <a:lnTo>
                    <a:pt x="545071" y="691845"/>
                  </a:lnTo>
                  <a:lnTo>
                    <a:pt x="545071" y="695337"/>
                  </a:lnTo>
                  <a:lnTo>
                    <a:pt x="548614" y="759790"/>
                  </a:lnTo>
                  <a:lnTo>
                    <a:pt x="548614" y="763308"/>
                  </a:lnTo>
                  <a:lnTo>
                    <a:pt x="552716" y="767410"/>
                  </a:lnTo>
                  <a:lnTo>
                    <a:pt x="556818" y="767410"/>
                  </a:lnTo>
                  <a:lnTo>
                    <a:pt x="560946" y="763308"/>
                  </a:lnTo>
                  <a:lnTo>
                    <a:pt x="565061" y="759790"/>
                  </a:lnTo>
                  <a:lnTo>
                    <a:pt x="565061" y="7556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327062" y="1853761"/>
            <a:ext cx="4489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5" dirty="0">
                <a:latin typeface="Times New Roman"/>
                <a:cs typeface="Times New Roman"/>
              </a:rPr>
              <a:t>p</a:t>
            </a:r>
            <a:r>
              <a:rPr sz="1550" spc="5" dirty="0">
                <a:latin typeface="Times New Roman"/>
                <a:cs typeface="Times New Roman"/>
              </a:rPr>
              <a:t>p</a:t>
            </a:r>
            <a:r>
              <a:rPr sz="1550" spc="3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97306" y="2118024"/>
            <a:ext cx="4921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r</a:t>
            </a:r>
            <a:r>
              <a:rPr sz="155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t</a:t>
            </a:r>
            <a:r>
              <a:rPr sz="1550" spc="40" dirty="0">
                <a:latin typeface="Times New Roman"/>
                <a:cs typeface="Times New Roman"/>
              </a:rPr>
              <a:t>o</a:t>
            </a:r>
            <a:r>
              <a:rPr sz="1550" spc="-20" dirty="0">
                <a:latin typeface="Times New Roman"/>
                <a:cs typeface="Times New Roman"/>
              </a:rPr>
              <a:t>u</a:t>
            </a:r>
            <a:r>
              <a:rPr sz="1550" spc="10" dirty="0">
                <a:latin typeface="Times New Roman"/>
                <a:cs typeface="Times New Roman"/>
              </a:rPr>
              <a:t>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19047" y="2238015"/>
            <a:ext cx="4489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5" dirty="0">
                <a:latin typeface="Times New Roman"/>
                <a:cs typeface="Times New Roman"/>
              </a:rPr>
              <a:t>p</a:t>
            </a:r>
            <a:r>
              <a:rPr sz="1550" spc="5" dirty="0">
                <a:latin typeface="Times New Roman"/>
                <a:cs typeface="Times New Roman"/>
              </a:rPr>
              <a:t>p</a:t>
            </a:r>
            <a:r>
              <a:rPr sz="1550" spc="3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522429" y="1618304"/>
            <a:ext cx="4489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5" dirty="0">
                <a:latin typeface="Times New Roman"/>
                <a:cs typeface="Times New Roman"/>
              </a:rPr>
              <a:t>p</a:t>
            </a:r>
            <a:r>
              <a:rPr sz="1550" spc="5" dirty="0">
                <a:latin typeface="Times New Roman"/>
                <a:cs typeface="Times New Roman"/>
              </a:rPr>
              <a:t>p</a:t>
            </a:r>
            <a:r>
              <a:rPr sz="1550" spc="3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60040" y="1922766"/>
            <a:ext cx="792480" cy="617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300355">
              <a:lnSpc>
                <a:spcPct val="125200"/>
              </a:lnSpc>
              <a:spcBef>
                <a:spcPts val="95"/>
              </a:spcBef>
            </a:pPr>
            <a:r>
              <a:rPr sz="1550" spc="15" dirty="0">
                <a:latin typeface="Times New Roman"/>
                <a:cs typeface="Times New Roman"/>
              </a:rPr>
              <a:t>r</a:t>
            </a:r>
            <a:r>
              <a:rPr sz="155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t</a:t>
            </a:r>
            <a:r>
              <a:rPr sz="1550" spc="40" dirty="0">
                <a:latin typeface="Times New Roman"/>
                <a:cs typeface="Times New Roman"/>
              </a:rPr>
              <a:t>o</a:t>
            </a:r>
            <a:r>
              <a:rPr sz="1550" spc="-20" dirty="0">
                <a:latin typeface="Times New Roman"/>
                <a:cs typeface="Times New Roman"/>
              </a:rPr>
              <a:t>u</a:t>
            </a:r>
            <a:r>
              <a:rPr sz="1550" spc="5" dirty="0">
                <a:latin typeface="Times New Roman"/>
                <a:cs typeface="Times New Roman"/>
              </a:rPr>
              <a:t>r  </a:t>
            </a:r>
            <a:r>
              <a:rPr sz="1550" spc="10" dirty="0">
                <a:latin typeface="Times New Roman"/>
                <a:cs typeface="Times New Roman"/>
              </a:rPr>
              <a:t>retour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560885" y="3197698"/>
            <a:ext cx="4921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r</a:t>
            </a:r>
            <a:r>
              <a:rPr sz="155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t</a:t>
            </a:r>
            <a:r>
              <a:rPr sz="1550" spc="40" dirty="0">
                <a:latin typeface="Times New Roman"/>
                <a:cs typeface="Times New Roman"/>
              </a:rPr>
              <a:t>o</a:t>
            </a:r>
            <a:r>
              <a:rPr sz="1550" spc="-20" dirty="0">
                <a:latin typeface="Times New Roman"/>
                <a:cs typeface="Times New Roman"/>
              </a:rPr>
              <a:t>u</a:t>
            </a:r>
            <a:r>
              <a:rPr sz="1550" spc="10" dirty="0">
                <a:latin typeface="Times New Roman"/>
                <a:cs typeface="Times New Roman"/>
              </a:rPr>
              <a:t>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83127" y="3197698"/>
            <a:ext cx="4489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5" dirty="0">
                <a:latin typeface="Times New Roman"/>
                <a:cs typeface="Times New Roman"/>
              </a:rPr>
              <a:t>p</a:t>
            </a:r>
            <a:r>
              <a:rPr sz="1550" spc="5" dirty="0">
                <a:latin typeface="Times New Roman"/>
                <a:cs typeface="Times New Roman"/>
              </a:rPr>
              <a:t>p</a:t>
            </a:r>
            <a:r>
              <a:rPr sz="1550" spc="3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57265" y="3077469"/>
            <a:ext cx="4489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5" dirty="0">
                <a:latin typeface="Times New Roman"/>
                <a:cs typeface="Times New Roman"/>
              </a:rPr>
              <a:t>p</a:t>
            </a:r>
            <a:r>
              <a:rPr sz="1550" spc="5" dirty="0">
                <a:latin typeface="Times New Roman"/>
                <a:cs typeface="Times New Roman"/>
              </a:rPr>
              <a:t>p</a:t>
            </a:r>
            <a:r>
              <a:rPr sz="1550" spc="3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239359" y="3317688"/>
            <a:ext cx="4921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r</a:t>
            </a:r>
            <a:r>
              <a:rPr sz="1550" dirty="0">
                <a:latin typeface="Times New Roman"/>
                <a:cs typeface="Times New Roman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t</a:t>
            </a:r>
            <a:r>
              <a:rPr sz="1550" spc="40" dirty="0">
                <a:latin typeface="Times New Roman"/>
                <a:cs typeface="Times New Roman"/>
              </a:rPr>
              <a:t>o</a:t>
            </a:r>
            <a:r>
              <a:rPr sz="1550" spc="-20" dirty="0">
                <a:latin typeface="Times New Roman"/>
                <a:cs typeface="Times New Roman"/>
              </a:rPr>
              <a:t>u</a:t>
            </a:r>
            <a:r>
              <a:rPr sz="1550" spc="10" dirty="0">
                <a:latin typeface="Times New Roman"/>
                <a:cs typeface="Times New Roman"/>
              </a:rPr>
              <a:t>r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80226" y="1153372"/>
            <a:ext cx="6970395" cy="4922520"/>
            <a:chOff x="780226" y="1153372"/>
            <a:chExt cx="6970395" cy="4922520"/>
          </a:xfrm>
        </p:grpSpPr>
        <p:sp>
          <p:nvSpPr>
            <p:cNvPr id="57" name="object 57"/>
            <p:cNvSpPr/>
            <p:nvPr/>
          </p:nvSpPr>
          <p:spPr>
            <a:xfrm>
              <a:off x="4932349" y="3150531"/>
              <a:ext cx="3810" cy="692150"/>
            </a:xfrm>
            <a:custGeom>
              <a:avLst/>
              <a:gdLst/>
              <a:ahLst/>
              <a:cxnLst/>
              <a:rect l="l" t="t" r="r" b="b"/>
              <a:pathLst>
                <a:path w="3810" h="692150">
                  <a:moveTo>
                    <a:pt x="0" y="0"/>
                  </a:moveTo>
                  <a:lnTo>
                    <a:pt x="3580" y="691847"/>
                  </a:lnTo>
                </a:path>
              </a:pathLst>
            </a:custGeom>
            <a:ln w="15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56199" y="3834189"/>
              <a:ext cx="156210" cy="156845"/>
            </a:xfrm>
            <a:custGeom>
              <a:avLst/>
              <a:gdLst/>
              <a:ahLst/>
              <a:cxnLst/>
              <a:rect l="l" t="t" r="r" b="b"/>
              <a:pathLst>
                <a:path w="156210" h="156845">
                  <a:moveTo>
                    <a:pt x="156119" y="0"/>
                  </a:moveTo>
                  <a:lnTo>
                    <a:pt x="0" y="0"/>
                  </a:lnTo>
                  <a:lnTo>
                    <a:pt x="79730" y="156415"/>
                  </a:lnTo>
                  <a:lnTo>
                    <a:pt x="1561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172735" y="3150531"/>
              <a:ext cx="4445" cy="680720"/>
            </a:xfrm>
            <a:custGeom>
              <a:avLst/>
              <a:gdLst/>
              <a:ahLst/>
              <a:cxnLst/>
              <a:rect l="l" t="t" r="r" b="b"/>
              <a:pathLst>
                <a:path w="4445" h="680720">
                  <a:moveTo>
                    <a:pt x="0" y="0"/>
                  </a:moveTo>
                  <a:lnTo>
                    <a:pt x="4058" y="680134"/>
                  </a:lnTo>
                </a:path>
              </a:pathLst>
            </a:custGeom>
            <a:ln w="19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088707" y="3822476"/>
              <a:ext cx="172720" cy="168275"/>
            </a:xfrm>
            <a:custGeom>
              <a:avLst/>
              <a:gdLst/>
              <a:ahLst/>
              <a:cxnLst/>
              <a:rect l="l" t="t" r="r" b="b"/>
              <a:pathLst>
                <a:path w="172720" h="168275">
                  <a:moveTo>
                    <a:pt x="172113" y="0"/>
                  </a:moveTo>
                  <a:lnTo>
                    <a:pt x="0" y="0"/>
                  </a:lnTo>
                  <a:lnTo>
                    <a:pt x="88085" y="168128"/>
                  </a:lnTo>
                  <a:lnTo>
                    <a:pt x="1721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924222" y="4102480"/>
              <a:ext cx="20320" cy="607695"/>
            </a:xfrm>
            <a:custGeom>
              <a:avLst/>
              <a:gdLst/>
              <a:ahLst/>
              <a:cxnLst/>
              <a:rect l="l" t="t" r="r" b="b"/>
              <a:pathLst>
                <a:path w="20320" h="607695">
                  <a:moveTo>
                    <a:pt x="15760" y="175755"/>
                  </a:moveTo>
                  <a:lnTo>
                    <a:pt x="4064" y="175755"/>
                  </a:lnTo>
                  <a:lnTo>
                    <a:pt x="0" y="179870"/>
                  </a:lnTo>
                  <a:lnTo>
                    <a:pt x="0" y="247815"/>
                  </a:lnTo>
                  <a:lnTo>
                    <a:pt x="8115" y="256006"/>
                  </a:lnTo>
                  <a:lnTo>
                    <a:pt x="11696" y="256006"/>
                  </a:lnTo>
                  <a:lnTo>
                    <a:pt x="15760" y="251904"/>
                  </a:lnTo>
                  <a:lnTo>
                    <a:pt x="15760" y="179870"/>
                  </a:lnTo>
                  <a:lnTo>
                    <a:pt x="15760" y="175755"/>
                  </a:lnTo>
                  <a:close/>
                </a:path>
                <a:path w="20320" h="607695">
                  <a:moveTo>
                    <a:pt x="15760" y="111899"/>
                  </a:moveTo>
                  <a:lnTo>
                    <a:pt x="4064" y="111899"/>
                  </a:lnTo>
                  <a:lnTo>
                    <a:pt x="0" y="115989"/>
                  </a:lnTo>
                  <a:lnTo>
                    <a:pt x="0" y="135915"/>
                  </a:lnTo>
                  <a:lnTo>
                    <a:pt x="4064" y="140017"/>
                  </a:lnTo>
                  <a:lnTo>
                    <a:pt x="8115" y="143535"/>
                  </a:lnTo>
                  <a:lnTo>
                    <a:pt x="11696" y="143535"/>
                  </a:lnTo>
                  <a:lnTo>
                    <a:pt x="15760" y="140017"/>
                  </a:lnTo>
                  <a:lnTo>
                    <a:pt x="15760" y="115989"/>
                  </a:lnTo>
                  <a:lnTo>
                    <a:pt x="15760" y="111899"/>
                  </a:lnTo>
                  <a:close/>
                </a:path>
                <a:path w="20320" h="607695">
                  <a:moveTo>
                    <a:pt x="15760" y="7620"/>
                  </a:moveTo>
                  <a:lnTo>
                    <a:pt x="11696" y="4114"/>
                  </a:lnTo>
                  <a:lnTo>
                    <a:pt x="8115" y="0"/>
                  </a:lnTo>
                  <a:lnTo>
                    <a:pt x="4064" y="4114"/>
                  </a:lnTo>
                  <a:lnTo>
                    <a:pt x="0" y="7620"/>
                  </a:lnTo>
                  <a:lnTo>
                    <a:pt x="0" y="72072"/>
                  </a:lnTo>
                  <a:lnTo>
                    <a:pt x="4064" y="75590"/>
                  </a:lnTo>
                  <a:lnTo>
                    <a:pt x="8115" y="79679"/>
                  </a:lnTo>
                  <a:lnTo>
                    <a:pt x="11696" y="79679"/>
                  </a:lnTo>
                  <a:lnTo>
                    <a:pt x="15760" y="75590"/>
                  </a:lnTo>
                  <a:lnTo>
                    <a:pt x="15760" y="7620"/>
                  </a:lnTo>
                  <a:close/>
                </a:path>
                <a:path w="20320" h="607695">
                  <a:moveTo>
                    <a:pt x="20053" y="531939"/>
                  </a:moveTo>
                  <a:lnTo>
                    <a:pt x="15760" y="527837"/>
                  </a:lnTo>
                  <a:lnTo>
                    <a:pt x="4064" y="527837"/>
                  </a:lnTo>
                  <a:lnTo>
                    <a:pt x="4064" y="603402"/>
                  </a:lnTo>
                  <a:lnTo>
                    <a:pt x="8115" y="607504"/>
                  </a:lnTo>
                  <a:lnTo>
                    <a:pt x="11696" y="607504"/>
                  </a:lnTo>
                  <a:lnTo>
                    <a:pt x="15760" y="603402"/>
                  </a:lnTo>
                  <a:lnTo>
                    <a:pt x="20053" y="599884"/>
                  </a:lnTo>
                  <a:lnTo>
                    <a:pt x="20053" y="531939"/>
                  </a:lnTo>
                  <a:close/>
                </a:path>
                <a:path w="20320" h="607695">
                  <a:moveTo>
                    <a:pt x="20053" y="467487"/>
                  </a:moveTo>
                  <a:lnTo>
                    <a:pt x="15760" y="463397"/>
                  </a:lnTo>
                  <a:lnTo>
                    <a:pt x="4064" y="463397"/>
                  </a:lnTo>
                  <a:lnTo>
                    <a:pt x="4064" y="491515"/>
                  </a:lnTo>
                  <a:lnTo>
                    <a:pt x="8115" y="495604"/>
                  </a:lnTo>
                  <a:lnTo>
                    <a:pt x="11696" y="495604"/>
                  </a:lnTo>
                  <a:lnTo>
                    <a:pt x="15760" y="491515"/>
                  </a:lnTo>
                  <a:lnTo>
                    <a:pt x="20053" y="487413"/>
                  </a:lnTo>
                  <a:lnTo>
                    <a:pt x="20053" y="467487"/>
                  </a:lnTo>
                  <a:close/>
                </a:path>
                <a:path w="20320" h="607695">
                  <a:moveTo>
                    <a:pt x="20053" y="355587"/>
                  </a:moveTo>
                  <a:lnTo>
                    <a:pt x="15760" y="351497"/>
                  </a:lnTo>
                  <a:lnTo>
                    <a:pt x="4064" y="351497"/>
                  </a:lnTo>
                  <a:lnTo>
                    <a:pt x="4064" y="427659"/>
                  </a:lnTo>
                  <a:lnTo>
                    <a:pt x="8115" y="431749"/>
                  </a:lnTo>
                  <a:lnTo>
                    <a:pt x="11696" y="431749"/>
                  </a:lnTo>
                  <a:lnTo>
                    <a:pt x="15760" y="427659"/>
                  </a:lnTo>
                  <a:lnTo>
                    <a:pt x="20053" y="423557"/>
                  </a:lnTo>
                  <a:lnTo>
                    <a:pt x="20053" y="355587"/>
                  </a:lnTo>
                  <a:close/>
                </a:path>
                <a:path w="20320" h="607695">
                  <a:moveTo>
                    <a:pt x="20053" y="307568"/>
                  </a:moveTo>
                  <a:lnTo>
                    <a:pt x="15760" y="291744"/>
                  </a:lnTo>
                  <a:lnTo>
                    <a:pt x="15760" y="287642"/>
                  </a:lnTo>
                  <a:lnTo>
                    <a:pt x="4064" y="287642"/>
                  </a:lnTo>
                  <a:lnTo>
                    <a:pt x="0" y="291744"/>
                  </a:lnTo>
                  <a:lnTo>
                    <a:pt x="0" y="295859"/>
                  </a:lnTo>
                  <a:lnTo>
                    <a:pt x="4064" y="311670"/>
                  </a:lnTo>
                  <a:lnTo>
                    <a:pt x="4064" y="315760"/>
                  </a:lnTo>
                  <a:lnTo>
                    <a:pt x="8115" y="319862"/>
                  </a:lnTo>
                  <a:lnTo>
                    <a:pt x="11696" y="319862"/>
                  </a:lnTo>
                  <a:lnTo>
                    <a:pt x="15760" y="315760"/>
                  </a:lnTo>
                  <a:lnTo>
                    <a:pt x="20053" y="311670"/>
                  </a:lnTo>
                  <a:lnTo>
                    <a:pt x="20053" y="307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64379" y="4102480"/>
              <a:ext cx="20320" cy="607695"/>
            </a:xfrm>
            <a:custGeom>
              <a:avLst/>
              <a:gdLst/>
              <a:ahLst/>
              <a:cxnLst/>
              <a:rect l="l" t="t" r="r" b="b"/>
              <a:pathLst>
                <a:path w="20320" h="607695">
                  <a:moveTo>
                    <a:pt x="15989" y="175755"/>
                  </a:moveTo>
                  <a:lnTo>
                    <a:pt x="4292" y="175755"/>
                  </a:lnTo>
                  <a:lnTo>
                    <a:pt x="0" y="179870"/>
                  </a:lnTo>
                  <a:lnTo>
                    <a:pt x="0" y="247815"/>
                  </a:lnTo>
                  <a:lnTo>
                    <a:pt x="4292" y="251904"/>
                  </a:lnTo>
                  <a:lnTo>
                    <a:pt x="8343" y="256006"/>
                  </a:lnTo>
                  <a:lnTo>
                    <a:pt x="12407" y="256006"/>
                  </a:lnTo>
                  <a:lnTo>
                    <a:pt x="15989" y="251904"/>
                  </a:lnTo>
                  <a:lnTo>
                    <a:pt x="15989" y="179870"/>
                  </a:lnTo>
                  <a:lnTo>
                    <a:pt x="15989" y="175755"/>
                  </a:lnTo>
                  <a:close/>
                </a:path>
                <a:path w="20320" h="607695">
                  <a:moveTo>
                    <a:pt x="15989" y="111899"/>
                  </a:moveTo>
                  <a:lnTo>
                    <a:pt x="4292" y="111899"/>
                  </a:lnTo>
                  <a:lnTo>
                    <a:pt x="0" y="115989"/>
                  </a:lnTo>
                  <a:lnTo>
                    <a:pt x="0" y="135915"/>
                  </a:lnTo>
                  <a:lnTo>
                    <a:pt x="4292" y="140017"/>
                  </a:lnTo>
                  <a:lnTo>
                    <a:pt x="8343" y="143535"/>
                  </a:lnTo>
                  <a:lnTo>
                    <a:pt x="12407" y="143535"/>
                  </a:lnTo>
                  <a:lnTo>
                    <a:pt x="15989" y="140017"/>
                  </a:lnTo>
                  <a:lnTo>
                    <a:pt x="15989" y="115989"/>
                  </a:lnTo>
                  <a:lnTo>
                    <a:pt x="15989" y="111899"/>
                  </a:lnTo>
                  <a:close/>
                </a:path>
                <a:path w="20320" h="607695">
                  <a:moveTo>
                    <a:pt x="15989" y="7620"/>
                  </a:moveTo>
                  <a:lnTo>
                    <a:pt x="12407" y="4114"/>
                  </a:lnTo>
                  <a:lnTo>
                    <a:pt x="8343" y="0"/>
                  </a:lnTo>
                  <a:lnTo>
                    <a:pt x="4292" y="4114"/>
                  </a:lnTo>
                  <a:lnTo>
                    <a:pt x="0" y="7620"/>
                  </a:lnTo>
                  <a:lnTo>
                    <a:pt x="0" y="72072"/>
                  </a:lnTo>
                  <a:lnTo>
                    <a:pt x="4292" y="75590"/>
                  </a:lnTo>
                  <a:lnTo>
                    <a:pt x="8343" y="79679"/>
                  </a:lnTo>
                  <a:lnTo>
                    <a:pt x="12407" y="79679"/>
                  </a:lnTo>
                  <a:lnTo>
                    <a:pt x="15989" y="75590"/>
                  </a:lnTo>
                  <a:lnTo>
                    <a:pt x="15989" y="7620"/>
                  </a:lnTo>
                  <a:close/>
                </a:path>
                <a:path w="20320" h="607695">
                  <a:moveTo>
                    <a:pt x="20040" y="531939"/>
                  </a:moveTo>
                  <a:lnTo>
                    <a:pt x="15989" y="527837"/>
                  </a:lnTo>
                  <a:lnTo>
                    <a:pt x="4292" y="527837"/>
                  </a:lnTo>
                  <a:lnTo>
                    <a:pt x="4292" y="603402"/>
                  </a:lnTo>
                  <a:lnTo>
                    <a:pt x="8343" y="607504"/>
                  </a:lnTo>
                  <a:lnTo>
                    <a:pt x="12407" y="607504"/>
                  </a:lnTo>
                  <a:lnTo>
                    <a:pt x="15989" y="603402"/>
                  </a:lnTo>
                  <a:lnTo>
                    <a:pt x="20040" y="599884"/>
                  </a:lnTo>
                  <a:lnTo>
                    <a:pt x="20040" y="531939"/>
                  </a:lnTo>
                  <a:close/>
                </a:path>
                <a:path w="20320" h="607695">
                  <a:moveTo>
                    <a:pt x="20040" y="467487"/>
                  </a:moveTo>
                  <a:lnTo>
                    <a:pt x="15989" y="463397"/>
                  </a:lnTo>
                  <a:lnTo>
                    <a:pt x="4292" y="463397"/>
                  </a:lnTo>
                  <a:lnTo>
                    <a:pt x="4292" y="491515"/>
                  </a:lnTo>
                  <a:lnTo>
                    <a:pt x="8343" y="495604"/>
                  </a:lnTo>
                  <a:lnTo>
                    <a:pt x="12407" y="495604"/>
                  </a:lnTo>
                  <a:lnTo>
                    <a:pt x="15989" y="491515"/>
                  </a:lnTo>
                  <a:lnTo>
                    <a:pt x="20040" y="487413"/>
                  </a:lnTo>
                  <a:lnTo>
                    <a:pt x="20040" y="467487"/>
                  </a:lnTo>
                  <a:close/>
                </a:path>
                <a:path w="20320" h="607695">
                  <a:moveTo>
                    <a:pt x="20040" y="355587"/>
                  </a:moveTo>
                  <a:lnTo>
                    <a:pt x="15989" y="351497"/>
                  </a:lnTo>
                  <a:lnTo>
                    <a:pt x="4292" y="351497"/>
                  </a:lnTo>
                  <a:lnTo>
                    <a:pt x="4292" y="427659"/>
                  </a:lnTo>
                  <a:lnTo>
                    <a:pt x="8343" y="431749"/>
                  </a:lnTo>
                  <a:lnTo>
                    <a:pt x="12407" y="431749"/>
                  </a:lnTo>
                  <a:lnTo>
                    <a:pt x="15989" y="427659"/>
                  </a:lnTo>
                  <a:lnTo>
                    <a:pt x="20040" y="423557"/>
                  </a:lnTo>
                  <a:lnTo>
                    <a:pt x="20040" y="355587"/>
                  </a:lnTo>
                  <a:close/>
                </a:path>
                <a:path w="20320" h="607695">
                  <a:moveTo>
                    <a:pt x="20040" y="307568"/>
                  </a:moveTo>
                  <a:lnTo>
                    <a:pt x="15989" y="291744"/>
                  </a:lnTo>
                  <a:lnTo>
                    <a:pt x="15989" y="287642"/>
                  </a:lnTo>
                  <a:lnTo>
                    <a:pt x="4292" y="287642"/>
                  </a:lnTo>
                  <a:lnTo>
                    <a:pt x="0" y="291744"/>
                  </a:lnTo>
                  <a:lnTo>
                    <a:pt x="0" y="295859"/>
                  </a:lnTo>
                  <a:lnTo>
                    <a:pt x="4292" y="311670"/>
                  </a:lnTo>
                  <a:lnTo>
                    <a:pt x="4292" y="315760"/>
                  </a:lnTo>
                  <a:lnTo>
                    <a:pt x="8343" y="319862"/>
                  </a:lnTo>
                  <a:lnTo>
                    <a:pt x="12407" y="319862"/>
                  </a:lnTo>
                  <a:lnTo>
                    <a:pt x="15989" y="315760"/>
                  </a:lnTo>
                  <a:lnTo>
                    <a:pt x="20040" y="311670"/>
                  </a:lnTo>
                  <a:lnTo>
                    <a:pt x="20040" y="3075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90194" y="1163340"/>
              <a:ext cx="6950075" cy="4902835"/>
            </a:xfrm>
            <a:custGeom>
              <a:avLst/>
              <a:gdLst/>
              <a:ahLst/>
              <a:cxnLst/>
              <a:rect l="l" t="t" r="r" b="b"/>
              <a:pathLst>
                <a:path w="6950075" h="4902835">
                  <a:moveTo>
                    <a:pt x="0" y="4902214"/>
                  </a:moveTo>
                  <a:lnTo>
                    <a:pt x="6949945" y="4902214"/>
                  </a:lnTo>
                  <a:lnTo>
                    <a:pt x="6949945" y="0"/>
                  </a:lnTo>
                  <a:lnTo>
                    <a:pt x="0" y="0"/>
                  </a:lnTo>
                  <a:lnTo>
                    <a:pt x="0" y="4902214"/>
                  </a:lnTo>
                  <a:close/>
                </a:path>
                <a:path w="6950075" h="4902835">
                  <a:moveTo>
                    <a:pt x="39941" y="4862380"/>
                  </a:moveTo>
                  <a:lnTo>
                    <a:pt x="6910156" y="4862380"/>
                  </a:lnTo>
                  <a:lnTo>
                    <a:pt x="6910156" y="39920"/>
                  </a:lnTo>
                  <a:lnTo>
                    <a:pt x="39941" y="39920"/>
                  </a:lnTo>
                  <a:lnTo>
                    <a:pt x="39941" y="4862380"/>
                  </a:lnTo>
                  <a:close/>
                </a:path>
              </a:pathLst>
            </a:custGeom>
            <a:ln w="199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841044" y="6129020"/>
            <a:ext cx="7308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niveau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supérieur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0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programmation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modulaire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appelé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41044" y="6433820"/>
            <a:ext cx="24091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programme</a:t>
            </a:r>
            <a:r>
              <a:rPr sz="2000" spc="-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principal.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1623" y="6446432"/>
            <a:ext cx="97790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404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Exemple</a:t>
            </a:r>
            <a:r>
              <a:rPr dirty="0"/>
              <a:t> de</a:t>
            </a:r>
            <a:r>
              <a:rPr spc="-20" dirty="0"/>
              <a:t> </a:t>
            </a:r>
            <a:r>
              <a:rPr spc="-5" dirty="0"/>
              <a:t>problème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1044" y="1250949"/>
            <a:ext cx="731012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un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algorithme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calcule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et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affiche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moyenne</a:t>
            </a:r>
            <a:r>
              <a:rPr sz="22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des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valeurs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absolues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 trois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nombres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A,B,C,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sachant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qu'on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n'a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pas la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fonction</a:t>
            </a:r>
            <a:r>
              <a:rPr sz="22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ABS.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0559" y="2340864"/>
            <a:ext cx="2824480" cy="4258310"/>
          </a:xfrm>
          <a:custGeom>
            <a:avLst/>
            <a:gdLst/>
            <a:ahLst/>
            <a:cxnLst/>
            <a:rect l="l" t="t" r="r" b="b"/>
            <a:pathLst>
              <a:path w="2824479" h="4258309">
                <a:moveTo>
                  <a:pt x="0" y="4258056"/>
                </a:moveTo>
                <a:lnTo>
                  <a:pt x="2823972" y="4258056"/>
                </a:lnTo>
                <a:lnTo>
                  <a:pt x="2823972" y="0"/>
                </a:lnTo>
                <a:lnTo>
                  <a:pt x="0" y="0"/>
                </a:lnTo>
                <a:lnTo>
                  <a:pt x="0" y="4258056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8690" y="2375154"/>
            <a:ext cx="2651125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40458B"/>
                </a:solidFill>
                <a:latin typeface="Tahoma"/>
                <a:cs typeface="Tahoma"/>
              </a:rPr>
              <a:t>Algorithme</a:t>
            </a:r>
            <a:r>
              <a:rPr sz="1600" b="1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40458B"/>
                </a:solidFill>
                <a:latin typeface="Tahoma"/>
                <a:cs typeface="Tahoma"/>
              </a:rPr>
              <a:t>MoyValAbsolu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600">
              <a:latin typeface="Tahoma"/>
              <a:cs typeface="Tahoma"/>
            </a:endParaRPr>
          </a:p>
          <a:p>
            <a:pPr marL="139065">
              <a:lnSpc>
                <a:spcPct val="100000"/>
              </a:lnSpc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A,B,C,A1,B1,C1</a:t>
            </a:r>
            <a:r>
              <a:rPr sz="16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:</a:t>
            </a:r>
            <a:r>
              <a:rPr sz="16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entier</a:t>
            </a:r>
            <a:endParaRPr sz="1600">
              <a:latin typeface="Tahoma"/>
              <a:cs typeface="Tahoma"/>
            </a:endParaRPr>
          </a:p>
          <a:p>
            <a:pPr marL="139065">
              <a:lnSpc>
                <a:spcPct val="100000"/>
              </a:lnSpc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16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:</a:t>
            </a:r>
            <a:r>
              <a:rPr sz="16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entier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40458B"/>
                </a:solidFill>
                <a:latin typeface="Tahoma"/>
                <a:cs typeface="Tahoma"/>
              </a:rPr>
              <a:t>Début</a:t>
            </a:r>
            <a:endParaRPr sz="1600">
              <a:latin typeface="Tahoma"/>
              <a:cs typeface="Tahoma"/>
            </a:endParaRPr>
          </a:p>
          <a:p>
            <a:pPr marL="139065">
              <a:lnSpc>
                <a:spcPct val="100000"/>
              </a:lnSpc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Lire(A,B,C)</a:t>
            </a:r>
            <a:endParaRPr sz="1600">
              <a:latin typeface="Tahoma"/>
              <a:cs typeface="Tahoma"/>
            </a:endParaRPr>
          </a:p>
          <a:p>
            <a:pPr marL="329565" marR="1219200" indent="-127000">
              <a:lnSpc>
                <a:spcPct val="100000"/>
              </a:lnSpc>
              <a:tabLst>
                <a:tab pos="690880" algn="l"/>
              </a:tabLst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r>
              <a:rPr sz="16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sz="16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&lt;</a:t>
            </a:r>
            <a:r>
              <a:rPr sz="16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r>
              <a:rPr sz="16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alors </a:t>
            </a:r>
            <a:r>
              <a:rPr sz="1600" spc="-484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A1	</a:t>
            </a:r>
            <a:r>
              <a:rPr sz="16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600" spc="16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40458B"/>
                </a:solidFill>
                <a:latin typeface="Tahoma"/>
                <a:cs typeface="Tahoma"/>
              </a:rPr>
              <a:t>-A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ts val="1914"/>
              </a:lnSpc>
              <a:spcBef>
                <a:spcPts val="5"/>
              </a:spcBef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Sinon</a:t>
            </a:r>
            <a:endParaRPr sz="1600">
              <a:latin typeface="Tahoma"/>
              <a:cs typeface="Tahoma"/>
            </a:endParaRPr>
          </a:p>
          <a:p>
            <a:pPr marL="329565">
              <a:lnSpc>
                <a:spcPts val="1914"/>
              </a:lnSpc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A1</a:t>
            </a:r>
            <a:r>
              <a:rPr sz="16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600" spc="7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0"/>
              </a:spcBef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6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ts val="1914"/>
              </a:lnSpc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r>
              <a:rPr sz="16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B</a:t>
            </a:r>
            <a:r>
              <a:rPr sz="16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&lt;</a:t>
            </a:r>
            <a:r>
              <a:rPr sz="16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r>
              <a:rPr sz="16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alors</a:t>
            </a:r>
            <a:endParaRPr sz="1600">
              <a:latin typeface="Tahoma"/>
              <a:cs typeface="Tahoma"/>
            </a:endParaRPr>
          </a:p>
          <a:p>
            <a:pPr marL="329565">
              <a:lnSpc>
                <a:spcPts val="1914"/>
              </a:lnSpc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B1</a:t>
            </a:r>
            <a:r>
              <a:rPr sz="16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600" spc="6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-B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ts val="1914"/>
              </a:lnSpc>
              <a:spcBef>
                <a:spcPts val="15"/>
              </a:spcBef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Sinon</a:t>
            </a:r>
            <a:endParaRPr sz="1600">
              <a:latin typeface="Tahoma"/>
              <a:cs typeface="Tahoma"/>
            </a:endParaRPr>
          </a:p>
          <a:p>
            <a:pPr marL="329565">
              <a:lnSpc>
                <a:spcPts val="1914"/>
              </a:lnSpc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B1</a:t>
            </a:r>
            <a:r>
              <a:rPr sz="16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600" spc="7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B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0"/>
              </a:spcBef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6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57600" y="2362200"/>
            <a:ext cx="2895600" cy="2392680"/>
          </a:xfrm>
          <a:custGeom>
            <a:avLst/>
            <a:gdLst/>
            <a:ahLst/>
            <a:cxnLst/>
            <a:rect l="l" t="t" r="r" b="b"/>
            <a:pathLst>
              <a:path w="2895600" h="2392679">
                <a:moveTo>
                  <a:pt x="0" y="2392680"/>
                </a:moveTo>
                <a:lnTo>
                  <a:pt x="2895600" y="2392680"/>
                </a:lnTo>
                <a:lnTo>
                  <a:pt x="2895600" y="0"/>
                </a:lnTo>
                <a:lnTo>
                  <a:pt x="0" y="0"/>
                </a:lnTo>
                <a:lnTo>
                  <a:pt x="0" y="2392680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36975" y="2454680"/>
            <a:ext cx="1991995" cy="200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665480" indent="-230504">
              <a:lnSpc>
                <a:spcPct val="106300"/>
              </a:lnSpc>
              <a:spcBef>
                <a:spcPts val="100"/>
              </a:spcBef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r>
              <a:rPr sz="16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C</a:t>
            </a:r>
            <a:r>
              <a:rPr sz="16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&lt;</a:t>
            </a:r>
            <a:r>
              <a:rPr sz="16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r>
              <a:rPr sz="16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alors </a:t>
            </a:r>
            <a:r>
              <a:rPr sz="1600" spc="-484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C1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600" spc="8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-C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ts val="1914"/>
              </a:lnSpc>
              <a:spcBef>
                <a:spcPts val="10"/>
              </a:spcBef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Sinon</a:t>
            </a:r>
            <a:endParaRPr sz="1600">
              <a:latin typeface="Tahoma"/>
              <a:cs typeface="Tahoma"/>
            </a:endParaRPr>
          </a:p>
          <a:p>
            <a:pPr marL="329565">
              <a:lnSpc>
                <a:spcPts val="1914"/>
              </a:lnSpc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C1</a:t>
            </a:r>
            <a:r>
              <a:rPr sz="16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600" spc="7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C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ts val="1914"/>
              </a:lnSpc>
              <a:spcBef>
                <a:spcPts val="10"/>
              </a:spcBef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6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ts val="1914"/>
              </a:lnSpc>
            </a:pP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16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600" spc="7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Tahoma"/>
                <a:cs typeface="Tahoma"/>
              </a:rPr>
              <a:t>(A1+B1+C1)/3</a:t>
            </a:r>
            <a:endParaRPr sz="160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5"/>
              </a:spcBef>
            </a:pPr>
            <a:r>
              <a:rPr sz="1600" spc="-10" dirty="0">
                <a:solidFill>
                  <a:srgbClr val="40458B"/>
                </a:solidFill>
                <a:latin typeface="Tahoma"/>
                <a:cs typeface="Tahoma"/>
              </a:rPr>
              <a:t>Écrire(S)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66159" y="4553710"/>
            <a:ext cx="5273040" cy="2289175"/>
          </a:xfrm>
          <a:custGeom>
            <a:avLst/>
            <a:gdLst/>
            <a:ahLst/>
            <a:cxnLst/>
            <a:rect l="l" t="t" r="r" b="b"/>
            <a:pathLst>
              <a:path w="5273040" h="2289175">
                <a:moveTo>
                  <a:pt x="5273040" y="0"/>
                </a:moveTo>
                <a:lnTo>
                  <a:pt x="0" y="0"/>
                </a:lnTo>
                <a:lnTo>
                  <a:pt x="0" y="2289048"/>
                </a:lnTo>
                <a:lnTo>
                  <a:pt x="5273040" y="2289048"/>
                </a:lnTo>
                <a:lnTo>
                  <a:pt x="527304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44900" y="4585461"/>
            <a:ext cx="5116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4845" algn="l"/>
                <a:tab pos="1984375" algn="l"/>
                <a:tab pos="3512185" algn="l"/>
                <a:tab pos="3830320" algn="l"/>
                <a:tab pos="4537710" algn="l"/>
                <a:tab pos="4931410" algn="l"/>
              </a:tabLst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Dans	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'</a:t>
            </a:r>
            <a:r>
              <a:rPr sz="1800" spc="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lg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rit</a:t>
            </a:r>
            <a:r>
              <a:rPr sz="1800" spc="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me	M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alAbso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	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e	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calcu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l	de	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4900" y="4859782"/>
            <a:ext cx="511810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valeur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absolue a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été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effectué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3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fois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la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même </a:t>
            </a:r>
            <a:r>
              <a:rPr sz="18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manière</a:t>
            </a:r>
            <a:r>
              <a:rPr sz="18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pour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A, pour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et pour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C.</a:t>
            </a:r>
            <a:endParaRPr sz="18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il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serait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préférable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prévoir un module ou sous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programme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consacré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au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calcul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ou traitement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la </a:t>
            </a:r>
            <a:r>
              <a:rPr sz="1800" spc="-5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valeur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absolue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isolée.</a:t>
            </a:r>
            <a:endParaRPr sz="1800">
              <a:latin typeface="Tahoma"/>
              <a:cs typeface="Tahoma"/>
            </a:endParaRPr>
          </a:p>
          <a:p>
            <a:pPr marL="12700" marR="8255" algn="just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Aussi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on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peut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écrire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un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sous programme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pour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le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calcul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la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moyenne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 de</a:t>
            </a:r>
            <a:r>
              <a:rPr sz="18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nombres.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404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Exemple</a:t>
            </a:r>
            <a:r>
              <a:rPr dirty="0"/>
              <a:t> de</a:t>
            </a:r>
            <a:r>
              <a:rPr spc="-20" dirty="0"/>
              <a:t> </a:t>
            </a:r>
            <a:r>
              <a:rPr spc="-5" dirty="0"/>
              <a:t>problème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123645"/>
            <a:ext cx="36353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Algorithme</a:t>
            </a:r>
            <a:r>
              <a:rPr sz="1800" b="1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MoyValAbsoluVers2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398523"/>
            <a:ext cx="384047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8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A,B,C,M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:entier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fonction</a:t>
            </a:r>
            <a:r>
              <a:rPr sz="1800" b="1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Absolu(X</a:t>
            </a:r>
            <a:r>
              <a:rPr sz="1800" b="1" spc="-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:entier)</a:t>
            </a:r>
            <a:r>
              <a:rPr sz="1800" b="1" spc="-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:entier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8100" y="2221484"/>
            <a:ext cx="145669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Début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Si</a:t>
            </a:r>
            <a:r>
              <a:rPr sz="1800" spc="-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X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&lt;</a:t>
            </a:r>
            <a:r>
              <a:rPr sz="1800" spc="-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0</a:t>
            </a:r>
            <a:r>
              <a:rPr sz="1800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alors</a:t>
            </a:r>
            <a:endParaRPr sz="1800">
              <a:latin typeface="Tahoma"/>
              <a:cs typeface="Tahoma"/>
            </a:endParaRPr>
          </a:p>
          <a:p>
            <a:pPr marL="83820" marR="5080" indent="141605">
              <a:lnSpc>
                <a:spcPct val="100000"/>
              </a:lnSpc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Absolu</a:t>
            </a:r>
            <a:r>
              <a:rPr sz="1800" spc="-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A40020"/>
                </a:solidFill>
                <a:latin typeface="Symbol"/>
                <a:cs typeface="Symbol"/>
              </a:rPr>
              <a:t></a:t>
            </a:r>
            <a:r>
              <a:rPr sz="1600" spc="120" dirty="0">
                <a:solidFill>
                  <a:srgbClr val="A40020"/>
                </a:solidFill>
                <a:latin typeface="Times New Roman"/>
                <a:cs typeface="Times New Roman"/>
              </a:rPr>
              <a:t> </a:t>
            </a:r>
            <a:r>
              <a:rPr sz="1800" spc="-40" dirty="0">
                <a:solidFill>
                  <a:srgbClr val="A40020"/>
                </a:solidFill>
                <a:latin typeface="Tahoma"/>
                <a:cs typeface="Tahoma"/>
              </a:rPr>
              <a:t>-X </a:t>
            </a:r>
            <a:r>
              <a:rPr sz="1800" spc="-54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Sinon</a:t>
            </a:r>
            <a:endParaRPr sz="1800">
              <a:latin typeface="Tahoma"/>
              <a:cs typeface="Tahoma"/>
            </a:endParaRPr>
          </a:p>
          <a:p>
            <a:pPr marL="83820" marR="78105" indent="141605">
              <a:lnSpc>
                <a:spcPct val="100000"/>
              </a:lnSpc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Absolu</a:t>
            </a:r>
            <a:r>
              <a:rPr sz="1800" spc="-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A40020"/>
                </a:solidFill>
                <a:latin typeface="Symbol"/>
                <a:cs typeface="Symbol"/>
              </a:rPr>
              <a:t></a:t>
            </a:r>
            <a:r>
              <a:rPr sz="1600" spc="120" dirty="0">
                <a:solidFill>
                  <a:srgbClr val="A4002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X </a:t>
            </a:r>
            <a:r>
              <a:rPr sz="1800" spc="-54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Fin</a:t>
            </a:r>
            <a:r>
              <a:rPr sz="1800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si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3867353"/>
            <a:ext cx="643128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Fin</a:t>
            </a:r>
            <a:endParaRPr sz="1800">
              <a:latin typeface="Tahoma"/>
              <a:cs typeface="Tahoma"/>
            </a:endParaRPr>
          </a:p>
          <a:p>
            <a:pPr marL="227329" marR="5080" indent="-2152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fonction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Moyenne(X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:entier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; Y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:entier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; Z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:entier):entier </a:t>
            </a:r>
            <a:r>
              <a:rPr sz="1800" b="1" spc="-5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Début</a:t>
            </a:r>
            <a:endParaRPr sz="1800">
              <a:latin typeface="Tahoma"/>
              <a:cs typeface="Tahoma"/>
            </a:endParaRPr>
          </a:p>
          <a:p>
            <a:pPr marL="369570">
              <a:lnSpc>
                <a:spcPct val="100000"/>
              </a:lnSpc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Moyenne</a:t>
            </a:r>
            <a:r>
              <a:rPr sz="1800" spc="-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A40020"/>
                </a:solidFill>
                <a:latin typeface="Symbol"/>
                <a:cs typeface="Symbol"/>
              </a:rPr>
              <a:t></a:t>
            </a:r>
            <a:r>
              <a:rPr sz="1600" spc="135" dirty="0">
                <a:solidFill>
                  <a:srgbClr val="A4002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(X+Y+Z)/3</a:t>
            </a:r>
            <a:endParaRPr sz="1800">
              <a:latin typeface="Tahoma"/>
              <a:cs typeface="Tahoma"/>
            </a:endParaRPr>
          </a:p>
          <a:p>
            <a:pPr marL="221615">
              <a:lnSpc>
                <a:spcPct val="100000"/>
              </a:lnSpc>
            </a:pP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Fin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5239334"/>
            <a:ext cx="12547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Début</a:t>
            </a:r>
            <a:endParaRPr sz="18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Lire(A,B,C)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8100" y="5788558"/>
            <a:ext cx="4700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600" spc="14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Moyenne(Absolu(A),Absolu(B),Absolu(C)) </a:t>
            </a:r>
            <a:r>
              <a:rPr sz="1800" spc="-5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Écrire(M)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6337198"/>
            <a:ext cx="41338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5800" y="1981200"/>
            <a:ext cx="7391400" cy="3276600"/>
          </a:xfrm>
          <a:custGeom>
            <a:avLst/>
            <a:gdLst/>
            <a:ahLst/>
            <a:cxnLst/>
            <a:rect l="l" t="t" r="r" b="b"/>
            <a:pathLst>
              <a:path w="7391400" h="3276600">
                <a:moveTo>
                  <a:pt x="0" y="3276600"/>
                </a:moveTo>
                <a:lnTo>
                  <a:pt x="7391400" y="3276600"/>
                </a:lnTo>
                <a:lnTo>
                  <a:pt x="7391400" y="2133600"/>
                </a:lnTo>
                <a:lnTo>
                  <a:pt x="0" y="2133600"/>
                </a:lnTo>
                <a:lnTo>
                  <a:pt x="0" y="3276600"/>
                </a:lnTo>
                <a:close/>
              </a:path>
              <a:path w="7391400" h="3276600">
                <a:moveTo>
                  <a:pt x="0" y="2133600"/>
                </a:moveTo>
                <a:lnTo>
                  <a:pt x="7391400" y="2133600"/>
                </a:lnTo>
                <a:lnTo>
                  <a:pt x="73914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550878" y="304856"/>
            <a:ext cx="3286125" cy="551815"/>
            <a:chOff x="5550878" y="304856"/>
            <a:chExt cx="3286125" cy="551815"/>
          </a:xfrm>
        </p:grpSpPr>
        <p:sp>
          <p:nvSpPr>
            <p:cNvPr id="13" name="object 13"/>
            <p:cNvSpPr/>
            <p:nvPr/>
          </p:nvSpPr>
          <p:spPr>
            <a:xfrm>
              <a:off x="5558498" y="312476"/>
              <a:ext cx="3270885" cy="536575"/>
            </a:xfrm>
            <a:custGeom>
              <a:avLst/>
              <a:gdLst/>
              <a:ahLst/>
              <a:cxnLst/>
              <a:rect l="l" t="t" r="r" b="b"/>
              <a:pathLst>
                <a:path w="3270884" h="536575">
                  <a:moveTo>
                    <a:pt x="3270273" y="0"/>
                  </a:moveTo>
                  <a:lnTo>
                    <a:pt x="0" y="0"/>
                  </a:lnTo>
                  <a:lnTo>
                    <a:pt x="0" y="536549"/>
                  </a:lnTo>
                  <a:lnTo>
                    <a:pt x="3270273" y="536549"/>
                  </a:lnTo>
                  <a:lnTo>
                    <a:pt x="3270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58498" y="312476"/>
              <a:ext cx="3270885" cy="536575"/>
            </a:xfrm>
            <a:custGeom>
              <a:avLst/>
              <a:gdLst/>
              <a:ahLst/>
              <a:cxnLst/>
              <a:rect l="l" t="t" r="r" b="b"/>
              <a:pathLst>
                <a:path w="3270884" h="536575">
                  <a:moveTo>
                    <a:pt x="0" y="536549"/>
                  </a:moveTo>
                  <a:lnTo>
                    <a:pt x="3270273" y="536549"/>
                  </a:lnTo>
                  <a:lnTo>
                    <a:pt x="3270273" y="0"/>
                  </a:lnTo>
                  <a:lnTo>
                    <a:pt x="0" y="0"/>
                  </a:lnTo>
                  <a:lnTo>
                    <a:pt x="0" y="536549"/>
                  </a:lnTo>
                  <a:close/>
                </a:path>
              </a:pathLst>
            </a:custGeom>
            <a:ln w="14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57238" y="356676"/>
            <a:ext cx="208216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Times New Roman"/>
                <a:cs typeface="Times New Roman"/>
              </a:rPr>
              <a:t>Algo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MoyValAbsoluVers2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13987" y="1233440"/>
            <a:ext cx="1094105" cy="551815"/>
            <a:chOff x="5413987" y="1233440"/>
            <a:chExt cx="1094105" cy="551815"/>
          </a:xfrm>
        </p:grpSpPr>
        <p:sp>
          <p:nvSpPr>
            <p:cNvPr id="17" name="object 17"/>
            <p:cNvSpPr/>
            <p:nvPr/>
          </p:nvSpPr>
          <p:spPr>
            <a:xfrm>
              <a:off x="5421607" y="1241060"/>
              <a:ext cx="1078865" cy="536575"/>
            </a:xfrm>
            <a:custGeom>
              <a:avLst/>
              <a:gdLst/>
              <a:ahLst/>
              <a:cxnLst/>
              <a:rect l="l" t="t" r="r" b="b"/>
              <a:pathLst>
                <a:path w="1078864" h="536575">
                  <a:moveTo>
                    <a:pt x="1078698" y="0"/>
                  </a:moveTo>
                  <a:lnTo>
                    <a:pt x="0" y="0"/>
                  </a:lnTo>
                  <a:lnTo>
                    <a:pt x="0" y="536549"/>
                  </a:lnTo>
                  <a:lnTo>
                    <a:pt x="1078698" y="536549"/>
                  </a:lnTo>
                  <a:lnTo>
                    <a:pt x="1078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21607" y="1241060"/>
              <a:ext cx="1078865" cy="536575"/>
            </a:xfrm>
            <a:custGeom>
              <a:avLst/>
              <a:gdLst/>
              <a:ahLst/>
              <a:cxnLst/>
              <a:rect l="l" t="t" r="r" b="b"/>
              <a:pathLst>
                <a:path w="1078864" h="536575">
                  <a:moveTo>
                    <a:pt x="0" y="536549"/>
                  </a:moveTo>
                  <a:lnTo>
                    <a:pt x="1078698" y="536549"/>
                  </a:lnTo>
                  <a:lnTo>
                    <a:pt x="1078698" y="0"/>
                  </a:lnTo>
                  <a:lnTo>
                    <a:pt x="0" y="0"/>
                  </a:lnTo>
                  <a:lnTo>
                    <a:pt x="0" y="536549"/>
                  </a:lnTo>
                  <a:close/>
                </a:path>
              </a:pathLst>
            </a:custGeom>
            <a:ln w="14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53099" y="1288865"/>
            <a:ext cx="5695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latin typeface="Times New Roman"/>
                <a:cs typeface="Times New Roman"/>
              </a:rPr>
              <a:t>Absolu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54851" y="1233440"/>
            <a:ext cx="1645285" cy="551815"/>
            <a:chOff x="7054851" y="1233440"/>
            <a:chExt cx="1645285" cy="551815"/>
          </a:xfrm>
        </p:grpSpPr>
        <p:sp>
          <p:nvSpPr>
            <p:cNvPr id="21" name="object 21"/>
            <p:cNvSpPr/>
            <p:nvPr/>
          </p:nvSpPr>
          <p:spPr>
            <a:xfrm>
              <a:off x="7062471" y="1241060"/>
              <a:ext cx="1630045" cy="536575"/>
            </a:xfrm>
            <a:custGeom>
              <a:avLst/>
              <a:gdLst/>
              <a:ahLst/>
              <a:cxnLst/>
              <a:rect l="l" t="t" r="r" b="b"/>
              <a:pathLst>
                <a:path w="1630045" h="536575">
                  <a:moveTo>
                    <a:pt x="1629462" y="0"/>
                  </a:moveTo>
                  <a:lnTo>
                    <a:pt x="0" y="0"/>
                  </a:lnTo>
                  <a:lnTo>
                    <a:pt x="0" y="536549"/>
                  </a:lnTo>
                  <a:lnTo>
                    <a:pt x="1629462" y="536549"/>
                  </a:lnTo>
                  <a:lnTo>
                    <a:pt x="1629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62471" y="1241060"/>
              <a:ext cx="1630045" cy="536575"/>
            </a:xfrm>
            <a:custGeom>
              <a:avLst/>
              <a:gdLst/>
              <a:ahLst/>
              <a:cxnLst/>
              <a:rect l="l" t="t" r="r" b="b"/>
              <a:pathLst>
                <a:path w="1630045" h="536575">
                  <a:moveTo>
                    <a:pt x="0" y="536549"/>
                  </a:moveTo>
                  <a:lnTo>
                    <a:pt x="1629462" y="536549"/>
                  </a:lnTo>
                  <a:lnTo>
                    <a:pt x="1629462" y="0"/>
                  </a:lnTo>
                  <a:lnTo>
                    <a:pt x="0" y="0"/>
                  </a:lnTo>
                  <a:lnTo>
                    <a:pt x="0" y="536549"/>
                  </a:lnTo>
                  <a:close/>
                </a:path>
              </a:pathLst>
            </a:custGeom>
            <a:ln w="149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12839" y="1288865"/>
            <a:ext cx="7404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latin typeface="Times New Roman"/>
                <a:cs typeface="Times New Roman"/>
              </a:rPr>
              <a:t>M</a:t>
            </a:r>
            <a:r>
              <a:rPr sz="1500" spc="20" dirty="0">
                <a:latin typeface="Times New Roman"/>
                <a:cs typeface="Times New Roman"/>
              </a:rPr>
              <a:t>o</a:t>
            </a:r>
            <a:r>
              <a:rPr sz="1500" spc="-40" dirty="0">
                <a:latin typeface="Times New Roman"/>
                <a:cs typeface="Times New Roman"/>
              </a:rPr>
              <a:t>y</a:t>
            </a:r>
            <a:r>
              <a:rPr sz="1500" spc="15" dirty="0">
                <a:latin typeface="Times New Roman"/>
                <a:cs typeface="Times New Roman"/>
              </a:rPr>
              <a:t>e</a:t>
            </a:r>
            <a:r>
              <a:rPr sz="1500" spc="-10" dirty="0">
                <a:latin typeface="Times New Roman"/>
                <a:cs typeface="Times New Roman"/>
              </a:rPr>
              <a:t>n</a:t>
            </a:r>
            <a:r>
              <a:rPr sz="1500" spc="-40" dirty="0">
                <a:latin typeface="Times New Roman"/>
                <a:cs typeface="Times New Roman"/>
              </a:rPr>
              <a:t>n</a:t>
            </a:r>
            <a:r>
              <a:rPr sz="1500" spc="5" dirty="0"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55623" y="776762"/>
            <a:ext cx="2066925" cy="548640"/>
            <a:chOff x="5755623" y="776762"/>
            <a:chExt cx="2066925" cy="548640"/>
          </a:xfrm>
        </p:grpSpPr>
        <p:sp>
          <p:nvSpPr>
            <p:cNvPr id="25" name="object 25"/>
            <p:cNvSpPr/>
            <p:nvPr/>
          </p:nvSpPr>
          <p:spPr>
            <a:xfrm>
              <a:off x="5831821" y="780378"/>
              <a:ext cx="0" cy="403860"/>
            </a:xfrm>
            <a:custGeom>
              <a:avLst/>
              <a:gdLst/>
              <a:ahLst/>
              <a:cxnLst/>
              <a:rect l="l" t="t" r="r" b="b"/>
              <a:pathLst>
                <a:path h="403859">
                  <a:moveTo>
                    <a:pt x="0" y="0"/>
                  </a:moveTo>
                  <a:lnTo>
                    <a:pt x="0" y="403770"/>
                  </a:lnTo>
                </a:path>
              </a:pathLst>
            </a:custGeom>
            <a:ln w="15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55623" y="1176477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89" h="148590">
                  <a:moveTo>
                    <a:pt x="148298" y="0"/>
                  </a:moveTo>
                  <a:lnTo>
                    <a:pt x="0" y="0"/>
                  </a:lnTo>
                  <a:lnTo>
                    <a:pt x="76198" y="148582"/>
                  </a:lnTo>
                  <a:lnTo>
                    <a:pt x="1482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05144" y="917673"/>
              <a:ext cx="0" cy="407670"/>
            </a:xfrm>
            <a:custGeom>
              <a:avLst/>
              <a:gdLst/>
              <a:ahLst/>
              <a:cxnLst/>
              <a:rect l="l" t="t" r="r" b="b"/>
              <a:pathLst>
                <a:path h="407669">
                  <a:moveTo>
                    <a:pt x="0" y="407386"/>
                  </a:moveTo>
                  <a:lnTo>
                    <a:pt x="0" y="0"/>
                  </a:lnTo>
                </a:path>
              </a:pathLst>
            </a:custGeom>
            <a:ln w="15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33063" y="776762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89" h="148590">
                  <a:moveTo>
                    <a:pt x="72081" y="0"/>
                  </a:moveTo>
                  <a:lnTo>
                    <a:pt x="0" y="148582"/>
                  </a:lnTo>
                  <a:lnTo>
                    <a:pt x="148298" y="148582"/>
                  </a:lnTo>
                  <a:lnTo>
                    <a:pt x="720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35831" y="780378"/>
              <a:ext cx="0" cy="403860"/>
            </a:xfrm>
            <a:custGeom>
              <a:avLst/>
              <a:gdLst/>
              <a:ahLst/>
              <a:cxnLst/>
              <a:rect l="l" t="t" r="r" b="b"/>
              <a:pathLst>
                <a:path h="403859">
                  <a:moveTo>
                    <a:pt x="0" y="0"/>
                  </a:moveTo>
                  <a:lnTo>
                    <a:pt x="0" y="403770"/>
                  </a:lnTo>
                </a:path>
              </a:pathLst>
            </a:custGeom>
            <a:ln w="15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60060" y="1176477"/>
              <a:ext cx="147955" cy="148590"/>
            </a:xfrm>
            <a:custGeom>
              <a:avLst/>
              <a:gdLst/>
              <a:ahLst/>
              <a:cxnLst/>
              <a:rect l="l" t="t" r="r" b="b"/>
              <a:pathLst>
                <a:path w="147954" h="148590">
                  <a:moveTo>
                    <a:pt x="147908" y="0"/>
                  </a:moveTo>
                  <a:lnTo>
                    <a:pt x="0" y="0"/>
                  </a:lnTo>
                  <a:lnTo>
                    <a:pt x="75771" y="148582"/>
                  </a:lnTo>
                  <a:lnTo>
                    <a:pt x="147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46030" y="917673"/>
              <a:ext cx="0" cy="407670"/>
            </a:xfrm>
            <a:custGeom>
              <a:avLst/>
              <a:gdLst/>
              <a:ahLst/>
              <a:cxnLst/>
              <a:rect l="l" t="t" r="r" b="b"/>
              <a:pathLst>
                <a:path h="407669">
                  <a:moveTo>
                    <a:pt x="0" y="407386"/>
                  </a:moveTo>
                  <a:lnTo>
                    <a:pt x="0" y="0"/>
                  </a:lnTo>
                </a:path>
              </a:pathLst>
            </a:custGeom>
            <a:ln w="15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73893" y="776762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90">
                  <a:moveTo>
                    <a:pt x="72137" y="0"/>
                  </a:moveTo>
                  <a:lnTo>
                    <a:pt x="0" y="148582"/>
                  </a:lnTo>
                  <a:lnTo>
                    <a:pt x="148353" y="148582"/>
                  </a:lnTo>
                  <a:lnTo>
                    <a:pt x="721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334000" y="5334000"/>
            <a:ext cx="2981325" cy="381000"/>
          </a:xfrm>
          <a:prstGeom prst="rect">
            <a:avLst/>
          </a:prstGeom>
          <a:ln w="9144">
            <a:solidFill>
              <a:srgbClr val="A4002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65"/>
              </a:spcBef>
            </a:pP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Appel</a:t>
            </a:r>
            <a:r>
              <a:rPr sz="1600" b="1" spc="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1600" b="1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la</a:t>
            </a:r>
            <a:r>
              <a:rPr sz="1600" b="1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A40020"/>
                </a:solidFill>
                <a:latin typeface="Tahoma"/>
                <a:cs typeface="Tahoma"/>
              </a:rPr>
              <a:t>fonction</a:t>
            </a:r>
            <a:r>
              <a:rPr sz="16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A40020"/>
                </a:solidFill>
                <a:latin typeface="Tahoma"/>
                <a:cs typeface="Tahoma"/>
              </a:rPr>
              <a:t>Absolu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876800" y="5633351"/>
            <a:ext cx="384810" cy="234315"/>
          </a:xfrm>
          <a:custGeom>
            <a:avLst/>
            <a:gdLst/>
            <a:ahLst/>
            <a:cxnLst/>
            <a:rect l="l" t="t" r="r" b="b"/>
            <a:pathLst>
              <a:path w="384810" h="234314">
                <a:moveTo>
                  <a:pt x="45720" y="162166"/>
                </a:moveTo>
                <a:lnTo>
                  <a:pt x="0" y="234048"/>
                </a:lnTo>
                <a:lnTo>
                  <a:pt x="84962" y="227507"/>
                </a:lnTo>
                <a:lnTo>
                  <a:pt x="72537" y="206819"/>
                </a:lnTo>
                <a:lnTo>
                  <a:pt x="57658" y="206819"/>
                </a:lnTo>
                <a:lnTo>
                  <a:pt x="51180" y="195935"/>
                </a:lnTo>
                <a:lnTo>
                  <a:pt x="62075" y="189398"/>
                </a:lnTo>
                <a:lnTo>
                  <a:pt x="45720" y="162166"/>
                </a:lnTo>
                <a:close/>
              </a:path>
              <a:path w="384810" h="234314">
                <a:moveTo>
                  <a:pt x="62075" y="189398"/>
                </a:moveTo>
                <a:lnTo>
                  <a:pt x="51180" y="195935"/>
                </a:lnTo>
                <a:lnTo>
                  <a:pt x="57658" y="206819"/>
                </a:lnTo>
                <a:lnTo>
                  <a:pt x="68597" y="200258"/>
                </a:lnTo>
                <a:lnTo>
                  <a:pt x="62075" y="189398"/>
                </a:lnTo>
                <a:close/>
              </a:path>
              <a:path w="384810" h="234314">
                <a:moveTo>
                  <a:pt x="68597" y="200258"/>
                </a:moveTo>
                <a:lnTo>
                  <a:pt x="57658" y="206819"/>
                </a:lnTo>
                <a:lnTo>
                  <a:pt x="72537" y="206819"/>
                </a:lnTo>
                <a:lnTo>
                  <a:pt x="68597" y="200258"/>
                </a:lnTo>
                <a:close/>
              </a:path>
              <a:path w="384810" h="234314">
                <a:moveTo>
                  <a:pt x="377698" y="0"/>
                </a:moveTo>
                <a:lnTo>
                  <a:pt x="62075" y="189398"/>
                </a:lnTo>
                <a:lnTo>
                  <a:pt x="68597" y="200258"/>
                </a:lnTo>
                <a:lnTo>
                  <a:pt x="384301" y="10896"/>
                </a:lnTo>
                <a:lnTo>
                  <a:pt x="377698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200400" y="6324600"/>
            <a:ext cx="3200400" cy="346075"/>
          </a:xfrm>
          <a:prstGeom prst="rect">
            <a:avLst/>
          </a:prstGeom>
          <a:ln w="9144">
            <a:solidFill>
              <a:srgbClr val="A4002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65"/>
              </a:spcBef>
            </a:pP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Appel</a:t>
            </a:r>
            <a:r>
              <a:rPr sz="1600" b="1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1600" b="1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la</a:t>
            </a:r>
            <a:r>
              <a:rPr sz="1600" b="1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A40020"/>
                </a:solidFill>
                <a:latin typeface="Tahoma"/>
                <a:cs typeface="Tahoma"/>
              </a:rPr>
              <a:t>fonction</a:t>
            </a:r>
            <a:r>
              <a:rPr sz="16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Moyenne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981200" y="6083947"/>
            <a:ext cx="1145540" cy="399415"/>
          </a:xfrm>
          <a:custGeom>
            <a:avLst/>
            <a:gdLst/>
            <a:ahLst/>
            <a:cxnLst/>
            <a:rect l="l" t="t" r="r" b="b"/>
            <a:pathLst>
              <a:path w="1145539" h="399414">
                <a:moveTo>
                  <a:pt x="74272" y="30125"/>
                </a:moveTo>
                <a:lnTo>
                  <a:pt x="70261" y="42140"/>
                </a:lnTo>
                <a:lnTo>
                  <a:pt x="1140968" y="399072"/>
                </a:lnTo>
                <a:lnTo>
                  <a:pt x="1145032" y="387032"/>
                </a:lnTo>
                <a:lnTo>
                  <a:pt x="74272" y="30125"/>
                </a:lnTo>
                <a:close/>
              </a:path>
              <a:path w="1145539" h="399414">
                <a:moveTo>
                  <a:pt x="84327" y="0"/>
                </a:moveTo>
                <a:lnTo>
                  <a:pt x="0" y="12052"/>
                </a:lnTo>
                <a:lnTo>
                  <a:pt x="60198" y="72288"/>
                </a:lnTo>
                <a:lnTo>
                  <a:pt x="70261" y="42140"/>
                </a:lnTo>
                <a:lnTo>
                  <a:pt x="58293" y="38150"/>
                </a:lnTo>
                <a:lnTo>
                  <a:pt x="62230" y="26111"/>
                </a:lnTo>
                <a:lnTo>
                  <a:pt x="75612" y="26111"/>
                </a:lnTo>
                <a:lnTo>
                  <a:pt x="84327" y="0"/>
                </a:lnTo>
                <a:close/>
              </a:path>
              <a:path w="1145539" h="399414">
                <a:moveTo>
                  <a:pt x="62230" y="26111"/>
                </a:moveTo>
                <a:lnTo>
                  <a:pt x="58293" y="38150"/>
                </a:lnTo>
                <a:lnTo>
                  <a:pt x="70261" y="42140"/>
                </a:lnTo>
                <a:lnTo>
                  <a:pt x="74272" y="30125"/>
                </a:lnTo>
                <a:lnTo>
                  <a:pt x="62230" y="26111"/>
                </a:lnTo>
                <a:close/>
              </a:path>
              <a:path w="1145539" h="399414">
                <a:moveTo>
                  <a:pt x="75612" y="26111"/>
                </a:moveTo>
                <a:lnTo>
                  <a:pt x="62230" y="26111"/>
                </a:lnTo>
                <a:lnTo>
                  <a:pt x="74272" y="30125"/>
                </a:lnTo>
                <a:lnTo>
                  <a:pt x="75612" y="26111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85359" y="2971800"/>
            <a:ext cx="2153920" cy="304800"/>
          </a:xfrm>
          <a:prstGeom prst="rect">
            <a:avLst/>
          </a:prstGeom>
          <a:ln w="9144">
            <a:solidFill>
              <a:srgbClr val="A4002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A40020"/>
                </a:solidFill>
                <a:latin typeface="Tahoma"/>
                <a:cs typeface="Tahoma"/>
              </a:rPr>
              <a:t>Paramètres</a:t>
            </a:r>
            <a:r>
              <a:rPr sz="1800" spc="-5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formels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743200" y="2202688"/>
            <a:ext cx="6405880" cy="1988820"/>
            <a:chOff x="2743200" y="2202688"/>
            <a:chExt cx="6405880" cy="1988820"/>
          </a:xfrm>
        </p:grpSpPr>
        <p:sp>
          <p:nvSpPr>
            <p:cNvPr id="39" name="object 39"/>
            <p:cNvSpPr/>
            <p:nvPr/>
          </p:nvSpPr>
          <p:spPr>
            <a:xfrm>
              <a:off x="2743200" y="2202687"/>
              <a:ext cx="2602865" cy="1988820"/>
            </a:xfrm>
            <a:custGeom>
              <a:avLst/>
              <a:gdLst/>
              <a:ahLst/>
              <a:cxnLst/>
              <a:rect l="l" t="t" r="r" b="b"/>
              <a:pathLst>
                <a:path w="2602865" h="1988820">
                  <a:moveTo>
                    <a:pt x="1907413" y="763270"/>
                  </a:moveTo>
                  <a:lnTo>
                    <a:pt x="73152" y="29502"/>
                  </a:lnTo>
                  <a:lnTo>
                    <a:pt x="75044" y="24765"/>
                  </a:lnTo>
                  <a:lnTo>
                    <a:pt x="84963" y="0"/>
                  </a:lnTo>
                  <a:lnTo>
                    <a:pt x="0" y="7112"/>
                  </a:lnTo>
                  <a:lnTo>
                    <a:pt x="56642" y="70739"/>
                  </a:lnTo>
                  <a:lnTo>
                    <a:pt x="68427" y="41300"/>
                  </a:lnTo>
                  <a:lnTo>
                    <a:pt x="1902587" y="774954"/>
                  </a:lnTo>
                  <a:lnTo>
                    <a:pt x="1907413" y="763270"/>
                  </a:lnTo>
                  <a:close/>
                </a:path>
                <a:path w="2602865" h="1988820">
                  <a:moveTo>
                    <a:pt x="1984248" y="1079500"/>
                  </a:moveTo>
                  <a:lnTo>
                    <a:pt x="1978152" y="1068324"/>
                  </a:lnTo>
                  <a:lnTo>
                    <a:pt x="368655" y="1946287"/>
                  </a:lnTo>
                  <a:lnTo>
                    <a:pt x="353441" y="1918335"/>
                  </a:lnTo>
                  <a:lnTo>
                    <a:pt x="304800" y="1988312"/>
                  </a:lnTo>
                  <a:lnTo>
                    <a:pt x="389890" y="1985264"/>
                  </a:lnTo>
                  <a:lnTo>
                    <a:pt x="377990" y="1963420"/>
                  </a:lnTo>
                  <a:lnTo>
                    <a:pt x="374688" y="1957374"/>
                  </a:lnTo>
                  <a:lnTo>
                    <a:pt x="1984248" y="1079500"/>
                  </a:lnTo>
                  <a:close/>
                </a:path>
                <a:path w="2602865" h="1988820">
                  <a:moveTo>
                    <a:pt x="2138553" y="1154176"/>
                  </a:moveTo>
                  <a:lnTo>
                    <a:pt x="2128647" y="1146048"/>
                  </a:lnTo>
                  <a:lnTo>
                    <a:pt x="1491094" y="1925332"/>
                  </a:lnTo>
                  <a:lnTo>
                    <a:pt x="1466596" y="1905254"/>
                  </a:lnTo>
                  <a:lnTo>
                    <a:pt x="1447800" y="1988312"/>
                  </a:lnTo>
                  <a:lnTo>
                    <a:pt x="1525524" y="1953514"/>
                  </a:lnTo>
                  <a:lnTo>
                    <a:pt x="1512951" y="1943227"/>
                  </a:lnTo>
                  <a:lnTo>
                    <a:pt x="1500936" y="1933384"/>
                  </a:lnTo>
                  <a:lnTo>
                    <a:pt x="2138553" y="1154176"/>
                  </a:lnTo>
                  <a:close/>
                </a:path>
                <a:path w="2602865" h="1988820">
                  <a:moveTo>
                    <a:pt x="2602865" y="1903984"/>
                  </a:moveTo>
                  <a:lnTo>
                    <a:pt x="2572689" y="1914067"/>
                  </a:lnTo>
                  <a:lnTo>
                    <a:pt x="2291969" y="1071880"/>
                  </a:lnTo>
                  <a:lnTo>
                    <a:pt x="2280031" y="1075944"/>
                  </a:lnTo>
                  <a:lnTo>
                    <a:pt x="2560650" y="1918081"/>
                  </a:lnTo>
                  <a:lnTo>
                    <a:pt x="2530602" y="1928114"/>
                  </a:lnTo>
                  <a:lnTo>
                    <a:pt x="2590800" y="1988312"/>
                  </a:lnTo>
                  <a:lnTo>
                    <a:pt x="2599131" y="1930019"/>
                  </a:lnTo>
                  <a:lnTo>
                    <a:pt x="2602865" y="1903984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10628" y="3352800"/>
              <a:ext cx="1833880" cy="376555"/>
            </a:xfrm>
            <a:custGeom>
              <a:avLst/>
              <a:gdLst/>
              <a:ahLst/>
              <a:cxnLst/>
              <a:rect l="l" t="t" r="r" b="b"/>
              <a:pathLst>
                <a:path w="1833879" h="376554">
                  <a:moveTo>
                    <a:pt x="0" y="376427"/>
                  </a:moveTo>
                  <a:lnTo>
                    <a:pt x="1833371" y="376427"/>
                  </a:lnTo>
                </a:path>
                <a:path w="1833879" h="376554">
                  <a:moveTo>
                    <a:pt x="1833371" y="0"/>
                  </a:moveTo>
                  <a:lnTo>
                    <a:pt x="0" y="0"/>
                  </a:lnTo>
                  <a:lnTo>
                    <a:pt x="0" y="376427"/>
                  </a:lnTo>
                </a:path>
              </a:pathLst>
            </a:custGeom>
            <a:ln w="9144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390638" y="3385184"/>
            <a:ext cx="1651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A40020"/>
                </a:solidFill>
                <a:latin typeface="Tahoma"/>
                <a:cs typeface="Tahoma"/>
              </a:rPr>
              <a:t>Type</a:t>
            </a:r>
            <a:r>
              <a:rPr sz="1800" spc="-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du</a:t>
            </a:r>
            <a:r>
              <a:rPr sz="1800" spc="-4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résultat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934200" y="3729735"/>
            <a:ext cx="386080" cy="461645"/>
          </a:xfrm>
          <a:custGeom>
            <a:avLst/>
            <a:gdLst/>
            <a:ahLst/>
            <a:cxnLst/>
            <a:rect l="l" t="t" r="r" b="b"/>
            <a:pathLst>
              <a:path w="386079" h="461645">
                <a:moveTo>
                  <a:pt x="19557" y="378332"/>
                </a:moveTo>
                <a:lnTo>
                  <a:pt x="0" y="461263"/>
                </a:lnTo>
                <a:lnTo>
                  <a:pt x="78104" y="427100"/>
                </a:lnTo>
                <a:lnTo>
                  <a:pt x="65450" y="416559"/>
                </a:lnTo>
                <a:lnTo>
                  <a:pt x="45466" y="416559"/>
                </a:lnTo>
                <a:lnTo>
                  <a:pt x="35814" y="408431"/>
                </a:lnTo>
                <a:lnTo>
                  <a:pt x="43958" y="398658"/>
                </a:lnTo>
                <a:lnTo>
                  <a:pt x="19557" y="378332"/>
                </a:lnTo>
                <a:close/>
              </a:path>
              <a:path w="386079" h="461645">
                <a:moveTo>
                  <a:pt x="43958" y="398658"/>
                </a:moveTo>
                <a:lnTo>
                  <a:pt x="35814" y="408431"/>
                </a:lnTo>
                <a:lnTo>
                  <a:pt x="45466" y="416559"/>
                </a:lnTo>
                <a:lnTo>
                  <a:pt x="53654" y="406734"/>
                </a:lnTo>
                <a:lnTo>
                  <a:pt x="43958" y="398658"/>
                </a:lnTo>
                <a:close/>
              </a:path>
              <a:path w="386079" h="461645">
                <a:moveTo>
                  <a:pt x="53654" y="406734"/>
                </a:moveTo>
                <a:lnTo>
                  <a:pt x="45466" y="416559"/>
                </a:lnTo>
                <a:lnTo>
                  <a:pt x="65450" y="416559"/>
                </a:lnTo>
                <a:lnTo>
                  <a:pt x="53654" y="406734"/>
                </a:lnTo>
                <a:close/>
              </a:path>
              <a:path w="386079" h="461645">
                <a:moveTo>
                  <a:pt x="376174" y="0"/>
                </a:moveTo>
                <a:lnTo>
                  <a:pt x="43958" y="398658"/>
                </a:lnTo>
                <a:lnTo>
                  <a:pt x="53654" y="406734"/>
                </a:lnTo>
                <a:lnTo>
                  <a:pt x="385825" y="8127"/>
                </a:lnTo>
                <a:lnTo>
                  <a:pt x="376174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6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71602"/>
            <a:ext cx="6254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 MT"/>
                <a:cs typeface="Arial MT"/>
              </a:rPr>
              <a:t>les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types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de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sous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programmes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39" y="2023872"/>
            <a:ext cx="202691" cy="214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439" y="3230879"/>
            <a:ext cx="202691" cy="2148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1090" y="1308354"/>
            <a:ext cx="7554595" cy="2473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64005" algn="l"/>
              </a:tabLst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Deux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types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: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Tahoma"/>
              <a:cs typeface="Tahoma"/>
            </a:endParaRPr>
          </a:p>
          <a:p>
            <a:pPr marL="295275" marR="5080" algn="just">
              <a:lnSpc>
                <a:spcPts val="2110"/>
              </a:lnSpc>
              <a:spcBef>
                <a:spcPts val="5"/>
              </a:spcBef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les</a:t>
            </a:r>
            <a:r>
              <a:rPr sz="2200" spc="6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procédures</a:t>
            </a:r>
            <a:r>
              <a:rPr sz="2200" spc="6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:représentent</a:t>
            </a:r>
            <a:r>
              <a:rPr sz="2200" spc="6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200" spc="66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action,</a:t>
            </a:r>
            <a:r>
              <a:rPr sz="2200" spc="6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spc="6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peut</a:t>
            </a:r>
            <a:r>
              <a:rPr sz="2200" spc="66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être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complexe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entreprendre,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et peuvent aussi calculer une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ou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plusieurs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valeurs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ahoma"/>
              <a:cs typeface="Tahoma"/>
            </a:endParaRPr>
          </a:p>
          <a:p>
            <a:pPr marL="295275" marR="5715" algn="just">
              <a:lnSpc>
                <a:spcPts val="2110"/>
              </a:lnSpc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les fonctions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: calculent et retournent une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valeur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et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seule.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7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846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Syntaxe</a:t>
            </a:r>
            <a:r>
              <a:rPr spc="-30" dirty="0"/>
              <a:t> </a:t>
            </a:r>
            <a:r>
              <a:rPr dirty="0"/>
              <a:t>des</a:t>
            </a:r>
            <a:r>
              <a:rPr spc="-25" dirty="0"/>
              <a:t> </a:t>
            </a:r>
            <a:r>
              <a:rPr dirty="0"/>
              <a:t>procédures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6892" y="1677365"/>
            <a:ext cx="7393940" cy="307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Procédure</a:t>
            </a:r>
            <a:r>
              <a:rPr sz="2000" b="1" spc="-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&lt;identificateur&gt;(liste</a:t>
            </a:r>
            <a:r>
              <a:rPr sz="2000" b="1" spc="-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A40020"/>
                </a:solidFill>
                <a:latin typeface="Tahoma"/>
                <a:cs typeface="Tahoma"/>
              </a:rPr>
              <a:t>des</a:t>
            </a: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 paramètres</a:t>
            </a:r>
            <a:r>
              <a:rPr sz="2000" b="1" spc="-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formels)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//Déclaration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constantes</a:t>
            </a:r>
            <a:r>
              <a:rPr sz="20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locales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CONST</a:t>
            </a:r>
            <a:endParaRPr sz="2000">
              <a:latin typeface="Tahoma"/>
              <a:cs typeface="Tahoma"/>
            </a:endParaRPr>
          </a:p>
          <a:p>
            <a:pPr marL="250190">
              <a:lnSpc>
                <a:spcPct val="100000"/>
              </a:lnSpc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&lt;identificateur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constante&gt;</a:t>
            </a:r>
            <a:r>
              <a:rPr sz="20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(&lt;type&gt;)=&lt;valeur&gt;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//Declaration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variables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locales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A40020"/>
                </a:solidFill>
                <a:latin typeface="Tahoma"/>
                <a:cs typeface="Tahoma"/>
              </a:rPr>
              <a:t>VAR</a:t>
            </a:r>
            <a:endParaRPr sz="2000">
              <a:latin typeface="Tahoma"/>
              <a:cs typeface="Tahoma"/>
            </a:endParaRPr>
          </a:p>
          <a:p>
            <a:pPr marL="170815">
              <a:lnSpc>
                <a:spcPct val="100000"/>
              </a:lnSpc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&lt;identificateur variable&gt;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(&lt;type&gt;)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Début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//ici se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placera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corps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 l'algorithme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la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procédure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FIN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490" y="5197221"/>
            <a:ext cx="774001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000"/>
              <a:buChar char="•"/>
              <a:tabLst>
                <a:tab pos="102870" algn="l"/>
              </a:tabLst>
            </a:pP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les </a:t>
            </a:r>
            <a:r>
              <a:rPr sz="2000" spc="-5" dirty="0">
                <a:solidFill>
                  <a:srgbClr val="A40020"/>
                </a:solidFill>
                <a:latin typeface="Arial MT"/>
                <a:cs typeface="Arial MT"/>
              </a:rPr>
              <a:t>paramètres </a:t>
            </a:r>
            <a:r>
              <a:rPr sz="2000" dirty="0">
                <a:solidFill>
                  <a:srgbClr val="A40020"/>
                </a:solidFill>
                <a:latin typeface="Arial MT"/>
                <a:cs typeface="Arial MT"/>
              </a:rPr>
              <a:t>formels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sont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des identificateurs de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variables fictives 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utilisées pour introduire des données dans la procédure ou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sortir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des </a:t>
            </a:r>
            <a:r>
              <a:rPr sz="2000" spc="-5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résultats</a:t>
            </a:r>
            <a:r>
              <a:rPr sz="20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dans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procédure</a:t>
            </a:r>
            <a:endParaRPr sz="2000">
              <a:latin typeface="Arial MT"/>
              <a:cs typeface="Arial MT"/>
            </a:endParaRPr>
          </a:p>
          <a:p>
            <a:pPr marL="12700" marR="417195">
              <a:lnSpc>
                <a:spcPct val="100000"/>
              </a:lnSpc>
              <a:spcBef>
                <a:spcPts val="5"/>
              </a:spcBef>
              <a:buSzPct val="95000"/>
              <a:buChar char="•"/>
              <a:tabLst>
                <a:tab pos="102870" algn="l"/>
              </a:tabLst>
            </a:pP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Les </a:t>
            </a:r>
            <a:r>
              <a:rPr sz="2000" dirty="0">
                <a:solidFill>
                  <a:srgbClr val="A40020"/>
                </a:solidFill>
                <a:latin typeface="Arial MT"/>
                <a:cs typeface="Arial MT"/>
              </a:rPr>
              <a:t>variables locales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sont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des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variables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internes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à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la procédure, </a:t>
            </a:r>
            <a:r>
              <a:rPr sz="2000" spc="-5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nécessaires</a:t>
            </a:r>
            <a:r>
              <a:rPr sz="2000" spc="-5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r>
              <a:rPr sz="20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exécuter</a:t>
            </a:r>
            <a:r>
              <a:rPr sz="2000" spc="-5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sa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tâche.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524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Syntaxe</a:t>
            </a:r>
            <a:r>
              <a:rPr spc="-30" dirty="0"/>
              <a:t> </a:t>
            </a:r>
            <a:r>
              <a:rPr dirty="0"/>
              <a:t>des</a:t>
            </a:r>
            <a:r>
              <a:rPr spc="-35" dirty="0"/>
              <a:t> </a:t>
            </a:r>
            <a:r>
              <a:rPr spc="-5" dirty="0"/>
              <a:t>Fonctions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1677365"/>
            <a:ext cx="9065260" cy="3380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Fonction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&lt;identificateurFonc&gt;(liste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des</a:t>
            </a:r>
            <a:r>
              <a:rPr sz="2000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paramètres</a:t>
            </a:r>
            <a:r>
              <a:rPr sz="2000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formels) 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:&lt;type</a:t>
            </a:r>
            <a:r>
              <a:rPr sz="20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du</a:t>
            </a:r>
            <a:r>
              <a:rPr sz="20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résultat&gt;</a:t>
            </a:r>
            <a:endParaRPr sz="2000">
              <a:latin typeface="Tahoma"/>
              <a:cs typeface="Tahoma"/>
            </a:endParaRPr>
          </a:p>
          <a:p>
            <a:pPr marL="12700" marR="550354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(*déclaratrion</a:t>
            </a:r>
            <a:r>
              <a:rPr sz="20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20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constantes*)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CONST</a:t>
            </a:r>
            <a:endParaRPr sz="2000">
              <a:latin typeface="Tahoma"/>
              <a:cs typeface="Tahoma"/>
            </a:endParaRPr>
          </a:p>
          <a:p>
            <a:pPr marL="170815">
              <a:lnSpc>
                <a:spcPct val="100000"/>
              </a:lnSpc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&lt;identificateur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constante&gt;</a:t>
            </a:r>
            <a:r>
              <a:rPr sz="20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(&lt;type&gt;)&lt;valeur&gt;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//déclaration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20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variables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-15" dirty="0">
                <a:solidFill>
                  <a:srgbClr val="A40020"/>
                </a:solidFill>
                <a:latin typeface="Tahoma"/>
                <a:cs typeface="Tahoma"/>
              </a:rPr>
              <a:t>VAR</a:t>
            </a:r>
            <a:endParaRPr sz="2000">
              <a:latin typeface="Tahoma"/>
              <a:cs typeface="Tahoma"/>
            </a:endParaRPr>
          </a:p>
          <a:p>
            <a:pPr marL="12700" marR="4926965" indent="237490">
              <a:lnSpc>
                <a:spcPct val="100000"/>
              </a:lnSpc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&lt;identificateur variable&gt;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: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&lt;type&gt;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DÉBUT</a:t>
            </a:r>
            <a:endParaRPr sz="2000">
              <a:latin typeface="Tahoma"/>
              <a:cs typeface="Tahoma"/>
            </a:endParaRPr>
          </a:p>
          <a:p>
            <a:pPr marL="250190" marR="2957195" indent="-79375">
              <a:lnSpc>
                <a:spcPts val="2380"/>
              </a:lnSpc>
              <a:spcBef>
                <a:spcPts val="95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//ici se placera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corps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 l'algorithme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fonction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identificateurfonc</a:t>
            </a:r>
            <a:r>
              <a:rPr sz="2000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Symbol"/>
                <a:cs typeface="Symbol"/>
              </a:rPr>
              <a:t>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résultat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ts val="2345"/>
              </a:lnSpc>
            </a:pP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FIN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2294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Dynamique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1490472"/>
            <a:ext cx="202691" cy="214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3233927"/>
            <a:ext cx="202691" cy="2148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7744" y="1412493"/>
            <a:ext cx="7272655" cy="23729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620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une procédure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ne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sert à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rien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si elle ne communique pas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avec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l'extérieur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ou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 reste du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programme.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Pour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cela elle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doit</a:t>
            </a:r>
            <a:r>
              <a:rPr sz="2200" spc="2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avoir</a:t>
            </a:r>
            <a:r>
              <a:rPr sz="2200" spc="2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spc="229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effet</a:t>
            </a:r>
            <a:r>
              <a:rPr sz="2200" spc="2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2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bord</a:t>
            </a:r>
            <a:r>
              <a:rPr sz="2200" spc="229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:</a:t>
            </a:r>
            <a:r>
              <a:rPr sz="2200" spc="2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c'est</a:t>
            </a:r>
            <a:r>
              <a:rPr sz="2200" spc="229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200" spc="2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dire</a:t>
            </a:r>
            <a:r>
              <a:rPr sz="2200" spc="2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avoir</a:t>
            </a:r>
            <a:r>
              <a:rPr sz="2200" spc="229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200" spc="2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action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sur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périphérique </a:t>
            </a:r>
            <a:r>
              <a:rPr sz="2200" spc="-40" dirty="0">
                <a:solidFill>
                  <a:srgbClr val="40458B"/>
                </a:solidFill>
                <a:latin typeface="Tahoma"/>
                <a:cs typeface="Tahoma"/>
              </a:rPr>
              <a:t>(clavier,</a:t>
            </a:r>
            <a:r>
              <a:rPr sz="2200" spc="60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écran,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imprimante, disque),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ou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modifier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ahoma"/>
              <a:cs typeface="Tahoma"/>
            </a:endParaRPr>
          </a:p>
          <a:p>
            <a:pPr marL="12700" marR="6350" algn="just">
              <a:lnSpc>
                <a:spcPct val="80000"/>
              </a:lnSpc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200" spc="6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fonction</a:t>
            </a:r>
            <a:r>
              <a:rPr sz="2200" spc="66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sz="2200" spc="6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toujours</a:t>
            </a:r>
            <a:r>
              <a:rPr sz="2200" spc="67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spc="6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effet</a:t>
            </a:r>
            <a:r>
              <a:rPr sz="2200" spc="66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6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bord</a:t>
            </a:r>
            <a:r>
              <a:rPr sz="2200" spc="6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spc="6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spc="66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son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résultat.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70142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Appel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5" dirty="0"/>
              <a:t>Procédure</a:t>
            </a:r>
            <a:r>
              <a:rPr spc="10" dirty="0"/>
              <a:t> </a:t>
            </a:r>
            <a:r>
              <a:rPr dirty="0"/>
              <a:t>ou</a:t>
            </a:r>
            <a:r>
              <a:rPr spc="-20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dirty="0"/>
              <a:t>fonction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03349"/>
            <a:ext cx="7767320" cy="5269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430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La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déclaration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d’une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procédure</a:t>
            </a:r>
            <a:r>
              <a:rPr sz="22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n’entraîne</a:t>
            </a:r>
            <a:r>
              <a:rPr sz="2200" spc="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pas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son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exécution. </a:t>
            </a:r>
            <a:r>
              <a:rPr sz="2200" spc="-5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Elle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sera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exécutée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lorsqu’elle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sera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appelée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par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l'algorithme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principal</a:t>
            </a:r>
            <a:r>
              <a:rPr sz="22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ou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autre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procédure</a:t>
            </a:r>
            <a:r>
              <a:rPr sz="2200" spc="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ou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fonction.</a:t>
            </a:r>
            <a:endParaRPr sz="2200">
              <a:latin typeface="Arial MT"/>
              <a:cs typeface="Arial MT"/>
            </a:endParaRPr>
          </a:p>
          <a:p>
            <a:pPr marL="12700" marR="390525">
              <a:lnSpc>
                <a:spcPct val="200100"/>
              </a:lnSpc>
            </a:pP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Cet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appel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se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fait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en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citant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son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nom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manière</a:t>
            </a:r>
            <a:r>
              <a:rPr sz="2200" spc="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suivante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: </a:t>
            </a:r>
            <a:r>
              <a:rPr sz="2200" spc="-5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A40020"/>
                </a:solidFill>
                <a:latin typeface="Arial MT"/>
                <a:cs typeface="Arial MT"/>
              </a:rPr>
              <a:t>Nom_procédure</a:t>
            </a:r>
            <a:r>
              <a:rPr sz="2200" spc="2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(a1,</a:t>
            </a:r>
            <a:r>
              <a:rPr sz="2200" spc="1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a2,</a:t>
            </a:r>
            <a:r>
              <a:rPr sz="220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a3...,</a:t>
            </a:r>
            <a:r>
              <a:rPr sz="2200" spc="1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an)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Arial MT"/>
              <a:cs typeface="Arial MT"/>
            </a:endParaRPr>
          </a:p>
          <a:p>
            <a:pPr marL="12700" marR="248920">
              <a:lnSpc>
                <a:spcPct val="97500"/>
              </a:lnSpc>
              <a:tabLst>
                <a:tab pos="541655" algn="l"/>
              </a:tabLst>
            </a:pP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Où	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a1,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a2,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a3...,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an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: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sont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ce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qu’on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appelle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300" i="1" spc="-60" dirty="0">
                <a:solidFill>
                  <a:srgbClr val="40458B"/>
                </a:solidFill>
                <a:latin typeface="Arial"/>
                <a:cs typeface="Arial"/>
              </a:rPr>
              <a:t>des</a:t>
            </a:r>
            <a:r>
              <a:rPr sz="2300" i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300" i="1" spc="-60" dirty="0">
                <a:solidFill>
                  <a:srgbClr val="40458B"/>
                </a:solidFill>
                <a:latin typeface="Arial"/>
                <a:cs typeface="Arial"/>
              </a:rPr>
              <a:t>paramètres </a:t>
            </a:r>
            <a:r>
              <a:rPr sz="2300" i="1" spc="-5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300" i="1" spc="-35" dirty="0">
                <a:solidFill>
                  <a:srgbClr val="40458B"/>
                </a:solidFill>
                <a:latin typeface="Arial"/>
                <a:cs typeface="Arial"/>
              </a:rPr>
              <a:t>effectifs</a:t>
            </a:r>
            <a:r>
              <a:rPr sz="2200" spc="-35" dirty="0">
                <a:solidFill>
                  <a:srgbClr val="40458B"/>
                </a:solidFill>
                <a:latin typeface="Arial MT"/>
                <a:cs typeface="Arial MT"/>
              </a:rPr>
              <a:t>.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 Ils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remplaceront</a:t>
            </a:r>
            <a:r>
              <a:rPr sz="2200" spc="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à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les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paramètres</a:t>
            </a:r>
            <a:r>
              <a:rPr sz="2200" spc="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formels</a:t>
            </a:r>
            <a:r>
              <a:rPr sz="2200" spc="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qui </a:t>
            </a:r>
            <a:r>
              <a:rPr sz="2200" spc="-5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sont fictifs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Arial MT"/>
              <a:cs typeface="Arial MT"/>
            </a:endParaRPr>
          </a:p>
          <a:p>
            <a:pPr marL="12700" marR="26670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S'il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s'agit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d'une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fonction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,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valeur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retournée</a:t>
            </a:r>
            <a:r>
              <a:rPr sz="22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peut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être</a:t>
            </a:r>
            <a:r>
              <a:rPr sz="2200" spc="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affectée </a:t>
            </a:r>
            <a:r>
              <a:rPr sz="2200" spc="-5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dans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 une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variable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comme</a:t>
            </a:r>
            <a:r>
              <a:rPr sz="22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suit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ts val="2640"/>
              </a:lnSpc>
              <a:spcBef>
                <a:spcPts val="15"/>
              </a:spcBef>
            </a:pP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X </a:t>
            </a:r>
            <a:r>
              <a:rPr sz="2200" spc="-15" dirty="0">
                <a:solidFill>
                  <a:srgbClr val="A40020"/>
                </a:solidFill>
                <a:latin typeface="Symbol"/>
                <a:cs typeface="Symbol"/>
              </a:rPr>
              <a:t></a:t>
            </a:r>
            <a:r>
              <a:rPr sz="2200" spc="-15" dirty="0">
                <a:solidFill>
                  <a:srgbClr val="A40020"/>
                </a:solidFill>
                <a:latin typeface="Arial MT"/>
                <a:cs typeface="Arial MT"/>
              </a:rPr>
              <a:t>Nom_Fonction</a:t>
            </a:r>
            <a:r>
              <a:rPr sz="2200" spc="3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(a1, a2,</a:t>
            </a:r>
            <a:r>
              <a:rPr sz="2200" spc="1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a3..., an)</a:t>
            </a:r>
            <a:endParaRPr sz="2200">
              <a:latin typeface="Arial MT"/>
              <a:cs typeface="Arial MT"/>
            </a:endParaRPr>
          </a:p>
          <a:p>
            <a:pPr marR="5080" algn="r">
              <a:lnSpc>
                <a:spcPts val="1680"/>
              </a:lnSpc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70142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Appel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5" dirty="0"/>
              <a:t>Procédure</a:t>
            </a:r>
            <a:r>
              <a:rPr spc="10" dirty="0"/>
              <a:t> </a:t>
            </a:r>
            <a:r>
              <a:rPr dirty="0"/>
              <a:t>ou</a:t>
            </a:r>
            <a:r>
              <a:rPr spc="-20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dirty="0"/>
              <a:t>fonction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098549"/>
            <a:ext cx="7849870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4991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L’appel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d’une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procédure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entraîne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saut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au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début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la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procédure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appelée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et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l’exécution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toutes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ses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instructions </a:t>
            </a:r>
            <a:r>
              <a:rPr sz="2200" spc="-5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jusqu’à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dernière</a:t>
            </a:r>
            <a:r>
              <a:rPr sz="22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qui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entraînera</a:t>
            </a:r>
            <a:r>
              <a:rPr sz="22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retour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au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programme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appelant.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Remarque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:</a:t>
            </a:r>
            <a:r>
              <a:rPr sz="22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lors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l’appel,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il faut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respecter</a:t>
            </a:r>
            <a:r>
              <a:rPr sz="22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nombre,</a:t>
            </a:r>
            <a:r>
              <a:rPr sz="2200" spc="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l’ordre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et </a:t>
            </a:r>
            <a:r>
              <a:rPr sz="2200" spc="-5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type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des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paramètres.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61160" y="3563111"/>
            <a:ext cx="1691639" cy="762000"/>
          </a:xfrm>
          <a:custGeom>
            <a:avLst/>
            <a:gdLst/>
            <a:ahLst/>
            <a:cxnLst/>
            <a:rect l="l" t="t" r="r" b="b"/>
            <a:pathLst>
              <a:path w="1691639" h="762000">
                <a:moveTo>
                  <a:pt x="1691639" y="0"/>
                </a:moveTo>
                <a:lnTo>
                  <a:pt x="0" y="0"/>
                </a:lnTo>
                <a:lnTo>
                  <a:pt x="0" y="762000"/>
                </a:lnTo>
                <a:lnTo>
                  <a:pt x="1691639" y="762000"/>
                </a:lnTo>
                <a:lnTo>
                  <a:pt x="1691639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39645" y="3594303"/>
            <a:ext cx="13563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Alg</a:t>
            </a: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rithme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appelant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91000" y="3581400"/>
            <a:ext cx="1615440" cy="762000"/>
          </a:xfrm>
          <a:custGeom>
            <a:avLst/>
            <a:gdLst/>
            <a:ahLst/>
            <a:cxnLst/>
            <a:rect l="l" t="t" r="r" b="b"/>
            <a:pathLst>
              <a:path w="1615439" h="762000">
                <a:moveTo>
                  <a:pt x="1615439" y="0"/>
                </a:moveTo>
                <a:lnTo>
                  <a:pt x="0" y="0"/>
                </a:lnTo>
                <a:lnTo>
                  <a:pt x="0" y="762000"/>
                </a:lnTo>
                <a:lnTo>
                  <a:pt x="1615439" y="762000"/>
                </a:lnTo>
                <a:lnTo>
                  <a:pt x="1615439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70628" y="3613784"/>
            <a:ext cx="12585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éd</a:t>
            </a: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2200" spc="-20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e  appelée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5000" y="5638800"/>
            <a:ext cx="838200" cy="381000"/>
          </a:xfrm>
          <a:prstGeom prst="rect">
            <a:avLst/>
          </a:prstGeom>
          <a:solidFill>
            <a:srgbClr val="40458B"/>
          </a:solidFill>
        </p:spPr>
        <p:txBody>
          <a:bodyPr vert="horz" wrap="square" lIns="0" tIns="444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appel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91000" y="5486400"/>
            <a:ext cx="1714500" cy="426720"/>
          </a:xfrm>
          <a:custGeom>
            <a:avLst/>
            <a:gdLst/>
            <a:ahLst/>
            <a:cxnLst/>
            <a:rect l="l" t="t" r="r" b="b"/>
            <a:pathLst>
              <a:path w="1714500" h="426720">
                <a:moveTo>
                  <a:pt x="1714500" y="0"/>
                </a:moveTo>
                <a:lnTo>
                  <a:pt x="0" y="0"/>
                </a:lnTo>
                <a:lnTo>
                  <a:pt x="0" y="426719"/>
                </a:lnTo>
                <a:lnTo>
                  <a:pt x="1714500" y="426719"/>
                </a:lnTo>
                <a:lnTo>
                  <a:pt x="1714500" y="0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70628" y="5518810"/>
            <a:ext cx="15506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Fin</a:t>
            </a:r>
            <a:r>
              <a:rPr sz="2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sz="2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retour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19427" y="3195827"/>
            <a:ext cx="4733925" cy="3514725"/>
            <a:chOff x="1519427" y="3195827"/>
            <a:chExt cx="4733925" cy="3514725"/>
          </a:xfrm>
        </p:grpSpPr>
        <p:sp>
          <p:nvSpPr>
            <p:cNvPr id="13" name="object 13"/>
            <p:cNvSpPr/>
            <p:nvPr/>
          </p:nvSpPr>
          <p:spPr>
            <a:xfrm>
              <a:off x="2243328" y="3963161"/>
              <a:ext cx="2753995" cy="2743200"/>
            </a:xfrm>
            <a:custGeom>
              <a:avLst/>
              <a:gdLst/>
              <a:ahLst/>
              <a:cxnLst/>
              <a:rect l="l" t="t" r="r" b="b"/>
              <a:pathLst>
                <a:path w="2753995" h="2743200">
                  <a:moveTo>
                    <a:pt x="86868" y="2656332"/>
                  </a:moveTo>
                  <a:lnTo>
                    <a:pt x="57912" y="2656332"/>
                  </a:lnTo>
                  <a:lnTo>
                    <a:pt x="57912" y="2209800"/>
                  </a:lnTo>
                  <a:lnTo>
                    <a:pt x="28956" y="2209800"/>
                  </a:lnTo>
                  <a:lnTo>
                    <a:pt x="28956" y="2656332"/>
                  </a:lnTo>
                  <a:lnTo>
                    <a:pt x="0" y="2656332"/>
                  </a:lnTo>
                  <a:lnTo>
                    <a:pt x="43434" y="2743200"/>
                  </a:lnTo>
                  <a:lnTo>
                    <a:pt x="79629" y="2670810"/>
                  </a:lnTo>
                  <a:lnTo>
                    <a:pt x="86868" y="2656332"/>
                  </a:lnTo>
                  <a:close/>
                </a:path>
                <a:path w="2753995" h="2743200">
                  <a:moveTo>
                    <a:pt x="1872234" y="0"/>
                  </a:moveTo>
                  <a:lnTo>
                    <a:pt x="1783588" y="39751"/>
                  </a:lnTo>
                  <a:lnTo>
                    <a:pt x="1806028" y="58089"/>
                  </a:lnTo>
                  <a:lnTo>
                    <a:pt x="489458" y="1667230"/>
                  </a:lnTo>
                  <a:lnTo>
                    <a:pt x="511810" y="1685569"/>
                  </a:lnTo>
                  <a:lnTo>
                    <a:pt x="1828393" y="76365"/>
                  </a:lnTo>
                  <a:lnTo>
                    <a:pt x="1850898" y="94742"/>
                  </a:lnTo>
                  <a:lnTo>
                    <a:pt x="1861680" y="46863"/>
                  </a:lnTo>
                  <a:lnTo>
                    <a:pt x="1872234" y="0"/>
                  </a:lnTo>
                  <a:close/>
                </a:path>
                <a:path w="2753995" h="2743200">
                  <a:moveTo>
                    <a:pt x="1950847" y="1919274"/>
                  </a:moveTo>
                  <a:lnTo>
                    <a:pt x="1946021" y="1890712"/>
                  </a:lnTo>
                  <a:lnTo>
                    <a:pt x="202895" y="2181237"/>
                  </a:lnTo>
                  <a:lnTo>
                    <a:pt x="198120" y="2152675"/>
                  </a:lnTo>
                  <a:lnTo>
                    <a:pt x="119634" y="2209800"/>
                  </a:lnTo>
                  <a:lnTo>
                    <a:pt x="212471" y="2238362"/>
                  </a:lnTo>
                  <a:lnTo>
                    <a:pt x="208076" y="2212175"/>
                  </a:lnTo>
                  <a:lnTo>
                    <a:pt x="207683" y="2209800"/>
                  </a:lnTo>
                  <a:lnTo>
                    <a:pt x="1950847" y="1919274"/>
                  </a:lnTo>
                  <a:close/>
                </a:path>
                <a:path w="2753995" h="2743200">
                  <a:moveTo>
                    <a:pt x="2753868" y="1360932"/>
                  </a:moveTo>
                  <a:lnTo>
                    <a:pt x="2724912" y="1360932"/>
                  </a:lnTo>
                  <a:lnTo>
                    <a:pt x="2724912" y="381000"/>
                  </a:lnTo>
                  <a:lnTo>
                    <a:pt x="2695956" y="381000"/>
                  </a:lnTo>
                  <a:lnTo>
                    <a:pt x="2695956" y="1360932"/>
                  </a:lnTo>
                  <a:lnTo>
                    <a:pt x="2667000" y="1360932"/>
                  </a:lnTo>
                  <a:lnTo>
                    <a:pt x="2710434" y="1447800"/>
                  </a:lnTo>
                  <a:lnTo>
                    <a:pt x="2746629" y="1375410"/>
                  </a:lnTo>
                  <a:lnTo>
                    <a:pt x="2753868" y="1360932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14800" y="3200399"/>
              <a:ext cx="2133600" cy="2895600"/>
            </a:xfrm>
            <a:custGeom>
              <a:avLst/>
              <a:gdLst/>
              <a:ahLst/>
              <a:cxnLst/>
              <a:rect l="l" t="t" r="r" b="b"/>
              <a:pathLst>
                <a:path w="2133600" h="2895600">
                  <a:moveTo>
                    <a:pt x="0" y="2895600"/>
                  </a:moveTo>
                  <a:lnTo>
                    <a:pt x="2133600" y="2895600"/>
                  </a:lnTo>
                  <a:lnTo>
                    <a:pt x="2133600" y="0"/>
                  </a:lnTo>
                  <a:lnTo>
                    <a:pt x="0" y="0"/>
                  </a:lnTo>
                  <a:lnTo>
                    <a:pt x="0" y="28956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19527" y="4420361"/>
              <a:ext cx="86995" cy="1066800"/>
            </a:xfrm>
            <a:custGeom>
              <a:avLst/>
              <a:gdLst/>
              <a:ahLst/>
              <a:cxnLst/>
              <a:rect l="l" t="t" r="r" b="b"/>
              <a:pathLst>
                <a:path w="86994" h="1066800">
                  <a:moveTo>
                    <a:pt x="28956" y="979932"/>
                  </a:moveTo>
                  <a:lnTo>
                    <a:pt x="0" y="979932"/>
                  </a:lnTo>
                  <a:lnTo>
                    <a:pt x="43434" y="1066800"/>
                  </a:lnTo>
                  <a:lnTo>
                    <a:pt x="79629" y="994410"/>
                  </a:lnTo>
                  <a:lnTo>
                    <a:pt x="28956" y="994410"/>
                  </a:lnTo>
                  <a:lnTo>
                    <a:pt x="28956" y="979932"/>
                  </a:lnTo>
                  <a:close/>
                </a:path>
                <a:path w="86994" h="1066800">
                  <a:moveTo>
                    <a:pt x="57912" y="0"/>
                  </a:moveTo>
                  <a:lnTo>
                    <a:pt x="28956" y="0"/>
                  </a:lnTo>
                  <a:lnTo>
                    <a:pt x="28956" y="994410"/>
                  </a:lnTo>
                  <a:lnTo>
                    <a:pt x="57912" y="994410"/>
                  </a:lnTo>
                  <a:lnTo>
                    <a:pt x="57912" y="0"/>
                  </a:lnTo>
                  <a:close/>
                </a:path>
                <a:path w="86994" h="1066800">
                  <a:moveTo>
                    <a:pt x="86868" y="979932"/>
                  </a:moveTo>
                  <a:lnTo>
                    <a:pt x="57912" y="979932"/>
                  </a:lnTo>
                  <a:lnTo>
                    <a:pt x="57912" y="994410"/>
                  </a:lnTo>
                  <a:lnTo>
                    <a:pt x="79629" y="994410"/>
                  </a:lnTo>
                  <a:lnTo>
                    <a:pt x="86868" y="979932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23999" y="3200399"/>
              <a:ext cx="2286000" cy="3505200"/>
            </a:xfrm>
            <a:custGeom>
              <a:avLst/>
              <a:gdLst/>
              <a:ahLst/>
              <a:cxnLst/>
              <a:rect l="l" t="t" r="r" b="b"/>
              <a:pathLst>
                <a:path w="2286000" h="3505200">
                  <a:moveTo>
                    <a:pt x="0" y="3505200"/>
                  </a:moveTo>
                  <a:lnTo>
                    <a:pt x="2286000" y="3505200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35052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1732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1174749"/>
            <a:ext cx="7813040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004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algorithme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permet</a:t>
            </a:r>
            <a:r>
              <a:rPr sz="22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saisir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matrice(20,20)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d'entiers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affiche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les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lignes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cette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matrice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dont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somme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éléments</a:t>
            </a:r>
            <a:r>
              <a:rPr sz="2200" spc="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paire.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On</a:t>
            </a:r>
            <a:r>
              <a:rPr sz="2200" b="1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40458B"/>
                </a:solidFill>
                <a:latin typeface="Tahoma"/>
                <a:cs typeface="Tahoma"/>
              </a:rPr>
              <a:t>utilisera:</a:t>
            </a:r>
            <a:endParaRPr sz="2200">
              <a:latin typeface="Tahoma"/>
              <a:cs typeface="Tahoma"/>
            </a:endParaRPr>
          </a:p>
          <a:p>
            <a:pPr marL="139700" indent="-127635">
              <a:lnSpc>
                <a:spcPct val="100000"/>
              </a:lnSpc>
              <a:buSzPct val="95454"/>
              <a:buChar char="•"/>
              <a:tabLst>
                <a:tab pos="140335" algn="l"/>
              </a:tabLst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une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fonction</a:t>
            </a:r>
            <a:r>
              <a:rPr sz="22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somme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retourne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somme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ligne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d'une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matrice</a:t>
            </a:r>
            <a:r>
              <a:rPr sz="22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données</a:t>
            </a:r>
            <a:endParaRPr sz="2200">
              <a:latin typeface="Tahoma"/>
              <a:cs typeface="Tahoma"/>
            </a:endParaRPr>
          </a:p>
          <a:p>
            <a:pPr marL="12700" marR="622300">
              <a:lnSpc>
                <a:spcPct val="100000"/>
              </a:lnSpc>
              <a:buSzPct val="95454"/>
              <a:buChar char="•"/>
              <a:tabLst>
                <a:tab pos="140335" algn="l"/>
              </a:tabLst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affiche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les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éléments</a:t>
            </a:r>
            <a:r>
              <a:rPr sz="2200" spc="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ligne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d'une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matrice M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donnée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1937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</a:t>
            </a:r>
            <a:r>
              <a:rPr spc="5" dirty="0"/>
              <a:t>e</a:t>
            </a:r>
            <a:r>
              <a:rPr dirty="0"/>
              <a:t>mpl</a:t>
            </a:r>
            <a:r>
              <a:rPr spc="10" dirty="0"/>
              <a:t>e</a:t>
            </a:r>
            <a:r>
              <a:rPr dirty="0"/>
              <a:t>s</a:t>
            </a:r>
          </a:p>
        </p:txBody>
      </p:sp>
      <p:sp>
        <p:nvSpPr>
          <p:cNvPr id="4" name="object 4"/>
          <p:cNvSpPr/>
          <p:nvPr/>
        </p:nvSpPr>
        <p:spPr>
          <a:xfrm>
            <a:off x="670559" y="1158239"/>
            <a:ext cx="5820410" cy="5283835"/>
          </a:xfrm>
          <a:custGeom>
            <a:avLst/>
            <a:gdLst/>
            <a:ahLst/>
            <a:cxnLst/>
            <a:rect l="l" t="t" r="r" b="b"/>
            <a:pathLst>
              <a:path w="5820410" h="5283835">
                <a:moveTo>
                  <a:pt x="0" y="5283708"/>
                </a:moveTo>
                <a:lnTo>
                  <a:pt x="5820156" y="5283708"/>
                </a:lnTo>
                <a:lnTo>
                  <a:pt x="5820156" y="0"/>
                </a:lnTo>
                <a:lnTo>
                  <a:pt x="0" y="0"/>
                </a:lnTo>
                <a:lnTo>
                  <a:pt x="0" y="5283708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8690" y="1181481"/>
            <a:ext cx="5658485" cy="2163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35735" algn="l"/>
              </a:tabLst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Algorithme	Matrix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A40020"/>
                </a:solidFill>
                <a:latin typeface="Arial MT"/>
                <a:cs typeface="Arial MT"/>
              </a:rPr>
              <a:t>Type</a:t>
            </a:r>
            <a:endParaRPr sz="2000">
              <a:latin typeface="Arial MT"/>
              <a:cs typeface="Arial MT"/>
            </a:endParaRPr>
          </a:p>
          <a:p>
            <a:pPr marL="12700" marR="1202690">
              <a:lnSpc>
                <a:spcPct val="100000"/>
              </a:lnSpc>
            </a:pPr>
            <a:r>
              <a:rPr sz="2000" dirty="0">
                <a:solidFill>
                  <a:srgbClr val="A40020"/>
                </a:solidFill>
                <a:latin typeface="Arial MT"/>
                <a:cs typeface="Arial MT"/>
              </a:rPr>
              <a:t>Matrice = </a:t>
            </a:r>
            <a:r>
              <a:rPr sz="2000" spc="-5" dirty="0">
                <a:solidFill>
                  <a:srgbClr val="A40020"/>
                </a:solidFill>
                <a:latin typeface="Arial MT"/>
                <a:cs typeface="Arial MT"/>
              </a:rPr>
              <a:t>Tableau[1..20,1..20] de entier </a:t>
            </a:r>
            <a:r>
              <a:rPr sz="2000" spc="-545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Var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Mat</a:t>
            </a:r>
            <a:r>
              <a:rPr sz="2000" spc="-6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(Matrice)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50"/>
              </a:lnSpc>
            </a:pP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Ligne,</a:t>
            </a:r>
            <a:r>
              <a:rPr sz="20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Colonne</a:t>
            </a:r>
            <a:r>
              <a:rPr sz="20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(entier)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470"/>
              </a:lnSpc>
            </a:pP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Fonction</a:t>
            </a:r>
            <a:r>
              <a:rPr sz="2100" i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SommeLigne(M:matrice,</a:t>
            </a: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45" dirty="0">
                <a:solidFill>
                  <a:srgbClr val="40458B"/>
                </a:solidFill>
                <a:latin typeface="Arial"/>
                <a:cs typeface="Arial"/>
              </a:rPr>
              <a:t>lig:entier):entier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8690" y="3301951"/>
            <a:ext cx="1158875" cy="6521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290"/>
              </a:spcBef>
            </a:pP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Var </a:t>
            </a:r>
            <a:r>
              <a:rPr sz="2100" i="1" spc="-4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co</a:t>
            </a:r>
            <a:r>
              <a:rPr sz="2100" i="1" spc="-45" dirty="0">
                <a:solidFill>
                  <a:srgbClr val="40458B"/>
                </a:solidFill>
                <a:latin typeface="Arial"/>
                <a:cs typeface="Arial"/>
              </a:rPr>
              <a:t>l(e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n</a:t>
            </a:r>
            <a:r>
              <a:rPr sz="2100" i="1" spc="-35" dirty="0">
                <a:solidFill>
                  <a:srgbClr val="40458B"/>
                </a:solidFill>
                <a:latin typeface="Arial"/>
                <a:cs typeface="Arial"/>
              </a:rPr>
              <a:t>tier)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8690" y="3911551"/>
            <a:ext cx="4139565" cy="2481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460"/>
              </a:lnSpc>
              <a:spcBef>
                <a:spcPts val="110"/>
              </a:spcBef>
            </a:pP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somme(entier)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400"/>
              </a:lnSpc>
            </a:pP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Début</a:t>
            </a:r>
            <a:endParaRPr sz="2100">
              <a:latin typeface="Arial"/>
              <a:cs typeface="Arial"/>
            </a:endParaRPr>
          </a:p>
          <a:p>
            <a:pPr marL="361950">
              <a:lnSpc>
                <a:spcPts val="2400"/>
              </a:lnSpc>
            </a:pPr>
            <a:r>
              <a:rPr sz="2100" i="1" spc="-65" dirty="0">
                <a:solidFill>
                  <a:srgbClr val="40458B"/>
                </a:solidFill>
                <a:latin typeface="Arial"/>
                <a:cs typeface="Arial"/>
              </a:rPr>
              <a:t>somme</a:t>
            </a:r>
            <a:r>
              <a:rPr sz="2100" i="1" spc="-8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spc="-9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100" spc="-1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0;</a:t>
            </a:r>
            <a:endParaRPr sz="2100">
              <a:latin typeface="Arial"/>
              <a:cs typeface="Arial"/>
            </a:endParaRPr>
          </a:p>
          <a:p>
            <a:pPr marL="431800">
              <a:lnSpc>
                <a:spcPts val="2400"/>
              </a:lnSpc>
            </a:pP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pour</a:t>
            </a:r>
            <a:r>
              <a:rPr sz="2100" i="1" spc="-6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col</a:t>
            </a:r>
            <a:r>
              <a:rPr sz="2100" i="1" spc="-3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60" dirty="0">
                <a:solidFill>
                  <a:srgbClr val="40458B"/>
                </a:solidFill>
                <a:latin typeface="Arial"/>
                <a:cs typeface="Arial"/>
              </a:rPr>
              <a:t>de </a:t>
            </a: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1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à</a:t>
            </a: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60" dirty="0">
                <a:solidFill>
                  <a:srgbClr val="40458B"/>
                </a:solidFill>
                <a:latin typeface="Arial"/>
                <a:cs typeface="Arial"/>
              </a:rPr>
              <a:t>20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faire</a:t>
            </a:r>
            <a:endParaRPr sz="2100">
              <a:latin typeface="Arial"/>
              <a:cs typeface="Arial"/>
            </a:endParaRPr>
          </a:p>
          <a:p>
            <a:pPr marL="781050">
              <a:lnSpc>
                <a:spcPts val="2400"/>
              </a:lnSpc>
            </a:pPr>
            <a:r>
              <a:rPr sz="2100" i="1" spc="-65" dirty="0">
                <a:solidFill>
                  <a:srgbClr val="40458B"/>
                </a:solidFill>
                <a:latin typeface="Arial"/>
                <a:cs typeface="Arial"/>
              </a:rPr>
              <a:t>somme</a:t>
            </a:r>
            <a:r>
              <a:rPr sz="2100" i="1" spc="-7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spc="-9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10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2100" i="1" spc="-65" dirty="0">
                <a:solidFill>
                  <a:srgbClr val="40458B"/>
                </a:solidFill>
                <a:latin typeface="Arial"/>
                <a:cs typeface="Arial"/>
              </a:rPr>
              <a:t>somme</a:t>
            </a:r>
            <a:r>
              <a:rPr sz="2100" i="1" spc="-7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60" dirty="0">
                <a:solidFill>
                  <a:srgbClr val="40458B"/>
                </a:solidFill>
                <a:latin typeface="Arial"/>
                <a:cs typeface="Arial"/>
              </a:rPr>
              <a:t>+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45" dirty="0">
                <a:solidFill>
                  <a:srgbClr val="40458B"/>
                </a:solidFill>
                <a:latin typeface="Arial"/>
                <a:cs typeface="Arial"/>
              </a:rPr>
              <a:t>M[lig,col]</a:t>
            </a:r>
            <a:endParaRPr sz="2100">
              <a:latin typeface="Arial"/>
              <a:cs typeface="Arial"/>
            </a:endParaRPr>
          </a:p>
          <a:p>
            <a:pPr marL="12700" marR="1432560" indent="419100">
              <a:lnSpc>
                <a:spcPct val="95300"/>
              </a:lnSpc>
              <a:spcBef>
                <a:spcPts val="60"/>
              </a:spcBef>
            </a:pP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r>
              <a:rPr sz="2100" i="1" spc="-3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pour 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b="1" i="1" spc="-155" dirty="0">
                <a:solidFill>
                  <a:srgbClr val="40458B"/>
                </a:solidFill>
                <a:latin typeface="Arial"/>
                <a:cs typeface="Arial"/>
              </a:rPr>
              <a:t>s</a:t>
            </a:r>
            <a:r>
              <a:rPr sz="2100" b="1" i="1" spc="-160" dirty="0">
                <a:solidFill>
                  <a:srgbClr val="40458B"/>
                </a:solidFill>
                <a:latin typeface="Arial"/>
                <a:cs typeface="Arial"/>
              </a:rPr>
              <a:t>o</a:t>
            </a:r>
            <a:r>
              <a:rPr sz="2100" b="1" i="1" spc="-200" dirty="0">
                <a:solidFill>
                  <a:srgbClr val="40458B"/>
                </a:solidFill>
                <a:latin typeface="Arial"/>
                <a:cs typeface="Arial"/>
              </a:rPr>
              <a:t>m</a:t>
            </a:r>
            <a:r>
              <a:rPr sz="2100" b="1" i="1" spc="-215" dirty="0">
                <a:solidFill>
                  <a:srgbClr val="40458B"/>
                </a:solidFill>
                <a:latin typeface="Arial"/>
                <a:cs typeface="Arial"/>
              </a:rPr>
              <a:t>m</a:t>
            </a:r>
            <a:r>
              <a:rPr sz="2100" b="1" i="1" spc="-130" dirty="0">
                <a:solidFill>
                  <a:srgbClr val="40458B"/>
                </a:solidFill>
                <a:latin typeface="Arial"/>
                <a:cs typeface="Arial"/>
              </a:rPr>
              <a:t>eLigne</a:t>
            </a:r>
            <a:r>
              <a:rPr sz="2100" b="1" i="1" spc="-5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spc="-9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100" spc="4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2100" b="1" i="1" spc="-155" dirty="0">
                <a:solidFill>
                  <a:srgbClr val="40458B"/>
                </a:solidFill>
                <a:latin typeface="Arial"/>
                <a:cs typeface="Arial"/>
              </a:rPr>
              <a:t>s</a:t>
            </a:r>
            <a:r>
              <a:rPr sz="2100" b="1" i="1" spc="-185" dirty="0">
                <a:solidFill>
                  <a:srgbClr val="40458B"/>
                </a:solidFill>
                <a:latin typeface="Arial"/>
                <a:cs typeface="Arial"/>
              </a:rPr>
              <a:t>om</a:t>
            </a:r>
            <a:r>
              <a:rPr sz="2100" b="1" i="1" spc="-210" dirty="0">
                <a:solidFill>
                  <a:srgbClr val="40458B"/>
                </a:solidFill>
                <a:latin typeface="Arial"/>
                <a:cs typeface="Arial"/>
              </a:rPr>
              <a:t>m</a:t>
            </a:r>
            <a:r>
              <a:rPr sz="2100" b="1" i="1" spc="-40" dirty="0">
                <a:solidFill>
                  <a:srgbClr val="40458B"/>
                </a:solidFill>
                <a:latin typeface="Arial"/>
                <a:cs typeface="Arial"/>
              </a:rPr>
              <a:t>e  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00600" y="304800"/>
            <a:ext cx="3901440" cy="1016635"/>
          </a:xfrm>
          <a:custGeom>
            <a:avLst/>
            <a:gdLst/>
            <a:ahLst/>
            <a:cxnLst/>
            <a:rect l="l" t="t" r="r" b="b"/>
            <a:pathLst>
              <a:path w="3901440" h="1016635">
                <a:moveTo>
                  <a:pt x="0" y="1016508"/>
                </a:moveTo>
                <a:lnTo>
                  <a:pt x="3901440" y="1016508"/>
                </a:lnTo>
                <a:lnTo>
                  <a:pt x="3901440" y="0"/>
                </a:lnTo>
                <a:lnTo>
                  <a:pt x="0" y="0"/>
                </a:lnTo>
                <a:lnTo>
                  <a:pt x="0" y="1016508"/>
                </a:lnTo>
                <a:close/>
              </a:path>
            </a:pathLst>
          </a:custGeom>
          <a:ln w="9144">
            <a:solidFill>
              <a:srgbClr val="A40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80228" y="335991"/>
            <a:ext cx="35585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On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définit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un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nouveau 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type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qui </a:t>
            </a:r>
            <a:r>
              <a:rPr sz="2000" spc="-6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sera</a:t>
            </a:r>
            <a:r>
              <a:rPr sz="2000" spc="-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utilisé</a:t>
            </a:r>
            <a:r>
              <a:rPr sz="2000" spc="-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dans</a:t>
            </a:r>
            <a:r>
              <a:rPr sz="2000" spc="-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les</a:t>
            </a:r>
            <a:r>
              <a:rPr sz="2000" spc="-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paramètres </a:t>
            </a:r>
            <a:r>
              <a:rPr sz="2000" spc="-6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des</a:t>
            </a:r>
            <a:r>
              <a:rPr sz="2000" spc="-3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procédures</a:t>
            </a:r>
            <a:r>
              <a:rPr sz="2000" spc="-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et fonctions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71600" y="832103"/>
            <a:ext cx="3752850" cy="5828030"/>
            <a:chOff x="1371600" y="832103"/>
            <a:chExt cx="3752850" cy="5828030"/>
          </a:xfrm>
        </p:grpSpPr>
        <p:sp>
          <p:nvSpPr>
            <p:cNvPr id="11" name="object 11"/>
            <p:cNvSpPr/>
            <p:nvPr/>
          </p:nvSpPr>
          <p:spPr>
            <a:xfrm>
              <a:off x="1371600" y="832103"/>
              <a:ext cx="3278504" cy="1011555"/>
            </a:xfrm>
            <a:custGeom>
              <a:avLst/>
              <a:gdLst/>
              <a:ahLst/>
              <a:cxnLst/>
              <a:rect l="l" t="t" r="r" b="b"/>
              <a:pathLst>
                <a:path w="3278504" h="1011555">
                  <a:moveTo>
                    <a:pt x="61975" y="938149"/>
                  </a:moveTo>
                  <a:lnTo>
                    <a:pt x="0" y="996696"/>
                  </a:lnTo>
                  <a:lnTo>
                    <a:pt x="83947" y="1011174"/>
                  </a:lnTo>
                  <a:lnTo>
                    <a:pt x="75884" y="984376"/>
                  </a:lnTo>
                  <a:lnTo>
                    <a:pt x="62611" y="984376"/>
                  </a:lnTo>
                  <a:lnTo>
                    <a:pt x="58928" y="972185"/>
                  </a:lnTo>
                  <a:lnTo>
                    <a:pt x="71108" y="968502"/>
                  </a:lnTo>
                  <a:lnTo>
                    <a:pt x="61975" y="938149"/>
                  </a:lnTo>
                  <a:close/>
                </a:path>
                <a:path w="3278504" h="1011555">
                  <a:moveTo>
                    <a:pt x="71108" y="968502"/>
                  </a:moveTo>
                  <a:lnTo>
                    <a:pt x="58928" y="972185"/>
                  </a:lnTo>
                  <a:lnTo>
                    <a:pt x="62611" y="984376"/>
                  </a:lnTo>
                  <a:lnTo>
                    <a:pt x="74777" y="980698"/>
                  </a:lnTo>
                  <a:lnTo>
                    <a:pt x="71108" y="968502"/>
                  </a:lnTo>
                  <a:close/>
                </a:path>
                <a:path w="3278504" h="1011555">
                  <a:moveTo>
                    <a:pt x="74777" y="980698"/>
                  </a:moveTo>
                  <a:lnTo>
                    <a:pt x="62611" y="984376"/>
                  </a:lnTo>
                  <a:lnTo>
                    <a:pt x="75884" y="984376"/>
                  </a:lnTo>
                  <a:lnTo>
                    <a:pt x="74777" y="980698"/>
                  </a:lnTo>
                  <a:close/>
                </a:path>
                <a:path w="3278504" h="1011555">
                  <a:moveTo>
                    <a:pt x="3274822" y="0"/>
                  </a:moveTo>
                  <a:lnTo>
                    <a:pt x="71108" y="968502"/>
                  </a:lnTo>
                  <a:lnTo>
                    <a:pt x="74777" y="980698"/>
                  </a:lnTo>
                  <a:lnTo>
                    <a:pt x="3278378" y="12192"/>
                  </a:lnTo>
                  <a:lnTo>
                    <a:pt x="3274822" y="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95600" y="6248400"/>
              <a:ext cx="2223770" cy="407034"/>
            </a:xfrm>
            <a:custGeom>
              <a:avLst/>
              <a:gdLst/>
              <a:ahLst/>
              <a:cxnLst/>
              <a:rect l="l" t="t" r="r" b="b"/>
              <a:pathLst>
                <a:path w="2223770" h="407034">
                  <a:moveTo>
                    <a:pt x="0" y="406908"/>
                  </a:moveTo>
                  <a:lnTo>
                    <a:pt x="2223516" y="406908"/>
                  </a:lnTo>
                  <a:lnTo>
                    <a:pt x="2223516" y="0"/>
                  </a:lnTo>
                  <a:lnTo>
                    <a:pt x="0" y="0"/>
                  </a:lnTo>
                  <a:lnTo>
                    <a:pt x="0" y="406908"/>
                  </a:lnTo>
                  <a:close/>
                </a:path>
              </a:pathLst>
            </a:custGeom>
            <a:ln w="9144">
              <a:solidFill>
                <a:srgbClr val="A40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74975" y="6281420"/>
            <a:ext cx="20510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Retour</a:t>
            </a:r>
            <a:r>
              <a:rPr sz="2000" spc="-4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du</a:t>
            </a:r>
            <a:r>
              <a:rPr sz="2000" spc="-4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résultat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09800" y="3658933"/>
            <a:ext cx="5179060" cy="2899410"/>
            <a:chOff x="2209800" y="3658933"/>
            <a:chExt cx="5179060" cy="2899410"/>
          </a:xfrm>
        </p:grpSpPr>
        <p:sp>
          <p:nvSpPr>
            <p:cNvPr id="15" name="object 15"/>
            <p:cNvSpPr/>
            <p:nvPr/>
          </p:nvSpPr>
          <p:spPr>
            <a:xfrm>
              <a:off x="2209800" y="6096000"/>
              <a:ext cx="613410" cy="462280"/>
            </a:xfrm>
            <a:custGeom>
              <a:avLst/>
              <a:gdLst/>
              <a:ahLst/>
              <a:cxnLst/>
              <a:rect l="l" t="t" r="r" b="b"/>
              <a:pathLst>
                <a:path w="613410" h="462279">
                  <a:moveTo>
                    <a:pt x="64769" y="40639"/>
                  </a:moveTo>
                  <a:lnTo>
                    <a:pt x="57150" y="50800"/>
                  </a:lnTo>
                  <a:lnTo>
                    <a:pt x="605789" y="462280"/>
                  </a:lnTo>
                  <a:lnTo>
                    <a:pt x="613410" y="452120"/>
                  </a:lnTo>
                  <a:lnTo>
                    <a:pt x="64769" y="40639"/>
                  </a:lnTo>
                  <a:close/>
                </a:path>
                <a:path w="613410" h="462279">
                  <a:moveTo>
                    <a:pt x="0" y="0"/>
                  </a:moveTo>
                  <a:lnTo>
                    <a:pt x="38100" y="76200"/>
                  </a:lnTo>
                  <a:lnTo>
                    <a:pt x="57150" y="50800"/>
                  </a:lnTo>
                  <a:lnTo>
                    <a:pt x="46989" y="43179"/>
                  </a:lnTo>
                  <a:lnTo>
                    <a:pt x="54610" y="33020"/>
                  </a:lnTo>
                  <a:lnTo>
                    <a:pt x="70484" y="33020"/>
                  </a:lnTo>
                  <a:lnTo>
                    <a:pt x="83819" y="15240"/>
                  </a:lnTo>
                  <a:lnTo>
                    <a:pt x="0" y="0"/>
                  </a:lnTo>
                  <a:close/>
                </a:path>
                <a:path w="613410" h="462279">
                  <a:moveTo>
                    <a:pt x="54610" y="33020"/>
                  </a:moveTo>
                  <a:lnTo>
                    <a:pt x="46989" y="43179"/>
                  </a:lnTo>
                  <a:lnTo>
                    <a:pt x="57150" y="50800"/>
                  </a:lnTo>
                  <a:lnTo>
                    <a:pt x="64769" y="40639"/>
                  </a:lnTo>
                  <a:lnTo>
                    <a:pt x="54610" y="33020"/>
                  </a:lnTo>
                  <a:close/>
                </a:path>
                <a:path w="613410" h="462279">
                  <a:moveTo>
                    <a:pt x="70484" y="33020"/>
                  </a:moveTo>
                  <a:lnTo>
                    <a:pt x="54610" y="33020"/>
                  </a:lnTo>
                  <a:lnTo>
                    <a:pt x="64769" y="40639"/>
                  </a:lnTo>
                  <a:lnTo>
                    <a:pt x="70484" y="3302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13960" y="3663696"/>
              <a:ext cx="2369820" cy="407034"/>
            </a:xfrm>
            <a:custGeom>
              <a:avLst/>
              <a:gdLst/>
              <a:ahLst/>
              <a:cxnLst/>
              <a:rect l="l" t="t" r="r" b="b"/>
              <a:pathLst>
                <a:path w="2369820" h="407035">
                  <a:moveTo>
                    <a:pt x="0" y="406907"/>
                  </a:moveTo>
                  <a:lnTo>
                    <a:pt x="2369819" y="406907"/>
                  </a:lnTo>
                  <a:lnTo>
                    <a:pt x="2369819" y="0"/>
                  </a:lnTo>
                  <a:lnTo>
                    <a:pt x="0" y="0"/>
                  </a:lnTo>
                  <a:lnTo>
                    <a:pt x="0" y="406907"/>
                  </a:lnTo>
                  <a:close/>
                </a:path>
              </a:pathLst>
            </a:custGeom>
            <a:ln w="9144">
              <a:solidFill>
                <a:srgbClr val="A40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92953" y="3696461"/>
            <a:ext cx="2189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Paramètres</a:t>
            </a:r>
            <a:r>
              <a:rPr sz="2000" spc="-8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formels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81400" y="3325875"/>
            <a:ext cx="1755775" cy="262255"/>
          </a:xfrm>
          <a:custGeom>
            <a:avLst/>
            <a:gdLst/>
            <a:ahLst/>
            <a:cxnLst/>
            <a:rect l="l" t="t" r="r" b="b"/>
            <a:pathLst>
              <a:path w="1755775" h="262254">
                <a:moveTo>
                  <a:pt x="1601089" y="249174"/>
                </a:moveTo>
                <a:lnTo>
                  <a:pt x="76327" y="31394"/>
                </a:lnTo>
                <a:lnTo>
                  <a:pt x="76581" y="29591"/>
                </a:lnTo>
                <a:lnTo>
                  <a:pt x="80772" y="0"/>
                </a:lnTo>
                <a:lnTo>
                  <a:pt x="0" y="26924"/>
                </a:lnTo>
                <a:lnTo>
                  <a:pt x="70104" y="75438"/>
                </a:lnTo>
                <a:lnTo>
                  <a:pt x="74549" y="43967"/>
                </a:lnTo>
                <a:lnTo>
                  <a:pt x="1599311" y="261747"/>
                </a:lnTo>
                <a:lnTo>
                  <a:pt x="1601089" y="249174"/>
                </a:lnTo>
                <a:close/>
              </a:path>
              <a:path w="1755775" h="262254">
                <a:moveTo>
                  <a:pt x="1755394" y="249809"/>
                </a:moveTo>
                <a:lnTo>
                  <a:pt x="1366393" y="55321"/>
                </a:lnTo>
                <a:lnTo>
                  <a:pt x="1369225" y="49657"/>
                </a:lnTo>
                <a:lnTo>
                  <a:pt x="1380617" y="26924"/>
                </a:lnTo>
                <a:lnTo>
                  <a:pt x="1295400" y="26924"/>
                </a:lnTo>
                <a:lnTo>
                  <a:pt x="1346454" y="95123"/>
                </a:lnTo>
                <a:lnTo>
                  <a:pt x="1360716" y="66636"/>
                </a:lnTo>
                <a:lnTo>
                  <a:pt x="1749806" y="261239"/>
                </a:lnTo>
                <a:lnTo>
                  <a:pt x="1755394" y="249809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52600" y="533400"/>
            <a:ext cx="5492750" cy="6198235"/>
          </a:xfrm>
          <a:custGeom>
            <a:avLst/>
            <a:gdLst/>
            <a:ahLst/>
            <a:cxnLst/>
            <a:rect l="l" t="t" r="r" b="b"/>
            <a:pathLst>
              <a:path w="5492750" h="6198234">
                <a:moveTo>
                  <a:pt x="0" y="6198108"/>
                </a:moveTo>
                <a:lnTo>
                  <a:pt x="5492496" y="6198108"/>
                </a:lnTo>
                <a:lnTo>
                  <a:pt x="5492496" y="0"/>
                </a:lnTo>
                <a:lnTo>
                  <a:pt x="0" y="0"/>
                </a:lnTo>
                <a:lnTo>
                  <a:pt x="0" y="6198108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1594" y="542241"/>
            <a:ext cx="5131435" cy="3393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460"/>
              </a:lnSpc>
              <a:spcBef>
                <a:spcPts val="110"/>
              </a:spcBef>
            </a:pP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Procédure</a:t>
            </a:r>
            <a:r>
              <a:rPr sz="2100" i="1" spc="-6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AfficherLigne(M:matrice,</a:t>
            </a:r>
            <a:r>
              <a:rPr sz="2100" i="1" spc="-7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45" dirty="0">
                <a:solidFill>
                  <a:srgbClr val="40458B"/>
                </a:solidFill>
                <a:latin typeface="Arial"/>
                <a:cs typeface="Arial"/>
              </a:rPr>
              <a:t>lig:entier)</a:t>
            </a:r>
            <a:endParaRPr sz="2100">
              <a:latin typeface="Arial"/>
              <a:cs typeface="Arial"/>
            </a:endParaRPr>
          </a:p>
          <a:p>
            <a:pPr marL="12700" marR="3977640">
              <a:lnSpc>
                <a:spcPts val="2400"/>
              </a:lnSpc>
              <a:spcBef>
                <a:spcPts val="120"/>
              </a:spcBef>
            </a:pP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Var </a:t>
            </a:r>
            <a:r>
              <a:rPr sz="2100" i="1" spc="-4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co</a:t>
            </a:r>
            <a:r>
              <a:rPr sz="2100" i="1" spc="-45" dirty="0">
                <a:solidFill>
                  <a:srgbClr val="40458B"/>
                </a:solidFill>
                <a:latin typeface="Arial"/>
                <a:cs typeface="Arial"/>
              </a:rPr>
              <a:t>l(e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n</a:t>
            </a:r>
            <a:r>
              <a:rPr sz="2100" i="1" spc="-35" dirty="0">
                <a:solidFill>
                  <a:srgbClr val="40458B"/>
                </a:solidFill>
                <a:latin typeface="Arial"/>
                <a:cs typeface="Arial"/>
              </a:rPr>
              <a:t>tier)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Début</a:t>
            </a:r>
            <a:endParaRPr sz="2100">
              <a:latin typeface="Arial"/>
              <a:cs typeface="Arial"/>
            </a:endParaRPr>
          </a:p>
          <a:p>
            <a:pPr marL="781050" marR="2097405" indent="-349885">
              <a:lnSpc>
                <a:spcPts val="2400"/>
              </a:lnSpc>
              <a:spcBef>
                <a:spcPts val="120"/>
              </a:spcBef>
            </a:pP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pour</a:t>
            </a:r>
            <a:r>
              <a:rPr sz="2100" i="1" spc="-6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col </a:t>
            </a:r>
            <a:r>
              <a:rPr sz="2100" i="1" spc="-60" dirty="0">
                <a:solidFill>
                  <a:srgbClr val="40458B"/>
                </a:solidFill>
                <a:latin typeface="Arial"/>
                <a:cs typeface="Arial"/>
              </a:rPr>
              <a:t>de </a:t>
            </a: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1</a:t>
            </a: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à</a:t>
            </a: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60" dirty="0">
                <a:solidFill>
                  <a:srgbClr val="40458B"/>
                </a:solidFill>
                <a:latin typeface="Arial"/>
                <a:cs typeface="Arial"/>
              </a:rPr>
              <a:t>20</a:t>
            </a: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40" dirty="0">
                <a:solidFill>
                  <a:srgbClr val="40458B"/>
                </a:solidFill>
                <a:latin typeface="Arial"/>
                <a:cs typeface="Arial"/>
              </a:rPr>
              <a:t>faire </a:t>
            </a:r>
            <a:r>
              <a:rPr sz="2100" i="1" spc="-56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45" dirty="0">
                <a:solidFill>
                  <a:srgbClr val="40458B"/>
                </a:solidFill>
                <a:latin typeface="Arial"/>
                <a:cs typeface="Arial"/>
              </a:rPr>
              <a:t>écrire(M[lig,col])</a:t>
            </a:r>
            <a:endParaRPr sz="2100">
              <a:latin typeface="Arial"/>
              <a:cs typeface="Arial"/>
            </a:endParaRPr>
          </a:p>
          <a:p>
            <a:pPr marL="431800">
              <a:lnSpc>
                <a:spcPts val="2280"/>
              </a:lnSpc>
            </a:pPr>
            <a:r>
              <a:rPr sz="2100" i="1" spc="-35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r>
              <a:rPr sz="2100" i="1" spc="-8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2100" i="1" spc="-55" dirty="0">
                <a:solidFill>
                  <a:srgbClr val="40458B"/>
                </a:solidFill>
                <a:latin typeface="Arial"/>
                <a:cs typeface="Arial"/>
              </a:rPr>
              <a:t>pour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450"/>
              </a:lnSpc>
            </a:pPr>
            <a:r>
              <a:rPr sz="2100" i="1" spc="-50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2390"/>
              </a:lnSpc>
            </a:pP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Début</a:t>
            </a:r>
            <a:endParaRPr sz="2000">
              <a:latin typeface="Arial MT"/>
              <a:cs typeface="Arial MT"/>
            </a:endParaRPr>
          </a:p>
          <a:p>
            <a:pPr marL="431800" marR="1446530" indent="-21082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Pour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Ligne</a:t>
            </a:r>
            <a:r>
              <a:rPr sz="20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de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à</a:t>
            </a:r>
            <a:r>
              <a:rPr sz="20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20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faire 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r>
              <a:rPr sz="20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Colonne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r>
              <a:rPr sz="20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à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 20</a:t>
            </a:r>
            <a:r>
              <a:rPr sz="20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faire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0589" y="3909440"/>
            <a:ext cx="315976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lire</a:t>
            </a:r>
            <a:r>
              <a:rPr sz="20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(Mat[Ligne,</a:t>
            </a:r>
            <a:r>
              <a:rPr sz="2000" spc="-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Colonne])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2000" spc="-5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1801" y="4519421"/>
            <a:ext cx="986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2000" spc="-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1801" y="4824221"/>
            <a:ext cx="2945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r>
              <a:rPr sz="20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Ligne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à</a:t>
            </a:r>
            <a:r>
              <a:rPr sz="20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20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faire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0589" y="5129022"/>
            <a:ext cx="4954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820" algn="l"/>
              </a:tabLst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si	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SommeLigne(Mat,Ligne)</a:t>
            </a:r>
            <a:r>
              <a:rPr sz="2000" spc="-6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Mod</a:t>
            </a:r>
            <a:r>
              <a:rPr sz="20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2 =</a:t>
            </a:r>
            <a:r>
              <a:rPr sz="20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0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alors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6375" y="5433771"/>
            <a:ext cx="27965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AfficherLigne(Mat,Ligne)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0485" y="5738266"/>
            <a:ext cx="633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2000" spc="-8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si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1801" y="6043676"/>
            <a:ext cx="986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2000" spc="-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1594" y="6348476"/>
            <a:ext cx="379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4267200"/>
            <a:ext cx="1447800" cy="925194"/>
          </a:xfrm>
          <a:custGeom>
            <a:avLst/>
            <a:gdLst/>
            <a:ahLst/>
            <a:cxnLst/>
            <a:rect l="l" t="t" r="r" b="b"/>
            <a:pathLst>
              <a:path w="1447800" h="925195">
                <a:moveTo>
                  <a:pt x="0" y="925068"/>
                </a:moveTo>
                <a:lnTo>
                  <a:pt x="1447800" y="925068"/>
                </a:lnTo>
                <a:lnTo>
                  <a:pt x="1447800" y="0"/>
                </a:lnTo>
                <a:lnTo>
                  <a:pt x="0" y="0"/>
                </a:lnTo>
                <a:lnTo>
                  <a:pt x="0" y="925068"/>
                </a:lnTo>
                <a:close/>
              </a:path>
            </a:pathLst>
          </a:custGeom>
          <a:ln w="9144">
            <a:solidFill>
              <a:srgbClr val="A40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510157" y="3186557"/>
            <a:ext cx="5863590" cy="3229610"/>
            <a:chOff x="1510157" y="3186557"/>
            <a:chExt cx="5863590" cy="3229610"/>
          </a:xfrm>
        </p:grpSpPr>
        <p:sp>
          <p:nvSpPr>
            <p:cNvPr id="15" name="object 15"/>
            <p:cNvSpPr/>
            <p:nvPr/>
          </p:nvSpPr>
          <p:spPr>
            <a:xfrm>
              <a:off x="1524762" y="3201162"/>
              <a:ext cx="228600" cy="3200400"/>
            </a:xfrm>
            <a:custGeom>
              <a:avLst/>
              <a:gdLst/>
              <a:ahLst/>
              <a:cxnLst/>
              <a:rect l="l" t="t" r="r" b="b"/>
              <a:pathLst>
                <a:path w="228600" h="3200400">
                  <a:moveTo>
                    <a:pt x="228600" y="3200400"/>
                  </a:moveTo>
                  <a:lnTo>
                    <a:pt x="178336" y="3173292"/>
                  </a:lnTo>
                  <a:lnTo>
                    <a:pt x="139412" y="3100507"/>
                  </a:lnTo>
                  <a:lnTo>
                    <a:pt x="125918" y="3050988"/>
                  </a:lnTo>
                  <a:lnTo>
                    <a:pt x="117319" y="2994851"/>
                  </a:lnTo>
                  <a:lnTo>
                    <a:pt x="114300" y="2933700"/>
                  </a:lnTo>
                  <a:lnTo>
                    <a:pt x="114300" y="1866900"/>
                  </a:lnTo>
                  <a:lnTo>
                    <a:pt x="111280" y="1805740"/>
                  </a:lnTo>
                  <a:lnTo>
                    <a:pt x="102681" y="1749600"/>
                  </a:lnTo>
                  <a:lnTo>
                    <a:pt x="89187" y="1700081"/>
                  </a:lnTo>
                  <a:lnTo>
                    <a:pt x="71485" y="1658782"/>
                  </a:lnTo>
                  <a:lnTo>
                    <a:pt x="26205" y="1607242"/>
                  </a:lnTo>
                  <a:lnTo>
                    <a:pt x="0" y="1600200"/>
                  </a:lnTo>
                  <a:lnTo>
                    <a:pt x="26205" y="1593157"/>
                  </a:lnTo>
                  <a:lnTo>
                    <a:pt x="71485" y="1541617"/>
                  </a:lnTo>
                  <a:lnTo>
                    <a:pt x="89187" y="1500318"/>
                  </a:lnTo>
                  <a:lnTo>
                    <a:pt x="102681" y="1450799"/>
                  </a:lnTo>
                  <a:lnTo>
                    <a:pt x="111280" y="1394659"/>
                  </a:lnTo>
                  <a:lnTo>
                    <a:pt x="114300" y="1333500"/>
                  </a:lnTo>
                  <a:lnTo>
                    <a:pt x="114300" y="266700"/>
                  </a:lnTo>
                  <a:lnTo>
                    <a:pt x="117319" y="205540"/>
                  </a:lnTo>
                  <a:lnTo>
                    <a:pt x="125918" y="149400"/>
                  </a:lnTo>
                  <a:lnTo>
                    <a:pt x="139412" y="99881"/>
                  </a:lnTo>
                  <a:lnTo>
                    <a:pt x="157114" y="58582"/>
                  </a:lnTo>
                  <a:lnTo>
                    <a:pt x="202394" y="7042"/>
                  </a:lnTo>
                  <a:lnTo>
                    <a:pt x="228600" y="0"/>
                  </a:lnTo>
                </a:path>
              </a:pathLst>
            </a:custGeom>
            <a:ln w="28956">
              <a:solidFill>
                <a:srgbClr val="A40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66360" y="5975604"/>
              <a:ext cx="2202180" cy="376555"/>
            </a:xfrm>
            <a:custGeom>
              <a:avLst/>
              <a:gdLst/>
              <a:ahLst/>
              <a:cxnLst/>
              <a:rect l="l" t="t" r="r" b="b"/>
              <a:pathLst>
                <a:path w="2202179" h="376554">
                  <a:moveTo>
                    <a:pt x="0" y="376428"/>
                  </a:moveTo>
                  <a:lnTo>
                    <a:pt x="2202180" y="376428"/>
                  </a:lnTo>
                  <a:lnTo>
                    <a:pt x="2202180" y="0"/>
                  </a:lnTo>
                  <a:lnTo>
                    <a:pt x="0" y="0"/>
                  </a:lnTo>
                  <a:lnTo>
                    <a:pt x="0" y="376428"/>
                  </a:lnTo>
                  <a:close/>
                </a:path>
              </a:pathLst>
            </a:custGeom>
            <a:ln w="9143">
              <a:solidFill>
                <a:srgbClr val="A40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8739" y="4299280"/>
            <a:ext cx="119888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Corps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de </a:t>
            </a:r>
            <a:r>
              <a:rPr sz="18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A40020"/>
                </a:solidFill>
                <a:latin typeface="Tahoma"/>
                <a:cs typeface="Tahoma"/>
              </a:rPr>
              <a:t>l'alg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orithme  Principal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45353" y="6008319"/>
            <a:ext cx="201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A40020"/>
                </a:solidFill>
                <a:latin typeface="Tahoma"/>
                <a:cs typeface="Tahoma"/>
              </a:rPr>
              <a:t>Paramètres</a:t>
            </a:r>
            <a:r>
              <a:rPr sz="1800" spc="-6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A40020"/>
                </a:solidFill>
                <a:latin typeface="Tahoma"/>
                <a:cs typeface="Tahoma"/>
              </a:rPr>
              <a:t>effectifs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96561" y="4491037"/>
            <a:ext cx="3274695" cy="1769110"/>
            <a:chOff x="4496561" y="4491037"/>
            <a:chExt cx="3274695" cy="1769110"/>
          </a:xfrm>
        </p:grpSpPr>
        <p:sp>
          <p:nvSpPr>
            <p:cNvPr id="20" name="object 20"/>
            <p:cNvSpPr/>
            <p:nvPr/>
          </p:nvSpPr>
          <p:spPr>
            <a:xfrm>
              <a:off x="4496562" y="5715761"/>
              <a:ext cx="623570" cy="544830"/>
            </a:xfrm>
            <a:custGeom>
              <a:avLst/>
              <a:gdLst/>
              <a:ahLst/>
              <a:cxnLst/>
              <a:rect l="l" t="t" r="r" b="b"/>
              <a:pathLst>
                <a:path w="623570" h="544829">
                  <a:moveTo>
                    <a:pt x="623570" y="529424"/>
                  </a:moveTo>
                  <a:lnTo>
                    <a:pt x="494957" y="79565"/>
                  </a:lnTo>
                  <a:lnTo>
                    <a:pt x="522859" y="71589"/>
                  </a:lnTo>
                  <a:lnTo>
                    <a:pt x="517372" y="65620"/>
                  </a:lnTo>
                  <a:lnTo>
                    <a:pt x="457200" y="0"/>
                  </a:lnTo>
                  <a:lnTo>
                    <a:pt x="439293" y="95453"/>
                  </a:lnTo>
                  <a:lnTo>
                    <a:pt x="467131" y="87503"/>
                  </a:lnTo>
                  <a:lnTo>
                    <a:pt x="582129" y="490143"/>
                  </a:lnTo>
                  <a:lnTo>
                    <a:pt x="74917" y="46316"/>
                  </a:lnTo>
                  <a:lnTo>
                    <a:pt x="83261" y="36766"/>
                  </a:lnTo>
                  <a:lnTo>
                    <a:pt x="93980" y="24511"/>
                  </a:lnTo>
                  <a:lnTo>
                    <a:pt x="0" y="0"/>
                  </a:lnTo>
                  <a:lnTo>
                    <a:pt x="36830" y="89890"/>
                  </a:lnTo>
                  <a:lnTo>
                    <a:pt x="55867" y="68110"/>
                  </a:lnTo>
                  <a:lnTo>
                    <a:pt x="600075" y="544296"/>
                  </a:lnTo>
                  <a:lnTo>
                    <a:pt x="609600" y="533400"/>
                  </a:lnTo>
                  <a:lnTo>
                    <a:pt x="623570" y="529424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62600" y="4495800"/>
              <a:ext cx="2204085" cy="376555"/>
            </a:xfrm>
            <a:custGeom>
              <a:avLst/>
              <a:gdLst/>
              <a:ahLst/>
              <a:cxnLst/>
              <a:rect l="l" t="t" r="r" b="b"/>
              <a:pathLst>
                <a:path w="2204084" h="376554">
                  <a:moveTo>
                    <a:pt x="0" y="376427"/>
                  </a:moveTo>
                  <a:lnTo>
                    <a:pt x="2203704" y="376427"/>
                  </a:lnTo>
                  <a:lnTo>
                    <a:pt x="2203704" y="0"/>
                  </a:lnTo>
                  <a:lnTo>
                    <a:pt x="0" y="0"/>
                  </a:lnTo>
                  <a:lnTo>
                    <a:pt x="0" y="376427"/>
                  </a:lnTo>
                  <a:close/>
                </a:path>
              </a:pathLst>
            </a:custGeom>
            <a:ln w="9144">
              <a:solidFill>
                <a:srgbClr val="A40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42228" y="4528566"/>
            <a:ext cx="201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A40020"/>
                </a:solidFill>
                <a:latin typeface="Tahoma"/>
                <a:cs typeface="Tahoma"/>
              </a:rPr>
              <a:t>Paramètres</a:t>
            </a:r>
            <a:r>
              <a:rPr sz="1800" spc="-6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A40020"/>
                </a:solidFill>
                <a:latin typeface="Tahoma"/>
                <a:cs typeface="Tahoma"/>
              </a:rPr>
              <a:t>effectifs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20362" y="4787772"/>
            <a:ext cx="1075690" cy="471170"/>
          </a:xfrm>
          <a:custGeom>
            <a:avLst/>
            <a:gdLst/>
            <a:ahLst/>
            <a:cxnLst/>
            <a:rect l="l" t="t" r="r" b="b"/>
            <a:pathLst>
              <a:path w="1075689" h="471170">
                <a:moveTo>
                  <a:pt x="1075436" y="25146"/>
                </a:moveTo>
                <a:lnTo>
                  <a:pt x="1066800" y="13589"/>
                </a:lnTo>
                <a:lnTo>
                  <a:pt x="1061974" y="0"/>
                </a:lnTo>
                <a:lnTo>
                  <a:pt x="76911" y="351739"/>
                </a:lnTo>
                <a:lnTo>
                  <a:pt x="67183" y="324485"/>
                </a:lnTo>
                <a:lnTo>
                  <a:pt x="0" y="394589"/>
                </a:lnTo>
                <a:lnTo>
                  <a:pt x="96393" y="406273"/>
                </a:lnTo>
                <a:lnTo>
                  <a:pt x="88404" y="383921"/>
                </a:lnTo>
                <a:lnTo>
                  <a:pt x="86664" y="379056"/>
                </a:lnTo>
                <a:lnTo>
                  <a:pt x="981887" y="59245"/>
                </a:lnTo>
                <a:lnTo>
                  <a:pt x="518020" y="407136"/>
                </a:lnTo>
                <a:lnTo>
                  <a:pt x="500634" y="383921"/>
                </a:lnTo>
                <a:lnTo>
                  <a:pt x="457200" y="470789"/>
                </a:lnTo>
                <a:lnTo>
                  <a:pt x="552704" y="453390"/>
                </a:lnTo>
                <a:lnTo>
                  <a:pt x="541845" y="438924"/>
                </a:lnTo>
                <a:lnTo>
                  <a:pt x="535330" y="430225"/>
                </a:lnTo>
                <a:lnTo>
                  <a:pt x="1075436" y="25146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7160" y="5391911"/>
            <a:ext cx="982980" cy="436245"/>
          </a:xfrm>
          <a:custGeom>
            <a:avLst/>
            <a:gdLst/>
            <a:ahLst/>
            <a:cxnLst/>
            <a:rect l="l" t="t" r="r" b="b"/>
            <a:pathLst>
              <a:path w="982980" h="436245">
                <a:moveTo>
                  <a:pt x="0" y="435863"/>
                </a:moveTo>
                <a:lnTo>
                  <a:pt x="982980" y="435863"/>
                </a:lnTo>
                <a:lnTo>
                  <a:pt x="982980" y="0"/>
                </a:lnTo>
                <a:lnTo>
                  <a:pt x="0" y="0"/>
                </a:lnTo>
                <a:lnTo>
                  <a:pt x="0" y="435863"/>
                </a:lnTo>
                <a:close/>
              </a:path>
            </a:pathLst>
          </a:custGeom>
          <a:ln w="9144">
            <a:solidFill>
              <a:srgbClr val="A40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15290" y="5424017"/>
            <a:ext cx="8147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app</a:t>
            </a:r>
            <a:r>
              <a:rPr sz="2200" spc="-15" dirty="0">
                <a:solidFill>
                  <a:srgbClr val="A40020"/>
                </a:solidFill>
                <a:latin typeface="Tahoma"/>
                <a:cs typeface="Tahoma"/>
              </a:rPr>
              <a:t>e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ls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64856" y="5384545"/>
            <a:ext cx="1679575" cy="346075"/>
          </a:xfrm>
          <a:custGeom>
            <a:avLst/>
            <a:gdLst/>
            <a:ahLst/>
            <a:cxnLst/>
            <a:rect l="l" t="t" r="r" b="b"/>
            <a:pathLst>
              <a:path w="1679575" h="346075">
                <a:moveTo>
                  <a:pt x="1679105" y="255016"/>
                </a:moveTo>
                <a:lnTo>
                  <a:pt x="1654175" y="243992"/>
                </a:lnTo>
                <a:lnTo>
                  <a:pt x="1590332" y="215760"/>
                </a:lnTo>
                <a:lnTo>
                  <a:pt x="1591678" y="244678"/>
                </a:lnTo>
                <a:lnTo>
                  <a:pt x="181991" y="311810"/>
                </a:lnTo>
                <a:lnTo>
                  <a:pt x="1520266" y="56934"/>
                </a:lnTo>
                <a:lnTo>
                  <a:pt x="1525689" y="85344"/>
                </a:lnTo>
                <a:lnTo>
                  <a:pt x="1602905" y="26416"/>
                </a:lnTo>
                <a:lnTo>
                  <a:pt x="1600657" y="25781"/>
                </a:lnTo>
                <a:lnTo>
                  <a:pt x="1509433" y="0"/>
                </a:lnTo>
                <a:lnTo>
                  <a:pt x="1514856" y="28498"/>
                </a:lnTo>
                <a:lnTo>
                  <a:pt x="0" y="316992"/>
                </a:lnTo>
                <a:lnTo>
                  <a:pt x="5410" y="345440"/>
                </a:lnTo>
                <a:lnTo>
                  <a:pt x="78905" y="331444"/>
                </a:lnTo>
                <a:lnTo>
                  <a:pt x="79590" y="345681"/>
                </a:lnTo>
                <a:lnTo>
                  <a:pt x="1593037" y="273621"/>
                </a:lnTo>
                <a:lnTo>
                  <a:pt x="1594396" y="302526"/>
                </a:lnTo>
                <a:lnTo>
                  <a:pt x="1679105" y="255016"/>
                </a:lnTo>
                <a:close/>
              </a:path>
            </a:pathLst>
          </a:custGeom>
          <a:solidFill>
            <a:srgbClr val="40458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3350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Variables</a:t>
            </a:r>
            <a:r>
              <a:rPr spc="-75" dirty="0"/>
              <a:t> </a:t>
            </a:r>
            <a:r>
              <a:rPr dirty="0"/>
              <a:t>locales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1338072"/>
            <a:ext cx="202691" cy="214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2276855"/>
            <a:ext cx="202691" cy="2148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3215639"/>
            <a:ext cx="202691" cy="2148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4422647"/>
            <a:ext cx="202691" cy="2148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744" y="1260093"/>
            <a:ext cx="7272655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Chaque</a:t>
            </a:r>
            <a:r>
              <a:rPr sz="2200" spc="29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sous-programme</a:t>
            </a:r>
            <a:r>
              <a:rPr sz="2200" spc="3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sz="2200" spc="30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besoin</a:t>
            </a:r>
            <a:r>
              <a:rPr sz="2200" spc="3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d’un</a:t>
            </a:r>
            <a:r>
              <a:rPr sz="2200" spc="29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espace</a:t>
            </a:r>
            <a:r>
              <a:rPr sz="2200" spc="3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3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travail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ts val="2375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local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qu’il</a:t>
            </a:r>
            <a:r>
              <a:rPr sz="22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devra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déclarer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Tahoma"/>
              <a:cs typeface="Tahoma"/>
            </a:endParaRPr>
          </a:p>
          <a:p>
            <a:pPr marL="12700" marR="5080" algn="just">
              <a:lnSpc>
                <a:spcPct val="8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Ces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variables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sont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dites locales au sous-programme et 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ne 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sont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pas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connues</a:t>
            </a:r>
            <a:r>
              <a:rPr sz="22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2200" spc="-30" dirty="0">
                <a:solidFill>
                  <a:srgbClr val="40458B"/>
                </a:solidFill>
                <a:latin typeface="Tahoma"/>
                <a:cs typeface="Tahoma"/>
              </a:rPr>
              <a:t>l’extérieur.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ahoma"/>
              <a:cs typeface="Tahoma"/>
            </a:endParaRPr>
          </a:p>
          <a:p>
            <a:pPr marL="12700" marR="5080" algn="just">
              <a:lnSpc>
                <a:spcPct val="80000"/>
              </a:lnSpc>
            </a:pP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Elles ne sont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pas créées au moment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leur déclaration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(aucun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espace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mémoire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ne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leur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réservé)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mais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au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moment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l’activité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ahoma"/>
              <a:cs typeface="Tahoma"/>
            </a:endParaRPr>
          </a:p>
          <a:p>
            <a:pPr marL="12700">
              <a:lnSpc>
                <a:spcPts val="2375"/>
              </a:lnSpc>
              <a:tabLst>
                <a:tab pos="631190" algn="l"/>
                <a:tab pos="1917700" algn="l"/>
                <a:tab pos="2952750" algn="l"/>
                <a:tab pos="3559175" algn="l"/>
                <a:tab pos="4319905" algn="l"/>
                <a:tab pos="4986020" algn="l"/>
                <a:tab pos="5897245" algn="l"/>
              </a:tabLst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Les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variables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locales	ont	ainsi	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une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durée	d’existence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ts val="2375"/>
              </a:lnSpc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correspondant</a:t>
            </a:r>
            <a:r>
              <a:rPr sz="22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au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temps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d’exécution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16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36455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Variables</a:t>
            </a:r>
            <a:r>
              <a:rPr spc="-70" dirty="0"/>
              <a:t> </a:t>
            </a:r>
            <a:r>
              <a:rPr dirty="0"/>
              <a:t>globales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1261872"/>
            <a:ext cx="202691" cy="214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2200655"/>
            <a:ext cx="202691" cy="2148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3407664"/>
            <a:ext cx="202691" cy="2148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4614671"/>
            <a:ext cx="202691" cy="2148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31544" y="1183893"/>
            <a:ext cx="7273925" cy="4250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ts val="2375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200" spc="1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portée</a:t>
            </a:r>
            <a:r>
              <a:rPr sz="2200" spc="19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d’une</a:t>
            </a:r>
            <a:r>
              <a:rPr sz="2200" spc="19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</a:t>
            </a:r>
            <a:r>
              <a:rPr sz="2200" spc="18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spc="19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l’étendu</a:t>
            </a:r>
            <a:r>
              <a:rPr sz="2200" spc="18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du</a:t>
            </a:r>
            <a:r>
              <a:rPr sz="2200" spc="19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programme</a:t>
            </a:r>
            <a:r>
              <a:rPr sz="2200" spc="18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endParaRPr sz="2200">
              <a:latin typeface="Tahoma"/>
              <a:cs typeface="Tahoma"/>
            </a:endParaRPr>
          </a:p>
          <a:p>
            <a:pPr marL="12700" algn="just">
              <a:lnSpc>
                <a:spcPts val="2375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lequel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reconnue</a:t>
            </a:r>
            <a:r>
              <a:rPr sz="2200" spc="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peut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être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utilisée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Tahoma"/>
              <a:cs typeface="Tahoma"/>
            </a:endParaRPr>
          </a:p>
          <a:p>
            <a:pPr marL="12700" marR="5080" algn="just">
              <a:lnSpc>
                <a:spcPct val="80000"/>
              </a:lnSpc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une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structure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programme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faisant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appel</a:t>
            </a:r>
            <a:r>
              <a:rPr sz="2200" spc="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plusieurs sous-programmes, il est possible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définir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en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plus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locales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dites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globales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ahoma"/>
              <a:cs typeface="Tahoma"/>
            </a:endParaRPr>
          </a:p>
          <a:p>
            <a:pPr marL="12700" marR="6985" algn="just">
              <a:lnSpc>
                <a:spcPct val="8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Celles-ci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ont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portée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s’étend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sur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la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structure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générale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des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programmes.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Elle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reconnue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programme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principal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les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sous-programmes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ahoma"/>
              <a:cs typeface="Tahoma"/>
            </a:endParaRPr>
          </a:p>
          <a:p>
            <a:pPr marL="12700" marR="7620" algn="just">
              <a:lnSpc>
                <a:spcPts val="2110"/>
              </a:lnSpc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Une variable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globale est précédée par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Globale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lors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sa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déclaration (une variable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est définie par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défaut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comme 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locale).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17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1732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4890" y="1155954"/>
            <a:ext cx="75819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L'algorithme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suivant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permet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saisir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calculer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somme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ses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éléments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2013330"/>
            <a:ext cx="37572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591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Algorithme 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SommeTableau </a:t>
            </a:r>
            <a:r>
              <a:rPr sz="1800" spc="-5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Globale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Tab(Tableau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[1..10]</a:t>
            </a:r>
            <a:r>
              <a:rPr sz="18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d'entiers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Somme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(entier)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3385184"/>
            <a:ext cx="229870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SaisirTab()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800">
              <a:latin typeface="Tahoma"/>
              <a:cs typeface="Tahoma"/>
            </a:endParaRPr>
          </a:p>
          <a:p>
            <a:pPr marL="83820" marR="132969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-6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(entier)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début</a:t>
            </a:r>
            <a:endParaRPr sz="1800">
              <a:latin typeface="Tahoma"/>
              <a:cs typeface="Tahoma"/>
            </a:endParaRPr>
          </a:p>
          <a:p>
            <a:pPr marL="297180" marR="5080" indent="-14224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10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faire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(Tab[i])</a:t>
            </a:r>
            <a:endParaRPr sz="1800">
              <a:latin typeface="Tahoma"/>
              <a:cs typeface="Tahoma"/>
            </a:endParaRPr>
          </a:p>
          <a:p>
            <a:pPr marL="12700" marR="1310005" indent="14287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800" spc="-1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Pour </a:t>
            </a:r>
            <a:r>
              <a:rPr sz="1800" spc="-5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7975" y="2129154"/>
            <a:ext cx="2833370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fonction</a:t>
            </a:r>
            <a:r>
              <a:rPr sz="1800" spc="-9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SommeTab():entier </a:t>
            </a:r>
            <a:r>
              <a:rPr sz="1800" spc="-5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800">
              <a:latin typeface="Tahoma"/>
              <a:cs typeface="Tahoma"/>
            </a:endParaRPr>
          </a:p>
          <a:p>
            <a:pPr marL="12700" marR="186118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i(entier)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S</a:t>
            </a:r>
            <a:r>
              <a:rPr sz="1800" spc="-9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(entier)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Début</a:t>
            </a:r>
            <a:endParaRPr sz="1800">
              <a:latin typeface="Tahoma"/>
              <a:cs typeface="Tahoma"/>
            </a:endParaRPr>
          </a:p>
          <a:p>
            <a:pPr marL="155575">
              <a:lnSpc>
                <a:spcPts val="215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7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  <a:p>
            <a:pPr marL="155575">
              <a:lnSpc>
                <a:spcPts val="2155"/>
              </a:lnSpc>
              <a:spcBef>
                <a:spcPts val="10"/>
              </a:spcBef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1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10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faire</a:t>
            </a:r>
            <a:endParaRPr sz="1800">
              <a:latin typeface="Tahoma"/>
              <a:cs typeface="Tahoma"/>
            </a:endParaRPr>
          </a:p>
          <a:p>
            <a:pPr marL="297815">
              <a:lnSpc>
                <a:spcPts val="2155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8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+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70" dirty="0">
                <a:solidFill>
                  <a:srgbClr val="40458B"/>
                </a:solidFill>
                <a:latin typeface="Tahoma"/>
                <a:cs typeface="Tahoma"/>
              </a:rPr>
              <a:t>Tab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[i]</a:t>
            </a:r>
            <a:endParaRPr sz="1800">
              <a:latin typeface="Tahoma"/>
              <a:cs typeface="Tahoma"/>
            </a:endParaRPr>
          </a:p>
          <a:p>
            <a:pPr marL="155575" marR="1076960">
              <a:lnSpc>
                <a:spcPts val="2150"/>
              </a:lnSpc>
              <a:spcBef>
                <a:spcPts val="9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Pour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SommeTab</a:t>
            </a:r>
            <a:r>
              <a:rPr sz="18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5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Début</a:t>
            </a:r>
            <a:endParaRPr sz="1800">
              <a:latin typeface="Tahoma"/>
              <a:cs typeface="Tahoma"/>
            </a:endParaRPr>
          </a:p>
          <a:p>
            <a:pPr marL="14478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SaisirTab()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50563" y="5694679"/>
            <a:ext cx="495363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6035" algn="l"/>
              </a:tabLst>
            </a:pP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Somme</a:t>
            </a: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dirty="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SommeTab()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Ecrire</a:t>
            </a:r>
            <a:r>
              <a:rPr sz="1800" b="1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("La</a:t>
            </a:r>
            <a:r>
              <a:rPr sz="1800" b="1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somme</a:t>
            </a:r>
            <a:r>
              <a:rPr sz="1800" b="1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du</a:t>
            </a:r>
            <a:r>
              <a:rPr sz="1800" b="1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tableau</a:t>
            </a:r>
            <a:r>
              <a:rPr sz="1800" b="1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est:</a:t>
            </a:r>
            <a:r>
              <a:rPr sz="1800" b="1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Somme)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975" y="6244844"/>
            <a:ext cx="374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9400" y="3505200"/>
            <a:ext cx="1036319" cy="591820"/>
          </a:xfrm>
          <a:prstGeom prst="rect">
            <a:avLst/>
          </a:prstGeom>
          <a:ln w="9144">
            <a:solidFill>
              <a:srgbClr val="A4002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2075" marR="96520">
              <a:lnSpc>
                <a:spcPct val="100000"/>
              </a:lnSpc>
              <a:spcBef>
                <a:spcPts val="360"/>
              </a:spcBef>
            </a:pP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V</a:t>
            </a:r>
            <a:r>
              <a:rPr sz="1600" b="1" dirty="0">
                <a:solidFill>
                  <a:srgbClr val="A40020"/>
                </a:solidFill>
                <a:latin typeface="Tahoma"/>
                <a:cs typeface="Tahoma"/>
              </a:rPr>
              <a:t>a</a:t>
            </a:r>
            <a:r>
              <a:rPr sz="1600" b="1" spc="-5" dirty="0">
                <a:solidFill>
                  <a:srgbClr val="A40020"/>
                </a:solidFill>
                <a:latin typeface="Tahoma"/>
                <a:cs typeface="Tahoma"/>
              </a:rPr>
              <a:t>riable  </a:t>
            </a:r>
            <a:r>
              <a:rPr sz="1600" b="1" spc="-10" dirty="0">
                <a:solidFill>
                  <a:srgbClr val="A40020"/>
                </a:solidFill>
                <a:latin typeface="Tahoma"/>
                <a:cs typeface="Tahoma"/>
              </a:rPr>
              <a:t>Globale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43761" y="2743961"/>
            <a:ext cx="1683385" cy="851535"/>
          </a:xfrm>
          <a:custGeom>
            <a:avLst/>
            <a:gdLst/>
            <a:ahLst/>
            <a:cxnLst/>
            <a:rect l="l" t="t" r="r" b="b"/>
            <a:pathLst>
              <a:path w="1683385" h="851535">
                <a:moveTo>
                  <a:pt x="84168" y="25904"/>
                </a:moveTo>
                <a:lnTo>
                  <a:pt x="71218" y="51814"/>
                </a:lnTo>
                <a:lnTo>
                  <a:pt x="1669923" y="851153"/>
                </a:lnTo>
                <a:lnTo>
                  <a:pt x="1682877" y="825246"/>
                </a:lnTo>
                <a:lnTo>
                  <a:pt x="84168" y="25904"/>
                </a:lnTo>
                <a:close/>
              </a:path>
              <a:path w="1683385" h="851535">
                <a:moveTo>
                  <a:pt x="97116" y="0"/>
                </a:moveTo>
                <a:lnTo>
                  <a:pt x="0" y="0"/>
                </a:lnTo>
                <a:lnTo>
                  <a:pt x="58267" y="77724"/>
                </a:lnTo>
                <a:lnTo>
                  <a:pt x="71218" y="51814"/>
                </a:lnTo>
                <a:lnTo>
                  <a:pt x="58267" y="45338"/>
                </a:lnTo>
                <a:lnTo>
                  <a:pt x="71221" y="19430"/>
                </a:lnTo>
                <a:lnTo>
                  <a:pt x="87404" y="19430"/>
                </a:lnTo>
                <a:lnTo>
                  <a:pt x="97116" y="0"/>
                </a:lnTo>
                <a:close/>
              </a:path>
              <a:path w="1683385" h="851535">
                <a:moveTo>
                  <a:pt x="71221" y="19430"/>
                </a:moveTo>
                <a:lnTo>
                  <a:pt x="58267" y="45338"/>
                </a:lnTo>
                <a:lnTo>
                  <a:pt x="71218" y="51814"/>
                </a:lnTo>
                <a:lnTo>
                  <a:pt x="84168" y="25904"/>
                </a:lnTo>
                <a:lnTo>
                  <a:pt x="71221" y="19430"/>
                </a:lnTo>
                <a:close/>
              </a:path>
              <a:path w="1683385" h="851535">
                <a:moveTo>
                  <a:pt x="87404" y="19430"/>
                </a:moveTo>
                <a:lnTo>
                  <a:pt x="71221" y="19430"/>
                </a:lnTo>
                <a:lnTo>
                  <a:pt x="84168" y="25904"/>
                </a:lnTo>
                <a:lnTo>
                  <a:pt x="87404" y="1943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91361" y="3722115"/>
            <a:ext cx="1836420" cy="1079500"/>
          </a:xfrm>
          <a:custGeom>
            <a:avLst/>
            <a:gdLst/>
            <a:ahLst/>
            <a:cxnLst/>
            <a:rect l="l" t="t" r="r" b="b"/>
            <a:pathLst>
              <a:path w="1836420" h="1079500">
                <a:moveTo>
                  <a:pt x="53149" y="997965"/>
                </a:moveTo>
                <a:lnTo>
                  <a:pt x="0" y="1079245"/>
                </a:lnTo>
                <a:lnTo>
                  <a:pt x="96913" y="1073022"/>
                </a:lnTo>
                <a:lnTo>
                  <a:pt x="86546" y="1055242"/>
                </a:lnTo>
                <a:lnTo>
                  <a:pt x="69824" y="1055242"/>
                </a:lnTo>
                <a:lnTo>
                  <a:pt x="55232" y="1030223"/>
                </a:lnTo>
                <a:lnTo>
                  <a:pt x="67713" y="1022944"/>
                </a:lnTo>
                <a:lnTo>
                  <a:pt x="53149" y="997965"/>
                </a:lnTo>
                <a:close/>
              </a:path>
              <a:path w="1836420" h="1079500">
                <a:moveTo>
                  <a:pt x="67713" y="1022944"/>
                </a:moveTo>
                <a:lnTo>
                  <a:pt x="55232" y="1030223"/>
                </a:lnTo>
                <a:lnTo>
                  <a:pt x="69824" y="1055242"/>
                </a:lnTo>
                <a:lnTo>
                  <a:pt x="82302" y="1047963"/>
                </a:lnTo>
                <a:lnTo>
                  <a:pt x="67713" y="1022944"/>
                </a:lnTo>
                <a:close/>
              </a:path>
              <a:path w="1836420" h="1079500">
                <a:moveTo>
                  <a:pt x="82302" y="1047963"/>
                </a:moveTo>
                <a:lnTo>
                  <a:pt x="69824" y="1055242"/>
                </a:lnTo>
                <a:lnTo>
                  <a:pt x="86546" y="1055242"/>
                </a:lnTo>
                <a:lnTo>
                  <a:pt x="82302" y="1047963"/>
                </a:lnTo>
                <a:close/>
              </a:path>
              <a:path w="1836420" h="1079500">
                <a:moveTo>
                  <a:pt x="1821561" y="0"/>
                </a:moveTo>
                <a:lnTo>
                  <a:pt x="67713" y="1022944"/>
                </a:lnTo>
                <a:lnTo>
                  <a:pt x="82302" y="1047963"/>
                </a:lnTo>
                <a:lnTo>
                  <a:pt x="1836039" y="24891"/>
                </a:lnTo>
                <a:lnTo>
                  <a:pt x="1821561" y="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59478" y="3720591"/>
            <a:ext cx="1451610" cy="415290"/>
          </a:xfrm>
          <a:custGeom>
            <a:avLst/>
            <a:gdLst/>
            <a:ahLst/>
            <a:cxnLst/>
            <a:rect l="l" t="t" r="r" b="b"/>
            <a:pathLst>
              <a:path w="1451610" h="415289">
                <a:moveTo>
                  <a:pt x="1363782" y="386830"/>
                </a:moveTo>
                <a:lnTo>
                  <a:pt x="1356360" y="414908"/>
                </a:lnTo>
                <a:lnTo>
                  <a:pt x="1451483" y="394969"/>
                </a:lnTo>
                <a:lnTo>
                  <a:pt x="1446430" y="390524"/>
                </a:lnTo>
                <a:lnTo>
                  <a:pt x="1377823" y="390524"/>
                </a:lnTo>
                <a:lnTo>
                  <a:pt x="1363782" y="386830"/>
                </a:lnTo>
                <a:close/>
              </a:path>
              <a:path w="1451610" h="415289">
                <a:moveTo>
                  <a:pt x="1371167" y="358895"/>
                </a:moveTo>
                <a:lnTo>
                  <a:pt x="1363782" y="386830"/>
                </a:lnTo>
                <a:lnTo>
                  <a:pt x="1377823" y="390524"/>
                </a:lnTo>
                <a:lnTo>
                  <a:pt x="1385189" y="362584"/>
                </a:lnTo>
                <a:lnTo>
                  <a:pt x="1371167" y="358895"/>
                </a:lnTo>
                <a:close/>
              </a:path>
              <a:path w="1451610" h="415289">
                <a:moveTo>
                  <a:pt x="1378585" y="330834"/>
                </a:moveTo>
                <a:lnTo>
                  <a:pt x="1371167" y="358895"/>
                </a:lnTo>
                <a:lnTo>
                  <a:pt x="1385189" y="362584"/>
                </a:lnTo>
                <a:lnTo>
                  <a:pt x="1377823" y="390524"/>
                </a:lnTo>
                <a:lnTo>
                  <a:pt x="1446430" y="390524"/>
                </a:lnTo>
                <a:lnTo>
                  <a:pt x="1378585" y="330834"/>
                </a:lnTo>
                <a:close/>
              </a:path>
              <a:path w="1451610" h="415289">
                <a:moveTo>
                  <a:pt x="7366" y="0"/>
                </a:moveTo>
                <a:lnTo>
                  <a:pt x="0" y="27939"/>
                </a:lnTo>
                <a:lnTo>
                  <a:pt x="1363782" y="386830"/>
                </a:lnTo>
                <a:lnTo>
                  <a:pt x="1371167" y="358895"/>
                </a:lnTo>
                <a:lnTo>
                  <a:pt x="7366" y="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18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72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Passage</a:t>
            </a:r>
            <a:r>
              <a:rPr spc="-2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paramètres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" y="2404872"/>
            <a:ext cx="202691" cy="2148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8690" y="1081531"/>
            <a:ext cx="7557134" cy="38773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369570" algn="just">
              <a:lnSpc>
                <a:spcPct val="100499"/>
              </a:lnSpc>
              <a:spcBef>
                <a:spcPts val="80"/>
              </a:spcBef>
            </a:pP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Les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arguments sont transmis du programme appelant à 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la </a:t>
            </a:r>
            <a:r>
              <a:rPr sz="2200" spc="-6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procédure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2 manières</a:t>
            </a:r>
            <a:r>
              <a:rPr sz="2200" spc="5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: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b="1" spc="-80" dirty="0">
                <a:solidFill>
                  <a:srgbClr val="A40020"/>
                </a:solidFill>
                <a:latin typeface="Arial"/>
                <a:cs typeface="Arial"/>
              </a:rPr>
              <a:t>par</a:t>
            </a:r>
            <a:r>
              <a:rPr sz="2200" b="1" spc="-25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2200" b="1" spc="-80" dirty="0">
                <a:solidFill>
                  <a:srgbClr val="A40020"/>
                </a:solidFill>
                <a:latin typeface="Arial"/>
                <a:cs typeface="Arial"/>
              </a:rPr>
              <a:t>valeur</a:t>
            </a:r>
            <a:r>
              <a:rPr sz="2200" b="1" spc="20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ou</a:t>
            </a:r>
            <a:r>
              <a:rPr sz="22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b="1" spc="-80" dirty="0">
                <a:solidFill>
                  <a:srgbClr val="A40020"/>
                </a:solidFill>
                <a:latin typeface="Arial"/>
                <a:cs typeface="Arial"/>
              </a:rPr>
              <a:t>par</a:t>
            </a:r>
            <a:r>
              <a:rPr sz="2200" b="1" spc="-25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2200" b="1" spc="-70" dirty="0">
                <a:solidFill>
                  <a:srgbClr val="A40020"/>
                </a:solidFill>
                <a:latin typeface="Arial"/>
                <a:cs typeface="Arial"/>
              </a:rPr>
              <a:t>adresse</a:t>
            </a:r>
            <a:endParaRPr sz="2200">
              <a:latin typeface="Arial"/>
              <a:cs typeface="Arial"/>
            </a:endParaRPr>
          </a:p>
          <a:p>
            <a:pPr marL="88900" algn="just">
              <a:lnSpc>
                <a:spcPct val="100000"/>
              </a:lnSpc>
              <a:spcBef>
                <a:spcPts val="1295"/>
              </a:spcBef>
            </a:pP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Passage</a:t>
            </a:r>
            <a:r>
              <a:rPr sz="2200" b="1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par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 valeur</a:t>
            </a:r>
            <a:endParaRPr sz="2200">
              <a:latin typeface="Tahoma"/>
              <a:cs typeface="Tahoma"/>
            </a:endParaRPr>
          </a:p>
          <a:p>
            <a:pPr marL="295275" marR="7620" algn="just">
              <a:lnSpc>
                <a:spcPct val="80000"/>
              </a:lnSpc>
              <a:spcBef>
                <a:spcPts val="1110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ce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cas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programme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principal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transmet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à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contenu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l’argument</a:t>
            </a:r>
            <a:endParaRPr sz="2200">
              <a:latin typeface="Tahoma"/>
              <a:cs typeface="Tahoma"/>
            </a:endParaRPr>
          </a:p>
          <a:p>
            <a:pPr marL="695960" marR="5080" indent="-287020" algn="just">
              <a:lnSpc>
                <a:spcPct val="79600"/>
              </a:lnSpc>
              <a:spcBef>
                <a:spcPts val="390"/>
              </a:spcBef>
            </a:pPr>
            <a:r>
              <a:rPr sz="2400" spc="5" dirty="0">
                <a:solidFill>
                  <a:srgbClr val="6E88F7"/>
                </a:solidFill>
                <a:latin typeface="Wingdings"/>
                <a:cs typeface="Wingdings"/>
              </a:rPr>
              <a:t>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procédure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ne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connaît pas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où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se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trouve l’argument.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Elle</a:t>
            </a:r>
            <a:r>
              <a:rPr sz="2200" spc="6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pourra</a:t>
            </a:r>
            <a:r>
              <a:rPr sz="2200" spc="6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utiliser</a:t>
            </a:r>
            <a:r>
              <a:rPr sz="2200" spc="6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200" spc="66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valeur</a:t>
            </a:r>
            <a:r>
              <a:rPr sz="2200" spc="6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transmise</a:t>
            </a:r>
            <a:r>
              <a:rPr sz="2200" spc="6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mais</a:t>
            </a:r>
            <a:r>
              <a:rPr sz="2200" spc="67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elle</a:t>
            </a:r>
            <a:r>
              <a:rPr sz="2200" spc="6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5" dirty="0">
                <a:solidFill>
                  <a:srgbClr val="A40020"/>
                </a:solidFill>
                <a:latin typeface="Tahoma"/>
                <a:cs typeface="Tahoma"/>
              </a:rPr>
              <a:t>ne </a:t>
            </a:r>
            <a:r>
              <a:rPr sz="2200" spc="-67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pourra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 pas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 aller</a:t>
            </a:r>
            <a:r>
              <a:rPr sz="22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écrire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 une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nouvelle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valeur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 dans 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l’argument</a:t>
            </a:r>
            <a:endParaRPr sz="2200">
              <a:latin typeface="Tahoma"/>
              <a:cs typeface="Tahoma"/>
            </a:endParaRPr>
          </a:p>
          <a:p>
            <a:pPr marR="9525" algn="r">
              <a:lnSpc>
                <a:spcPts val="2330"/>
              </a:lnSpc>
              <a:tabLst>
                <a:tab pos="1205230" algn="l"/>
                <a:tab pos="2555875" algn="l"/>
                <a:tab pos="3252470" algn="l"/>
                <a:tab pos="4462780" algn="l"/>
                <a:tab pos="5252085" algn="l"/>
                <a:tab pos="5700395" algn="l"/>
              </a:tabLst>
            </a:pPr>
            <a:r>
              <a:rPr sz="2400" spc="25" dirty="0">
                <a:solidFill>
                  <a:srgbClr val="6E88F7"/>
                </a:solidFill>
                <a:latin typeface="Wingdings"/>
                <a:cs typeface="Wingdings"/>
              </a:rPr>
              <a:t></a:t>
            </a:r>
            <a:r>
              <a:rPr sz="2400" spc="85" dirty="0">
                <a:solidFill>
                  <a:srgbClr val="6E88F7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Ceci	constitue	une	sécurité	pour	le	programme</a:t>
            </a:r>
            <a:endParaRPr sz="2200">
              <a:latin typeface="Arial MT"/>
              <a:cs typeface="Arial MT"/>
            </a:endParaRPr>
          </a:p>
          <a:p>
            <a:pPr marR="7620" algn="r">
              <a:lnSpc>
                <a:spcPts val="2085"/>
              </a:lnSpc>
            </a:pP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principal</a:t>
            </a:r>
            <a:r>
              <a:rPr sz="2200" spc="2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qui</a:t>
            </a:r>
            <a:r>
              <a:rPr sz="2200" spc="1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ne</a:t>
            </a:r>
            <a:r>
              <a:rPr sz="2200" spc="2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veut</a:t>
            </a:r>
            <a:r>
              <a:rPr sz="2200" spc="20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pas</a:t>
            </a:r>
            <a:r>
              <a:rPr sz="2200" spc="2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dans</a:t>
            </a:r>
            <a:r>
              <a:rPr sz="2200" spc="20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certains</a:t>
            </a:r>
            <a:r>
              <a:rPr sz="2200" spc="2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cas</a:t>
            </a:r>
            <a:r>
              <a:rPr sz="2200" spc="2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qu’on</a:t>
            </a:r>
            <a:r>
              <a:rPr sz="2200" spc="2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aille</a:t>
            </a:r>
            <a:endParaRPr sz="2200">
              <a:latin typeface="Arial MT"/>
              <a:cs typeface="Arial MT"/>
            </a:endParaRPr>
          </a:p>
          <a:p>
            <a:pPr marL="695960">
              <a:lnSpc>
                <a:spcPts val="2375"/>
              </a:lnSpc>
            </a:pP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modifier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contenu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ses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variables.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19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72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Passage</a:t>
            </a:r>
            <a:r>
              <a:rPr spc="-2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paramètres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860930"/>
            <a:ext cx="4027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Utilisons</a:t>
            </a:r>
            <a:r>
              <a:rPr sz="2200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tout</a:t>
            </a:r>
            <a:r>
              <a:rPr sz="22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d'abord le</a:t>
            </a:r>
            <a:r>
              <a:rPr sz="22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passage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8690" y="1155954"/>
            <a:ext cx="70008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Exemple: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Essayons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d'écrire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un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algorithme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saisit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deux </a:t>
            </a:r>
            <a:r>
              <a:rPr sz="2200" spc="-6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valeurs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entières</a:t>
            </a:r>
            <a:r>
              <a:rPr sz="22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permute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leur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valeurs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196211"/>
            <a:ext cx="2466975" cy="880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25"/>
              </a:lnSpc>
              <a:spcBef>
                <a:spcPts val="95"/>
              </a:spcBef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par</a:t>
            </a:r>
            <a:r>
              <a:rPr sz="2200" spc="-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valeur</a:t>
            </a:r>
            <a:endParaRPr sz="2200">
              <a:latin typeface="Tahoma"/>
              <a:cs typeface="Tahoma"/>
            </a:endParaRPr>
          </a:p>
          <a:p>
            <a:pPr marL="73025">
              <a:lnSpc>
                <a:spcPts val="2045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Algorithme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Permutation</a:t>
            </a:r>
            <a:endParaRPr sz="1800">
              <a:latin typeface="Tahoma"/>
              <a:cs typeface="Tahoma"/>
            </a:endParaRPr>
          </a:p>
          <a:p>
            <a:pPr marL="73025">
              <a:lnSpc>
                <a:spcPct val="100000"/>
              </a:lnSpc>
            </a:pP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4890" y="3051175"/>
            <a:ext cx="1192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A,B</a:t>
            </a:r>
            <a:r>
              <a:rPr sz="1800" spc="-7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(entier)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4890" y="3599815"/>
            <a:ext cx="160655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  <a:tabLst>
                <a:tab pos="628015" algn="l"/>
              </a:tabLst>
            </a:pP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Var	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z(entier)</a:t>
            </a:r>
            <a:endParaRPr sz="1800">
              <a:latin typeface="Tahoma"/>
              <a:cs typeface="Tahoma"/>
            </a:endParaRPr>
          </a:p>
          <a:p>
            <a:pPr marL="297815" marR="704850" indent="-142240">
              <a:lnSpc>
                <a:spcPct val="99800"/>
              </a:lnSpc>
              <a:spcBef>
                <a:spcPts val="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Début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z</a:t>
            </a:r>
            <a:r>
              <a:rPr sz="18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6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x </a:t>
            </a:r>
            <a:r>
              <a:rPr sz="1800" spc="-5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x</a:t>
            </a:r>
            <a:r>
              <a:rPr sz="18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6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y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y</a:t>
            </a:r>
            <a:r>
              <a:rPr sz="18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6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z</a:t>
            </a:r>
            <a:endParaRPr sz="1800">
              <a:latin typeface="Tahoma"/>
              <a:cs typeface="Tahoma"/>
            </a:endParaRPr>
          </a:p>
          <a:p>
            <a:pPr marL="12700" marR="557530" indent="143510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Début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(A,B)</a:t>
            </a:r>
            <a:endParaRPr sz="1800">
              <a:latin typeface="Tahoma"/>
              <a:cs typeface="Tahoma"/>
            </a:endParaRPr>
          </a:p>
          <a:p>
            <a:pPr marL="12700" marR="5080" indent="71120">
              <a:lnSpc>
                <a:spcPct val="100000"/>
              </a:lnSpc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Permuter</a:t>
            </a:r>
            <a:r>
              <a:rPr sz="1800" spc="-7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(A,B)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Ecrire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(A,</a:t>
            </a:r>
            <a:r>
              <a:rPr sz="1800" spc="56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B)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76800" y="1981200"/>
            <a:ext cx="4053840" cy="4674235"/>
          </a:xfrm>
          <a:custGeom>
            <a:avLst/>
            <a:gdLst/>
            <a:ahLst/>
            <a:cxnLst/>
            <a:rect l="l" t="t" r="r" b="b"/>
            <a:pathLst>
              <a:path w="4053840" h="4674234">
                <a:moveTo>
                  <a:pt x="0" y="4674108"/>
                </a:moveTo>
                <a:lnTo>
                  <a:pt x="4053840" y="4674108"/>
                </a:lnTo>
                <a:lnTo>
                  <a:pt x="4053840" y="0"/>
                </a:lnTo>
                <a:lnTo>
                  <a:pt x="0" y="0"/>
                </a:lnTo>
                <a:lnTo>
                  <a:pt x="0" y="4674108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56428" y="2013331"/>
            <a:ext cx="389953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Lors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l'appel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la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procédure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40458B"/>
                </a:solidFill>
                <a:latin typeface="Tahoma"/>
                <a:cs typeface="Tahoma"/>
              </a:rPr>
              <a:t>Permuter,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paramètre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x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prend la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valeur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A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paramètre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y 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prend</a:t>
            </a:r>
            <a:r>
              <a:rPr sz="2000" spc="3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000" spc="3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valeur</a:t>
            </a:r>
            <a:r>
              <a:rPr sz="2000" spc="3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3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B,</a:t>
            </a:r>
            <a:r>
              <a:rPr sz="2000" spc="3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000" spc="3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000" spc="3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2000" spc="3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051" y="3299586"/>
            <a:ext cx="79355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Permuter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(x:entier,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y:entier)</a:t>
            </a:r>
            <a:r>
              <a:rPr sz="1800" spc="7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3000" baseline="15277" dirty="0">
                <a:solidFill>
                  <a:srgbClr val="40458B"/>
                </a:solidFill>
                <a:latin typeface="Tahoma"/>
                <a:cs typeface="Tahoma"/>
              </a:rPr>
              <a:t>l'exécution</a:t>
            </a:r>
            <a:r>
              <a:rPr sz="3000" spc="179" baseline="15277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3000" spc="-15" baseline="15277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3000" spc="172" baseline="15277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3000" spc="-7" baseline="15277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3000" spc="202" baseline="15277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3000" spc="-7" baseline="15277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r>
              <a:rPr sz="3000" spc="172" baseline="15277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3000" baseline="15277" dirty="0">
                <a:solidFill>
                  <a:srgbClr val="40458B"/>
                </a:solidFill>
                <a:latin typeface="Tahoma"/>
                <a:cs typeface="Tahoma"/>
              </a:rPr>
              <a:t>x</a:t>
            </a:r>
            <a:r>
              <a:rPr sz="3000" spc="195" baseline="15277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3000" spc="-22" baseline="15277" dirty="0">
                <a:solidFill>
                  <a:srgbClr val="40458B"/>
                </a:solidFill>
                <a:latin typeface="Tahoma"/>
                <a:cs typeface="Tahoma"/>
              </a:rPr>
              <a:t>aura</a:t>
            </a:r>
            <a:endParaRPr sz="3000" baseline="15277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6428" y="3537584"/>
            <a:ext cx="389826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 valeur de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B et y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 valeur de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 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Mais..</a:t>
            </a:r>
            <a:r>
              <a:rPr sz="2000" b="1" spc="5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A</a:t>
            </a:r>
            <a:r>
              <a:rPr sz="2000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et</a:t>
            </a:r>
            <a:r>
              <a:rPr sz="2000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B</a:t>
            </a:r>
            <a:r>
              <a:rPr sz="20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n'ont</a:t>
            </a:r>
            <a:r>
              <a:rPr sz="20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pas</a:t>
            </a:r>
            <a:r>
              <a:rPr sz="2000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changé</a:t>
            </a:r>
            <a:r>
              <a:rPr sz="20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de </a:t>
            </a:r>
            <a:r>
              <a:rPr sz="2000" spc="-6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A40020"/>
                </a:solidFill>
                <a:latin typeface="Tahoma"/>
                <a:cs typeface="Tahoma"/>
              </a:rPr>
              <a:t>valeur.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56428" y="4452365"/>
            <a:ext cx="38963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19125" algn="l"/>
                <a:tab pos="2050414" algn="l"/>
                <a:tab pos="2560955" algn="l"/>
                <a:tab pos="3496945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Cet	algorit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h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me	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	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ré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sou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t	p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s 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notre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problème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6428" y="5061966"/>
            <a:ext cx="17138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2400" algn="l"/>
              </a:tabLst>
            </a:pP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Sol</a:t>
            </a:r>
            <a:r>
              <a:rPr sz="2000" b="1" spc="-15" dirty="0">
                <a:solidFill>
                  <a:srgbClr val="A40020"/>
                </a:solidFill>
                <a:latin typeface="Tahoma"/>
                <a:cs typeface="Tahoma"/>
              </a:rPr>
              <a:t>u</a:t>
            </a:r>
            <a:r>
              <a:rPr sz="2000" b="1" dirty="0">
                <a:solidFill>
                  <a:srgbClr val="A40020"/>
                </a:solidFill>
                <a:latin typeface="Tahoma"/>
                <a:cs typeface="Tahoma"/>
              </a:rPr>
              <a:t>t</a:t>
            </a:r>
            <a:r>
              <a:rPr sz="2000" b="1" spc="-10" dirty="0">
                <a:solidFill>
                  <a:srgbClr val="A40020"/>
                </a:solidFill>
                <a:latin typeface="Tahoma"/>
                <a:cs typeface="Tahoma"/>
              </a:rPr>
              <a:t>i</a:t>
            </a:r>
            <a:r>
              <a:rPr sz="2000" b="1" spc="-5" dirty="0">
                <a:solidFill>
                  <a:srgbClr val="A40020"/>
                </a:solidFill>
                <a:latin typeface="Tahoma"/>
                <a:cs typeface="Tahoma"/>
              </a:rPr>
              <a:t>o</a:t>
            </a:r>
            <a:r>
              <a:rPr sz="2000" b="1" spc="-10" dirty="0">
                <a:solidFill>
                  <a:srgbClr val="A40020"/>
                </a:solidFill>
                <a:latin typeface="Tahoma"/>
                <a:cs typeface="Tahoma"/>
              </a:rPr>
              <a:t>n</a:t>
            </a:r>
            <a:r>
              <a:rPr sz="2000" b="1" dirty="0">
                <a:solidFill>
                  <a:srgbClr val="A40020"/>
                </a:solidFill>
                <a:latin typeface="Tahoma"/>
                <a:cs typeface="Tahoma"/>
              </a:rPr>
              <a:t>:	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56428" y="5366715"/>
            <a:ext cx="1698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1940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p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ssi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b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l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ité	à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06006" y="5061966"/>
            <a:ext cx="19500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165" marR="5080" indent="-165100">
              <a:lnSpc>
                <a:spcPct val="100000"/>
              </a:lnSpc>
              <a:spcBef>
                <a:spcPts val="100"/>
              </a:spcBef>
              <a:tabLst>
                <a:tab pos="695325" algn="l"/>
                <a:tab pos="809625" algn="l"/>
                <a:tab pos="1742439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doit	do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ner	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  l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		p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édu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56428" y="5671210"/>
            <a:ext cx="38982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81735" algn="l"/>
                <a:tab pos="2378075" algn="l"/>
                <a:tab pos="2915920" algn="l"/>
              </a:tabLst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permuter	d'accéder	aux	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adresses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524510" algn="l"/>
                <a:tab pos="914400" algn="l"/>
                <a:tab pos="1372235" algn="l"/>
                <a:tab pos="1757680" algn="l"/>
                <a:tab pos="2507615" algn="l"/>
                <a:tab pos="3577590" algn="l"/>
              </a:tabLst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	A	et	B	pour	pou</a:t>
            </a: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v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oir	les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56428" y="6281420"/>
            <a:ext cx="940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modifier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72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Passage</a:t>
            </a:r>
            <a:r>
              <a:rPr spc="-2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paramètres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929" y="1640789"/>
            <a:ext cx="19284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30325" algn="l"/>
                <a:tab pos="1704339" algn="l"/>
              </a:tabLst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t</a:t>
            </a:r>
            <a:r>
              <a:rPr sz="2200" spc="-45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an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s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met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1227226"/>
            <a:ext cx="5483860" cy="104266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80"/>
              </a:spcBef>
            </a:pP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Passage</a:t>
            </a:r>
            <a:r>
              <a:rPr sz="2200" b="1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par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 adresse</a:t>
            </a:r>
            <a:endParaRPr sz="2200">
              <a:latin typeface="Tahoma"/>
              <a:cs typeface="Tahoma"/>
            </a:endParaRPr>
          </a:p>
          <a:p>
            <a:pPr marL="355600" indent="-343535">
              <a:lnSpc>
                <a:spcPts val="2375"/>
              </a:lnSpc>
              <a:spcBef>
                <a:spcPts val="434"/>
              </a:spcBef>
              <a:buClr>
                <a:srgbClr val="6E88F7"/>
              </a:buClr>
              <a:buSzPct val="109090"/>
              <a:buFont typeface="Wingdings"/>
              <a:buChar char=""/>
              <a:tabLst>
                <a:tab pos="355600" algn="l"/>
                <a:tab pos="356235" algn="l"/>
                <a:tab pos="1198245" algn="l"/>
                <a:tab pos="1701164" algn="l"/>
                <a:tab pos="2329180" algn="l"/>
                <a:tab pos="2766695" algn="l"/>
                <a:tab pos="4411345" algn="l"/>
              </a:tabLst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Dans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ce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cas	le	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programme	appelant</a:t>
            </a:r>
            <a:endParaRPr sz="2200">
              <a:latin typeface="Tahoma"/>
              <a:cs typeface="Tahoma"/>
            </a:endParaRPr>
          </a:p>
          <a:p>
            <a:pPr marL="355600">
              <a:lnSpc>
                <a:spcPts val="2375"/>
              </a:lnSpc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l’adresse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l’argument.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2551302"/>
            <a:ext cx="7616190" cy="3357971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756285" marR="6985" indent="-287020" algn="just">
              <a:lnSpc>
                <a:spcPct val="79400"/>
              </a:lnSpc>
              <a:spcBef>
                <a:spcPts val="715"/>
              </a:spcBef>
            </a:pPr>
            <a:r>
              <a:rPr sz="2400" spc="5" dirty="0">
                <a:solidFill>
                  <a:srgbClr val="6E88F7"/>
                </a:solidFill>
                <a:latin typeface="Wingdings"/>
                <a:cs typeface="Wingdings"/>
              </a:rPr>
              <a:t></a:t>
            </a:r>
            <a:r>
              <a:rPr sz="2200" spc="5" dirty="0">
                <a:solidFill>
                  <a:srgbClr val="A40020"/>
                </a:solidFill>
                <a:latin typeface="Tahoma"/>
                <a:cs typeface="Tahoma"/>
              </a:rPr>
              <a:t>La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procédure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peut ainsi lire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son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contenu ou le </a:t>
            </a:r>
            <a:r>
              <a:rPr sz="2200" spc="-35" dirty="0">
                <a:solidFill>
                  <a:srgbClr val="A40020"/>
                </a:solidFill>
                <a:latin typeface="Tahoma"/>
                <a:cs typeface="Tahoma"/>
              </a:rPr>
              <a:t>modifier</a:t>
            </a:r>
            <a:r>
              <a:rPr sz="2200" spc="-35" dirty="0">
                <a:solidFill>
                  <a:srgbClr val="40458B"/>
                </a:solidFill>
                <a:latin typeface="Tahoma"/>
                <a:cs typeface="Tahoma"/>
              </a:rPr>
              <a:t>. </a:t>
            </a:r>
            <a:r>
              <a:rPr sz="2200" spc="-5" dirty="0" smtClean="0">
                <a:solidFill>
                  <a:srgbClr val="40458B"/>
                </a:solidFill>
                <a:latin typeface="Arial MT"/>
                <a:cs typeface="Arial MT"/>
              </a:rPr>
              <a:t>Les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	paramètres	formels	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transmis	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par	adresse	sont</a:t>
            </a:r>
            <a:endParaRPr sz="2200" dirty="0">
              <a:latin typeface="Arial MT"/>
              <a:cs typeface="Arial MT"/>
            </a:endParaRPr>
          </a:p>
          <a:p>
            <a:pPr marL="355600" marR="6985">
              <a:lnSpc>
                <a:spcPct val="80000"/>
              </a:lnSpc>
              <a:spcBef>
                <a:spcPts val="265"/>
              </a:spcBef>
              <a:tabLst>
                <a:tab pos="1637030" algn="l"/>
                <a:tab pos="2079625" algn="l"/>
                <a:tab pos="2677160" algn="l"/>
                <a:tab pos="3166110" algn="l"/>
                <a:tab pos="3948429" algn="l"/>
                <a:tab pos="4685665" algn="l"/>
                <a:tab pos="5284470" algn="l"/>
                <a:tab pos="6007735" algn="l"/>
                <a:tab pos="7196455" algn="l"/>
              </a:tabLst>
            </a:pPr>
            <a:r>
              <a:rPr sz="2200" spc="-10" dirty="0">
                <a:solidFill>
                  <a:srgbClr val="A40020"/>
                </a:solidFill>
                <a:latin typeface="Arial MT"/>
                <a:cs typeface="Arial MT"/>
              </a:rPr>
              <a:t>pr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éc</a:t>
            </a:r>
            <a:r>
              <a:rPr sz="2200" dirty="0">
                <a:solidFill>
                  <a:srgbClr val="A40020"/>
                </a:solidFill>
                <a:latin typeface="Arial MT"/>
                <a:cs typeface="Arial MT"/>
              </a:rPr>
              <a:t>é</a:t>
            </a:r>
            <a:r>
              <a:rPr sz="2200" spc="-10" dirty="0">
                <a:solidFill>
                  <a:srgbClr val="A40020"/>
                </a:solidFill>
                <a:latin typeface="Arial MT"/>
                <a:cs typeface="Arial MT"/>
              </a:rPr>
              <a:t>dé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s</a:t>
            </a:r>
            <a:r>
              <a:rPr sz="2200" dirty="0">
                <a:solidFill>
                  <a:srgbClr val="A40020"/>
                </a:solidFill>
                <a:latin typeface="Arial MT"/>
                <a:cs typeface="Arial MT"/>
              </a:rPr>
              <a:t>	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du</a:t>
            </a:r>
            <a:r>
              <a:rPr sz="2200" dirty="0">
                <a:solidFill>
                  <a:srgbClr val="A40020"/>
                </a:solidFill>
                <a:latin typeface="Arial MT"/>
                <a:cs typeface="Arial MT"/>
              </a:rPr>
              <a:t>	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m</a:t>
            </a:r>
            <a:r>
              <a:rPr sz="2200" dirty="0">
                <a:solidFill>
                  <a:srgbClr val="A40020"/>
                </a:solidFill>
                <a:latin typeface="Arial MT"/>
                <a:cs typeface="Arial MT"/>
              </a:rPr>
              <a:t>o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t</a:t>
            </a:r>
            <a:r>
              <a:rPr sz="2200" dirty="0">
                <a:solidFill>
                  <a:srgbClr val="A40020"/>
                </a:solidFill>
                <a:latin typeface="Arial MT"/>
                <a:cs typeface="Arial MT"/>
              </a:rPr>
              <a:t>	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c</a:t>
            </a:r>
            <a:r>
              <a:rPr sz="2200" dirty="0">
                <a:solidFill>
                  <a:srgbClr val="A40020"/>
                </a:solidFill>
                <a:latin typeface="Arial MT"/>
                <a:cs typeface="Arial MT"/>
              </a:rPr>
              <a:t>l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é</a:t>
            </a:r>
            <a:r>
              <a:rPr sz="2200" dirty="0">
                <a:solidFill>
                  <a:srgbClr val="A40020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A40020"/>
                </a:solidFill>
                <a:latin typeface="Arial MT"/>
                <a:cs typeface="Arial MT"/>
              </a:rPr>
              <a:t>VA</a:t>
            </a:r>
            <a:r>
              <a:rPr sz="2200" spc="-5" dirty="0">
                <a:solidFill>
                  <a:srgbClr val="A40020"/>
                </a:solidFill>
                <a:latin typeface="Arial MT"/>
                <a:cs typeface="Arial MT"/>
              </a:rPr>
              <a:t>R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,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a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or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	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q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u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	c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u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x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tr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a</a:t>
            </a:r>
            <a:r>
              <a:rPr sz="2200" spc="-10" dirty="0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s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mis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	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par  valeur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ne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sont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pas.</a:t>
            </a:r>
            <a:endParaRPr sz="2200" dirty="0">
              <a:latin typeface="Arial MT"/>
              <a:cs typeface="Arial MT"/>
            </a:endParaRPr>
          </a:p>
          <a:p>
            <a:pPr marL="355600" indent="-343535">
              <a:lnSpc>
                <a:spcPts val="2880"/>
              </a:lnSpc>
              <a:spcBef>
                <a:spcPts val="5"/>
              </a:spcBef>
              <a:buClr>
                <a:srgbClr val="6E88F7"/>
              </a:buClr>
              <a:buSzPct val="110416"/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400" b="1" spc="-5" dirty="0">
                <a:solidFill>
                  <a:srgbClr val="A40020"/>
                </a:solidFill>
                <a:latin typeface="Tahoma"/>
                <a:cs typeface="Tahoma"/>
              </a:rPr>
              <a:t>Remarques</a:t>
            </a:r>
            <a:r>
              <a:rPr sz="2400" b="1" spc="-9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400" b="1" spc="-135" dirty="0">
                <a:solidFill>
                  <a:srgbClr val="A40020"/>
                </a:solidFill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756285" marR="5080" lvl="1" indent="-287020" algn="just">
              <a:lnSpc>
                <a:spcPts val="2110"/>
              </a:lnSpc>
              <a:spcBef>
                <a:spcPts val="509"/>
              </a:spcBef>
              <a:buClr>
                <a:srgbClr val="6E88F7"/>
              </a:buClr>
              <a:buSzPct val="109090"/>
              <a:buFont typeface="Wingdings"/>
              <a:buChar char=""/>
              <a:tabLst>
                <a:tab pos="756920" algn="l"/>
              </a:tabLst>
            </a:pP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à la place d’un argument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transmis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par valeur, on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peut 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indiquer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constante,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variable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ou</a:t>
            </a:r>
            <a:r>
              <a:rPr sz="2200" spc="60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une </a:t>
            </a:r>
            <a:r>
              <a:rPr sz="2200" spc="-6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expression,</a:t>
            </a:r>
            <a:endParaRPr sz="2200" dirty="0">
              <a:latin typeface="Arial MT"/>
              <a:cs typeface="Arial MT"/>
            </a:endParaRPr>
          </a:p>
          <a:p>
            <a:pPr marL="756285" lvl="1" indent="-287020" algn="just">
              <a:lnSpc>
                <a:spcPts val="2375"/>
              </a:lnSpc>
              <a:spcBef>
                <a:spcPts val="20"/>
              </a:spcBef>
              <a:buClr>
                <a:srgbClr val="6E88F7"/>
              </a:buClr>
              <a:buSzPct val="109090"/>
              <a:buFont typeface="Wingdings"/>
              <a:buChar char=""/>
              <a:tabLst>
                <a:tab pos="756920" algn="l"/>
              </a:tabLst>
            </a:pP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</a:t>
            </a:r>
            <a:r>
              <a:rPr sz="2200" spc="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argument</a:t>
            </a:r>
            <a:r>
              <a:rPr sz="2200" spc="1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transmis</a:t>
            </a:r>
            <a:r>
              <a:rPr sz="2200" spc="1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par</a:t>
            </a:r>
            <a:r>
              <a:rPr sz="2200" spc="9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adresse</a:t>
            </a:r>
            <a:r>
              <a:rPr sz="2200" spc="10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ne</a:t>
            </a:r>
            <a:r>
              <a:rPr sz="2200" spc="10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peut</a:t>
            </a:r>
            <a:r>
              <a:rPr sz="2200" spc="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être</a:t>
            </a:r>
            <a:r>
              <a:rPr sz="2200" spc="1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qu’une</a:t>
            </a:r>
            <a:endParaRPr sz="2200" dirty="0">
              <a:latin typeface="Arial MT"/>
              <a:cs typeface="Arial MT"/>
            </a:endParaRPr>
          </a:p>
          <a:p>
            <a:pPr marL="756285">
              <a:lnSpc>
                <a:spcPts val="2375"/>
              </a:lnSpc>
            </a:pP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variable.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1388" y="6433820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21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726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Passage</a:t>
            </a:r>
            <a:r>
              <a:rPr spc="-2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paramètres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022349"/>
            <a:ext cx="76104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533650" algn="l"/>
              </a:tabLst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Exemple: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Essayons	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maintenant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d'écrire l'algorithme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saisit </a:t>
            </a:r>
            <a:r>
              <a:rPr sz="2200" spc="-67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deux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valeurs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entières</a:t>
            </a:r>
            <a:r>
              <a:rPr sz="22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permute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leur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valeurs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en</a:t>
            </a:r>
            <a:r>
              <a:rPr sz="2200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utilisant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le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0" y="1693291"/>
            <a:ext cx="4847590" cy="4690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passage</a:t>
            </a:r>
            <a:r>
              <a:rPr sz="2200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par</a:t>
            </a:r>
            <a:r>
              <a:rPr sz="2200" spc="-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adresse</a:t>
            </a:r>
            <a:endParaRPr sz="2200">
              <a:latin typeface="Tahoma"/>
              <a:cs typeface="Tahoma"/>
            </a:endParaRPr>
          </a:p>
          <a:p>
            <a:pPr marL="12700" marR="2446020">
              <a:lnSpc>
                <a:spcPct val="100000"/>
              </a:lnSpc>
              <a:spcBef>
                <a:spcPts val="168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Algorithme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Permutation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A,B</a:t>
            </a:r>
            <a:r>
              <a:rPr sz="18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(entier)</a:t>
            </a:r>
            <a:endParaRPr sz="1800">
              <a:latin typeface="Tahoma"/>
              <a:cs typeface="Tahoma"/>
            </a:endParaRPr>
          </a:p>
          <a:p>
            <a:pPr marL="155575">
              <a:lnSpc>
                <a:spcPct val="100000"/>
              </a:lnSpc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Procédure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Permuter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(</a:t>
            </a:r>
            <a:r>
              <a:rPr sz="1800" spc="-10" dirty="0">
                <a:solidFill>
                  <a:srgbClr val="A40020"/>
                </a:solidFill>
                <a:latin typeface="Tahoma"/>
                <a:cs typeface="Tahoma"/>
              </a:rPr>
              <a:t>var</a:t>
            </a:r>
            <a:r>
              <a:rPr sz="18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A40020"/>
                </a:solidFill>
                <a:latin typeface="Tahoma"/>
                <a:cs typeface="Tahoma"/>
              </a:rPr>
              <a:t>x:entier,</a:t>
            </a:r>
            <a:r>
              <a:rPr sz="1800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A40020"/>
                </a:solidFill>
                <a:latin typeface="Tahoma"/>
                <a:cs typeface="Tahoma"/>
              </a:rPr>
              <a:t>var</a:t>
            </a:r>
            <a:r>
              <a:rPr sz="18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y:entier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155575">
              <a:lnSpc>
                <a:spcPct val="100000"/>
              </a:lnSpc>
              <a:tabLst>
                <a:tab pos="627380" algn="l"/>
              </a:tabLst>
            </a:pPr>
            <a:r>
              <a:rPr sz="1800" spc="-30" dirty="0">
                <a:solidFill>
                  <a:srgbClr val="40458B"/>
                </a:solidFill>
                <a:latin typeface="Tahoma"/>
                <a:cs typeface="Tahoma"/>
              </a:rPr>
              <a:t>Var	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z(entier)</a:t>
            </a:r>
            <a:endParaRPr sz="1800">
              <a:latin typeface="Tahoma"/>
              <a:cs typeface="Tahoma"/>
            </a:endParaRPr>
          </a:p>
          <a:p>
            <a:pPr marL="297180" marR="3946525" indent="-142240">
              <a:lnSpc>
                <a:spcPct val="99900"/>
              </a:lnSpc>
              <a:spcBef>
                <a:spcPts val="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Début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z</a:t>
            </a:r>
            <a:r>
              <a:rPr sz="18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6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x </a:t>
            </a:r>
            <a:r>
              <a:rPr sz="1800" spc="-5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x</a:t>
            </a:r>
            <a:r>
              <a:rPr sz="18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6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y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y</a:t>
            </a:r>
            <a:r>
              <a:rPr sz="18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6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z</a:t>
            </a:r>
            <a:endParaRPr sz="1800">
              <a:latin typeface="Tahoma"/>
              <a:cs typeface="Tahoma"/>
            </a:endParaRPr>
          </a:p>
          <a:p>
            <a:pPr marL="12700" marR="3800475" indent="142875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Début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18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(A,B)</a:t>
            </a:r>
            <a:endParaRPr sz="1800">
              <a:latin typeface="Tahoma"/>
              <a:cs typeface="Tahoma"/>
            </a:endParaRPr>
          </a:p>
          <a:p>
            <a:pPr marL="12700" marR="3248025" indent="71120">
              <a:lnSpc>
                <a:spcPct val="100000"/>
              </a:lnSpc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Permuter</a:t>
            </a:r>
            <a:r>
              <a:rPr sz="1800" spc="-8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(A,B)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Ecrire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(A,</a:t>
            </a:r>
            <a:r>
              <a:rPr sz="1800" spc="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B)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76800" y="1879091"/>
            <a:ext cx="4053840" cy="4979035"/>
          </a:xfrm>
          <a:custGeom>
            <a:avLst/>
            <a:gdLst/>
            <a:ahLst/>
            <a:cxnLst/>
            <a:rect l="l" t="t" r="r" b="b"/>
            <a:pathLst>
              <a:path w="4053840" h="4979034">
                <a:moveTo>
                  <a:pt x="0" y="4978908"/>
                </a:moveTo>
                <a:lnTo>
                  <a:pt x="4053840" y="4978908"/>
                </a:lnTo>
                <a:lnTo>
                  <a:pt x="4053840" y="0"/>
                </a:lnTo>
                <a:lnTo>
                  <a:pt x="0" y="0"/>
                </a:lnTo>
                <a:lnTo>
                  <a:pt x="0" y="4978908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56428" y="1911172"/>
            <a:ext cx="3900170" cy="1246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Lors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l'appel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 la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procédure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40458B"/>
                </a:solidFill>
                <a:latin typeface="Tahoma"/>
                <a:cs typeface="Tahoma"/>
              </a:rPr>
              <a:t>Permuter,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paramètre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x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prend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l'adresse de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A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et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le paramètre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y 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prend</a:t>
            </a:r>
            <a:r>
              <a:rPr sz="2000" spc="-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l'adresse</a:t>
            </a:r>
            <a:r>
              <a:rPr sz="2000" spc="-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000" spc="-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B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6428" y="3435553"/>
            <a:ext cx="389953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l'exécution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de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procédure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x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aura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valeur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B 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donc A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aussi 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aura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la 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valeur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de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B </a:t>
            </a:r>
            <a:r>
              <a:rPr sz="20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(puisque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 x</a:t>
            </a:r>
            <a:r>
              <a:rPr sz="20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et</a:t>
            </a:r>
            <a:r>
              <a:rPr sz="20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A</a:t>
            </a:r>
            <a:r>
              <a:rPr sz="20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ont</a:t>
            </a:r>
            <a:r>
              <a:rPr sz="2000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la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même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adresse</a:t>
            </a:r>
            <a:r>
              <a:rPr sz="2000" spc="-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mémoire)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6428" y="5265166"/>
            <a:ext cx="3897629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 même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y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aura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valeur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initiale </a:t>
            </a: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donc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B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aussi 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aura la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valeur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initiale</a:t>
            </a:r>
            <a:r>
              <a:rPr sz="2000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000" spc="-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A</a:t>
            </a:r>
            <a:endParaRPr sz="20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Donc</a:t>
            </a:r>
            <a:r>
              <a:rPr sz="2000" spc="78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</a:t>
            </a:r>
            <a:r>
              <a:rPr sz="2000" spc="78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et</a:t>
            </a:r>
            <a:r>
              <a:rPr sz="2000" spc="7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B</a:t>
            </a:r>
            <a:r>
              <a:rPr sz="2000" spc="7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ont</a:t>
            </a:r>
            <a:r>
              <a:rPr sz="2000" spc="7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effectivement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6428" y="6484721"/>
            <a:ext cx="23437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permuté</a:t>
            </a:r>
            <a:r>
              <a:rPr sz="20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leur</a:t>
            </a:r>
            <a:r>
              <a:rPr sz="20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valeurs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1419</Words>
  <Application>Microsoft Office PowerPoint</Application>
  <PresentationFormat>Affichage à l'écran (4:3)</PresentationFormat>
  <Paragraphs>288</Paragraphs>
  <Slides>21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2" baseType="lpstr">
      <vt:lpstr>Office Theme</vt:lpstr>
      <vt:lpstr>Procédures et Fonctions </vt:lpstr>
      <vt:lpstr>Introduction</vt:lpstr>
      <vt:lpstr>Introduction</vt:lpstr>
      <vt:lpstr>Exemple de problème</vt:lpstr>
      <vt:lpstr>Exemple de problème</vt:lpstr>
      <vt:lpstr>les types de sous programmes</vt:lpstr>
      <vt:lpstr>Syntaxe des procédures</vt:lpstr>
      <vt:lpstr>Syntaxe des Fonctions</vt:lpstr>
      <vt:lpstr>Dynamique</vt:lpstr>
      <vt:lpstr>Appel de Procédure ou de fonction</vt:lpstr>
      <vt:lpstr>Appel de Procédure ou de fonction</vt:lpstr>
      <vt:lpstr>Exemple</vt:lpstr>
      <vt:lpstr>Exemples</vt:lpstr>
      <vt:lpstr>Présentation PowerPoint</vt:lpstr>
      <vt:lpstr>Variables locales</vt:lpstr>
      <vt:lpstr>Variables globales</vt:lpstr>
      <vt:lpstr>Exemple</vt:lpstr>
      <vt:lpstr>Passage de paramètres</vt:lpstr>
      <vt:lpstr>Passage de paramètres</vt:lpstr>
      <vt:lpstr>Passage de paramètres</vt:lpstr>
      <vt:lpstr>Passage de paramètres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 Gestion</dc:title>
  <dc:creator>***</dc:creator>
  <cp:lastModifiedBy>PC ASUS</cp:lastModifiedBy>
  <cp:revision>7</cp:revision>
  <dcterms:created xsi:type="dcterms:W3CDTF">2021-09-26T10:39:48Z</dcterms:created>
  <dcterms:modified xsi:type="dcterms:W3CDTF">2022-10-17T10:03:06Z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2017-11-05T00:00:00Z</vt:filetime>
  </property>
  <property fmtid="{D5CDD505-2E9C-101B-9397-08002B2CF9AE}" pid="3" name="Creator">
    <vt:lpwstr>Microsoft® PowerPoint® 2013</vt:lpwstr>
  </property>
  <property fmtid="{D5CDD505-2E9C-101B-9397-08002B2CF9AE}" pid="4" name="LastSaved">
    <vt:filetime>2021-09-26T00:00:00Z</vt:filetime>
  </property>
</Properties>
</file>