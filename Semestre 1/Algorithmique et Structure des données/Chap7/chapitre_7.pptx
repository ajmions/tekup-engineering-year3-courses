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>
        <p:scale>
          <a:sx n="76" d="100"/>
          <a:sy n="76" d="100"/>
        </p:scale>
        <p:origin x="-972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7465" y="1306144"/>
            <a:ext cx="2354579" cy="4142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81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11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13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96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66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912" y="785812"/>
            <a:ext cx="7858175" cy="58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9567" y="3103117"/>
            <a:ext cx="7022465" cy="2134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4027"/>
            <a:ext cx="9144000" cy="91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28827"/>
            <a:ext cx="9144000" cy="91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33627"/>
            <a:ext cx="9144000" cy="91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38427"/>
            <a:ext cx="9144000" cy="91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43227"/>
            <a:ext cx="9144000" cy="91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48027"/>
            <a:ext cx="9144000" cy="914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52827"/>
            <a:ext cx="9144000" cy="914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357627"/>
            <a:ext cx="9144000" cy="914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2427"/>
            <a:ext cx="9144000" cy="914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967227"/>
            <a:ext cx="9144000" cy="91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272028"/>
            <a:ext cx="9144000" cy="91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576828"/>
            <a:ext cx="9144000" cy="914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81628"/>
            <a:ext cx="9144000" cy="91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186428"/>
            <a:ext cx="9144000" cy="914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491228"/>
            <a:ext cx="9144000" cy="91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796028"/>
            <a:ext cx="9144000" cy="91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100828"/>
            <a:ext cx="9144000" cy="914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05628"/>
            <a:ext cx="9144000" cy="914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710428"/>
            <a:ext cx="9144000" cy="914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5228"/>
            <a:ext cx="9144000" cy="91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0028"/>
            <a:ext cx="9144000" cy="914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227" y="0"/>
            <a:ext cx="9143" cy="647700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027" y="0"/>
            <a:ext cx="9143" cy="64770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827" y="0"/>
            <a:ext cx="9143" cy="64770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4627" y="0"/>
            <a:ext cx="9143" cy="64770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427" y="0"/>
            <a:ext cx="9143" cy="647700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4227" y="0"/>
            <a:ext cx="9144" cy="64770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9027" y="0"/>
            <a:ext cx="9144" cy="647700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3827" y="0"/>
            <a:ext cx="9144" cy="64770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38627" y="0"/>
            <a:ext cx="9144" cy="64770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3427" y="0"/>
            <a:ext cx="9144" cy="647700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48228" y="0"/>
            <a:ext cx="9144" cy="64770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3028" y="0"/>
            <a:ext cx="9144" cy="647700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7828" y="0"/>
            <a:ext cx="9144" cy="64770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62628" y="0"/>
            <a:ext cx="9144" cy="6477000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7428" y="0"/>
            <a:ext cx="9144" cy="64770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2228" y="0"/>
            <a:ext cx="9144" cy="6477000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7028" y="0"/>
            <a:ext cx="9144" cy="6477000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1828" y="0"/>
            <a:ext cx="9144" cy="6477000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86628" y="0"/>
            <a:ext cx="9144" cy="6477000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1428" y="0"/>
            <a:ext cx="9144" cy="6477000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6228" y="0"/>
            <a:ext cx="9144" cy="6477000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1028" y="0"/>
            <a:ext cx="9144" cy="647700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5828" y="0"/>
            <a:ext cx="9144" cy="6477000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0628" y="0"/>
            <a:ext cx="9144" cy="6477000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5428" y="0"/>
            <a:ext cx="9144" cy="6477000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0228" y="0"/>
            <a:ext cx="9144" cy="6477000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5028" y="0"/>
            <a:ext cx="9144" cy="6477000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29828" y="0"/>
            <a:ext cx="9144" cy="6477000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4628" y="0"/>
            <a:ext cx="9144" cy="6477000"/>
          </a:xfrm>
          <a:prstGeom prst="rect">
            <a:avLst/>
          </a:prstGeom>
        </p:spPr>
      </p:pic>
      <p:sp>
        <p:nvSpPr>
          <p:cNvPr id="66" name="bg object 66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7" name="bg object 67"/>
          <p:cNvSpPr/>
          <p:nvPr/>
        </p:nvSpPr>
        <p:spPr>
          <a:xfrm>
            <a:off x="414527" y="1037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2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68" name="bg 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6" y="1030224"/>
            <a:ext cx="201168" cy="2026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80746"/>
            <a:ext cx="77673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690" y="1155953"/>
            <a:ext cx="7742555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83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5331153" cy="62837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b="1" spc="-5" dirty="0" smtClean="0"/>
              <a:t>Récursivité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1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05456" y="5565140"/>
            <a:ext cx="4013835" cy="5661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7" defTabSz="801590">
              <a:spcBef>
                <a:spcPts val="95"/>
              </a:spcBef>
            </a:pPr>
            <a:r>
              <a:rPr spc="-5" dirty="0" err="1">
                <a:solidFill>
                  <a:srgbClr val="40458B"/>
                </a:solidFill>
                <a:latin typeface="Tahoma"/>
                <a:cs typeface="Tahoma"/>
              </a:rPr>
              <a:t>Année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lang="fr-FR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pc="-10" dirty="0" err="1">
                <a:solidFill>
                  <a:srgbClr val="40458B"/>
                </a:solidFill>
                <a:latin typeface="Tahoma"/>
                <a:cs typeface="Tahoma"/>
              </a:rPr>
              <a:t>niversitaire</a:t>
            </a:r>
            <a:r>
              <a:rPr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22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/20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23</a:t>
            </a:r>
            <a:r>
              <a:rPr dirty="0" smtClean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–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Semestre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33"/>
          <p:cNvSpPr txBox="1">
            <a:spLocks/>
          </p:cNvSpPr>
          <p:nvPr/>
        </p:nvSpPr>
        <p:spPr>
          <a:xfrm>
            <a:off x="3547400" y="4282670"/>
            <a:ext cx="3013944" cy="64376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>
            <a:lvl1pPr>
              <a:defRPr sz="4100" b="1" i="0">
                <a:solidFill>
                  <a:srgbClr val="660066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697" defTabSz="801590">
              <a:spcBef>
                <a:spcPts val="100"/>
              </a:spcBef>
            </a:pPr>
            <a:r>
              <a:rPr lang="fr-FR" spc="-5" dirty="0" smtClean="0"/>
              <a:t>CHAP:7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537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767195"/>
            <a:chOff x="0" y="0"/>
            <a:chExt cx="9144000" cy="6767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7669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5787" y="1357312"/>
              <a:ext cx="7715250" cy="5201920"/>
            </a:xfrm>
            <a:custGeom>
              <a:avLst/>
              <a:gdLst/>
              <a:ahLst/>
              <a:cxnLst/>
              <a:rect l="l" t="t" r="r" b="b"/>
              <a:pathLst>
                <a:path w="7715250" h="5201920">
                  <a:moveTo>
                    <a:pt x="7715250" y="0"/>
                  </a:moveTo>
                  <a:lnTo>
                    <a:pt x="0" y="0"/>
                  </a:lnTo>
                  <a:lnTo>
                    <a:pt x="0" y="5201412"/>
                  </a:lnTo>
                  <a:lnTo>
                    <a:pt x="7715250" y="5201412"/>
                  </a:lnTo>
                  <a:lnTo>
                    <a:pt x="7715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64819" y="1370838"/>
            <a:ext cx="404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résoudre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problèmes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récursifs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5234" y="1736852"/>
            <a:ext cx="4137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2605" algn="l"/>
                <a:tab pos="2652395" algn="l"/>
                <a:tab pos="387159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g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tion	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4819" y="1736852"/>
            <a:ext cx="3253104" cy="179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160">
              <a:lnSpc>
                <a:spcPct val="100000"/>
              </a:lnSpc>
              <a:spcBef>
                <a:spcPts val="100"/>
              </a:spcBef>
              <a:tabLst>
                <a:tab pos="1408430" algn="l"/>
                <a:tab pos="1946275" algn="l"/>
              </a:tabLst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ompa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er	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es	app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oc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h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es 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I.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Notion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récursivité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559435" algn="l"/>
                <a:tab pos="2126615" algn="l"/>
                <a:tab pos="276796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	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sivi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	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66005" y="3139185"/>
            <a:ext cx="4057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7810" algn="l"/>
                <a:tab pos="211264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technique	de	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programmation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4819" y="3504945"/>
            <a:ext cx="7560309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alternative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à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l’itération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permet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trouver,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lorsqu’elle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bien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utilisée,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très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élégantes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certain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problèmes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6350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 est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dite récursive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 son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corps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contient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ou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plusieurs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appels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elle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même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4349" y="428650"/>
            <a:ext cx="285750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b="1" spc="-10" dirty="0">
                <a:latin typeface="Calibri"/>
                <a:cs typeface="Calibri"/>
              </a:rPr>
              <a:t>Objectif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74" y="428650"/>
            <a:ext cx="366839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b="1" spc="-5" dirty="0">
                <a:latin typeface="Calibri"/>
                <a:cs typeface="Calibri"/>
              </a:rPr>
              <a:t>I.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Notion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de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récursivité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5787" y="1285811"/>
            <a:ext cx="7799705" cy="5370830"/>
            <a:chOff x="785787" y="1285811"/>
            <a:chExt cx="7799705" cy="5370830"/>
          </a:xfrm>
        </p:grpSpPr>
        <p:sp>
          <p:nvSpPr>
            <p:cNvPr id="4" name="object 4"/>
            <p:cNvSpPr/>
            <p:nvPr/>
          </p:nvSpPr>
          <p:spPr>
            <a:xfrm>
              <a:off x="8286750" y="6357962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0"/>
                  </a:moveTo>
                  <a:lnTo>
                    <a:pt x="0" y="0"/>
                  </a:lnTo>
                  <a:lnTo>
                    <a:pt x="0" y="285749"/>
                  </a:lnTo>
                  <a:lnTo>
                    <a:pt x="285750" y="285749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86750" y="6357962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285749"/>
                  </a:moveTo>
                  <a:lnTo>
                    <a:pt x="285750" y="285749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2857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5787" y="1285811"/>
              <a:ext cx="7787005" cy="5340350"/>
            </a:xfrm>
            <a:custGeom>
              <a:avLst/>
              <a:gdLst/>
              <a:ahLst/>
              <a:cxnLst/>
              <a:rect l="l" t="t" r="r" b="b"/>
              <a:pathLst>
                <a:path w="7787005" h="5340350">
                  <a:moveTo>
                    <a:pt x="7786751" y="0"/>
                  </a:moveTo>
                  <a:lnTo>
                    <a:pt x="0" y="0"/>
                  </a:lnTo>
                  <a:lnTo>
                    <a:pt x="0" y="5339969"/>
                  </a:lnTo>
                  <a:lnTo>
                    <a:pt x="7786751" y="5339969"/>
                  </a:lnTo>
                  <a:lnTo>
                    <a:pt x="7786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4819" y="1299464"/>
            <a:ext cx="7630159" cy="485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Precur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(paramètre)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Precur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(valeurs)</a:t>
            </a:r>
            <a:endParaRPr sz="24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Utilisé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récursivité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revient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:</a:t>
            </a:r>
            <a:endParaRPr sz="2400">
              <a:latin typeface="Calibri"/>
              <a:cs typeface="Calibri"/>
            </a:endParaRPr>
          </a:p>
          <a:p>
            <a:pPr marL="198120" marR="5080" indent="-186055">
              <a:lnSpc>
                <a:spcPct val="100000"/>
              </a:lnSpc>
              <a:spcBef>
                <a:spcPts val="600"/>
              </a:spcBef>
              <a:buChar char="-"/>
              <a:tabLst>
                <a:tab pos="187960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1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</a:t>
            </a:r>
            <a:r>
              <a:rPr sz="2400" spc="1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1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spc="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ensemble</a:t>
            </a:r>
            <a:r>
              <a:rPr sz="2400" spc="1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1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cas</a:t>
            </a:r>
            <a:r>
              <a:rPr sz="2400" spc="1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1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base</a:t>
            </a:r>
            <a:r>
              <a:rPr sz="2400" spc="11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(sans</a:t>
            </a:r>
            <a:r>
              <a:rPr sz="2400" spc="1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utilisé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récursifs).</a:t>
            </a:r>
            <a:endParaRPr sz="2400">
              <a:latin typeface="Calibri"/>
              <a:cs typeface="Calibri"/>
            </a:endParaRPr>
          </a:p>
          <a:p>
            <a:pPr marL="172085" marR="273685" indent="-160020">
              <a:lnSpc>
                <a:spcPct val="100000"/>
              </a:lnSpc>
              <a:buChar char="-"/>
              <a:tabLst>
                <a:tab pos="18542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</a:t>
            </a:r>
            <a:r>
              <a:rPr sz="2400" spc="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</a:t>
            </a:r>
            <a:r>
              <a:rPr sz="2400" spc="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cas</a:t>
            </a:r>
            <a:r>
              <a:rPr sz="2400" spc="8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général</a:t>
            </a:r>
            <a:r>
              <a:rPr sz="2400" spc="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travers</a:t>
            </a:r>
            <a:r>
              <a:rPr sz="2400" spc="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relation</a:t>
            </a:r>
            <a:r>
              <a:rPr sz="2400" spc="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récurrence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avec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plus simples.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Cette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relation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doit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permettre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d’arriver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base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fini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d’étapes.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70008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11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60"/>
              </a:spcBef>
            </a:pPr>
            <a:r>
              <a:rPr b="1" spc="-5" dirty="0">
                <a:latin typeface="Calibri"/>
                <a:cs typeface="Calibri"/>
              </a:rPr>
              <a:t>II.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Etude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d’un</a:t>
            </a:r>
            <a:r>
              <a:rPr b="1" spc="8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exemple</a:t>
            </a:r>
            <a:r>
              <a:rPr b="1" spc="3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: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la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fonction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factorielle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22312" y="1283335"/>
            <a:ext cx="7656830" cy="5451475"/>
            <a:chOff x="922312" y="1283335"/>
            <a:chExt cx="7656830" cy="5451475"/>
          </a:xfrm>
        </p:grpSpPr>
        <p:sp>
          <p:nvSpPr>
            <p:cNvPr id="4" name="object 4"/>
            <p:cNvSpPr/>
            <p:nvPr/>
          </p:nvSpPr>
          <p:spPr>
            <a:xfrm>
              <a:off x="928662" y="1289710"/>
              <a:ext cx="7644130" cy="5425440"/>
            </a:xfrm>
            <a:custGeom>
              <a:avLst/>
              <a:gdLst/>
              <a:ahLst/>
              <a:cxnLst/>
              <a:rect l="l" t="t" r="r" b="b"/>
              <a:pathLst>
                <a:path w="7644130" h="5425440">
                  <a:moveTo>
                    <a:pt x="7643838" y="0"/>
                  </a:moveTo>
                  <a:lnTo>
                    <a:pt x="3214751" y="0"/>
                  </a:lnTo>
                  <a:lnTo>
                    <a:pt x="0" y="0"/>
                  </a:lnTo>
                  <a:lnTo>
                    <a:pt x="0" y="5425440"/>
                  </a:lnTo>
                  <a:lnTo>
                    <a:pt x="3214713" y="5425440"/>
                  </a:lnTo>
                  <a:lnTo>
                    <a:pt x="7643838" y="5425440"/>
                  </a:lnTo>
                  <a:lnTo>
                    <a:pt x="7643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2312" y="1283335"/>
              <a:ext cx="7656830" cy="5451475"/>
            </a:xfrm>
            <a:custGeom>
              <a:avLst/>
              <a:gdLst/>
              <a:ahLst/>
              <a:cxnLst/>
              <a:rect l="l" t="t" r="r" b="b"/>
              <a:pathLst>
                <a:path w="7656830" h="5451475">
                  <a:moveTo>
                    <a:pt x="3221062" y="0"/>
                  </a:moveTo>
                  <a:lnTo>
                    <a:pt x="3221062" y="5450862"/>
                  </a:lnTo>
                </a:path>
                <a:path w="7656830" h="5451475">
                  <a:moveTo>
                    <a:pt x="6350" y="0"/>
                  </a:moveTo>
                  <a:lnTo>
                    <a:pt x="6350" y="5450862"/>
                  </a:lnTo>
                </a:path>
                <a:path w="7656830" h="5451475">
                  <a:moveTo>
                    <a:pt x="7650187" y="0"/>
                  </a:moveTo>
                  <a:lnTo>
                    <a:pt x="7650187" y="5450862"/>
                  </a:lnTo>
                </a:path>
                <a:path w="7656830" h="5451475">
                  <a:moveTo>
                    <a:pt x="0" y="6350"/>
                  </a:moveTo>
                  <a:lnTo>
                    <a:pt x="7656537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2312" y="6715150"/>
              <a:ext cx="7656830" cy="0"/>
            </a:xfrm>
            <a:custGeom>
              <a:avLst/>
              <a:gdLst/>
              <a:ahLst/>
              <a:cxnLst/>
              <a:rect l="l" t="t" r="r" b="b"/>
              <a:pathLst>
                <a:path w="7656830">
                  <a:moveTo>
                    <a:pt x="0" y="0"/>
                  </a:moveTo>
                  <a:lnTo>
                    <a:pt x="7656537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Solution</a:t>
            </a:r>
            <a:r>
              <a:rPr spc="-75" dirty="0"/>
              <a:t> </a:t>
            </a:r>
            <a:r>
              <a:rPr spc="-15" dirty="0"/>
              <a:t>itérative</a:t>
            </a:r>
          </a:p>
          <a:p>
            <a:pPr>
              <a:lnSpc>
                <a:spcPct val="100000"/>
              </a:lnSpc>
            </a:pPr>
            <a:endParaRPr sz="2950"/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1F487C"/>
                </a:solidFill>
              </a:rPr>
              <a:t>Fonction</a:t>
            </a:r>
          </a:p>
          <a:p>
            <a:pPr marL="12700" marR="5080">
              <a:lnSpc>
                <a:spcPct val="100000"/>
              </a:lnSpc>
            </a:pPr>
            <a:r>
              <a:rPr b="0" spc="-10" dirty="0">
                <a:solidFill>
                  <a:srgbClr val="1F487C"/>
                </a:solidFill>
                <a:latin typeface="Calibri"/>
                <a:cs typeface="Calibri"/>
              </a:rPr>
              <a:t>Facto(n</a:t>
            </a:r>
            <a:r>
              <a:rPr b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1F487C"/>
                </a:solidFill>
                <a:latin typeface="Calibri"/>
                <a:cs typeface="Calibri"/>
              </a:rPr>
              <a:t>:entier)</a:t>
            </a:r>
            <a:r>
              <a:rPr b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1F487C"/>
                </a:solidFill>
                <a:latin typeface="Calibri"/>
                <a:cs typeface="Calibri"/>
              </a:rPr>
              <a:t>:Entier </a:t>
            </a:r>
            <a:r>
              <a:rPr b="0" spc="-43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spc="-35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</a:p>
          <a:p>
            <a:pPr marL="295910">
              <a:lnSpc>
                <a:spcPct val="100000"/>
              </a:lnSpc>
            </a:pPr>
            <a:r>
              <a:rPr b="0" spc="-5" dirty="0">
                <a:solidFill>
                  <a:srgbClr val="1F487C"/>
                </a:solidFill>
                <a:latin typeface="Calibri"/>
                <a:cs typeface="Calibri"/>
              </a:rPr>
              <a:t>n,</a:t>
            </a:r>
            <a:r>
              <a:rPr b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i,</a:t>
            </a:r>
            <a:r>
              <a:rPr b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b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b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1F487C"/>
                </a:solidFill>
              </a:rPr>
              <a:t>Début</a:t>
            </a:r>
          </a:p>
          <a:p>
            <a:pPr marL="12700">
              <a:lnSpc>
                <a:spcPts val="2395"/>
              </a:lnSpc>
              <a:spcBef>
                <a:spcPts val="15"/>
              </a:spcBef>
            </a:pP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b="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b="0" spc="-10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</a:p>
          <a:p>
            <a:pPr marL="12700">
              <a:lnSpc>
                <a:spcPts val="2395"/>
              </a:lnSpc>
            </a:pPr>
            <a:r>
              <a:rPr spc="-10" dirty="0">
                <a:solidFill>
                  <a:srgbClr val="C00000"/>
                </a:solidFill>
              </a:rPr>
              <a:t>Pour</a:t>
            </a:r>
            <a:r>
              <a:rPr spc="-30" dirty="0">
                <a:solidFill>
                  <a:srgbClr val="C00000"/>
                </a:solidFill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i</a:t>
            </a:r>
            <a:r>
              <a:rPr b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b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b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b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b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C00000"/>
                </a:solidFill>
              </a:rPr>
              <a:t>faire</a:t>
            </a:r>
          </a:p>
          <a:p>
            <a:pPr marL="12700" marR="1393190">
              <a:lnSpc>
                <a:spcPct val="99900"/>
              </a:lnSpc>
              <a:spcBef>
                <a:spcPts val="15"/>
              </a:spcBef>
            </a:pP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b="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f*i </a:t>
            </a:r>
            <a:r>
              <a:rPr b="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C00000"/>
                </a:solidFill>
              </a:rPr>
              <a:t>FinPour 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b="0" spc="-45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ac</a:t>
            </a:r>
            <a:r>
              <a:rPr b="0" spc="-20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b="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b="0" spc="-6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1F487C"/>
                </a:solidFill>
                <a:latin typeface="Calibri"/>
                <a:cs typeface="Calibri"/>
              </a:rPr>
              <a:t>f  </a:t>
            </a:r>
            <a:r>
              <a:rPr dirty="0">
                <a:solidFill>
                  <a:srgbClr val="1F487C"/>
                </a:solidFill>
              </a:rPr>
              <a:t>Fin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22750" y="1154233"/>
            <a:ext cx="3729354" cy="520890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r>
              <a:rPr sz="20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récursive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0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87C"/>
                </a:solidFill>
                <a:latin typeface="Calibri"/>
                <a:cs typeface="Calibri"/>
              </a:rPr>
              <a:t>relation</a:t>
            </a:r>
            <a:r>
              <a:rPr sz="20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récursive</a:t>
            </a:r>
            <a:r>
              <a:rPr sz="20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0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définit par</a:t>
            </a:r>
            <a:r>
              <a:rPr sz="20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000" spc="-43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0</a:t>
            </a:r>
            <a:r>
              <a:rPr sz="20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!=1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0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!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0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n*(n-1)</a:t>
            </a:r>
            <a:r>
              <a:rPr sz="20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!</a:t>
            </a:r>
            <a:endParaRPr sz="2000">
              <a:latin typeface="Calibri"/>
              <a:cs typeface="Calibri"/>
            </a:endParaRPr>
          </a:p>
          <a:p>
            <a:pPr marL="12700" marR="424815">
              <a:lnSpc>
                <a:spcPct val="100000"/>
              </a:lnSpc>
              <a:spcBef>
                <a:spcPts val="5"/>
              </a:spcBef>
            </a:pP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Cette </a:t>
            </a:r>
            <a:r>
              <a:rPr sz="2000" spc="-10" dirty="0">
                <a:solidFill>
                  <a:srgbClr val="1F487C"/>
                </a:solidFill>
                <a:latin typeface="Calibri"/>
                <a:cs typeface="Calibri"/>
              </a:rPr>
              <a:t>relation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donne la </a:t>
            </a: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fonction </a:t>
            </a:r>
            <a:r>
              <a:rPr sz="2000" spc="-4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récursive</a:t>
            </a:r>
            <a:r>
              <a:rPr sz="20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suivante</a:t>
            </a:r>
            <a:r>
              <a:rPr sz="20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12700" marR="408305">
              <a:lnSpc>
                <a:spcPct val="100000"/>
              </a:lnSpc>
            </a:pP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Fonction </a:t>
            </a:r>
            <a:r>
              <a:rPr sz="2000" spc="-10" dirty="0">
                <a:solidFill>
                  <a:srgbClr val="1F487C"/>
                </a:solidFill>
                <a:latin typeface="Calibri"/>
                <a:cs typeface="Calibri"/>
              </a:rPr>
              <a:t>Facto(n </a:t>
            </a: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:entier) :Entier </a:t>
            </a:r>
            <a:r>
              <a:rPr sz="2000" spc="-4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n,</a:t>
            </a:r>
            <a:r>
              <a:rPr sz="20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i,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000">
              <a:latin typeface="Calibri"/>
              <a:cs typeface="Calibri"/>
            </a:endParaRPr>
          </a:p>
          <a:p>
            <a:pPr marL="12700" marR="2354580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Si</a:t>
            </a:r>
            <a:r>
              <a:rPr sz="20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487C"/>
                </a:solidFill>
                <a:latin typeface="Calibri"/>
                <a:cs typeface="Calibri"/>
              </a:rPr>
              <a:t>(n=0)</a:t>
            </a:r>
            <a:r>
              <a:rPr sz="20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alors </a:t>
            </a:r>
            <a:r>
              <a:rPr sz="2000" b="1" spc="-43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Facto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1 </a:t>
            </a:r>
            <a:r>
              <a:rPr sz="20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Sinon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  <a:spcBef>
                <a:spcPts val="15"/>
              </a:spcBef>
            </a:pPr>
            <a:r>
              <a:rPr sz="2000" spc="-15" dirty="0">
                <a:solidFill>
                  <a:srgbClr val="1F487C"/>
                </a:solidFill>
                <a:latin typeface="Calibri"/>
                <a:cs typeface="Calibri"/>
              </a:rPr>
              <a:t>Facto</a:t>
            </a:r>
            <a:r>
              <a:rPr sz="20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10" dirty="0">
                <a:solidFill>
                  <a:srgbClr val="1F487C"/>
                </a:solidFill>
                <a:latin typeface="Calibri"/>
                <a:cs typeface="Calibri"/>
              </a:rPr>
              <a:t>n*Facto</a:t>
            </a:r>
            <a:r>
              <a:rPr sz="20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Calibri"/>
                <a:cs typeface="Calibri"/>
              </a:rPr>
              <a:t>(n-1)</a:t>
            </a:r>
            <a:endParaRPr sz="2000">
              <a:latin typeface="Calibri"/>
              <a:cs typeface="Calibri"/>
            </a:endParaRPr>
          </a:p>
          <a:p>
            <a:pPr marL="12700" marR="3208655">
              <a:lnSpc>
                <a:spcPts val="2400"/>
              </a:lnSpc>
              <a:spcBef>
                <a:spcPts val="70"/>
              </a:spcBef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Fi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Si 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380705"/>
            <a:ext cx="7787005" cy="5263515"/>
          </a:xfrm>
          <a:custGeom>
            <a:avLst/>
            <a:gdLst/>
            <a:ahLst/>
            <a:cxnLst/>
            <a:rect l="l" t="t" r="r" b="b"/>
            <a:pathLst>
              <a:path w="7787005" h="5263515">
                <a:moveTo>
                  <a:pt x="7786751" y="0"/>
                </a:moveTo>
                <a:lnTo>
                  <a:pt x="0" y="0"/>
                </a:lnTo>
                <a:lnTo>
                  <a:pt x="0" y="5263007"/>
                </a:lnTo>
                <a:lnTo>
                  <a:pt x="7786751" y="5263007"/>
                </a:lnTo>
                <a:lnTo>
                  <a:pt x="7786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394205"/>
            <a:ext cx="727202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Considérons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calcul 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4!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Par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ci-dessus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215265" marR="3609975" indent="-135890">
              <a:lnSpc>
                <a:spcPct val="100000"/>
              </a:lnSpc>
              <a:spcBef>
                <a:spcPts val="5"/>
              </a:spcBef>
            </a:pP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Facto(4)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4*Facto(3)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Facto(3)</a:t>
            </a:r>
            <a:r>
              <a:rPr sz="2400" b="1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3*Facto(2)</a:t>
            </a:r>
            <a:endParaRPr sz="2400">
              <a:latin typeface="Calibri"/>
              <a:cs typeface="Calibri"/>
            </a:endParaRPr>
          </a:p>
          <a:p>
            <a:pPr marL="829310" marR="2995930" indent="-273050">
              <a:lnSpc>
                <a:spcPct val="100000"/>
              </a:lnSpc>
            </a:pP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Facto(2)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2*Facto(1)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Facto(1)</a:t>
            </a:r>
            <a:r>
              <a:rPr sz="24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1*Facto(0)</a:t>
            </a:r>
            <a:endParaRPr sz="2400">
              <a:latin typeface="Calibri"/>
              <a:cs typeface="Calibri"/>
            </a:endParaRPr>
          </a:p>
          <a:p>
            <a:pPr marL="829310" marR="600710" indent="615315">
              <a:lnSpc>
                <a:spcPct val="100000"/>
              </a:lnSpc>
            </a:pP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Facto(0)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1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(arrêt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de la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récursivité) </a:t>
            </a:r>
            <a:r>
              <a:rPr sz="2400" b="1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Facto(1)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1*1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= 1</a:t>
            </a:r>
            <a:endParaRPr sz="2400">
              <a:latin typeface="Calibri"/>
              <a:cs typeface="Calibri"/>
            </a:endParaRPr>
          </a:p>
          <a:p>
            <a:pPr marL="215265" marR="3693160" indent="340995">
              <a:lnSpc>
                <a:spcPct val="100000"/>
              </a:lnSpc>
              <a:spcBef>
                <a:spcPts val="5"/>
              </a:spcBef>
            </a:pP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Facto(2)</a:t>
            </a:r>
            <a:r>
              <a:rPr sz="2400" b="1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2*1</a:t>
            </a:r>
            <a:r>
              <a:rPr sz="2400" b="1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2 </a:t>
            </a:r>
            <a:r>
              <a:rPr sz="2400" b="1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Facto(3)</a:t>
            </a:r>
            <a:r>
              <a:rPr sz="2400" b="1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3*2</a:t>
            </a: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1F487C"/>
                </a:solidFill>
                <a:latin typeface="Calibri"/>
                <a:cs typeface="Calibri"/>
              </a:rPr>
              <a:t>Facto(4)</a:t>
            </a: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renvoie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4*6=</a:t>
            </a:r>
            <a:r>
              <a:rPr sz="24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24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742950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11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60"/>
              </a:spcBef>
            </a:pPr>
            <a:r>
              <a:rPr b="1" spc="-5" dirty="0">
                <a:latin typeface="Calibri"/>
                <a:cs typeface="Calibri"/>
              </a:rPr>
              <a:t>III. </a:t>
            </a:r>
            <a:r>
              <a:rPr b="1" spc="-10" dirty="0">
                <a:latin typeface="Calibri"/>
                <a:cs typeface="Calibri"/>
              </a:rPr>
              <a:t>Mécanisme</a:t>
            </a:r>
            <a:r>
              <a:rPr b="1" spc="114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de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fonctionnement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de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récursivité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4349" y="1319237"/>
            <a:ext cx="7929880" cy="5324475"/>
          </a:xfrm>
          <a:custGeom>
            <a:avLst/>
            <a:gdLst/>
            <a:ahLst/>
            <a:cxnLst/>
            <a:rect l="l" t="t" r="r" b="b"/>
            <a:pathLst>
              <a:path w="7929880" h="5324475">
                <a:moveTo>
                  <a:pt x="7929626" y="0"/>
                </a:moveTo>
                <a:lnTo>
                  <a:pt x="0" y="0"/>
                </a:lnTo>
                <a:lnTo>
                  <a:pt x="0" y="5324475"/>
                </a:lnTo>
                <a:lnTo>
                  <a:pt x="7929626" y="5324475"/>
                </a:lnTo>
                <a:lnTo>
                  <a:pt x="79296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7791" y="1332738"/>
            <a:ext cx="7824470" cy="456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problèmes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mémoire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de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rapidité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critères qui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permettent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faire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choix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la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solution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itérative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solution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récursive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8100" marR="31115" algn="just">
              <a:lnSpc>
                <a:spcPct val="100000"/>
              </a:lnSpc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3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3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calcul</a:t>
            </a:r>
            <a:r>
              <a:rPr sz="2400" spc="3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3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3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</a:t>
            </a:r>
            <a:r>
              <a:rPr sz="2400" spc="3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factorielle,</a:t>
            </a:r>
            <a:r>
              <a:rPr sz="2400" spc="3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3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différences</a:t>
            </a:r>
            <a:r>
              <a:rPr sz="2400" spc="3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deux solutions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 se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voient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pas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trop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.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l’utilisation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mémoire,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il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y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aura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dépassement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dans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calculs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avant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saturation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la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mémoire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8100" marR="205104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 calcul 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suite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fibonacci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parfait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contre-exemple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récursive.</a:t>
            </a:r>
            <a:endParaRPr sz="24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relation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définit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38100" marR="7275830">
              <a:lnSpc>
                <a:spcPct val="100000"/>
              </a:lnSpc>
              <a:spcBef>
                <a:spcPts val="600"/>
              </a:spcBef>
            </a:pPr>
            <a:r>
              <a:rPr sz="2400" spc="-5" dirty="0" smtClean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15" baseline="-20833" dirty="0" smtClean="0">
                <a:solidFill>
                  <a:srgbClr val="1F487C"/>
                </a:solidFill>
                <a:latin typeface="Calibri"/>
                <a:cs typeface="Calibri"/>
              </a:rPr>
              <a:t>0</a:t>
            </a:r>
            <a:r>
              <a:rPr sz="2400" dirty="0" smtClean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lang="fr-FR" sz="2400" dirty="0" smtClean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400" dirty="0" smtClean="0">
                <a:solidFill>
                  <a:srgbClr val="1F487C"/>
                </a:solidFill>
                <a:latin typeface="Calibri"/>
                <a:cs typeface="Calibri"/>
              </a:rPr>
              <a:t> 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2400" spc="-22" baseline="-20833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=1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791" y="5950102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7" baseline="13888" dirty="0">
                <a:solidFill>
                  <a:srgbClr val="1F487C"/>
                </a:solidFill>
                <a:latin typeface="Calibri"/>
                <a:cs typeface="Calibri"/>
              </a:rPr>
              <a:t>f</a:t>
            </a:r>
            <a:r>
              <a:rPr sz="1600" spc="-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3600" spc="-7" baseline="13888" dirty="0">
                <a:solidFill>
                  <a:srgbClr val="1F487C"/>
                </a:solidFill>
                <a:latin typeface="Calibri"/>
                <a:cs typeface="Calibri"/>
              </a:rPr>
              <a:t>=f</a:t>
            </a:r>
            <a:r>
              <a:rPr sz="1600" spc="-5" dirty="0">
                <a:solidFill>
                  <a:srgbClr val="1F487C"/>
                </a:solidFill>
                <a:latin typeface="Calibri"/>
                <a:cs typeface="Calibri"/>
              </a:rPr>
              <a:t>n-2</a:t>
            </a:r>
            <a:r>
              <a:rPr sz="3600" spc="-7" baseline="13888" dirty="0">
                <a:solidFill>
                  <a:srgbClr val="1F487C"/>
                </a:solidFill>
                <a:latin typeface="Calibri"/>
                <a:cs typeface="Calibri"/>
              </a:rPr>
              <a:t>+f</a:t>
            </a:r>
            <a:r>
              <a:rPr sz="1600" spc="-5" dirty="0">
                <a:solidFill>
                  <a:srgbClr val="1F487C"/>
                </a:solidFill>
                <a:latin typeface="Calibri"/>
                <a:cs typeface="Calibri"/>
              </a:rPr>
              <a:t>n-1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2151" y="5875426"/>
            <a:ext cx="1283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&gt;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621538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b="1" spc="-90" dirty="0">
                <a:latin typeface="Calibri"/>
                <a:cs typeface="Calibri"/>
              </a:rPr>
              <a:t>IV.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Performances</a:t>
            </a:r>
            <a:r>
              <a:rPr b="1" spc="3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de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la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récursivité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215857"/>
            <a:ext cx="7929880" cy="5570855"/>
          </a:xfrm>
          <a:custGeom>
            <a:avLst/>
            <a:gdLst/>
            <a:ahLst/>
            <a:cxnLst/>
            <a:rect l="l" t="t" r="r" b="b"/>
            <a:pathLst>
              <a:path w="7929880" h="5570855">
                <a:moveTo>
                  <a:pt x="7929626" y="0"/>
                </a:moveTo>
                <a:lnTo>
                  <a:pt x="0" y="0"/>
                </a:lnTo>
                <a:lnTo>
                  <a:pt x="0" y="5570728"/>
                </a:lnTo>
                <a:lnTo>
                  <a:pt x="7929626" y="5570728"/>
                </a:lnTo>
                <a:lnTo>
                  <a:pt x="79296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077162"/>
            <a:ext cx="7640320" cy="523875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vient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immédiatement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cette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relation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Fonction</a:t>
            </a:r>
            <a:r>
              <a:rPr sz="2400" b="1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(n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Entier)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(n=0)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(n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=1)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2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14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2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8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(n-2)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Fibo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(n-1)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remarque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fonction effectue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deux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appels,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donc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pour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valeurs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importantes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on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aura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temps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d’exécution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importants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(attente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résultat).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248660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titre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d’exemple,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voici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	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démarche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calcul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Fibo(4).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07263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b="1" spc="-90" dirty="0">
                <a:latin typeface="Calibri"/>
                <a:cs typeface="Calibri"/>
              </a:rPr>
              <a:t>IV.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Performances</a:t>
            </a:r>
            <a:r>
              <a:rPr b="1" spc="3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de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la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récursivité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357274"/>
            <a:ext cx="7715250" cy="5263515"/>
          </a:xfrm>
          <a:custGeom>
            <a:avLst/>
            <a:gdLst/>
            <a:ahLst/>
            <a:cxnLst/>
            <a:rect l="l" t="t" r="r" b="b"/>
            <a:pathLst>
              <a:path w="7715250" h="5263515">
                <a:moveTo>
                  <a:pt x="7715250" y="0"/>
                </a:moveTo>
                <a:lnTo>
                  <a:pt x="0" y="0"/>
                </a:lnTo>
                <a:lnTo>
                  <a:pt x="0" y="5263007"/>
                </a:lnTo>
                <a:lnTo>
                  <a:pt x="7715250" y="5263007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370838"/>
            <a:ext cx="618490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(4)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(3)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103505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(Fibo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Fibo(1))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103505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((Fibo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(1)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Fibo(0))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(1))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103505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((1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Fibo(0))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Fibo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(1))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103505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((1+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1)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(1))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110363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(1))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Fibo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110363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110363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3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(Fibo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(1)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Fibo(0))</a:t>
            </a:r>
            <a:endParaRPr sz="2400">
              <a:latin typeface="Calibri"/>
              <a:cs typeface="Calibri"/>
            </a:endParaRPr>
          </a:p>
          <a:p>
            <a:pPr marL="110363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3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(1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Fibo(0))</a:t>
            </a:r>
            <a:endParaRPr sz="2400">
              <a:latin typeface="Calibri"/>
              <a:cs typeface="Calibri"/>
            </a:endParaRPr>
          </a:p>
          <a:p>
            <a:pPr marL="110363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3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(1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marL="110363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3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10363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=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z="3200" spc="-114" dirty="0"/>
              <a:t>IV.</a:t>
            </a:r>
            <a:r>
              <a:rPr sz="3200" spc="-10" dirty="0"/>
              <a:t> </a:t>
            </a:r>
            <a:r>
              <a:rPr sz="3200" spc="-15" dirty="0"/>
              <a:t>Performances</a:t>
            </a:r>
            <a:r>
              <a:rPr sz="3200" spc="-30" dirty="0"/>
              <a:t> </a:t>
            </a:r>
            <a:r>
              <a:rPr sz="3200" spc="-5" dirty="0"/>
              <a:t>de la </a:t>
            </a:r>
            <a:r>
              <a:rPr sz="3200" spc="-15" dirty="0"/>
              <a:t>récursivité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142970"/>
            <a:ext cx="7715250" cy="5632450"/>
          </a:xfrm>
          <a:custGeom>
            <a:avLst/>
            <a:gdLst/>
            <a:ahLst/>
            <a:cxnLst/>
            <a:rect l="l" t="t" r="r" b="b"/>
            <a:pathLst>
              <a:path w="7715250" h="5632450">
                <a:moveTo>
                  <a:pt x="7715250" y="0"/>
                </a:moveTo>
                <a:lnTo>
                  <a:pt x="0" y="0"/>
                </a:lnTo>
                <a:lnTo>
                  <a:pt x="0" y="5632323"/>
                </a:lnTo>
                <a:lnTo>
                  <a:pt x="7715250" y="5632323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156461"/>
            <a:ext cx="755904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87375" algn="l"/>
                <a:tab pos="1053465" algn="l"/>
                <a:tab pos="1336675" algn="l"/>
                <a:tab pos="1957705" algn="l"/>
                <a:tab pos="2494280" algn="l"/>
                <a:tab pos="2646680" algn="l"/>
                <a:tab pos="3135630" algn="l"/>
                <a:tab pos="3219450" algn="l"/>
                <a:tab pos="3686175" algn="l"/>
                <a:tab pos="3806190" algn="l"/>
                <a:tab pos="4431030" algn="l"/>
                <a:tab pos="4655185" algn="l"/>
                <a:tab pos="5120005" algn="l"/>
                <a:tab pos="5260340" algn="l"/>
                <a:tab pos="5618480" algn="l"/>
                <a:tab pos="6028690" algn="l"/>
                <a:tab pos="6522720" algn="l"/>
                <a:tab pos="6957059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nombre</a:t>
            </a:r>
            <a:r>
              <a:rPr sz="2400" spc="1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d’appels</a:t>
            </a:r>
            <a:r>
              <a:rPr sz="2400" spc="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récursif</a:t>
            </a:r>
            <a:r>
              <a:rPr sz="2400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1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donc</a:t>
            </a:r>
            <a:r>
              <a:rPr sz="2400" spc="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très</a:t>
            </a:r>
            <a:r>
              <a:rPr sz="2400" spc="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élevé</a:t>
            </a:r>
            <a:r>
              <a:rPr sz="2400" spc="1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(9</a:t>
            </a:r>
            <a:r>
              <a:rPr sz="2400" spc="1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Fibo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4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),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5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r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o		(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5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),	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2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5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r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o	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6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)	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2189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pour  Fib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o(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20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)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,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spc="-185" dirty="0">
                <a:solidFill>
                  <a:srgbClr val="1F487C"/>
                </a:solidFill>
                <a:latin typeface="Calibri"/>
                <a:cs typeface="Calibri"/>
              </a:rPr>
              <a:t>’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plu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’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il		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xi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st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méthode	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é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ti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 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simple qui calcule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simultanément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 (n) et Fibo (n-1)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Fonction</a:t>
            </a: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Entier)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38810" algn="l"/>
              </a:tabLst>
            </a:pP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	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i,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dn, fn_1,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fn_2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 marR="4899025" indent="339725">
              <a:lnSpc>
                <a:spcPct val="100000"/>
              </a:lnSpc>
              <a:spcBef>
                <a:spcPts val="20"/>
              </a:spcBef>
              <a:tabLst>
                <a:tab pos="768350" algn="l"/>
                <a:tab pos="1639570" algn="l"/>
                <a:tab pos="168592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fn_2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1  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Pour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2 à n 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faire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Times New Roman"/>
                <a:cs typeface="Times New Roman"/>
              </a:rPr>
              <a:t>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fn_1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+	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fn_2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fn_2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6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fn_1</a:t>
            </a:r>
            <a:endParaRPr sz="2400">
              <a:latin typeface="Calibri"/>
              <a:cs typeface="Calibri"/>
            </a:endParaRPr>
          </a:p>
          <a:p>
            <a:pPr marL="12700" marR="6291580">
              <a:lnSpc>
                <a:spcPct val="99700"/>
              </a:lnSpc>
              <a:spcBef>
                <a:spcPts val="1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fn_1</a:t>
            </a:r>
            <a:r>
              <a:rPr sz="2400" spc="-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10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FinPour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Fibo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fn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z="3200" spc="-114" dirty="0"/>
              <a:t>IV.</a:t>
            </a:r>
            <a:r>
              <a:rPr sz="3200" spc="-10" dirty="0"/>
              <a:t> </a:t>
            </a:r>
            <a:r>
              <a:rPr sz="3200" spc="-15" dirty="0"/>
              <a:t>Performances</a:t>
            </a:r>
            <a:r>
              <a:rPr sz="3200" spc="-30" dirty="0"/>
              <a:t> </a:t>
            </a:r>
            <a:r>
              <a:rPr sz="3200" spc="-5" dirty="0"/>
              <a:t>de la </a:t>
            </a:r>
            <a:r>
              <a:rPr sz="3200" spc="-15" dirty="0"/>
              <a:t>récursivité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142970"/>
            <a:ext cx="7715250" cy="5632450"/>
          </a:xfrm>
          <a:custGeom>
            <a:avLst/>
            <a:gdLst/>
            <a:ahLst/>
            <a:cxnLst/>
            <a:rect l="l" t="t" r="r" b="b"/>
            <a:pathLst>
              <a:path w="7715250" h="5632450">
                <a:moveTo>
                  <a:pt x="7715250" y="0"/>
                </a:moveTo>
                <a:lnTo>
                  <a:pt x="0" y="0"/>
                </a:lnTo>
                <a:lnTo>
                  <a:pt x="0" y="5632323"/>
                </a:lnTo>
                <a:lnTo>
                  <a:pt x="7715250" y="5632323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156461"/>
            <a:ext cx="75107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dit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qu’on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récursivité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indirecte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récursivité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croisée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lorsque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sans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récursif,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appelle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B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A.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Exemple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49"/>
            <a:ext cx="757237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pc="-145" dirty="0"/>
              <a:t>V.</a:t>
            </a:r>
            <a:r>
              <a:rPr spc="-5" dirty="0"/>
              <a:t> </a:t>
            </a:r>
            <a:r>
              <a:rPr spc="-20" dirty="0"/>
              <a:t>récursivité</a:t>
            </a:r>
            <a:r>
              <a:rPr spc="25" dirty="0"/>
              <a:t> </a:t>
            </a:r>
            <a:r>
              <a:rPr spc="-15" dirty="0"/>
              <a:t>indirecte</a:t>
            </a:r>
            <a:r>
              <a:rPr spc="15" dirty="0"/>
              <a:t> </a:t>
            </a:r>
            <a:r>
              <a:rPr spc="-5" dirty="0"/>
              <a:t>ou</a:t>
            </a:r>
            <a:r>
              <a:rPr spc="5" dirty="0"/>
              <a:t> </a:t>
            </a:r>
            <a:r>
              <a:rPr spc="-15" dirty="0"/>
              <a:t>croisé</a:t>
            </a:r>
          </a:p>
        </p:txBody>
      </p:sp>
      <p:sp>
        <p:nvSpPr>
          <p:cNvPr id="5" name="object 5"/>
          <p:cNvSpPr/>
          <p:nvPr/>
        </p:nvSpPr>
        <p:spPr>
          <a:xfrm>
            <a:off x="4988686" y="2994025"/>
            <a:ext cx="0" cy="2585720"/>
          </a:xfrm>
          <a:custGeom>
            <a:avLst/>
            <a:gdLst/>
            <a:ahLst/>
            <a:cxnLst/>
            <a:rect l="l" t="t" r="r" b="b"/>
            <a:pathLst>
              <a:path h="2585720">
                <a:moveTo>
                  <a:pt x="0" y="0"/>
                </a:moveTo>
                <a:lnTo>
                  <a:pt x="0" y="258572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398650" y="2994025"/>
            <a:ext cx="7180580" cy="2585720"/>
            <a:chOff x="1398650" y="2994025"/>
            <a:chExt cx="7180580" cy="2585720"/>
          </a:xfrm>
        </p:grpSpPr>
        <p:sp>
          <p:nvSpPr>
            <p:cNvPr id="7" name="object 7"/>
            <p:cNvSpPr/>
            <p:nvPr/>
          </p:nvSpPr>
          <p:spPr>
            <a:xfrm>
              <a:off x="1398650" y="2994025"/>
              <a:ext cx="7180580" cy="2585720"/>
            </a:xfrm>
            <a:custGeom>
              <a:avLst/>
              <a:gdLst/>
              <a:ahLst/>
              <a:cxnLst/>
              <a:rect l="l" t="t" r="r" b="b"/>
              <a:pathLst>
                <a:path w="7180580" h="2585720">
                  <a:moveTo>
                    <a:pt x="6350" y="0"/>
                  </a:moveTo>
                  <a:lnTo>
                    <a:pt x="6350" y="2585720"/>
                  </a:lnTo>
                </a:path>
                <a:path w="7180580" h="2585720">
                  <a:moveTo>
                    <a:pt x="7173849" y="0"/>
                  </a:moveTo>
                  <a:lnTo>
                    <a:pt x="7173849" y="2585720"/>
                  </a:lnTo>
                </a:path>
                <a:path w="7180580" h="2585720">
                  <a:moveTo>
                    <a:pt x="0" y="6350"/>
                  </a:moveTo>
                  <a:lnTo>
                    <a:pt x="718019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8650" y="5560695"/>
              <a:ext cx="7180580" cy="0"/>
            </a:xfrm>
            <a:custGeom>
              <a:avLst/>
              <a:gdLst/>
              <a:ahLst/>
              <a:cxnLst/>
              <a:rect l="l" t="t" r="r" b="b"/>
              <a:pathLst>
                <a:path w="7180580">
                  <a:moveTo>
                    <a:pt x="0" y="0"/>
                  </a:moveTo>
                  <a:lnTo>
                    <a:pt x="718019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847414"/>
              </p:ext>
            </p:extLst>
          </p:nvPr>
        </p:nvGraphicFramePr>
        <p:xfrm>
          <a:off x="1369567" y="3103117"/>
          <a:ext cx="7022464" cy="2134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6629"/>
                <a:gridCol w="3505835"/>
              </a:tblGrid>
              <a:tr h="2134235">
                <a:tc>
                  <a:txBody>
                    <a:bodyPr/>
                    <a:lstStyle/>
                    <a:p>
                      <a:pPr marL="127000">
                        <a:lnSpc>
                          <a:spcPts val="2280"/>
                        </a:lnSpc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Procédure</a:t>
                      </a:r>
                      <a:r>
                        <a:rPr sz="24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(paramètres)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lang="fr-FR" sz="2400" dirty="0" smtClean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5" dirty="0" smtClean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(Valeurs)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2280"/>
                        </a:lnSpc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Procédure</a:t>
                      </a:r>
                      <a:r>
                        <a:rPr sz="24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(paramètres)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</a:pPr>
                      <a:r>
                        <a:rPr lang="fr-FR" sz="2400" dirty="0" smtClean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2400" spc="-55" dirty="0" smtClean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(Valeurs)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62927"/>
            <a:ext cx="9136380" cy="6222365"/>
            <a:chOff x="0" y="362927"/>
            <a:chExt cx="9136380" cy="6222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2927"/>
              <a:ext cx="9136379" cy="62222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5787" y="1631518"/>
              <a:ext cx="7740015" cy="4601210"/>
            </a:xfrm>
            <a:custGeom>
              <a:avLst/>
              <a:gdLst/>
              <a:ahLst/>
              <a:cxnLst/>
              <a:rect l="l" t="t" r="r" b="b"/>
              <a:pathLst>
                <a:path w="7740015" h="4601210">
                  <a:moveTo>
                    <a:pt x="7740015" y="0"/>
                  </a:moveTo>
                  <a:lnTo>
                    <a:pt x="0" y="0"/>
                  </a:lnTo>
                  <a:lnTo>
                    <a:pt x="0" y="4601210"/>
                  </a:lnTo>
                  <a:lnTo>
                    <a:pt x="7740015" y="4601210"/>
                  </a:lnTo>
                  <a:lnTo>
                    <a:pt x="7740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64819" y="1645158"/>
            <a:ext cx="7585075" cy="4126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choix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itérative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imposé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le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langage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programmation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.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effet,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certain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langage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tel que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Cobol</a:t>
            </a:r>
            <a:r>
              <a:rPr sz="24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et </a:t>
            </a:r>
            <a:r>
              <a:rPr sz="2400" spc="-125" dirty="0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sz="2400" spc="-12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Basic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pas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récursifs.</a:t>
            </a:r>
            <a:endParaRPr sz="2400">
              <a:latin typeface="Calibri"/>
              <a:cs typeface="Calibri"/>
            </a:endParaRPr>
          </a:p>
          <a:p>
            <a:pPr marL="12700" marR="7620" algn="just">
              <a:lnSpc>
                <a:spcPct val="100000"/>
              </a:lnSpc>
            </a:pP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D’autre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part,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seuls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problèmes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 se base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sur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relation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récurrence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avec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condition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sortie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peuvent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résolus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façon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 récursive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Outre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deux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contraintes,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les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choix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doit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fait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uniquement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fonction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des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critères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d’efficacité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(contraintes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temps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d’espace).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Si la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solution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récursive satisfait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ces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critères,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il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n’y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lieu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chercher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systématiquement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solution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itérative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2912" y="785812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11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60"/>
              </a:spcBef>
            </a:pPr>
            <a:r>
              <a:rPr spc="-5" dirty="0"/>
              <a:t>VI.</a:t>
            </a:r>
            <a:r>
              <a:rPr spc="-15" dirty="0"/>
              <a:t> </a:t>
            </a:r>
            <a:r>
              <a:rPr spc="-5" dirty="0"/>
              <a:t>choix</a:t>
            </a:r>
            <a:r>
              <a:rPr dirty="0"/>
              <a:t> </a:t>
            </a:r>
            <a:r>
              <a:rPr spc="-20" dirty="0"/>
              <a:t>entre</a:t>
            </a:r>
            <a:r>
              <a:rPr spc="5" dirty="0"/>
              <a:t> </a:t>
            </a:r>
            <a:r>
              <a:rPr spc="-15" dirty="0"/>
              <a:t>itération </a:t>
            </a:r>
            <a:r>
              <a:rPr spc="-5" dirty="0"/>
              <a:t>et</a:t>
            </a:r>
            <a:r>
              <a:rPr spc="-20" dirty="0"/>
              <a:t> </a:t>
            </a:r>
            <a:r>
              <a:rPr spc="-15" dirty="0"/>
              <a:t>récursivité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262252"/>
            <a:ext cx="7715250" cy="4155440"/>
          </a:xfrm>
          <a:custGeom>
            <a:avLst/>
            <a:gdLst/>
            <a:ahLst/>
            <a:cxnLst/>
            <a:rect l="l" t="t" r="r" b="b"/>
            <a:pathLst>
              <a:path w="7715250" h="4155440">
                <a:moveTo>
                  <a:pt x="7715250" y="0"/>
                </a:moveTo>
                <a:lnTo>
                  <a:pt x="0" y="0"/>
                </a:lnTo>
                <a:lnTo>
                  <a:pt x="0" y="4154932"/>
                </a:lnTo>
                <a:lnTo>
                  <a:pt x="7715250" y="4154932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275715"/>
            <a:ext cx="756158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problème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tours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Hanoi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grand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classique de 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récursivité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car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solution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itérative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est</a:t>
            </a:r>
            <a:r>
              <a:rPr sz="2400" spc="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relativement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complexe.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 dispose</a:t>
            </a:r>
            <a:r>
              <a:rPr sz="2400" spc="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trois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tour</a:t>
            </a:r>
            <a:r>
              <a:rPr sz="2400" spc="5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appelées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A,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C.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tour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contient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disque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empilés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ordre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taille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décroissante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qu’on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veut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déplacer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tour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même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ordre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respectant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contraintes suivantes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: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 peut déplacer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qu’un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disque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fois</a:t>
            </a:r>
            <a:endParaRPr sz="2400">
              <a:latin typeface="Calibri"/>
              <a:cs typeface="Calibri"/>
            </a:endParaRPr>
          </a:p>
          <a:p>
            <a:pPr marL="12700" marR="8255" algn="just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On ne peut empiler un disque que sur un disque plus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grand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ou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sur 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tour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vide.</a:t>
            </a:r>
            <a:endParaRPr sz="2400">
              <a:latin typeface="Calibri"/>
              <a:cs typeface="Calibri"/>
            </a:endParaRPr>
          </a:p>
          <a:p>
            <a:pPr marL="12700" marR="9525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Ainsi,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paramétrage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déplacer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sera</a:t>
            </a:r>
            <a:r>
              <a:rPr sz="2400" spc="509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21040" y="6427711"/>
            <a:ext cx="180340" cy="216535"/>
          </a:xfrm>
          <a:custGeom>
            <a:avLst/>
            <a:gdLst/>
            <a:ahLst/>
            <a:cxnLst/>
            <a:rect l="l" t="t" r="r" b="b"/>
            <a:pathLst>
              <a:path w="180340" h="216534">
                <a:moveTo>
                  <a:pt x="179997" y="0"/>
                </a:moveTo>
                <a:lnTo>
                  <a:pt x="0" y="0"/>
                </a:lnTo>
                <a:lnTo>
                  <a:pt x="0" y="216001"/>
                </a:lnTo>
                <a:lnTo>
                  <a:pt x="179997" y="216001"/>
                </a:lnTo>
                <a:lnTo>
                  <a:pt x="17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099" y="1285811"/>
            <a:ext cx="7644130" cy="4893945"/>
          </a:xfrm>
          <a:custGeom>
            <a:avLst/>
            <a:gdLst/>
            <a:ahLst/>
            <a:cxnLst/>
            <a:rect l="l" t="t" r="r" b="b"/>
            <a:pathLst>
              <a:path w="7644130" h="4893945">
                <a:moveTo>
                  <a:pt x="7643876" y="0"/>
                </a:moveTo>
                <a:lnTo>
                  <a:pt x="0" y="0"/>
                </a:lnTo>
                <a:lnTo>
                  <a:pt x="0" y="4893691"/>
                </a:lnTo>
                <a:lnTo>
                  <a:pt x="7643876" y="4893691"/>
                </a:lnTo>
                <a:lnTo>
                  <a:pt x="76438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9093" y="1299464"/>
            <a:ext cx="748855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déplacer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;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B,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C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Caractère)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Lorsque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tour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contient qu’un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seul disque,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solution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évidente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s’il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s’agit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réaliser un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transfert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tour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vers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B. ces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cas constitue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donc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condition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 sortie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(point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d’appui).</a:t>
            </a:r>
            <a:endParaRPr sz="240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Ainsi,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déplacer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disque,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vers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utilisant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éventuellement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C,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il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faut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1)</a:t>
            </a:r>
            <a:r>
              <a:rPr sz="2400" spc="13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Déplacer</a:t>
            </a:r>
            <a:r>
              <a:rPr sz="2400" spc="13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(n-1)</a:t>
            </a:r>
            <a:r>
              <a:rPr sz="2400" spc="13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disques</a:t>
            </a:r>
            <a:r>
              <a:rPr sz="2400" spc="13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13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 </a:t>
            </a:r>
            <a:r>
              <a:rPr sz="2400" spc="2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vers</a:t>
            </a:r>
            <a:r>
              <a:rPr sz="2400" spc="13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  </a:t>
            </a:r>
            <a:r>
              <a:rPr sz="2400" spc="2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</a:t>
            </a:r>
            <a:r>
              <a:rPr sz="2400" spc="13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utilisant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95364" y="4957953"/>
            <a:ext cx="1969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  <a:tab pos="960755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	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utilisant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9093" y="4226179"/>
            <a:ext cx="534543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éventuellement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325120" indent="-313055">
              <a:lnSpc>
                <a:spcPct val="100000"/>
              </a:lnSpc>
              <a:buAutoNum type="arabicParenR" startAt="2"/>
              <a:tabLst>
                <a:tab pos="32575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Réaliser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transfert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disque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12700" marR="43815">
              <a:lnSpc>
                <a:spcPct val="100000"/>
              </a:lnSpc>
              <a:buAutoNum type="arabicParenR" startAt="2"/>
              <a:tabLst>
                <a:tab pos="495300" algn="l"/>
                <a:tab pos="495934" algn="l"/>
                <a:tab pos="1833880" algn="l"/>
                <a:tab pos="2662555" algn="l"/>
                <a:tab pos="3837940" algn="l"/>
                <a:tab pos="4386580" algn="l"/>
                <a:tab pos="478472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Déplac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r	(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n-1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)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di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C	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 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éventuellement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21040" y="6427711"/>
            <a:ext cx="180340" cy="216535"/>
          </a:xfrm>
          <a:custGeom>
            <a:avLst/>
            <a:gdLst/>
            <a:ahLst/>
            <a:cxnLst/>
            <a:rect l="l" t="t" r="r" b="b"/>
            <a:pathLst>
              <a:path w="180340" h="216534">
                <a:moveTo>
                  <a:pt x="179997" y="0"/>
                </a:moveTo>
                <a:lnTo>
                  <a:pt x="0" y="0"/>
                </a:lnTo>
                <a:lnTo>
                  <a:pt x="0" y="216001"/>
                </a:lnTo>
                <a:lnTo>
                  <a:pt x="179997" y="216001"/>
                </a:lnTo>
                <a:lnTo>
                  <a:pt x="17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7249" y="1500250"/>
            <a:ext cx="6929755" cy="3785870"/>
          </a:xfrm>
          <a:custGeom>
            <a:avLst/>
            <a:gdLst/>
            <a:ahLst/>
            <a:cxnLst/>
            <a:rect l="l" t="t" r="r" b="b"/>
            <a:pathLst>
              <a:path w="6929755" h="3785870">
                <a:moveTo>
                  <a:pt x="6929501" y="0"/>
                </a:moveTo>
                <a:lnTo>
                  <a:pt x="0" y="0"/>
                </a:lnTo>
                <a:lnTo>
                  <a:pt x="0" y="3785616"/>
                </a:lnTo>
                <a:lnTo>
                  <a:pt x="6929501" y="3785616"/>
                </a:lnTo>
                <a:lnTo>
                  <a:pt x="6929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36369" y="1532001"/>
            <a:ext cx="637984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Procédure</a:t>
            </a:r>
            <a:r>
              <a:rPr sz="2400" b="1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déplacer</a:t>
            </a:r>
            <a:r>
              <a:rPr sz="24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B,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C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caractère)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 marR="439039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(n=1)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(A,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'-&gt;',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Déplacer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(n-1,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A,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C,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(A,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'-&gt;',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Déplacer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(n-1,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C,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B,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FinSi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21040" y="6427711"/>
            <a:ext cx="180340" cy="216535"/>
          </a:xfrm>
          <a:custGeom>
            <a:avLst/>
            <a:gdLst/>
            <a:ahLst/>
            <a:cxnLst/>
            <a:rect l="l" t="t" r="r" b="b"/>
            <a:pathLst>
              <a:path w="180340" h="216534">
                <a:moveTo>
                  <a:pt x="179997" y="0"/>
                </a:moveTo>
                <a:lnTo>
                  <a:pt x="0" y="0"/>
                </a:lnTo>
                <a:lnTo>
                  <a:pt x="0" y="216001"/>
                </a:lnTo>
                <a:lnTo>
                  <a:pt x="179997" y="216001"/>
                </a:lnTo>
                <a:lnTo>
                  <a:pt x="17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1099</Words>
  <Application>Microsoft Office PowerPoint</Application>
  <PresentationFormat>Affichage à l'écran (4:3)</PresentationFormat>
  <Paragraphs>129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14</vt:i4>
      </vt:variant>
    </vt:vector>
  </HeadingPairs>
  <TitlesOfParts>
    <vt:vector size="16" baseType="lpstr">
      <vt:lpstr>Office Theme</vt:lpstr>
      <vt:lpstr>1_Office Theme</vt:lpstr>
      <vt:lpstr>Récursivité</vt:lpstr>
      <vt:lpstr>Objectif</vt:lpstr>
      <vt:lpstr>I. Notion de récursivité</vt:lpstr>
      <vt:lpstr>II. Etude d’un exemple : la fonction factorielle</vt:lpstr>
      <vt:lpstr>III. Mécanisme de fonctionnement de récursivité</vt:lpstr>
      <vt:lpstr>IV. Performances de la récursivité</vt:lpstr>
      <vt:lpstr>IV. Performances de la récursivité</vt:lpstr>
      <vt:lpstr>IV. Performances de la récursivité</vt:lpstr>
      <vt:lpstr>IV. Performances de la récursivité</vt:lpstr>
      <vt:lpstr>V. récursivité indirecte ou croisé</vt:lpstr>
      <vt:lpstr>VI. choix entre itération et récursivité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hamdi</dc:creator>
  <cp:lastModifiedBy>PC ASUS</cp:lastModifiedBy>
  <cp:revision>9</cp:revision>
  <dcterms:created xsi:type="dcterms:W3CDTF">2021-09-26T10:44:14Z</dcterms:created>
  <dcterms:modified xsi:type="dcterms:W3CDTF">2022-11-07T13:04:19Z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2018-11-27T00:00:00Z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2021-09-26T00:00:00Z</vt:filetime>
  </property>
</Properties>
</file>