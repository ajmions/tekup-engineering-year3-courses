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77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2" r:id="rId31"/>
    <p:sldId id="293" r:id="rId32"/>
    <p:sldId id="294" r:id="rId33"/>
    <p:sldId id="295" r:id="rId34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>
        <p:scale>
          <a:sx n="75" d="100"/>
          <a:sy n="75" d="100"/>
        </p:scale>
        <p:origin x="-1230" y="1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6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6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66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240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288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336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384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14432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17480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20528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23576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26624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2967227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32720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35768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0" y="38816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41864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0" y="44912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47960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0" y="5100828"/>
            <a:ext cx="9144000" cy="91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0" y="5405628"/>
            <a:ext cx="9144000" cy="91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0" y="5710428"/>
            <a:ext cx="9144000" cy="91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0" y="6015228"/>
            <a:ext cx="9144000" cy="91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0" y="6320028"/>
            <a:ext cx="9144000" cy="91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00227" y="0"/>
            <a:ext cx="9143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05027" y="0"/>
            <a:ext cx="9143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09827" y="0"/>
            <a:ext cx="9143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214627" y="0"/>
            <a:ext cx="9143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519427" y="0"/>
            <a:ext cx="9143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824227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2129027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433827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2738627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3043427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33482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36530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39578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42626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45674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48722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51770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54818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57866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60914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63962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67010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0058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73106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76154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79202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82250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5298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834628" y="0"/>
            <a:ext cx="9144" cy="6477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14527" y="1037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2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509016" y="1030224"/>
            <a:ext cx="201168" cy="2026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90627"/>
            <a:ext cx="7273925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66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1044" y="1403350"/>
            <a:ext cx="7657465" cy="2835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58B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pPr defTabSz="801590"/>
            <a:endParaRPr>
              <a:solidFill>
                <a:prstClr val="black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9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30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30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30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9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30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31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31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9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30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-54299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pPr defTabSz="801590"/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069647" y="1542034"/>
            <a:ext cx="5331153" cy="1243927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/>
          <a:p>
            <a:pPr marL="12697">
              <a:spcBef>
                <a:spcPts val="100"/>
              </a:spcBef>
            </a:pPr>
            <a:r>
              <a:rPr lang="fr-FR" sz="4000" b="1" spc="-5" dirty="0" smtClean="0"/>
              <a:t>Structures de Contrôle</a:t>
            </a:r>
            <a:endParaRPr sz="40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8231123" y="6433735"/>
            <a:ext cx="173990" cy="237396"/>
          </a:xfrm>
          <a:prstGeom prst="rect">
            <a:avLst/>
          </a:prstGeom>
        </p:spPr>
        <p:txBody>
          <a:bodyPr vert="horz" wrap="square" lIns="0" tIns="13331" rIns="0" bIns="0" rtlCol="0">
            <a:spAutoFit/>
          </a:bodyPr>
          <a:lstStyle/>
          <a:p>
            <a:pPr marL="38089" defTabSz="801590"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pPr marL="38089" defTabSz="801590">
                <a:spcBef>
                  <a:spcPts val="105"/>
                </a:spcBef>
              </a:pPr>
              <a:t>1</a:t>
            </a:fld>
            <a:endParaRPr sz="14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05456" y="5565140"/>
            <a:ext cx="4013835" cy="566178"/>
          </a:xfrm>
          <a:prstGeom prst="rect">
            <a:avLst/>
          </a:prstGeom>
        </p:spPr>
        <p:txBody>
          <a:bodyPr vert="horz" wrap="square" lIns="0" tIns="12062" rIns="0" bIns="0" rtlCol="0">
            <a:spAutoFit/>
          </a:bodyPr>
          <a:lstStyle/>
          <a:p>
            <a:pPr marL="12697" defTabSz="801590">
              <a:spcBef>
                <a:spcPts val="95"/>
              </a:spcBef>
            </a:pPr>
            <a:r>
              <a:rPr spc="-5" dirty="0" err="1">
                <a:solidFill>
                  <a:srgbClr val="40458B"/>
                </a:solidFill>
                <a:latin typeface="Tahoma"/>
                <a:cs typeface="Tahoma"/>
              </a:rPr>
              <a:t>Année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lang="fr-FR" spc="-10" dirty="0">
                <a:solidFill>
                  <a:srgbClr val="40458B"/>
                </a:solidFill>
                <a:latin typeface="Tahoma"/>
                <a:cs typeface="Tahoma"/>
              </a:rPr>
              <a:t>U</a:t>
            </a:r>
            <a:r>
              <a:rPr spc="-10" dirty="0" err="1">
                <a:solidFill>
                  <a:srgbClr val="40458B"/>
                </a:solidFill>
                <a:latin typeface="Tahoma"/>
                <a:cs typeface="Tahoma"/>
              </a:rPr>
              <a:t>niversitaire</a:t>
            </a:r>
            <a:r>
              <a:rPr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22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/20</a:t>
            </a:r>
            <a:r>
              <a:rPr lang="fr-FR" spc="-5" dirty="0">
                <a:solidFill>
                  <a:srgbClr val="40458B"/>
                </a:solidFill>
                <a:latin typeface="Tahoma"/>
                <a:cs typeface="Tahoma"/>
              </a:rPr>
              <a:t>23</a:t>
            </a:r>
            <a:r>
              <a:rPr dirty="0" smtClean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–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458B"/>
                </a:solidFill>
                <a:latin typeface="Tahoma"/>
                <a:cs typeface="Tahoma"/>
              </a:rPr>
              <a:t>Semestre</a:t>
            </a:r>
            <a:r>
              <a:rPr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33"/>
          <p:cNvSpPr txBox="1">
            <a:spLocks/>
          </p:cNvSpPr>
          <p:nvPr/>
        </p:nvSpPr>
        <p:spPr>
          <a:xfrm>
            <a:off x="3547400" y="4282670"/>
            <a:ext cx="3013944" cy="643763"/>
          </a:xfrm>
          <a:prstGeom prst="rect">
            <a:avLst/>
          </a:prstGeom>
        </p:spPr>
        <p:txBody>
          <a:bodyPr vert="horz" wrap="square" lIns="0" tIns="12697" rIns="0" bIns="0" rtlCol="0">
            <a:spAutoFit/>
          </a:bodyPr>
          <a:lstStyle>
            <a:lvl1pPr>
              <a:defRPr sz="4100" b="1" i="0">
                <a:solidFill>
                  <a:srgbClr val="660066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697" defTabSz="801590">
              <a:spcBef>
                <a:spcPts val="100"/>
              </a:spcBef>
            </a:pPr>
            <a:r>
              <a:rPr lang="fr-FR" spc="-5" dirty="0" smtClean="0"/>
              <a:t>CHAP:2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118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7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27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27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27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7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28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28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28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8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28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0" y="22860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688340" y="90627"/>
            <a:ext cx="7273925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/>
              <a:t>Les</a:t>
            </a:r>
            <a:r>
              <a:rPr spc="-30" dirty="0"/>
              <a:t> </a:t>
            </a:r>
            <a:r>
              <a:rPr lang="fr-FR" dirty="0"/>
              <a:t>Structures </a:t>
            </a:r>
            <a:r>
              <a:rPr lang="fr-FR" spc="-5" dirty="0"/>
              <a:t>décisionnelles </a:t>
            </a:r>
            <a:r>
              <a:rPr lang="fr-FR" dirty="0"/>
              <a:t>ou</a:t>
            </a:r>
            <a:r>
              <a:rPr lang="fr-FR" spc="-90" dirty="0"/>
              <a:t> </a:t>
            </a:r>
            <a:r>
              <a:rPr lang="fr-FR" spc="-5" dirty="0" smtClean="0"/>
              <a:t>instructions </a:t>
            </a:r>
            <a:r>
              <a:rPr lang="fr-FR" spc="-5" dirty="0"/>
              <a:t>conditionnelles</a:t>
            </a:r>
            <a:r>
              <a:rPr lang="fr-FR" dirty="0"/>
              <a:t/>
            </a:r>
            <a:br>
              <a:rPr lang="fr-FR" dirty="0"/>
            </a:br>
            <a:endParaRPr spc="-5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1145844" y="2042287"/>
            <a:ext cx="2940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660066"/>
                </a:solidFill>
                <a:latin typeface="Tahoma"/>
                <a:cs typeface="Tahoma"/>
              </a:rPr>
              <a:t>-</a:t>
            </a:r>
            <a:r>
              <a:rPr sz="3200" spc="-4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lang="fr-FR" sz="3200" spc="-5" dirty="0" smtClean="0">
                <a:solidFill>
                  <a:srgbClr val="660066"/>
                </a:solidFill>
                <a:latin typeface="Tahoma"/>
                <a:cs typeface="Tahoma"/>
              </a:rPr>
              <a:t>SI</a:t>
            </a:r>
            <a:r>
              <a:rPr sz="3200" spc="-5" dirty="0" smtClean="0">
                <a:solidFill>
                  <a:srgbClr val="660066"/>
                </a:solidFill>
                <a:latin typeface="Tahoma"/>
                <a:cs typeface="Tahoma"/>
              </a:rPr>
              <a:t>...</a:t>
            </a:r>
            <a:r>
              <a:rPr lang="fr-FR" sz="3200" spc="-5" dirty="0" smtClean="0">
                <a:solidFill>
                  <a:srgbClr val="660066"/>
                </a:solidFill>
                <a:latin typeface="Tahoma"/>
                <a:cs typeface="Tahoma"/>
              </a:rPr>
              <a:t>ALORS</a:t>
            </a:r>
            <a:r>
              <a:rPr sz="3200" spc="-5" dirty="0" smtClean="0">
                <a:solidFill>
                  <a:srgbClr val="660066"/>
                </a:solidFill>
                <a:latin typeface="Tahoma"/>
                <a:cs typeface="Tahoma"/>
              </a:rPr>
              <a:t>-</a:t>
            </a:r>
            <a:endParaRPr sz="32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35682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Structures </a:t>
            </a:r>
            <a:r>
              <a:rPr spc="-5" dirty="0"/>
              <a:t>décisionnelles </a:t>
            </a:r>
            <a:r>
              <a:rPr dirty="0"/>
              <a:t>ou</a:t>
            </a:r>
            <a:r>
              <a:rPr spc="-90" dirty="0"/>
              <a:t> </a:t>
            </a:r>
            <a:r>
              <a:rPr spc="-5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578865"/>
            <a:ext cx="27139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660066"/>
                </a:solidFill>
                <a:latin typeface="Arial"/>
                <a:cs typeface="Arial"/>
              </a:rPr>
              <a:t>conditionnelles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1479245"/>
            <a:ext cx="7606665" cy="4828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265" indent="-203200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Il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arrive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fréquemment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dans la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vie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courante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que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notre</a:t>
            </a:r>
            <a:r>
              <a:rPr sz="2000" spc="-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conduite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soit déterminée par un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choix entre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deux</a:t>
            </a:r>
            <a:r>
              <a:rPr sz="2000" spc="-8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possibilités.</a:t>
            </a:r>
            <a:endParaRPr sz="2000">
              <a:latin typeface="Tahoma"/>
              <a:cs typeface="Tahoma"/>
            </a:endParaRPr>
          </a:p>
          <a:p>
            <a:pPr marL="292735" indent="-280670">
              <a:lnSpc>
                <a:spcPct val="100000"/>
              </a:lnSpc>
              <a:spcBef>
                <a:spcPts val="1200"/>
              </a:spcBef>
              <a:buSzPct val="95000"/>
              <a:buFont typeface="Wingdings"/>
              <a:buChar char=""/>
              <a:tabLst>
                <a:tab pos="293370" algn="l"/>
              </a:tabLst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Par exemple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  <a:spcBef>
                <a:spcPts val="107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volant</a:t>
            </a:r>
            <a:endParaRPr sz="1800">
              <a:latin typeface="Tahoma"/>
              <a:cs typeface="Tahoma"/>
            </a:endParaRPr>
          </a:p>
          <a:p>
            <a:pPr marL="926465" marR="4565650" indent="-457200">
              <a:lnSpc>
                <a:spcPct val="15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Si (le feu est rouge) alors  Je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freine</a:t>
            </a:r>
            <a:endParaRPr sz="18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8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Je poursuis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ma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route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210"/>
              </a:spcBef>
              <a:buSzPct val="95000"/>
              <a:buFont typeface="Wingdings"/>
              <a:buChar char=""/>
              <a:tabLst>
                <a:tab pos="215900" algn="l"/>
              </a:tabLst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Cette situation est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courante en algorithmique. L’instruction  conditionnelle exprime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cette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possibilité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choix. Elle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est liée à 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l’idée qu’une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instruction ne s’exécute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que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si une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condition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C est 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vérifiée. Si la condition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n’est pas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vérifiée, c’est une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autre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instruction  qui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exécutée.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200" y="2667000"/>
            <a:ext cx="3657600" cy="2057400"/>
          </a:xfrm>
          <a:custGeom>
            <a:avLst/>
            <a:gdLst/>
            <a:ahLst/>
            <a:cxnLst/>
            <a:rect l="l" t="t" r="r" b="b"/>
            <a:pathLst>
              <a:path w="3657600" h="2057400">
                <a:moveTo>
                  <a:pt x="0" y="2057400"/>
                </a:moveTo>
                <a:lnTo>
                  <a:pt x="3657600" y="2057400"/>
                </a:lnTo>
                <a:lnTo>
                  <a:pt x="3657600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798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ahoma"/>
                <a:cs typeface="Tahoma"/>
              </a:rPr>
              <a:t>Structure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conditionnelle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3400425"/>
            <a:ext cx="7584440" cy="222059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18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La condition doit être formulée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manière 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n’avoir que deux réponses</a:t>
            </a:r>
            <a:r>
              <a:rPr sz="1800" spc="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722630" lvl="1" indent="-254000">
              <a:lnSpc>
                <a:spcPct val="100000"/>
              </a:lnSpc>
              <a:spcBef>
                <a:spcPts val="1080"/>
              </a:spcBef>
              <a:buClr>
                <a:srgbClr val="40458B"/>
              </a:buClr>
              <a:buFont typeface="Wingdings"/>
              <a:buChar char=""/>
              <a:tabLst>
                <a:tab pos="723265" algn="l"/>
              </a:tabLst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Oui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 la condition est vérifiée, exécuter</a:t>
            </a:r>
            <a:r>
              <a:rPr sz="1800" spc="6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action1</a:t>
            </a:r>
            <a:endParaRPr sz="1800">
              <a:latin typeface="Tahoma"/>
              <a:cs typeface="Tahoma"/>
            </a:endParaRPr>
          </a:p>
          <a:p>
            <a:pPr marL="722630" lvl="1" indent="-254000">
              <a:lnSpc>
                <a:spcPct val="100000"/>
              </a:lnSpc>
              <a:spcBef>
                <a:spcPts val="1080"/>
              </a:spcBef>
              <a:buClr>
                <a:srgbClr val="40458B"/>
              </a:buClr>
              <a:buFont typeface="Wingdings"/>
              <a:buChar char=""/>
              <a:tabLst>
                <a:tab pos="723265" algn="l"/>
              </a:tabLst>
            </a:pP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Non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: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la condition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n’est pas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vérifiée, exécuter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Action2</a:t>
            </a:r>
            <a:endParaRPr sz="1800">
              <a:latin typeface="Tahoma"/>
              <a:cs typeface="Tahoma"/>
            </a:endParaRPr>
          </a:p>
          <a:p>
            <a:pPr marL="12700" marR="422275">
              <a:lnSpc>
                <a:spcPct val="100000"/>
              </a:lnSpc>
              <a:spcBef>
                <a:spcPts val="1080"/>
              </a:spcBef>
              <a:buSzPct val="94444"/>
              <a:buFont typeface="Wingdings"/>
              <a:buChar char=""/>
              <a:tabLst>
                <a:tab pos="2660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Action1 et/ou Action2 peuvent être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séquences d’instructions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des 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instructions conditionnelles, 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alors </a:t>
            </a:r>
            <a:r>
              <a:rPr sz="1800" spc="-5" dirty="0">
                <a:solidFill>
                  <a:srgbClr val="A40020"/>
                </a:solidFill>
                <a:latin typeface="Tahoma"/>
                <a:cs typeface="Tahoma"/>
              </a:rPr>
              <a:t>d’instruction conditionnelle  imbriquée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1524000"/>
            <a:ext cx="2590800" cy="1777364"/>
          </a:xfrm>
          <a:custGeom>
            <a:avLst/>
            <a:gdLst/>
            <a:ahLst/>
            <a:cxnLst/>
            <a:rect l="l" t="t" r="r" b="b"/>
            <a:pathLst>
              <a:path w="2590800" h="1777364">
                <a:moveTo>
                  <a:pt x="0" y="1776984"/>
                </a:moveTo>
                <a:lnTo>
                  <a:pt x="2590800" y="1776984"/>
                </a:lnTo>
                <a:lnTo>
                  <a:pt x="2590800" y="0"/>
                </a:lnTo>
                <a:lnTo>
                  <a:pt x="0" y="0"/>
                </a:lnTo>
                <a:lnTo>
                  <a:pt x="0" y="1776984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13628" y="1555445"/>
            <a:ext cx="2125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Si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condition</a:t>
            </a:r>
            <a:r>
              <a:rPr sz="2200" spc="-6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alors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5802" y="1891411"/>
            <a:ext cx="93789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Acti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3628" y="2226691"/>
            <a:ext cx="7073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Sinon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5802" y="2561970"/>
            <a:ext cx="93789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Acti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n2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3628" y="2896946"/>
            <a:ext cx="6661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r>
              <a:rPr sz="2200" spc="-8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si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57400" y="1981200"/>
            <a:ext cx="2590800" cy="1106805"/>
          </a:xfrm>
          <a:custGeom>
            <a:avLst/>
            <a:gdLst/>
            <a:ahLst/>
            <a:cxnLst/>
            <a:rect l="l" t="t" r="r" b="b"/>
            <a:pathLst>
              <a:path w="2590800" h="1106805">
                <a:moveTo>
                  <a:pt x="0" y="1106424"/>
                </a:moveTo>
                <a:lnTo>
                  <a:pt x="2590800" y="1106424"/>
                </a:lnTo>
                <a:lnTo>
                  <a:pt x="2590800" y="0"/>
                </a:lnTo>
                <a:lnTo>
                  <a:pt x="0" y="0"/>
                </a:lnTo>
                <a:lnTo>
                  <a:pt x="0" y="1106424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36394" y="2013330"/>
            <a:ext cx="21259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Si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condition </a:t>
            </a:r>
            <a:r>
              <a:rPr sz="2200" spc="-5" dirty="0">
                <a:solidFill>
                  <a:srgbClr val="A40020"/>
                </a:solidFill>
                <a:latin typeface="Tahoma"/>
                <a:cs typeface="Tahoma"/>
              </a:rPr>
              <a:t>alors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8567" y="2348611"/>
            <a:ext cx="93789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Acti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36394" y="2683891"/>
            <a:ext cx="6661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Fin</a:t>
            </a:r>
            <a:r>
              <a:rPr sz="2200" spc="-8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A40020"/>
                </a:solidFill>
                <a:latin typeface="Tahoma"/>
                <a:cs typeface="Tahoma"/>
              </a:rPr>
              <a:t>si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5832" y="914244"/>
            <a:ext cx="2221230" cy="1592580"/>
            <a:chOff x="-5832" y="914244"/>
            <a:chExt cx="2221230" cy="1592580"/>
          </a:xfrm>
        </p:grpSpPr>
        <p:sp>
          <p:nvSpPr>
            <p:cNvPr id="15" name="object 15"/>
            <p:cNvSpPr/>
            <p:nvPr/>
          </p:nvSpPr>
          <p:spPr>
            <a:xfrm>
              <a:off x="-1260" y="918816"/>
              <a:ext cx="2211705" cy="1372870"/>
            </a:xfrm>
            <a:custGeom>
              <a:avLst/>
              <a:gdLst/>
              <a:ahLst/>
              <a:cxnLst/>
              <a:rect l="l" t="t" r="r" b="b"/>
              <a:pathLst>
                <a:path w="2211705" h="1372870">
                  <a:moveTo>
                    <a:pt x="1351431" y="0"/>
                  </a:moveTo>
                  <a:lnTo>
                    <a:pt x="1302563" y="4314"/>
                  </a:lnTo>
                  <a:lnTo>
                    <a:pt x="1256183" y="17437"/>
                  </a:lnTo>
                  <a:lnTo>
                    <a:pt x="1214089" y="38858"/>
                  </a:lnTo>
                  <a:lnTo>
                    <a:pt x="1178079" y="68066"/>
                  </a:lnTo>
                  <a:lnTo>
                    <a:pt x="1149950" y="104549"/>
                  </a:lnTo>
                  <a:lnTo>
                    <a:pt x="1135391" y="93289"/>
                  </a:lnTo>
                  <a:lnTo>
                    <a:pt x="1086551" y="65179"/>
                  </a:lnTo>
                  <a:lnTo>
                    <a:pt x="1041183" y="49029"/>
                  </a:lnTo>
                  <a:lnTo>
                    <a:pt x="994480" y="40195"/>
                  </a:lnTo>
                  <a:lnTo>
                    <a:pt x="947483" y="38410"/>
                  </a:lnTo>
                  <a:lnTo>
                    <a:pt x="901234" y="43408"/>
                  </a:lnTo>
                  <a:lnTo>
                    <a:pt x="856775" y="54922"/>
                  </a:lnTo>
                  <a:lnTo>
                    <a:pt x="815146" y="72686"/>
                  </a:lnTo>
                  <a:lnTo>
                    <a:pt x="777391" y="96433"/>
                  </a:lnTo>
                  <a:lnTo>
                    <a:pt x="744551" y="125896"/>
                  </a:lnTo>
                  <a:lnTo>
                    <a:pt x="717667" y="160810"/>
                  </a:lnTo>
                  <a:lnTo>
                    <a:pt x="676404" y="143392"/>
                  </a:lnTo>
                  <a:lnTo>
                    <a:pt x="633055" y="130834"/>
                  </a:lnTo>
                  <a:lnTo>
                    <a:pt x="588219" y="123237"/>
                  </a:lnTo>
                  <a:lnTo>
                    <a:pt x="542496" y="120706"/>
                  </a:lnTo>
                  <a:lnTo>
                    <a:pt x="496484" y="123345"/>
                  </a:lnTo>
                  <a:lnTo>
                    <a:pt x="446408" y="132291"/>
                  </a:lnTo>
                  <a:lnTo>
                    <a:pt x="399598" y="146944"/>
                  </a:lnTo>
                  <a:lnTo>
                    <a:pt x="356512" y="166796"/>
                  </a:lnTo>
                  <a:lnTo>
                    <a:pt x="317607" y="191338"/>
                  </a:lnTo>
                  <a:lnTo>
                    <a:pt x="283340" y="220063"/>
                  </a:lnTo>
                  <a:lnTo>
                    <a:pt x="254168" y="252462"/>
                  </a:lnTo>
                  <a:lnTo>
                    <a:pt x="230550" y="288025"/>
                  </a:lnTo>
                  <a:lnTo>
                    <a:pt x="212941" y="326246"/>
                  </a:lnTo>
                  <a:lnTo>
                    <a:pt x="201800" y="366616"/>
                  </a:lnTo>
                  <a:lnTo>
                    <a:pt x="197585" y="408625"/>
                  </a:lnTo>
                  <a:lnTo>
                    <a:pt x="200752" y="451767"/>
                  </a:lnTo>
                  <a:lnTo>
                    <a:pt x="198897" y="456085"/>
                  </a:lnTo>
                  <a:lnTo>
                    <a:pt x="147804" y="465850"/>
                  </a:lnTo>
                  <a:lnTo>
                    <a:pt x="101401" y="485152"/>
                  </a:lnTo>
                  <a:lnTo>
                    <a:pt x="61496" y="513002"/>
                  </a:lnTo>
                  <a:lnTo>
                    <a:pt x="29900" y="548414"/>
                  </a:lnTo>
                  <a:lnTo>
                    <a:pt x="9212" y="588309"/>
                  </a:lnTo>
                  <a:lnTo>
                    <a:pt x="0" y="629783"/>
                  </a:lnTo>
                  <a:lnTo>
                    <a:pt x="1786" y="671291"/>
                  </a:lnTo>
                  <a:lnTo>
                    <a:pt x="14093" y="711286"/>
                  </a:lnTo>
                  <a:lnTo>
                    <a:pt x="36445" y="748222"/>
                  </a:lnTo>
                  <a:lnTo>
                    <a:pt x="68364" y="780553"/>
                  </a:lnTo>
                  <a:lnTo>
                    <a:pt x="109374" y="806732"/>
                  </a:lnTo>
                  <a:lnTo>
                    <a:pt x="80201" y="839531"/>
                  </a:lnTo>
                  <a:lnTo>
                    <a:pt x="60340" y="876439"/>
                  </a:lnTo>
                  <a:lnTo>
                    <a:pt x="50325" y="916085"/>
                  </a:lnTo>
                  <a:lnTo>
                    <a:pt x="50695" y="957100"/>
                  </a:lnTo>
                  <a:lnTo>
                    <a:pt x="62506" y="999288"/>
                  </a:lnTo>
                  <a:lnTo>
                    <a:pt x="84641" y="1036908"/>
                  </a:lnTo>
                  <a:lnTo>
                    <a:pt x="115616" y="1068970"/>
                  </a:lnTo>
                  <a:lnTo>
                    <a:pt x="153945" y="1094483"/>
                  </a:lnTo>
                  <a:lnTo>
                    <a:pt x="198141" y="1112456"/>
                  </a:lnTo>
                  <a:lnTo>
                    <a:pt x="246721" y="1121898"/>
                  </a:lnTo>
                  <a:lnTo>
                    <a:pt x="298199" y="1121819"/>
                  </a:lnTo>
                  <a:lnTo>
                    <a:pt x="302377" y="1127788"/>
                  </a:lnTo>
                  <a:lnTo>
                    <a:pt x="330533" y="1162441"/>
                  </a:lnTo>
                  <a:lnTo>
                    <a:pt x="362806" y="1193177"/>
                  </a:lnTo>
                  <a:lnTo>
                    <a:pt x="398689" y="1219890"/>
                  </a:lnTo>
                  <a:lnTo>
                    <a:pt x="437672" y="1242472"/>
                  </a:lnTo>
                  <a:lnTo>
                    <a:pt x="479249" y="1260817"/>
                  </a:lnTo>
                  <a:lnTo>
                    <a:pt x="522911" y="1274818"/>
                  </a:lnTo>
                  <a:lnTo>
                    <a:pt x="568152" y="1284368"/>
                  </a:lnTo>
                  <a:lnTo>
                    <a:pt x="614462" y="1289360"/>
                  </a:lnTo>
                  <a:lnTo>
                    <a:pt x="661334" y="1289687"/>
                  </a:lnTo>
                  <a:lnTo>
                    <a:pt x="708260" y="1285243"/>
                  </a:lnTo>
                  <a:lnTo>
                    <a:pt x="754733" y="1275921"/>
                  </a:lnTo>
                  <a:lnTo>
                    <a:pt x="800244" y="1261614"/>
                  </a:lnTo>
                  <a:lnTo>
                    <a:pt x="844286" y="1242215"/>
                  </a:lnTo>
                  <a:lnTo>
                    <a:pt x="873452" y="1274147"/>
                  </a:lnTo>
                  <a:lnTo>
                    <a:pt x="907280" y="1302201"/>
                  </a:lnTo>
                  <a:lnTo>
                    <a:pt x="945230" y="1326038"/>
                  </a:lnTo>
                  <a:lnTo>
                    <a:pt x="986761" y="1345314"/>
                  </a:lnTo>
                  <a:lnTo>
                    <a:pt x="1031332" y="1359690"/>
                  </a:lnTo>
                  <a:lnTo>
                    <a:pt x="1081263" y="1369161"/>
                  </a:lnTo>
                  <a:lnTo>
                    <a:pt x="1131034" y="1372283"/>
                  </a:lnTo>
                  <a:lnTo>
                    <a:pt x="1179980" y="1369357"/>
                  </a:lnTo>
                  <a:lnTo>
                    <a:pt x="1227436" y="1360685"/>
                  </a:lnTo>
                  <a:lnTo>
                    <a:pt x="1272736" y="1346567"/>
                  </a:lnTo>
                  <a:lnTo>
                    <a:pt x="1315214" y="1327304"/>
                  </a:lnTo>
                  <a:lnTo>
                    <a:pt x="1354207" y="1303198"/>
                  </a:lnTo>
                  <a:lnTo>
                    <a:pt x="1389049" y="1274550"/>
                  </a:lnTo>
                  <a:lnTo>
                    <a:pt x="1419074" y="1241661"/>
                  </a:lnTo>
                  <a:lnTo>
                    <a:pt x="1443617" y="1204832"/>
                  </a:lnTo>
                  <a:lnTo>
                    <a:pt x="1462014" y="1164364"/>
                  </a:lnTo>
                  <a:lnTo>
                    <a:pt x="1497947" y="1180584"/>
                  </a:lnTo>
                  <a:lnTo>
                    <a:pt x="1536023" y="1192399"/>
                  </a:lnTo>
                  <a:lnTo>
                    <a:pt x="1575671" y="1199689"/>
                  </a:lnTo>
                  <a:lnTo>
                    <a:pt x="1616319" y="1202337"/>
                  </a:lnTo>
                  <a:lnTo>
                    <a:pt x="1669552" y="1198648"/>
                  </a:lnTo>
                  <a:lnTo>
                    <a:pt x="1719724" y="1187369"/>
                  </a:lnTo>
                  <a:lnTo>
                    <a:pt x="1765995" y="1169199"/>
                  </a:lnTo>
                  <a:lnTo>
                    <a:pt x="1807526" y="1144836"/>
                  </a:lnTo>
                  <a:lnTo>
                    <a:pt x="1843474" y="1114978"/>
                  </a:lnTo>
                  <a:lnTo>
                    <a:pt x="1873000" y="1080323"/>
                  </a:lnTo>
                  <a:lnTo>
                    <a:pt x="1895264" y="1041569"/>
                  </a:lnTo>
                  <a:lnTo>
                    <a:pt x="1909424" y="999415"/>
                  </a:lnTo>
                  <a:lnTo>
                    <a:pt x="1914642" y="954560"/>
                  </a:lnTo>
                  <a:lnTo>
                    <a:pt x="1958179" y="946854"/>
                  </a:lnTo>
                  <a:lnTo>
                    <a:pt x="2000049" y="934541"/>
                  </a:lnTo>
                  <a:lnTo>
                    <a:pt x="2039729" y="917823"/>
                  </a:lnTo>
                  <a:lnTo>
                    <a:pt x="2076694" y="896902"/>
                  </a:lnTo>
                  <a:lnTo>
                    <a:pt x="2115014" y="868048"/>
                  </a:lnTo>
                  <a:lnTo>
                    <a:pt x="2147126" y="835598"/>
                  </a:lnTo>
                  <a:lnTo>
                    <a:pt x="2172931" y="800185"/>
                  </a:lnTo>
                  <a:lnTo>
                    <a:pt x="2192331" y="762446"/>
                  </a:lnTo>
                  <a:lnTo>
                    <a:pt x="2205225" y="723014"/>
                  </a:lnTo>
                  <a:lnTo>
                    <a:pt x="2211516" y="682524"/>
                  </a:lnTo>
                  <a:lnTo>
                    <a:pt x="2211105" y="641612"/>
                  </a:lnTo>
                  <a:lnTo>
                    <a:pt x="2203891" y="600913"/>
                  </a:lnTo>
                  <a:lnTo>
                    <a:pt x="2189776" y="561061"/>
                  </a:lnTo>
                  <a:lnTo>
                    <a:pt x="2168662" y="522691"/>
                  </a:lnTo>
                  <a:lnTo>
                    <a:pt x="2140448" y="486438"/>
                  </a:lnTo>
                  <a:lnTo>
                    <a:pt x="2144018" y="478980"/>
                  </a:lnTo>
                  <a:lnTo>
                    <a:pt x="2147290" y="471452"/>
                  </a:lnTo>
                  <a:lnTo>
                    <a:pt x="2150253" y="463828"/>
                  </a:lnTo>
                  <a:lnTo>
                    <a:pt x="2152894" y="456085"/>
                  </a:lnTo>
                  <a:lnTo>
                    <a:pt x="2162000" y="409947"/>
                  </a:lnTo>
                  <a:lnTo>
                    <a:pt x="2160117" y="364591"/>
                  </a:lnTo>
                  <a:lnTo>
                    <a:pt x="2148018" y="321155"/>
                  </a:lnTo>
                  <a:lnTo>
                    <a:pt x="2126478" y="280777"/>
                  </a:lnTo>
                  <a:lnTo>
                    <a:pt x="2096270" y="244596"/>
                  </a:lnTo>
                  <a:lnTo>
                    <a:pt x="2058168" y="213751"/>
                  </a:lnTo>
                  <a:lnTo>
                    <a:pt x="2012946" y="189379"/>
                  </a:lnTo>
                  <a:lnTo>
                    <a:pt x="1961378" y="172621"/>
                  </a:lnTo>
                  <a:lnTo>
                    <a:pt x="1950119" y="137684"/>
                  </a:lnTo>
                  <a:lnTo>
                    <a:pt x="1907693" y="75716"/>
                  </a:lnTo>
                  <a:lnTo>
                    <a:pt x="1877431" y="50066"/>
                  </a:lnTo>
                  <a:lnTo>
                    <a:pt x="1835982" y="26016"/>
                  </a:lnTo>
                  <a:lnTo>
                    <a:pt x="1791057" y="9904"/>
                  </a:lnTo>
                  <a:lnTo>
                    <a:pt x="1744064" y="1629"/>
                  </a:lnTo>
                  <a:lnTo>
                    <a:pt x="1696408" y="1091"/>
                  </a:lnTo>
                  <a:lnTo>
                    <a:pt x="1649497" y="8192"/>
                  </a:lnTo>
                  <a:lnTo>
                    <a:pt x="1604736" y="22830"/>
                  </a:lnTo>
                  <a:lnTo>
                    <a:pt x="1563532" y="44907"/>
                  </a:lnTo>
                  <a:lnTo>
                    <a:pt x="1527292" y="74323"/>
                  </a:lnTo>
                  <a:lnTo>
                    <a:pt x="1510681" y="57987"/>
                  </a:lnTo>
                  <a:lnTo>
                    <a:pt x="1492034" y="43366"/>
                  </a:lnTo>
                  <a:lnTo>
                    <a:pt x="1471553" y="30603"/>
                  </a:lnTo>
                  <a:lnTo>
                    <a:pt x="1449441" y="19840"/>
                  </a:lnTo>
                  <a:lnTo>
                    <a:pt x="1400990" y="5004"/>
                  </a:lnTo>
                  <a:lnTo>
                    <a:pt x="13514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17167" y="2131694"/>
              <a:ext cx="397382" cy="3702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-1260" y="918816"/>
              <a:ext cx="2211705" cy="1372870"/>
            </a:xfrm>
            <a:custGeom>
              <a:avLst/>
              <a:gdLst/>
              <a:ahLst/>
              <a:cxnLst/>
              <a:rect l="l" t="t" r="r" b="b"/>
              <a:pathLst>
                <a:path w="2211705" h="1372870">
                  <a:moveTo>
                    <a:pt x="200752" y="451767"/>
                  </a:moveTo>
                  <a:lnTo>
                    <a:pt x="197585" y="408625"/>
                  </a:lnTo>
                  <a:lnTo>
                    <a:pt x="201800" y="366616"/>
                  </a:lnTo>
                  <a:lnTo>
                    <a:pt x="212941" y="326246"/>
                  </a:lnTo>
                  <a:lnTo>
                    <a:pt x="230550" y="288025"/>
                  </a:lnTo>
                  <a:lnTo>
                    <a:pt x="254168" y="252462"/>
                  </a:lnTo>
                  <a:lnTo>
                    <a:pt x="283340" y="220063"/>
                  </a:lnTo>
                  <a:lnTo>
                    <a:pt x="317607" y="191338"/>
                  </a:lnTo>
                  <a:lnTo>
                    <a:pt x="356512" y="166796"/>
                  </a:lnTo>
                  <a:lnTo>
                    <a:pt x="399598" y="146944"/>
                  </a:lnTo>
                  <a:lnTo>
                    <a:pt x="446408" y="132291"/>
                  </a:lnTo>
                  <a:lnTo>
                    <a:pt x="496484" y="123345"/>
                  </a:lnTo>
                  <a:lnTo>
                    <a:pt x="542496" y="120706"/>
                  </a:lnTo>
                  <a:lnTo>
                    <a:pt x="588219" y="123237"/>
                  </a:lnTo>
                  <a:lnTo>
                    <a:pt x="633055" y="130834"/>
                  </a:lnTo>
                  <a:lnTo>
                    <a:pt x="676404" y="143392"/>
                  </a:lnTo>
                  <a:lnTo>
                    <a:pt x="717667" y="160810"/>
                  </a:lnTo>
                  <a:lnTo>
                    <a:pt x="744551" y="125896"/>
                  </a:lnTo>
                  <a:lnTo>
                    <a:pt x="777391" y="96433"/>
                  </a:lnTo>
                  <a:lnTo>
                    <a:pt x="815146" y="72686"/>
                  </a:lnTo>
                  <a:lnTo>
                    <a:pt x="856775" y="54922"/>
                  </a:lnTo>
                  <a:lnTo>
                    <a:pt x="901234" y="43408"/>
                  </a:lnTo>
                  <a:lnTo>
                    <a:pt x="947483" y="38410"/>
                  </a:lnTo>
                  <a:lnTo>
                    <a:pt x="994480" y="40195"/>
                  </a:lnTo>
                  <a:lnTo>
                    <a:pt x="1041183" y="49029"/>
                  </a:lnTo>
                  <a:lnTo>
                    <a:pt x="1086551" y="65179"/>
                  </a:lnTo>
                  <a:lnTo>
                    <a:pt x="1135391" y="93289"/>
                  </a:lnTo>
                  <a:lnTo>
                    <a:pt x="1149950" y="104549"/>
                  </a:lnTo>
                  <a:lnTo>
                    <a:pt x="1178079" y="68066"/>
                  </a:lnTo>
                  <a:lnTo>
                    <a:pt x="1214089" y="38858"/>
                  </a:lnTo>
                  <a:lnTo>
                    <a:pt x="1256183" y="17437"/>
                  </a:lnTo>
                  <a:lnTo>
                    <a:pt x="1302563" y="4314"/>
                  </a:lnTo>
                  <a:lnTo>
                    <a:pt x="1351431" y="0"/>
                  </a:lnTo>
                  <a:lnTo>
                    <a:pt x="1400990" y="5004"/>
                  </a:lnTo>
                  <a:lnTo>
                    <a:pt x="1449441" y="19840"/>
                  </a:lnTo>
                  <a:lnTo>
                    <a:pt x="1492034" y="43366"/>
                  </a:lnTo>
                  <a:lnTo>
                    <a:pt x="1527292" y="74323"/>
                  </a:lnTo>
                  <a:lnTo>
                    <a:pt x="1563532" y="44907"/>
                  </a:lnTo>
                  <a:lnTo>
                    <a:pt x="1604736" y="22830"/>
                  </a:lnTo>
                  <a:lnTo>
                    <a:pt x="1649497" y="8192"/>
                  </a:lnTo>
                  <a:lnTo>
                    <a:pt x="1696408" y="1091"/>
                  </a:lnTo>
                  <a:lnTo>
                    <a:pt x="1744064" y="1629"/>
                  </a:lnTo>
                  <a:lnTo>
                    <a:pt x="1791057" y="9904"/>
                  </a:lnTo>
                  <a:lnTo>
                    <a:pt x="1835982" y="26016"/>
                  </a:lnTo>
                  <a:lnTo>
                    <a:pt x="1877431" y="50066"/>
                  </a:lnTo>
                  <a:lnTo>
                    <a:pt x="1907693" y="75716"/>
                  </a:lnTo>
                  <a:lnTo>
                    <a:pt x="1932073" y="105152"/>
                  </a:lnTo>
                  <a:lnTo>
                    <a:pt x="1961378" y="172621"/>
                  </a:lnTo>
                  <a:lnTo>
                    <a:pt x="2012946" y="189379"/>
                  </a:lnTo>
                  <a:lnTo>
                    <a:pt x="2058168" y="213751"/>
                  </a:lnTo>
                  <a:lnTo>
                    <a:pt x="2096270" y="244596"/>
                  </a:lnTo>
                  <a:lnTo>
                    <a:pt x="2126478" y="280777"/>
                  </a:lnTo>
                  <a:lnTo>
                    <a:pt x="2148018" y="321155"/>
                  </a:lnTo>
                  <a:lnTo>
                    <a:pt x="2160117" y="364591"/>
                  </a:lnTo>
                  <a:lnTo>
                    <a:pt x="2162000" y="409947"/>
                  </a:lnTo>
                  <a:lnTo>
                    <a:pt x="2152894" y="456085"/>
                  </a:lnTo>
                  <a:lnTo>
                    <a:pt x="2150253" y="463828"/>
                  </a:lnTo>
                  <a:lnTo>
                    <a:pt x="2147290" y="471452"/>
                  </a:lnTo>
                  <a:lnTo>
                    <a:pt x="2144018" y="478980"/>
                  </a:lnTo>
                  <a:lnTo>
                    <a:pt x="2140448" y="486438"/>
                  </a:lnTo>
                  <a:lnTo>
                    <a:pt x="2168662" y="522691"/>
                  </a:lnTo>
                  <a:lnTo>
                    <a:pt x="2189776" y="561061"/>
                  </a:lnTo>
                  <a:lnTo>
                    <a:pt x="2203891" y="600913"/>
                  </a:lnTo>
                  <a:lnTo>
                    <a:pt x="2211105" y="641612"/>
                  </a:lnTo>
                  <a:lnTo>
                    <a:pt x="2211516" y="682524"/>
                  </a:lnTo>
                  <a:lnTo>
                    <a:pt x="2205225" y="723014"/>
                  </a:lnTo>
                  <a:lnTo>
                    <a:pt x="2192331" y="762446"/>
                  </a:lnTo>
                  <a:lnTo>
                    <a:pt x="2172931" y="800185"/>
                  </a:lnTo>
                  <a:lnTo>
                    <a:pt x="2147126" y="835598"/>
                  </a:lnTo>
                  <a:lnTo>
                    <a:pt x="2115014" y="868048"/>
                  </a:lnTo>
                  <a:lnTo>
                    <a:pt x="2076694" y="896902"/>
                  </a:lnTo>
                  <a:lnTo>
                    <a:pt x="2039729" y="917823"/>
                  </a:lnTo>
                  <a:lnTo>
                    <a:pt x="2000049" y="934541"/>
                  </a:lnTo>
                  <a:lnTo>
                    <a:pt x="1958179" y="946854"/>
                  </a:lnTo>
                  <a:lnTo>
                    <a:pt x="1914642" y="954560"/>
                  </a:lnTo>
                  <a:lnTo>
                    <a:pt x="1909424" y="999415"/>
                  </a:lnTo>
                  <a:lnTo>
                    <a:pt x="1895264" y="1041569"/>
                  </a:lnTo>
                  <a:lnTo>
                    <a:pt x="1873000" y="1080323"/>
                  </a:lnTo>
                  <a:lnTo>
                    <a:pt x="1843474" y="1114978"/>
                  </a:lnTo>
                  <a:lnTo>
                    <a:pt x="1807526" y="1144836"/>
                  </a:lnTo>
                  <a:lnTo>
                    <a:pt x="1765995" y="1169199"/>
                  </a:lnTo>
                  <a:lnTo>
                    <a:pt x="1719724" y="1187369"/>
                  </a:lnTo>
                  <a:lnTo>
                    <a:pt x="1669552" y="1198648"/>
                  </a:lnTo>
                  <a:lnTo>
                    <a:pt x="1616319" y="1202337"/>
                  </a:lnTo>
                  <a:lnTo>
                    <a:pt x="1575671" y="1199689"/>
                  </a:lnTo>
                  <a:lnTo>
                    <a:pt x="1536023" y="1192399"/>
                  </a:lnTo>
                  <a:lnTo>
                    <a:pt x="1497947" y="1180584"/>
                  </a:lnTo>
                  <a:lnTo>
                    <a:pt x="1462014" y="1164364"/>
                  </a:lnTo>
                  <a:lnTo>
                    <a:pt x="1443617" y="1204832"/>
                  </a:lnTo>
                  <a:lnTo>
                    <a:pt x="1419074" y="1241661"/>
                  </a:lnTo>
                  <a:lnTo>
                    <a:pt x="1389049" y="1274550"/>
                  </a:lnTo>
                  <a:lnTo>
                    <a:pt x="1354207" y="1303198"/>
                  </a:lnTo>
                  <a:lnTo>
                    <a:pt x="1315214" y="1327304"/>
                  </a:lnTo>
                  <a:lnTo>
                    <a:pt x="1272736" y="1346567"/>
                  </a:lnTo>
                  <a:lnTo>
                    <a:pt x="1227436" y="1360685"/>
                  </a:lnTo>
                  <a:lnTo>
                    <a:pt x="1179980" y="1369357"/>
                  </a:lnTo>
                  <a:lnTo>
                    <a:pt x="1131034" y="1372283"/>
                  </a:lnTo>
                  <a:lnTo>
                    <a:pt x="1081263" y="1369161"/>
                  </a:lnTo>
                  <a:lnTo>
                    <a:pt x="1031332" y="1359690"/>
                  </a:lnTo>
                  <a:lnTo>
                    <a:pt x="986761" y="1345314"/>
                  </a:lnTo>
                  <a:lnTo>
                    <a:pt x="945230" y="1326038"/>
                  </a:lnTo>
                  <a:lnTo>
                    <a:pt x="907280" y="1302201"/>
                  </a:lnTo>
                  <a:lnTo>
                    <a:pt x="873452" y="1274147"/>
                  </a:lnTo>
                  <a:lnTo>
                    <a:pt x="844286" y="1242215"/>
                  </a:lnTo>
                  <a:lnTo>
                    <a:pt x="800244" y="1261614"/>
                  </a:lnTo>
                  <a:lnTo>
                    <a:pt x="754733" y="1275921"/>
                  </a:lnTo>
                  <a:lnTo>
                    <a:pt x="708260" y="1285243"/>
                  </a:lnTo>
                  <a:lnTo>
                    <a:pt x="661334" y="1289687"/>
                  </a:lnTo>
                  <a:lnTo>
                    <a:pt x="614462" y="1289360"/>
                  </a:lnTo>
                  <a:lnTo>
                    <a:pt x="568152" y="1284368"/>
                  </a:lnTo>
                  <a:lnTo>
                    <a:pt x="522911" y="1274818"/>
                  </a:lnTo>
                  <a:lnTo>
                    <a:pt x="479249" y="1260817"/>
                  </a:lnTo>
                  <a:lnTo>
                    <a:pt x="437672" y="1242472"/>
                  </a:lnTo>
                  <a:lnTo>
                    <a:pt x="398689" y="1219890"/>
                  </a:lnTo>
                  <a:lnTo>
                    <a:pt x="362806" y="1193177"/>
                  </a:lnTo>
                  <a:lnTo>
                    <a:pt x="330533" y="1162441"/>
                  </a:lnTo>
                  <a:lnTo>
                    <a:pt x="302377" y="1127788"/>
                  </a:lnTo>
                  <a:lnTo>
                    <a:pt x="299570" y="1123724"/>
                  </a:lnTo>
                  <a:lnTo>
                    <a:pt x="298199" y="1121819"/>
                  </a:lnTo>
                  <a:lnTo>
                    <a:pt x="246721" y="1121898"/>
                  </a:lnTo>
                  <a:lnTo>
                    <a:pt x="198141" y="1112456"/>
                  </a:lnTo>
                  <a:lnTo>
                    <a:pt x="153945" y="1094483"/>
                  </a:lnTo>
                  <a:lnTo>
                    <a:pt x="115616" y="1068970"/>
                  </a:lnTo>
                  <a:lnTo>
                    <a:pt x="84641" y="1036908"/>
                  </a:lnTo>
                  <a:lnTo>
                    <a:pt x="62506" y="999288"/>
                  </a:lnTo>
                  <a:lnTo>
                    <a:pt x="50695" y="957100"/>
                  </a:lnTo>
                  <a:lnTo>
                    <a:pt x="50325" y="916085"/>
                  </a:lnTo>
                  <a:lnTo>
                    <a:pt x="60340" y="876439"/>
                  </a:lnTo>
                  <a:lnTo>
                    <a:pt x="80201" y="839531"/>
                  </a:lnTo>
                  <a:lnTo>
                    <a:pt x="109374" y="806732"/>
                  </a:lnTo>
                  <a:lnTo>
                    <a:pt x="68364" y="780553"/>
                  </a:lnTo>
                  <a:lnTo>
                    <a:pt x="36445" y="748222"/>
                  </a:lnTo>
                  <a:lnTo>
                    <a:pt x="14093" y="711286"/>
                  </a:lnTo>
                  <a:lnTo>
                    <a:pt x="1786" y="671291"/>
                  </a:lnTo>
                  <a:lnTo>
                    <a:pt x="0" y="629783"/>
                  </a:lnTo>
                  <a:lnTo>
                    <a:pt x="9212" y="588309"/>
                  </a:lnTo>
                  <a:lnTo>
                    <a:pt x="29900" y="548414"/>
                  </a:lnTo>
                  <a:lnTo>
                    <a:pt x="61496" y="513002"/>
                  </a:lnTo>
                  <a:lnTo>
                    <a:pt x="101401" y="485152"/>
                  </a:lnTo>
                  <a:lnTo>
                    <a:pt x="147804" y="465850"/>
                  </a:lnTo>
                  <a:lnTo>
                    <a:pt x="198897" y="456085"/>
                  </a:lnTo>
                  <a:lnTo>
                    <a:pt x="200752" y="451767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12595" y="2127122"/>
              <a:ext cx="406527" cy="3793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0483" y="1720215"/>
              <a:ext cx="1364615" cy="435609"/>
            </a:xfrm>
            <a:custGeom>
              <a:avLst/>
              <a:gdLst/>
              <a:ahLst/>
              <a:cxnLst/>
              <a:rect l="l" t="t" r="r" b="b"/>
              <a:pathLst>
                <a:path w="1364615" h="435610">
                  <a:moveTo>
                    <a:pt x="129571" y="25273"/>
                  </a:moveTo>
                  <a:lnTo>
                    <a:pt x="95755" y="25342"/>
                  </a:lnTo>
                  <a:lnTo>
                    <a:pt x="62507" y="21066"/>
                  </a:lnTo>
                  <a:lnTo>
                    <a:pt x="30397" y="12574"/>
                  </a:lnTo>
                  <a:lnTo>
                    <a:pt x="0" y="0"/>
                  </a:lnTo>
                </a:path>
                <a:path w="1364615" h="435610">
                  <a:moveTo>
                    <a:pt x="243897" y="302260"/>
                  </a:moveTo>
                  <a:lnTo>
                    <a:pt x="230107" y="306449"/>
                  </a:lnTo>
                  <a:lnTo>
                    <a:pt x="216031" y="309864"/>
                  </a:lnTo>
                  <a:lnTo>
                    <a:pt x="201715" y="312493"/>
                  </a:lnTo>
                  <a:lnTo>
                    <a:pt x="187204" y="314325"/>
                  </a:lnTo>
                </a:path>
                <a:path w="1364615" h="435610">
                  <a:moveTo>
                    <a:pt x="732415" y="435229"/>
                  </a:moveTo>
                  <a:lnTo>
                    <a:pt x="722576" y="422042"/>
                  </a:lnTo>
                  <a:lnTo>
                    <a:pt x="713590" y="408416"/>
                  </a:lnTo>
                  <a:lnTo>
                    <a:pt x="705476" y="394384"/>
                  </a:lnTo>
                  <a:lnTo>
                    <a:pt x="698252" y="379984"/>
                  </a:lnTo>
                </a:path>
                <a:path w="1364615" h="435610">
                  <a:moveTo>
                    <a:pt x="1364113" y="297561"/>
                  </a:moveTo>
                  <a:lnTo>
                    <a:pt x="1362113" y="312937"/>
                  </a:lnTo>
                  <a:lnTo>
                    <a:pt x="1359160" y="328183"/>
                  </a:lnTo>
                  <a:lnTo>
                    <a:pt x="1355255" y="343263"/>
                  </a:lnTo>
                  <a:lnTo>
                    <a:pt x="1350397" y="358139"/>
                  </a:lnTo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41170" y="1638681"/>
              <a:ext cx="175514" cy="23558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9504" y="988695"/>
              <a:ext cx="1938655" cy="498475"/>
            </a:xfrm>
            <a:custGeom>
              <a:avLst/>
              <a:gdLst/>
              <a:ahLst/>
              <a:cxnLst/>
              <a:rect l="l" t="t" r="r" b="b"/>
              <a:pathLst>
                <a:path w="1938655" h="498475">
                  <a:moveTo>
                    <a:pt x="1938540" y="413257"/>
                  </a:moveTo>
                  <a:lnTo>
                    <a:pt x="1924525" y="437104"/>
                  </a:lnTo>
                  <a:lnTo>
                    <a:pt x="1907378" y="459343"/>
                  </a:lnTo>
                  <a:lnTo>
                    <a:pt x="1887302" y="479748"/>
                  </a:lnTo>
                  <a:lnTo>
                    <a:pt x="1864499" y="498093"/>
                  </a:lnTo>
                </a:path>
                <a:path w="1938655" h="498475">
                  <a:moveTo>
                    <a:pt x="1760867" y="97916"/>
                  </a:moveTo>
                  <a:lnTo>
                    <a:pt x="1762697" y="107938"/>
                  </a:lnTo>
                  <a:lnTo>
                    <a:pt x="1763979" y="117982"/>
                  </a:lnTo>
                  <a:lnTo>
                    <a:pt x="1764689" y="128027"/>
                  </a:lnTo>
                  <a:lnTo>
                    <a:pt x="1764804" y="138049"/>
                  </a:lnTo>
                </a:path>
                <a:path w="1938655" h="498475">
                  <a:moveTo>
                    <a:pt x="1287919" y="51180"/>
                  </a:moveTo>
                  <a:lnTo>
                    <a:pt x="1295746" y="37540"/>
                  </a:lnTo>
                  <a:lnTo>
                    <a:pt x="1304715" y="24447"/>
                  </a:lnTo>
                  <a:lnTo>
                    <a:pt x="1314780" y="11926"/>
                  </a:lnTo>
                  <a:lnTo>
                    <a:pt x="1325892" y="0"/>
                  </a:lnTo>
                </a:path>
                <a:path w="1938655" h="498475">
                  <a:moveTo>
                    <a:pt x="933069" y="75564"/>
                  </a:moveTo>
                  <a:lnTo>
                    <a:pt x="936438" y="64214"/>
                  </a:lnTo>
                  <a:lnTo>
                    <a:pt x="940633" y="53054"/>
                  </a:lnTo>
                  <a:lnTo>
                    <a:pt x="945640" y="42132"/>
                  </a:lnTo>
                  <a:lnTo>
                    <a:pt x="951445" y="31495"/>
                  </a:lnTo>
                </a:path>
                <a:path w="1938655" h="498475">
                  <a:moveTo>
                    <a:pt x="516636" y="90550"/>
                  </a:moveTo>
                  <a:lnTo>
                    <a:pt x="534387" y="99952"/>
                  </a:lnTo>
                  <a:lnTo>
                    <a:pt x="551416" y="110236"/>
                  </a:lnTo>
                  <a:lnTo>
                    <a:pt x="567676" y="121376"/>
                  </a:lnTo>
                  <a:lnTo>
                    <a:pt x="583120" y="133350"/>
                  </a:lnTo>
                </a:path>
                <a:path w="1938655" h="498475">
                  <a:moveTo>
                    <a:pt x="11607" y="426974"/>
                  </a:moveTo>
                  <a:lnTo>
                    <a:pt x="7915" y="415877"/>
                  </a:lnTo>
                  <a:lnTo>
                    <a:pt x="4746" y="404685"/>
                  </a:lnTo>
                  <a:lnTo>
                    <a:pt x="2106" y="393398"/>
                  </a:lnTo>
                  <a:lnTo>
                    <a:pt x="0" y="382015"/>
                  </a:lnTo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6712" y="1154937"/>
            <a:ext cx="8197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structure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0304" y="1398778"/>
            <a:ext cx="1252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conditionnelle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6044" y="1642617"/>
            <a:ext cx="840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A40020"/>
                </a:solidFill>
                <a:latin typeface="Tahoma"/>
                <a:cs typeface="Tahoma"/>
              </a:rPr>
              <a:t>à un</a:t>
            </a:r>
            <a:r>
              <a:rPr sz="1600" spc="-8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seul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2827" y="1886457"/>
            <a:ext cx="487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c</a:t>
            </a:r>
            <a:r>
              <a:rPr sz="1600" spc="-15" dirty="0">
                <a:solidFill>
                  <a:srgbClr val="A40020"/>
                </a:solidFill>
                <a:latin typeface="Tahoma"/>
                <a:cs typeface="Tahoma"/>
              </a:rPr>
              <a:t>h</a:t>
            </a:r>
            <a:r>
              <a:rPr sz="1600" spc="-5" dirty="0">
                <a:solidFill>
                  <a:srgbClr val="A40020"/>
                </a:solidFill>
                <a:latin typeface="Tahoma"/>
                <a:cs typeface="Tahoma"/>
              </a:rPr>
              <a:t>o</a:t>
            </a:r>
            <a:r>
              <a:rPr sz="1600" spc="-15" dirty="0">
                <a:solidFill>
                  <a:srgbClr val="A40020"/>
                </a:solidFill>
                <a:latin typeface="Tahoma"/>
                <a:cs typeface="Tahoma"/>
              </a:rPr>
              <a:t>i</a:t>
            </a:r>
            <a:r>
              <a:rPr sz="1600" spc="-5" dirty="0">
                <a:solidFill>
                  <a:srgbClr val="A40020"/>
                </a:solidFill>
                <a:latin typeface="Tahoma"/>
                <a:cs typeface="Tahoma"/>
              </a:rPr>
              <a:t>x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93585" y="228562"/>
            <a:ext cx="2555875" cy="1356995"/>
            <a:chOff x="6593585" y="228562"/>
            <a:chExt cx="2555875" cy="1356995"/>
          </a:xfrm>
        </p:grpSpPr>
        <p:sp>
          <p:nvSpPr>
            <p:cNvPr id="27" name="object 27"/>
            <p:cNvSpPr/>
            <p:nvPr/>
          </p:nvSpPr>
          <p:spPr>
            <a:xfrm>
              <a:off x="6704221" y="233134"/>
              <a:ext cx="2440305" cy="1296035"/>
            </a:xfrm>
            <a:custGeom>
              <a:avLst/>
              <a:gdLst/>
              <a:ahLst/>
              <a:cxnLst/>
              <a:rect l="l" t="t" r="r" b="b"/>
              <a:pathLst>
                <a:path w="2440304" h="1296035">
                  <a:moveTo>
                    <a:pt x="1895250" y="0"/>
                  </a:moveTo>
                  <a:lnTo>
                    <a:pt x="1848676" y="2770"/>
                  </a:lnTo>
                  <a:lnTo>
                    <a:pt x="1803301" y="11208"/>
                  </a:lnTo>
                  <a:lnTo>
                    <a:pt x="1760215" y="25251"/>
                  </a:lnTo>
                  <a:lnTo>
                    <a:pt x="1720508" y="44832"/>
                  </a:lnTo>
                  <a:lnTo>
                    <a:pt x="1685271" y="69887"/>
                  </a:lnTo>
                  <a:lnTo>
                    <a:pt x="1666943" y="54403"/>
                  </a:lnTo>
                  <a:lnTo>
                    <a:pt x="1623763" y="28578"/>
                  </a:lnTo>
                  <a:lnTo>
                    <a:pt x="1552656" y="5658"/>
                  </a:lnTo>
                  <a:lnTo>
                    <a:pt x="1504885" y="19"/>
                  </a:lnTo>
                  <a:lnTo>
                    <a:pt x="1457308" y="1211"/>
                  </a:lnTo>
                  <a:lnTo>
                    <a:pt x="1411253" y="8911"/>
                  </a:lnTo>
                  <a:lnTo>
                    <a:pt x="1368049" y="22796"/>
                  </a:lnTo>
                  <a:lnTo>
                    <a:pt x="1329026" y="42544"/>
                  </a:lnTo>
                  <a:lnTo>
                    <a:pt x="1295513" y="67831"/>
                  </a:lnTo>
                  <a:lnTo>
                    <a:pt x="1268838" y="98335"/>
                  </a:lnTo>
                  <a:lnTo>
                    <a:pt x="1252798" y="87719"/>
                  </a:lnTo>
                  <a:lnTo>
                    <a:pt x="1217814" y="69153"/>
                  </a:lnTo>
                  <a:lnTo>
                    <a:pt x="1148930" y="45959"/>
                  </a:lnTo>
                  <a:lnTo>
                    <a:pt x="1097396" y="37590"/>
                  </a:lnTo>
                  <a:lnTo>
                    <a:pt x="1045534" y="35889"/>
                  </a:lnTo>
                  <a:lnTo>
                    <a:pt x="994495" y="40600"/>
                  </a:lnTo>
                  <a:lnTo>
                    <a:pt x="945425" y="51469"/>
                  </a:lnTo>
                  <a:lnTo>
                    <a:pt x="899475" y="68241"/>
                  </a:lnTo>
                  <a:lnTo>
                    <a:pt x="857792" y="90660"/>
                  </a:lnTo>
                  <a:lnTo>
                    <a:pt x="821527" y="118472"/>
                  </a:lnTo>
                  <a:lnTo>
                    <a:pt x="791826" y="151421"/>
                  </a:lnTo>
                  <a:lnTo>
                    <a:pt x="746324" y="135008"/>
                  </a:lnTo>
                  <a:lnTo>
                    <a:pt x="698506" y="123174"/>
                  </a:lnTo>
                  <a:lnTo>
                    <a:pt x="649042" y="116015"/>
                  </a:lnTo>
                  <a:lnTo>
                    <a:pt x="598603" y="113630"/>
                  </a:lnTo>
                  <a:lnTo>
                    <a:pt x="547859" y="116115"/>
                  </a:lnTo>
                  <a:lnTo>
                    <a:pt x="492588" y="124578"/>
                  </a:lnTo>
                  <a:lnTo>
                    <a:pt x="440925" y="138425"/>
                  </a:lnTo>
                  <a:lnTo>
                    <a:pt x="393375" y="157178"/>
                  </a:lnTo>
                  <a:lnTo>
                    <a:pt x="350440" y="180358"/>
                  </a:lnTo>
                  <a:lnTo>
                    <a:pt x="312626" y="207487"/>
                  </a:lnTo>
                  <a:lnTo>
                    <a:pt x="280435" y="238085"/>
                  </a:lnTo>
                  <a:lnTo>
                    <a:pt x="254371" y="271675"/>
                  </a:lnTo>
                  <a:lnTo>
                    <a:pt x="234939" y="307778"/>
                  </a:lnTo>
                  <a:lnTo>
                    <a:pt x="222642" y="345915"/>
                  </a:lnTo>
                  <a:lnTo>
                    <a:pt x="217984" y="385607"/>
                  </a:lnTo>
                  <a:lnTo>
                    <a:pt x="221469" y="426376"/>
                  </a:lnTo>
                  <a:lnTo>
                    <a:pt x="219437" y="430440"/>
                  </a:lnTo>
                  <a:lnTo>
                    <a:pt x="163071" y="439643"/>
                  </a:lnTo>
                  <a:lnTo>
                    <a:pt x="111884" y="457872"/>
                  </a:lnTo>
                  <a:lnTo>
                    <a:pt x="67864" y="484197"/>
                  </a:lnTo>
                  <a:lnTo>
                    <a:pt x="33001" y="517689"/>
                  </a:lnTo>
                  <a:lnTo>
                    <a:pt x="10170" y="555336"/>
                  </a:lnTo>
                  <a:lnTo>
                    <a:pt x="0" y="594478"/>
                  </a:lnTo>
                  <a:lnTo>
                    <a:pt x="1963" y="633655"/>
                  </a:lnTo>
                  <a:lnTo>
                    <a:pt x="15535" y="671409"/>
                  </a:lnTo>
                  <a:lnTo>
                    <a:pt x="40188" y="706278"/>
                  </a:lnTo>
                  <a:lnTo>
                    <a:pt x="75395" y="736805"/>
                  </a:lnTo>
                  <a:lnTo>
                    <a:pt x="120631" y="761529"/>
                  </a:lnTo>
                  <a:lnTo>
                    <a:pt x="88492" y="792537"/>
                  </a:lnTo>
                  <a:lnTo>
                    <a:pt x="66592" y="827378"/>
                  </a:lnTo>
                  <a:lnTo>
                    <a:pt x="55551" y="864792"/>
                  </a:lnTo>
                  <a:lnTo>
                    <a:pt x="55988" y="903515"/>
                  </a:lnTo>
                  <a:lnTo>
                    <a:pt x="68987" y="943364"/>
                  </a:lnTo>
                  <a:lnTo>
                    <a:pt x="93392" y="978900"/>
                  </a:lnTo>
                  <a:lnTo>
                    <a:pt x="127560" y="1009187"/>
                  </a:lnTo>
                  <a:lnTo>
                    <a:pt x="169851" y="1033287"/>
                  </a:lnTo>
                  <a:lnTo>
                    <a:pt x="218622" y="1050263"/>
                  </a:lnTo>
                  <a:lnTo>
                    <a:pt x="272232" y="1059176"/>
                  </a:lnTo>
                  <a:lnTo>
                    <a:pt x="329038" y="1059090"/>
                  </a:lnTo>
                  <a:lnTo>
                    <a:pt x="333610" y="1064805"/>
                  </a:lnTo>
                  <a:lnTo>
                    <a:pt x="362322" y="1095301"/>
                  </a:lnTo>
                  <a:lnTo>
                    <a:pt x="394983" y="1122617"/>
                  </a:lnTo>
                  <a:lnTo>
                    <a:pt x="431144" y="1146672"/>
                  </a:lnTo>
                  <a:lnTo>
                    <a:pt x="470356" y="1167385"/>
                  </a:lnTo>
                  <a:lnTo>
                    <a:pt x="512172" y="1184676"/>
                  </a:lnTo>
                  <a:lnTo>
                    <a:pt x="556142" y="1198463"/>
                  </a:lnTo>
                  <a:lnTo>
                    <a:pt x="601818" y="1208664"/>
                  </a:lnTo>
                  <a:lnTo>
                    <a:pt x="648752" y="1215200"/>
                  </a:lnTo>
                  <a:lnTo>
                    <a:pt x="696495" y="1217988"/>
                  </a:lnTo>
                  <a:lnTo>
                    <a:pt x="744599" y="1216948"/>
                  </a:lnTo>
                  <a:lnTo>
                    <a:pt x="792616" y="1211998"/>
                  </a:lnTo>
                  <a:lnTo>
                    <a:pt x="840096" y="1203058"/>
                  </a:lnTo>
                  <a:lnTo>
                    <a:pt x="886591" y="1190046"/>
                  </a:lnTo>
                  <a:lnTo>
                    <a:pt x="931653" y="1172882"/>
                  </a:lnTo>
                  <a:lnTo>
                    <a:pt x="963833" y="1203018"/>
                  </a:lnTo>
                  <a:lnTo>
                    <a:pt x="1001151" y="1229502"/>
                  </a:lnTo>
                  <a:lnTo>
                    <a:pt x="1043018" y="1252005"/>
                  </a:lnTo>
                  <a:lnTo>
                    <a:pt x="1088840" y="1270198"/>
                  </a:lnTo>
                  <a:lnTo>
                    <a:pt x="1138028" y="1283753"/>
                  </a:lnTo>
                  <a:lnTo>
                    <a:pt x="1188525" y="1292198"/>
                  </a:lnTo>
                  <a:lnTo>
                    <a:pt x="1238927" y="1295582"/>
                  </a:lnTo>
                  <a:lnTo>
                    <a:pt x="1288668" y="1294123"/>
                  </a:lnTo>
                  <a:lnTo>
                    <a:pt x="1337183" y="1288043"/>
                  </a:lnTo>
                  <a:lnTo>
                    <a:pt x="1383906" y="1277560"/>
                  </a:lnTo>
                  <a:lnTo>
                    <a:pt x="1428271" y="1262893"/>
                  </a:lnTo>
                  <a:lnTo>
                    <a:pt x="1469712" y="1244263"/>
                  </a:lnTo>
                  <a:lnTo>
                    <a:pt x="1507664" y="1221890"/>
                  </a:lnTo>
                  <a:lnTo>
                    <a:pt x="1541561" y="1195992"/>
                  </a:lnTo>
                  <a:lnTo>
                    <a:pt x="1570836" y="1166789"/>
                  </a:lnTo>
                  <a:lnTo>
                    <a:pt x="1594925" y="1134502"/>
                  </a:lnTo>
                  <a:lnTo>
                    <a:pt x="1613262" y="1099349"/>
                  </a:lnTo>
                  <a:lnTo>
                    <a:pt x="1652926" y="1114643"/>
                  </a:lnTo>
                  <a:lnTo>
                    <a:pt x="1694923" y="1125781"/>
                  </a:lnTo>
                  <a:lnTo>
                    <a:pt x="1738635" y="1132657"/>
                  </a:lnTo>
                  <a:lnTo>
                    <a:pt x="1783442" y="1135163"/>
                  </a:lnTo>
                  <a:lnTo>
                    <a:pt x="1836444" y="1132374"/>
                  </a:lnTo>
                  <a:lnTo>
                    <a:pt x="1886794" y="1123720"/>
                  </a:lnTo>
                  <a:lnTo>
                    <a:pt x="1933812" y="1109681"/>
                  </a:lnTo>
                  <a:lnTo>
                    <a:pt x="1976819" y="1090739"/>
                  </a:lnTo>
                  <a:lnTo>
                    <a:pt x="2015138" y="1067377"/>
                  </a:lnTo>
                  <a:lnTo>
                    <a:pt x="2048088" y="1040074"/>
                  </a:lnTo>
                  <a:lnTo>
                    <a:pt x="2074990" y="1009314"/>
                  </a:lnTo>
                  <a:lnTo>
                    <a:pt x="2095167" y="975578"/>
                  </a:lnTo>
                  <a:lnTo>
                    <a:pt x="2107939" y="939346"/>
                  </a:lnTo>
                  <a:lnTo>
                    <a:pt x="2112626" y="901102"/>
                  </a:lnTo>
                  <a:lnTo>
                    <a:pt x="2160729" y="893841"/>
                  </a:lnTo>
                  <a:lnTo>
                    <a:pt x="2206939" y="882258"/>
                  </a:lnTo>
                  <a:lnTo>
                    <a:pt x="2250697" y="866508"/>
                  </a:lnTo>
                  <a:lnTo>
                    <a:pt x="2291442" y="846746"/>
                  </a:lnTo>
                  <a:lnTo>
                    <a:pt x="2333737" y="819464"/>
                  </a:lnTo>
                  <a:lnTo>
                    <a:pt x="2369178" y="788794"/>
                  </a:lnTo>
                  <a:lnTo>
                    <a:pt x="2397658" y="755334"/>
                  </a:lnTo>
                  <a:lnTo>
                    <a:pt x="2419066" y="719683"/>
                  </a:lnTo>
                  <a:lnTo>
                    <a:pt x="2433295" y="682438"/>
                  </a:lnTo>
                  <a:lnTo>
                    <a:pt x="2440235" y="644199"/>
                  </a:lnTo>
                  <a:lnTo>
                    <a:pt x="2439777" y="605562"/>
                  </a:lnTo>
                  <a:lnTo>
                    <a:pt x="2431814" y="567128"/>
                  </a:lnTo>
                  <a:lnTo>
                    <a:pt x="2416236" y="529493"/>
                  </a:lnTo>
                  <a:lnTo>
                    <a:pt x="2392934" y="493256"/>
                  </a:lnTo>
                  <a:lnTo>
                    <a:pt x="2361800" y="459015"/>
                  </a:lnTo>
                  <a:lnTo>
                    <a:pt x="2365749" y="452014"/>
                  </a:lnTo>
                  <a:lnTo>
                    <a:pt x="2369388" y="444918"/>
                  </a:lnTo>
                  <a:lnTo>
                    <a:pt x="2372694" y="437727"/>
                  </a:lnTo>
                  <a:lnTo>
                    <a:pt x="2375643" y="430440"/>
                  </a:lnTo>
                  <a:lnTo>
                    <a:pt x="2385145" y="391695"/>
                  </a:lnTo>
                  <a:lnTo>
                    <a:pt x="2385008" y="353433"/>
                  </a:lnTo>
                  <a:lnTo>
                    <a:pt x="2375826" y="316413"/>
                  </a:lnTo>
                  <a:lnTo>
                    <a:pt x="2358197" y="281390"/>
                  </a:lnTo>
                  <a:lnTo>
                    <a:pt x="2332716" y="249121"/>
                  </a:lnTo>
                  <a:lnTo>
                    <a:pt x="2299979" y="220363"/>
                  </a:lnTo>
                  <a:lnTo>
                    <a:pt x="2260582" y="195873"/>
                  </a:lnTo>
                  <a:lnTo>
                    <a:pt x="2215119" y="176408"/>
                  </a:lnTo>
                  <a:lnTo>
                    <a:pt x="2164188" y="162724"/>
                  </a:lnTo>
                  <a:lnTo>
                    <a:pt x="2151796" y="129714"/>
                  </a:lnTo>
                  <a:lnTo>
                    <a:pt x="2105056" y="71123"/>
                  </a:lnTo>
                  <a:lnTo>
                    <a:pt x="2071732" y="46900"/>
                  </a:lnTo>
                  <a:lnTo>
                    <a:pt x="2031264" y="26348"/>
                  </a:lnTo>
                  <a:lnTo>
                    <a:pt x="1987635" y="11724"/>
                  </a:lnTo>
                  <a:lnTo>
                    <a:pt x="1941933" y="2963"/>
                  </a:lnTo>
                  <a:lnTo>
                    <a:pt x="1895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98157" y="1281429"/>
              <a:ext cx="443611" cy="2992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04221" y="233134"/>
              <a:ext cx="2440305" cy="1296035"/>
            </a:xfrm>
            <a:custGeom>
              <a:avLst/>
              <a:gdLst/>
              <a:ahLst/>
              <a:cxnLst/>
              <a:rect l="l" t="t" r="r" b="b"/>
              <a:pathLst>
                <a:path w="2440304" h="1296035">
                  <a:moveTo>
                    <a:pt x="221469" y="426376"/>
                  </a:moveTo>
                  <a:lnTo>
                    <a:pt x="217984" y="385607"/>
                  </a:lnTo>
                  <a:lnTo>
                    <a:pt x="222642" y="345915"/>
                  </a:lnTo>
                  <a:lnTo>
                    <a:pt x="234939" y="307778"/>
                  </a:lnTo>
                  <a:lnTo>
                    <a:pt x="254371" y="271675"/>
                  </a:lnTo>
                  <a:lnTo>
                    <a:pt x="280435" y="238085"/>
                  </a:lnTo>
                  <a:lnTo>
                    <a:pt x="312626" y="207487"/>
                  </a:lnTo>
                  <a:lnTo>
                    <a:pt x="350440" y="180358"/>
                  </a:lnTo>
                  <a:lnTo>
                    <a:pt x="393375" y="157178"/>
                  </a:lnTo>
                  <a:lnTo>
                    <a:pt x="440925" y="138425"/>
                  </a:lnTo>
                  <a:lnTo>
                    <a:pt x="492588" y="124578"/>
                  </a:lnTo>
                  <a:lnTo>
                    <a:pt x="547859" y="116115"/>
                  </a:lnTo>
                  <a:lnTo>
                    <a:pt x="598603" y="113630"/>
                  </a:lnTo>
                  <a:lnTo>
                    <a:pt x="649042" y="116015"/>
                  </a:lnTo>
                  <a:lnTo>
                    <a:pt x="698506" y="123174"/>
                  </a:lnTo>
                  <a:lnTo>
                    <a:pt x="746324" y="135008"/>
                  </a:lnTo>
                  <a:lnTo>
                    <a:pt x="791826" y="151421"/>
                  </a:lnTo>
                  <a:lnTo>
                    <a:pt x="821527" y="118472"/>
                  </a:lnTo>
                  <a:lnTo>
                    <a:pt x="857792" y="90660"/>
                  </a:lnTo>
                  <a:lnTo>
                    <a:pt x="899475" y="68241"/>
                  </a:lnTo>
                  <a:lnTo>
                    <a:pt x="945425" y="51469"/>
                  </a:lnTo>
                  <a:lnTo>
                    <a:pt x="994495" y="40600"/>
                  </a:lnTo>
                  <a:lnTo>
                    <a:pt x="1045534" y="35889"/>
                  </a:lnTo>
                  <a:lnTo>
                    <a:pt x="1097396" y="37590"/>
                  </a:lnTo>
                  <a:lnTo>
                    <a:pt x="1148930" y="45959"/>
                  </a:lnTo>
                  <a:lnTo>
                    <a:pt x="1198988" y="61251"/>
                  </a:lnTo>
                  <a:lnTo>
                    <a:pt x="1235770" y="77983"/>
                  </a:lnTo>
                  <a:lnTo>
                    <a:pt x="1268838" y="98335"/>
                  </a:lnTo>
                  <a:lnTo>
                    <a:pt x="1295513" y="67831"/>
                  </a:lnTo>
                  <a:lnTo>
                    <a:pt x="1329026" y="42544"/>
                  </a:lnTo>
                  <a:lnTo>
                    <a:pt x="1368049" y="22796"/>
                  </a:lnTo>
                  <a:lnTo>
                    <a:pt x="1411253" y="8911"/>
                  </a:lnTo>
                  <a:lnTo>
                    <a:pt x="1457308" y="1211"/>
                  </a:lnTo>
                  <a:lnTo>
                    <a:pt x="1504885" y="19"/>
                  </a:lnTo>
                  <a:lnTo>
                    <a:pt x="1552656" y="5658"/>
                  </a:lnTo>
                  <a:lnTo>
                    <a:pt x="1599292" y="18452"/>
                  </a:lnTo>
                  <a:lnTo>
                    <a:pt x="1646377" y="40598"/>
                  </a:lnTo>
                  <a:lnTo>
                    <a:pt x="1685271" y="69887"/>
                  </a:lnTo>
                  <a:lnTo>
                    <a:pt x="1720508" y="44832"/>
                  </a:lnTo>
                  <a:lnTo>
                    <a:pt x="1760215" y="25251"/>
                  </a:lnTo>
                  <a:lnTo>
                    <a:pt x="1803301" y="11208"/>
                  </a:lnTo>
                  <a:lnTo>
                    <a:pt x="1848676" y="2770"/>
                  </a:lnTo>
                  <a:lnTo>
                    <a:pt x="1895250" y="0"/>
                  </a:lnTo>
                  <a:lnTo>
                    <a:pt x="1941933" y="2963"/>
                  </a:lnTo>
                  <a:lnTo>
                    <a:pt x="1987635" y="11724"/>
                  </a:lnTo>
                  <a:lnTo>
                    <a:pt x="2031264" y="26348"/>
                  </a:lnTo>
                  <a:lnTo>
                    <a:pt x="2071732" y="46900"/>
                  </a:lnTo>
                  <a:lnTo>
                    <a:pt x="2105056" y="71123"/>
                  </a:lnTo>
                  <a:lnTo>
                    <a:pt x="2131914" y="98954"/>
                  </a:lnTo>
                  <a:lnTo>
                    <a:pt x="2164188" y="162724"/>
                  </a:lnTo>
                  <a:lnTo>
                    <a:pt x="2215119" y="176408"/>
                  </a:lnTo>
                  <a:lnTo>
                    <a:pt x="2260582" y="195873"/>
                  </a:lnTo>
                  <a:lnTo>
                    <a:pt x="2299979" y="220363"/>
                  </a:lnTo>
                  <a:lnTo>
                    <a:pt x="2332716" y="249121"/>
                  </a:lnTo>
                  <a:lnTo>
                    <a:pt x="2358197" y="281390"/>
                  </a:lnTo>
                  <a:lnTo>
                    <a:pt x="2375826" y="316413"/>
                  </a:lnTo>
                  <a:lnTo>
                    <a:pt x="2385008" y="353433"/>
                  </a:lnTo>
                  <a:lnTo>
                    <a:pt x="2385145" y="391695"/>
                  </a:lnTo>
                  <a:lnTo>
                    <a:pt x="2375643" y="430440"/>
                  </a:lnTo>
                  <a:lnTo>
                    <a:pt x="2372694" y="437727"/>
                  </a:lnTo>
                  <a:lnTo>
                    <a:pt x="2369388" y="444918"/>
                  </a:lnTo>
                  <a:lnTo>
                    <a:pt x="2365749" y="452014"/>
                  </a:lnTo>
                  <a:lnTo>
                    <a:pt x="2361800" y="459015"/>
                  </a:lnTo>
                  <a:lnTo>
                    <a:pt x="2392934" y="493256"/>
                  </a:lnTo>
                  <a:lnTo>
                    <a:pt x="2416236" y="529493"/>
                  </a:lnTo>
                  <a:lnTo>
                    <a:pt x="2431814" y="567128"/>
                  </a:lnTo>
                  <a:lnTo>
                    <a:pt x="2439777" y="605562"/>
                  </a:lnTo>
                  <a:lnTo>
                    <a:pt x="2440235" y="644199"/>
                  </a:lnTo>
                  <a:lnTo>
                    <a:pt x="2433295" y="682438"/>
                  </a:lnTo>
                  <a:lnTo>
                    <a:pt x="2419066" y="719683"/>
                  </a:lnTo>
                  <a:lnTo>
                    <a:pt x="2397658" y="755334"/>
                  </a:lnTo>
                  <a:lnTo>
                    <a:pt x="2369178" y="788794"/>
                  </a:lnTo>
                  <a:lnTo>
                    <a:pt x="2333737" y="819464"/>
                  </a:lnTo>
                  <a:lnTo>
                    <a:pt x="2291442" y="846746"/>
                  </a:lnTo>
                  <a:lnTo>
                    <a:pt x="2250697" y="866508"/>
                  </a:lnTo>
                  <a:lnTo>
                    <a:pt x="2206939" y="882258"/>
                  </a:lnTo>
                  <a:lnTo>
                    <a:pt x="2160729" y="893841"/>
                  </a:lnTo>
                  <a:lnTo>
                    <a:pt x="2112626" y="901102"/>
                  </a:lnTo>
                  <a:lnTo>
                    <a:pt x="2107939" y="939346"/>
                  </a:lnTo>
                  <a:lnTo>
                    <a:pt x="2095167" y="975578"/>
                  </a:lnTo>
                  <a:lnTo>
                    <a:pt x="2074990" y="1009314"/>
                  </a:lnTo>
                  <a:lnTo>
                    <a:pt x="2048088" y="1040074"/>
                  </a:lnTo>
                  <a:lnTo>
                    <a:pt x="2015138" y="1067377"/>
                  </a:lnTo>
                  <a:lnTo>
                    <a:pt x="1976819" y="1090739"/>
                  </a:lnTo>
                  <a:lnTo>
                    <a:pt x="1933812" y="1109681"/>
                  </a:lnTo>
                  <a:lnTo>
                    <a:pt x="1886794" y="1123720"/>
                  </a:lnTo>
                  <a:lnTo>
                    <a:pt x="1836444" y="1132374"/>
                  </a:lnTo>
                  <a:lnTo>
                    <a:pt x="1783442" y="1135163"/>
                  </a:lnTo>
                  <a:lnTo>
                    <a:pt x="1738635" y="1132657"/>
                  </a:lnTo>
                  <a:lnTo>
                    <a:pt x="1694923" y="1125781"/>
                  </a:lnTo>
                  <a:lnTo>
                    <a:pt x="1652926" y="1114643"/>
                  </a:lnTo>
                  <a:lnTo>
                    <a:pt x="1613262" y="1099349"/>
                  </a:lnTo>
                  <a:lnTo>
                    <a:pt x="1594925" y="1134502"/>
                  </a:lnTo>
                  <a:lnTo>
                    <a:pt x="1570836" y="1166789"/>
                  </a:lnTo>
                  <a:lnTo>
                    <a:pt x="1541561" y="1195992"/>
                  </a:lnTo>
                  <a:lnTo>
                    <a:pt x="1507664" y="1221890"/>
                  </a:lnTo>
                  <a:lnTo>
                    <a:pt x="1469712" y="1244263"/>
                  </a:lnTo>
                  <a:lnTo>
                    <a:pt x="1428271" y="1262893"/>
                  </a:lnTo>
                  <a:lnTo>
                    <a:pt x="1383906" y="1277560"/>
                  </a:lnTo>
                  <a:lnTo>
                    <a:pt x="1337183" y="1288043"/>
                  </a:lnTo>
                  <a:lnTo>
                    <a:pt x="1288668" y="1294123"/>
                  </a:lnTo>
                  <a:lnTo>
                    <a:pt x="1238927" y="1295582"/>
                  </a:lnTo>
                  <a:lnTo>
                    <a:pt x="1188525" y="1292198"/>
                  </a:lnTo>
                  <a:lnTo>
                    <a:pt x="1138028" y="1283753"/>
                  </a:lnTo>
                  <a:lnTo>
                    <a:pt x="1088840" y="1270198"/>
                  </a:lnTo>
                  <a:lnTo>
                    <a:pt x="1043018" y="1252005"/>
                  </a:lnTo>
                  <a:lnTo>
                    <a:pt x="1001151" y="1229502"/>
                  </a:lnTo>
                  <a:lnTo>
                    <a:pt x="963833" y="1203018"/>
                  </a:lnTo>
                  <a:lnTo>
                    <a:pt x="931653" y="1172882"/>
                  </a:lnTo>
                  <a:lnTo>
                    <a:pt x="886591" y="1190046"/>
                  </a:lnTo>
                  <a:lnTo>
                    <a:pt x="840096" y="1203058"/>
                  </a:lnTo>
                  <a:lnTo>
                    <a:pt x="792616" y="1211998"/>
                  </a:lnTo>
                  <a:lnTo>
                    <a:pt x="744599" y="1216948"/>
                  </a:lnTo>
                  <a:lnTo>
                    <a:pt x="696495" y="1217988"/>
                  </a:lnTo>
                  <a:lnTo>
                    <a:pt x="648752" y="1215200"/>
                  </a:lnTo>
                  <a:lnTo>
                    <a:pt x="601818" y="1208664"/>
                  </a:lnTo>
                  <a:lnTo>
                    <a:pt x="556142" y="1198463"/>
                  </a:lnTo>
                  <a:lnTo>
                    <a:pt x="512172" y="1184676"/>
                  </a:lnTo>
                  <a:lnTo>
                    <a:pt x="470356" y="1167385"/>
                  </a:lnTo>
                  <a:lnTo>
                    <a:pt x="431144" y="1146672"/>
                  </a:lnTo>
                  <a:lnTo>
                    <a:pt x="394983" y="1122617"/>
                  </a:lnTo>
                  <a:lnTo>
                    <a:pt x="362322" y="1095301"/>
                  </a:lnTo>
                  <a:lnTo>
                    <a:pt x="333610" y="1064805"/>
                  </a:lnTo>
                  <a:lnTo>
                    <a:pt x="330562" y="1060995"/>
                  </a:lnTo>
                  <a:lnTo>
                    <a:pt x="329038" y="1059090"/>
                  </a:lnTo>
                  <a:lnTo>
                    <a:pt x="272232" y="1059176"/>
                  </a:lnTo>
                  <a:lnTo>
                    <a:pt x="218622" y="1050263"/>
                  </a:lnTo>
                  <a:lnTo>
                    <a:pt x="169851" y="1033287"/>
                  </a:lnTo>
                  <a:lnTo>
                    <a:pt x="127560" y="1009187"/>
                  </a:lnTo>
                  <a:lnTo>
                    <a:pt x="93392" y="978900"/>
                  </a:lnTo>
                  <a:lnTo>
                    <a:pt x="68987" y="943364"/>
                  </a:lnTo>
                  <a:lnTo>
                    <a:pt x="55988" y="903515"/>
                  </a:lnTo>
                  <a:lnTo>
                    <a:pt x="55551" y="864792"/>
                  </a:lnTo>
                  <a:lnTo>
                    <a:pt x="66592" y="827378"/>
                  </a:lnTo>
                  <a:lnTo>
                    <a:pt x="88492" y="792537"/>
                  </a:lnTo>
                  <a:lnTo>
                    <a:pt x="120631" y="761529"/>
                  </a:lnTo>
                  <a:lnTo>
                    <a:pt x="75395" y="736805"/>
                  </a:lnTo>
                  <a:lnTo>
                    <a:pt x="40188" y="706278"/>
                  </a:lnTo>
                  <a:lnTo>
                    <a:pt x="15535" y="671409"/>
                  </a:lnTo>
                  <a:lnTo>
                    <a:pt x="1963" y="633655"/>
                  </a:lnTo>
                  <a:lnTo>
                    <a:pt x="0" y="594478"/>
                  </a:lnTo>
                  <a:lnTo>
                    <a:pt x="10170" y="555336"/>
                  </a:lnTo>
                  <a:lnTo>
                    <a:pt x="33001" y="517689"/>
                  </a:lnTo>
                  <a:lnTo>
                    <a:pt x="67864" y="484197"/>
                  </a:lnTo>
                  <a:lnTo>
                    <a:pt x="111884" y="457872"/>
                  </a:lnTo>
                  <a:lnTo>
                    <a:pt x="163071" y="439643"/>
                  </a:lnTo>
                  <a:lnTo>
                    <a:pt x="219437" y="430440"/>
                  </a:lnTo>
                  <a:lnTo>
                    <a:pt x="221469" y="426376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98157" y="989584"/>
              <a:ext cx="1734820" cy="591185"/>
            </a:xfrm>
            <a:custGeom>
              <a:avLst/>
              <a:gdLst/>
              <a:ahLst/>
              <a:cxnLst/>
              <a:rect l="l" t="t" r="r" b="b"/>
              <a:pathLst>
                <a:path w="1734820" h="591185">
                  <a:moveTo>
                    <a:pt x="72009" y="554989"/>
                  </a:moveTo>
                  <a:lnTo>
                    <a:pt x="69177" y="569037"/>
                  </a:lnTo>
                  <a:lnTo>
                    <a:pt x="61452" y="580501"/>
                  </a:lnTo>
                  <a:lnTo>
                    <a:pt x="49988" y="588226"/>
                  </a:lnTo>
                  <a:lnTo>
                    <a:pt x="35941" y="591057"/>
                  </a:lnTo>
                  <a:lnTo>
                    <a:pt x="21967" y="588226"/>
                  </a:lnTo>
                  <a:lnTo>
                    <a:pt x="10540" y="580501"/>
                  </a:lnTo>
                  <a:lnTo>
                    <a:pt x="2829" y="569037"/>
                  </a:lnTo>
                  <a:lnTo>
                    <a:pt x="0" y="554989"/>
                  </a:lnTo>
                  <a:lnTo>
                    <a:pt x="2829" y="541016"/>
                  </a:lnTo>
                  <a:lnTo>
                    <a:pt x="10541" y="529590"/>
                  </a:lnTo>
                  <a:lnTo>
                    <a:pt x="21967" y="521878"/>
                  </a:lnTo>
                  <a:lnTo>
                    <a:pt x="35941" y="519049"/>
                  </a:lnTo>
                  <a:lnTo>
                    <a:pt x="49988" y="521878"/>
                  </a:lnTo>
                  <a:lnTo>
                    <a:pt x="61452" y="529589"/>
                  </a:lnTo>
                  <a:lnTo>
                    <a:pt x="69177" y="541016"/>
                  </a:lnTo>
                  <a:lnTo>
                    <a:pt x="72009" y="554989"/>
                  </a:lnTo>
                  <a:close/>
                </a:path>
                <a:path w="1734820" h="591185">
                  <a:moveTo>
                    <a:pt x="225806" y="494029"/>
                  </a:moveTo>
                  <a:lnTo>
                    <a:pt x="220164" y="522031"/>
                  </a:lnTo>
                  <a:lnTo>
                    <a:pt x="204771" y="544877"/>
                  </a:lnTo>
                  <a:lnTo>
                    <a:pt x="181925" y="560270"/>
                  </a:lnTo>
                  <a:lnTo>
                    <a:pt x="153924" y="565912"/>
                  </a:lnTo>
                  <a:lnTo>
                    <a:pt x="125902" y="560270"/>
                  </a:lnTo>
                  <a:lnTo>
                    <a:pt x="103012" y="544877"/>
                  </a:lnTo>
                  <a:lnTo>
                    <a:pt x="87576" y="522031"/>
                  </a:lnTo>
                  <a:lnTo>
                    <a:pt x="81915" y="494029"/>
                  </a:lnTo>
                  <a:lnTo>
                    <a:pt x="87576" y="466008"/>
                  </a:lnTo>
                  <a:lnTo>
                    <a:pt x="103012" y="443118"/>
                  </a:lnTo>
                  <a:lnTo>
                    <a:pt x="125902" y="427682"/>
                  </a:lnTo>
                  <a:lnTo>
                    <a:pt x="153924" y="422020"/>
                  </a:lnTo>
                  <a:lnTo>
                    <a:pt x="181925" y="427682"/>
                  </a:lnTo>
                  <a:lnTo>
                    <a:pt x="204771" y="443118"/>
                  </a:lnTo>
                  <a:lnTo>
                    <a:pt x="220164" y="466008"/>
                  </a:lnTo>
                  <a:lnTo>
                    <a:pt x="225806" y="494029"/>
                  </a:lnTo>
                  <a:close/>
                </a:path>
                <a:path w="1734820" h="591185">
                  <a:moveTo>
                    <a:pt x="443611" y="399795"/>
                  </a:moveTo>
                  <a:lnTo>
                    <a:pt x="435137" y="441844"/>
                  </a:lnTo>
                  <a:lnTo>
                    <a:pt x="412019" y="476154"/>
                  </a:lnTo>
                  <a:lnTo>
                    <a:pt x="377709" y="499272"/>
                  </a:lnTo>
                  <a:lnTo>
                    <a:pt x="335661" y="507745"/>
                  </a:lnTo>
                  <a:lnTo>
                    <a:pt x="293665" y="499272"/>
                  </a:lnTo>
                  <a:lnTo>
                    <a:pt x="259349" y="476154"/>
                  </a:lnTo>
                  <a:lnTo>
                    <a:pt x="236202" y="441844"/>
                  </a:lnTo>
                  <a:lnTo>
                    <a:pt x="227711" y="399795"/>
                  </a:lnTo>
                  <a:lnTo>
                    <a:pt x="236202" y="357800"/>
                  </a:lnTo>
                  <a:lnTo>
                    <a:pt x="259349" y="323484"/>
                  </a:lnTo>
                  <a:lnTo>
                    <a:pt x="293665" y="300337"/>
                  </a:lnTo>
                  <a:lnTo>
                    <a:pt x="335661" y="291845"/>
                  </a:lnTo>
                  <a:lnTo>
                    <a:pt x="377709" y="300337"/>
                  </a:lnTo>
                  <a:lnTo>
                    <a:pt x="412019" y="323484"/>
                  </a:lnTo>
                  <a:lnTo>
                    <a:pt x="435137" y="357800"/>
                  </a:lnTo>
                  <a:lnTo>
                    <a:pt x="443611" y="399795"/>
                  </a:lnTo>
                  <a:close/>
                </a:path>
                <a:path w="1734820" h="591185">
                  <a:moveTo>
                    <a:pt x="372364" y="24002"/>
                  </a:moveTo>
                  <a:lnTo>
                    <a:pt x="335035" y="24020"/>
                  </a:lnTo>
                  <a:lnTo>
                    <a:pt x="298338" y="19954"/>
                  </a:lnTo>
                  <a:lnTo>
                    <a:pt x="262903" y="11912"/>
                  </a:lnTo>
                  <a:lnTo>
                    <a:pt x="229362" y="0"/>
                  </a:lnTo>
                </a:path>
                <a:path w="1734820" h="591185">
                  <a:moveTo>
                    <a:pt x="498475" y="285495"/>
                  </a:moveTo>
                  <a:lnTo>
                    <a:pt x="483246" y="289496"/>
                  </a:lnTo>
                  <a:lnTo>
                    <a:pt x="467709" y="292734"/>
                  </a:lnTo>
                  <a:lnTo>
                    <a:pt x="451933" y="295211"/>
                  </a:lnTo>
                  <a:lnTo>
                    <a:pt x="435991" y="296925"/>
                  </a:lnTo>
                </a:path>
                <a:path w="1734820" h="591185">
                  <a:moveTo>
                    <a:pt x="1037590" y="411225"/>
                  </a:moveTo>
                  <a:lnTo>
                    <a:pt x="1026713" y="398730"/>
                  </a:lnTo>
                  <a:lnTo>
                    <a:pt x="1016777" y="385841"/>
                  </a:lnTo>
                  <a:lnTo>
                    <a:pt x="1007818" y="372596"/>
                  </a:lnTo>
                  <a:lnTo>
                    <a:pt x="999871" y="359028"/>
                  </a:lnTo>
                </a:path>
                <a:path w="1734820" h="591185">
                  <a:moveTo>
                    <a:pt x="1734566" y="281050"/>
                  </a:moveTo>
                  <a:lnTo>
                    <a:pt x="1732401" y="295572"/>
                  </a:lnTo>
                  <a:lnTo>
                    <a:pt x="1729152" y="309975"/>
                  </a:lnTo>
                  <a:lnTo>
                    <a:pt x="1724832" y="324234"/>
                  </a:lnTo>
                  <a:lnTo>
                    <a:pt x="1719452" y="338327"/>
                  </a:lnTo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27363" y="912368"/>
              <a:ext cx="192786" cy="22301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25690" y="298831"/>
              <a:ext cx="2139315" cy="470534"/>
            </a:xfrm>
            <a:custGeom>
              <a:avLst/>
              <a:gdLst/>
              <a:ahLst/>
              <a:cxnLst/>
              <a:rect l="l" t="t" r="r" b="b"/>
              <a:pathLst>
                <a:path w="2139315" h="470534">
                  <a:moveTo>
                    <a:pt x="2139187" y="390144"/>
                  </a:moveTo>
                  <a:lnTo>
                    <a:pt x="2123676" y="412686"/>
                  </a:lnTo>
                  <a:lnTo>
                    <a:pt x="2104723" y="433705"/>
                  </a:lnTo>
                  <a:lnTo>
                    <a:pt x="2082555" y="453009"/>
                  </a:lnTo>
                  <a:lnTo>
                    <a:pt x="2057400" y="470408"/>
                  </a:lnTo>
                </a:path>
                <a:path w="2139315" h="470534">
                  <a:moveTo>
                    <a:pt x="1943100" y="92456"/>
                  </a:moveTo>
                  <a:lnTo>
                    <a:pt x="1945096" y="101889"/>
                  </a:lnTo>
                  <a:lnTo>
                    <a:pt x="1946497" y="111347"/>
                  </a:lnTo>
                  <a:lnTo>
                    <a:pt x="1947279" y="120852"/>
                  </a:lnTo>
                  <a:lnTo>
                    <a:pt x="1947417" y="130429"/>
                  </a:lnTo>
                </a:path>
                <a:path w="2139315" h="470534">
                  <a:moveTo>
                    <a:pt x="1421256" y="48260"/>
                  </a:moveTo>
                  <a:lnTo>
                    <a:pt x="1429821" y="35361"/>
                  </a:lnTo>
                  <a:lnTo>
                    <a:pt x="1439672" y="22987"/>
                  </a:lnTo>
                  <a:lnTo>
                    <a:pt x="1450760" y="11183"/>
                  </a:lnTo>
                  <a:lnTo>
                    <a:pt x="1463039" y="0"/>
                  </a:lnTo>
                </a:path>
                <a:path w="2139315" h="470534">
                  <a:moveTo>
                    <a:pt x="1029588" y="71247"/>
                  </a:moveTo>
                  <a:lnTo>
                    <a:pt x="1033353" y="60541"/>
                  </a:lnTo>
                  <a:lnTo>
                    <a:pt x="1037986" y="49990"/>
                  </a:lnTo>
                  <a:lnTo>
                    <a:pt x="1043501" y="39653"/>
                  </a:lnTo>
                  <a:lnTo>
                    <a:pt x="1049908" y="29591"/>
                  </a:lnTo>
                </a:path>
                <a:path w="2139315" h="470534">
                  <a:moveTo>
                    <a:pt x="570102" y="85471"/>
                  </a:moveTo>
                  <a:lnTo>
                    <a:pt x="589716" y="94370"/>
                  </a:lnTo>
                  <a:lnTo>
                    <a:pt x="608520" y="104092"/>
                  </a:lnTo>
                  <a:lnTo>
                    <a:pt x="626467" y="114599"/>
                  </a:lnTo>
                  <a:lnTo>
                    <a:pt x="643508" y="125857"/>
                  </a:lnTo>
                </a:path>
                <a:path w="2139315" h="470534">
                  <a:moveTo>
                    <a:pt x="12826" y="403225"/>
                  </a:moveTo>
                  <a:lnTo>
                    <a:pt x="8751" y="392701"/>
                  </a:lnTo>
                  <a:lnTo>
                    <a:pt x="5270" y="382095"/>
                  </a:lnTo>
                  <a:lnTo>
                    <a:pt x="2361" y="371417"/>
                  </a:lnTo>
                  <a:lnTo>
                    <a:pt x="0" y="360680"/>
                  </a:lnTo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429627" y="457327"/>
            <a:ext cx="8197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structure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7124827" y="701421"/>
            <a:ext cx="1428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conditionnelle</a:t>
            </a:r>
            <a:r>
              <a:rPr sz="16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A40020"/>
                </a:solidFill>
                <a:latin typeface="Tahoma"/>
                <a:cs typeface="Tahoma"/>
              </a:rPr>
              <a:t>à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47331" y="945261"/>
            <a:ext cx="981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A40020"/>
                </a:solidFill>
                <a:latin typeface="Tahoma"/>
                <a:cs typeface="Tahoma"/>
              </a:rPr>
              <a:t>deux</a:t>
            </a:r>
            <a:r>
              <a:rPr sz="1600" spc="-8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A40020"/>
                </a:solidFill>
                <a:latin typeface="Tahoma"/>
                <a:cs typeface="Tahoma"/>
              </a:rPr>
              <a:t>choix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4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443229"/>
            <a:ext cx="4481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ahoma"/>
                <a:cs typeface="Tahoma"/>
              </a:rPr>
              <a:t>Nature </a:t>
            </a:r>
            <a:r>
              <a:rPr sz="3600" dirty="0">
                <a:latin typeface="Tahoma"/>
                <a:cs typeface="Tahoma"/>
              </a:rPr>
              <a:t>de la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condition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2200" y="3874008"/>
            <a:ext cx="4572000" cy="2923540"/>
          </a:xfrm>
          <a:custGeom>
            <a:avLst/>
            <a:gdLst/>
            <a:ahLst/>
            <a:cxnLst/>
            <a:rect l="l" t="t" r="r" b="b"/>
            <a:pathLst>
              <a:path w="4572000" h="2923540">
                <a:moveTo>
                  <a:pt x="0" y="2923032"/>
                </a:moveTo>
                <a:lnTo>
                  <a:pt x="4572000" y="2923032"/>
                </a:lnTo>
                <a:lnTo>
                  <a:pt x="4572000" y="0"/>
                </a:lnTo>
                <a:lnTo>
                  <a:pt x="0" y="0"/>
                </a:lnTo>
                <a:lnTo>
                  <a:pt x="0" y="2923032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1044" y="1313053"/>
            <a:ext cx="7869555" cy="514921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965"/>
              </a:spcBef>
              <a:buFont typeface="Wingdings"/>
              <a:buChar char=""/>
              <a:tabLst>
                <a:tab pos="2660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La condition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être simple ou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complexe</a:t>
            </a:r>
            <a:endParaRPr sz="1800">
              <a:latin typeface="Tahoma"/>
              <a:cs typeface="Tahoma"/>
            </a:endParaRPr>
          </a:p>
          <a:p>
            <a:pPr marL="926465" marR="175895" lvl="1" indent="-457200">
              <a:lnSpc>
                <a:spcPct val="140000"/>
              </a:lnSpc>
              <a:spcBef>
                <a:spcPts val="5"/>
              </a:spcBef>
              <a:buFont typeface="Wingdings"/>
              <a:buChar char=""/>
              <a:tabLst>
                <a:tab pos="7232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L’expression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d’une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condition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simple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 l’une des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formes suivantes :  A&gt;B,A&lt;B, A&gt;=B, A&lt;=B, A=B ou A&lt;&gt;B ou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variable</a:t>
            </a:r>
            <a:r>
              <a:rPr sz="1800" spc="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booléenne</a:t>
            </a:r>
            <a:endParaRPr sz="1800">
              <a:latin typeface="Tahoma"/>
              <a:cs typeface="Tahoma"/>
            </a:endParaRPr>
          </a:p>
          <a:p>
            <a:pPr marL="469265" marR="5080" lvl="1">
              <a:lnSpc>
                <a:spcPct val="120000"/>
              </a:lnSpc>
              <a:spcBef>
                <a:spcPts val="430"/>
              </a:spcBef>
              <a:buFont typeface="Wingdings"/>
              <a:buChar char=""/>
              <a:tabLst>
                <a:tab pos="723265" algn="l"/>
              </a:tabLst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condition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complexe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combine plusieurs conditions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simples 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l’aide 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opérations logiques ET, OU et</a:t>
            </a:r>
            <a:r>
              <a:rPr sz="18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NON.</a:t>
            </a:r>
            <a:endParaRPr sz="1800">
              <a:latin typeface="Tahoma"/>
              <a:cs typeface="Tahoma"/>
            </a:endParaRPr>
          </a:p>
          <a:p>
            <a:pPr marL="194945" indent="-182245">
              <a:lnSpc>
                <a:spcPct val="100000"/>
              </a:lnSpc>
              <a:spcBef>
                <a:spcPts val="865"/>
              </a:spcBef>
              <a:buFont typeface="Wingdings"/>
              <a:buChar char=""/>
              <a:tabLst>
                <a:tab pos="194945" algn="l"/>
              </a:tabLst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Exemple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 calculer l’expression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1/x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+</a:t>
            </a:r>
            <a:r>
              <a:rPr sz="1800" spc="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1/y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ahoma"/>
              <a:cs typeface="Tahoma"/>
            </a:endParaRPr>
          </a:p>
          <a:p>
            <a:pPr marL="161226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Algorithme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somme_des_inverses</a:t>
            </a:r>
            <a:endParaRPr sz="1800">
              <a:latin typeface="Tahoma"/>
              <a:cs typeface="Tahoma"/>
            </a:endParaRPr>
          </a:p>
          <a:p>
            <a:pPr marL="1612265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800">
              <a:latin typeface="Tahoma"/>
              <a:cs typeface="Tahoma"/>
            </a:endParaRPr>
          </a:p>
          <a:p>
            <a:pPr marL="1612265" marR="5179695">
              <a:lnSpc>
                <a:spcPct val="100000"/>
              </a:lnSpc>
            </a:pPr>
            <a:r>
              <a:rPr sz="1800" spc="-35" dirty="0">
                <a:solidFill>
                  <a:srgbClr val="40458B"/>
                </a:solidFill>
                <a:latin typeface="Tahoma"/>
                <a:cs typeface="Tahoma"/>
              </a:rPr>
              <a:t>x,y,s</a:t>
            </a:r>
            <a:r>
              <a:rPr sz="1800" spc="-8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(réel)  Début</a:t>
            </a:r>
            <a:endParaRPr sz="1800">
              <a:latin typeface="Tahoma"/>
              <a:cs typeface="Tahoma"/>
            </a:endParaRPr>
          </a:p>
          <a:p>
            <a:pPr marL="2070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(x,y)</a:t>
            </a:r>
            <a:endParaRPr sz="1800">
              <a:latin typeface="Tahoma"/>
              <a:cs typeface="Tahoma"/>
            </a:endParaRPr>
          </a:p>
          <a:p>
            <a:pPr marL="2070100">
              <a:lnSpc>
                <a:spcPts val="2155"/>
              </a:lnSpc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Si (x&lt;&gt;0) ET (y&lt;&gt;0)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800">
              <a:latin typeface="Tahoma"/>
              <a:cs typeface="Tahoma"/>
            </a:endParaRPr>
          </a:p>
          <a:p>
            <a:pPr marL="2070100" marR="3835400" indent="457200">
              <a:lnSpc>
                <a:spcPts val="2260"/>
              </a:lnSpc>
              <a:spcBef>
                <a:spcPts val="385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 </a:t>
            </a:r>
            <a:r>
              <a:rPr sz="2200" spc="-5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2200" spc="-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1/x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+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1/y 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(s)</a:t>
            </a:r>
            <a:endParaRPr sz="1800">
              <a:latin typeface="Tahoma"/>
              <a:cs typeface="Tahoma"/>
            </a:endParaRPr>
          </a:p>
          <a:p>
            <a:pPr marL="2070100">
              <a:lnSpc>
                <a:spcPts val="2065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si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1194" y="6436258"/>
            <a:ext cx="324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127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ahoma"/>
                <a:cs typeface="Tahoma"/>
              </a:rPr>
              <a:t>Exemple</a:t>
            </a:r>
            <a:r>
              <a:rPr sz="3600" spc="-40" dirty="0">
                <a:latin typeface="Tahoma"/>
                <a:cs typeface="Tahoma"/>
              </a:rPr>
              <a:t> </a:t>
            </a:r>
            <a:r>
              <a:rPr sz="3600" dirty="0">
                <a:latin typeface="Tahoma"/>
                <a:cs typeface="Tahoma"/>
              </a:rPr>
              <a:t>1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6400" y="2057400"/>
            <a:ext cx="5715000" cy="3983990"/>
          </a:xfrm>
          <a:custGeom>
            <a:avLst/>
            <a:gdLst/>
            <a:ahLst/>
            <a:cxnLst/>
            <a:rect l="l" t="t" r="r" b="b"/>
            <a:pathLst>
              <a:path w="5715000" h="3983990">
                <a:moveTo>
                  <a:pt x="0" y="3983736"/>
                </a:moveTo>
                <a:lnTo>
                  <a:pt x="5715000" y="3983736"/>
                </a:lnTo>
                <a:lnTo>
                  <a:pt x="5715000" y="0"/>
                </a:lnTo>
                <a:lnTo>
                  <a:pt x="0" y="0"/>
                </a:lnTo>
                <a:lnTo>
                  <a:pt x="0" y="3983736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8340" y="1250950"/>
            <a:ext cx="7884159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marR="508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184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Éditer la plus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grande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valeur.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principe 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suivant : si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condition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&gt; 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vérifiée,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nombre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cherché, sinon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y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nombre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cherché.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ahoma"/>
              <a:cs typeface="Tahoma"/>
            </a:endParaRPr>
          </a:p>
          <a:p>
            <a:pPr marL="1079500" marR="469582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Algorithme plus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grand  </a:t>
            </a:r>
            <a:r>
              <a:rPr sz="1700" spc="-25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700">
              <a:latin typeface="Tahoma"/>
              <a:cs typeface="Tahoma"/>
            </a:endParaRPr>
          </a:p>
          <a:p>
            <a:pPr marL="1079500" marR="5730875">
              <a:lnSpc>
                <a:spcPct val="100000"/>
              </a:lnSpc>
            </a:pPr>
            <a:r>
              <a:rPr sz="1700" spc="-30" dirty="0">
                <a:solidFill>
                  <a:srgbClr val="40458B"/>
                </a:solidFill>
                <a:latin typeface="Tahoma"/>
                <a:cs typeface="Tahoma"/>
              </a:rPr>
              <a:t>x,y,z</a:t>
            </a:r>
            <a:r>
              <a:rPr sz="1700" spc="-9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(Réel)  Début</a:t>
            </a:r>
            <a:endParaRPr sz="1700">
              <a:latin typeface="Tahoma"/>
              <a:cs typeface="Tahoma"/>
            </a:endParaRPr>
          </a:p>
          <a:p>
            <a:pPr marL="1536700" marR="4615815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Écrire("donner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x“) 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7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(x)</a:t>
            </a:r>
            <a:endParaRPr sz="1700">
              <a:latin typeface="Tahoma"/>
              <a:cs typeface="Tahoma"/>
            </a:endParaRPr>
          </a:p>
          <a:p>
            <a:pPr marL="1536700" marR="4551680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 ("donner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y“) 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7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(y)</a:t>
            </a:r>
            <a:endParaRPr sz="1700">
              <a:latin typeface="Tahoma"/>
              <a:cs typeface="Tahoma"/>
            </a:endParaRPr>
          </a:p>
          <a:p>
            <a:pPr marL="1536700">
              <a:lnSpc>
                <a:spcPts val="2035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x &gt; y</a:t>
            </a:r>
            <a:r>
              <a:rPr sz="17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700">
              <a:latin typeface="Tahoma"/>
              <a:cs typeface="Tahoma"/>
            </a:endParaRPr>
          </a:p>
          <a:p>
            <a:pPr marL="1994535">
              <a:lnSpc>
                <a:spcPts val="2035"/>
              </a:lnSpc>
            </a:pP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z</a:t>
            </a:r>
            <a:r>
              <a:rPr sz="17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700" spc="9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endParaRPr sz="1700">
              <a:latin typeface="Tahoma"/>
              <a:cs typeface="Tahoma"/>
            </a:endParaRPr>
          </a:p>
          <a:p>
            <a:pPr marL="1536700">
              <a:lnSpc>
                <a:spcPts val="2035"/>
              </a:lnSpc>
              <a:spcBef>
                <a:spcPts val="15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700">
              <a:latin typeface="Tahoma"/>
              <a:cs typeface="Tahoma"/>
            </a:endParaRPr>
          </a:p>
          <a:p>
            <a:pPr marL="1994535">
              <a:lnSpc>
                <a:spcPts val="2035"/>
              </a:lnSpc>
            </a:pP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z</a:t>
            </a:r>
            <a:r>
              <a:rPr sz="17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700" spc="9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endParaRPr sz="1700">
              <a:latin typeface="Tahoma"/>
              <a:cs typeface="Tahoma"/>
            </a:endParaRPr>
          </a:p>
          <a:p>
            <a:pPr marL="1536700">
              <a:lnSpc>
                <a:spcPct val="100000"/>
              </a:lnSpc>
              <a:spcBef>
                <a:spcPts val="10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fin si</a:t>
            </a:r>
            <a:endParaRPr sz="1700">
              <a:latin typeface="Tahoma"/>
              <a:cs typeface="Tahoma"/>
            </a:endParaRPr>
          </a:p>
          <a:p>
            <a:pPr marL="1536700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 ("le plus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grand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de",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x,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"et </a:t>
            </a:r>
            <a:r>
              <a:rPr sz="1700" spc="-25" dirty="0">
                <a:solidFill>
                  <a:srgbClr val="40458B"/>
                </a:solidFill>
                <a:latin typeface="Tahoma"/>
                <a:cs typeface="Tahoma"/>
              </a:rPr>
              <a:t>de",y,</a:t>
            </a:r>
            <a:r>
              <a:rPr sz="1700" spc="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"est",z)</a:t>
            </a:r>
            <a:endParaRPr sz="1700">
              <a:latin typeface="Tahoma"/>
              <a:cs typeface="Tahoma"/>
            </a:endParaRPr>
          </a:p>
          <a:p>
            <a:pPr marL="1079500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700">
              <a:latin typeface="Tahoma"/>
              <a:cs typeface="Tahoma"/>
            </a:endParaRPr>
          </a:p>
          <a:p>
            <a:pPr marL="265430" indent="-253365">
              <a:lnSpc>
                <a:spcPct val="100000"/>
              </a:lnSpc>
              <a:spcBef>
                <a:spcPts val="950"/>
              </a:spcBef>
              <a:buClr>
                <a:srgbClr val="40458B"/>
              </a:buClr>
              <a:buFont typeface="Wingdings"/>
              <a:buChar char=""/>
              <a:tabLst>
                <a:tab pos="266065" algn="l"/>
              </a:tabLst>
            </a:pP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Travail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à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faire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un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programme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qui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lit un nombre entier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puis</a:t>
            </a:r>
            <a:r>
              <a:rPr sz="1800" spc="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qui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6371640"/>
            <a:ext cx="2810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vérifie s'il est pair ou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impair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6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517906"/>
            <a:ext cx="7390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Tahoma"/>
                <a:cs typeface="Tahoma"/>
              </a:rPr>
              <a:t>Structures </a:t>
            </a:r>
            <a:r>
              <a:rPr dirty="0">
                <a:latin typeface="Tahoma"/>
                <a:cs typeface="Tahoma"/>
              </a:rPr>
              <a:t>conditionnelles imbriquées</a:t>
            </a:r>
            <a:r>
              <a:rPr spc="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(1)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243329"/>
            <a:ext cx="7644130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3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58445" algn="l"/>
              </a:tabLst>
            </a:pP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Si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Action est une instruction conditionnelle alors on parle </a:t>
            </a:r>
            <a:r>
              <a:rPr sz="1800" spc="-5" dirty="0">
                <a:solidFill>
                  <a:srgbClr val="A40020"/>
                </a:solidFill>
                <a:latin typeface="Arial"/>
                <a:cs typeface="Arial"/>
              </a:rPr>
              <a:t>d’instruction  conditionnelle</a:t>
            </a:r>
            <a:r>
              <a:rPr sz="1800" spc="2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A40020"/>
                </a:solidFill>
                <a:latin typeface="Arial"/>
                <a:cs typeface="Arial"/>
              </a:rPr>
              <a:t>imbriquée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258445" algn="l"/>
              </a:tabLst>
            </a:pPr>
            <a:r>
              <a:rPr sz="1800" b="1" spc="-50" dirty="0">
                <a:solidFill>
                  <a:srgbClr val="40458B"/>
                </a:solidFill>
                <a:latin typeface="Arial"/>
                <a:cs typeface="Arial"/>
              </a:rPr>
              <a:t>Exemple</a:t>
            </a:r>
            <a:r>
              <a:rPr sz="1800" spc="-50" dirty="0">
                <a:solidFill>
                  <a:srgbClr val="40458B"/>
                </a:solidFill>
                <a:latin typeface="Arial"/>
                <a:cs typeface="Arial"/>
              </a:rPr>
              <a:t>: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Un robot conduit une voiture 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,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il peut exécuter 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3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actions 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:  s’arrêter,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ralentir ou passer en 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fonction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de la couleur des 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feux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(qui sera</a:t>
            </a:r>
            <a:r>
              <a:rPr sz="1800" spc="6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une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2395854"/>
            <a:ext cx="155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variable</a:t>
            </a:r>
            <a:r>
              <a:rPr sz="1800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"/>
                <a:cs typeface="Arial"/>
              </a:rPr>
              <a:t>saisie)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4600" y="2514600"/>
            <a:ext cx="4572000" cy="4241800"/>
          </a:xfrm>
          <a:prstGeom prst="rect">
            <a:avLst/>
          </a:prstGeom>
          <a:ln w="9144">
            <a:solidFill>
              <a:srgbClr val="40458B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 marR="2406015">
              <a:lnSpc>
                <a:spcPct val="100000"/>
              </a:lnSpc>
              <a:spcBef>
                <a:spcPts val="355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Algorithme circulation  </a:t>
            </a:r>
            <a:r>
              <a:rPr sz="1700" spc="-25" dirty="0">
                <a:solidFill>
                  <a:srgbClr val="40458B"/>
                </a:solidFill>
                <a:latin typeface="Tahoma"/>
                <a:cs typeface="Tahoma"/>
              </a:rPr>
              <a:t>Var</a:t>
            </a:r>
            <a:endParaRPr sz="17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Couleur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(chaîne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de</a:t>
            </a:r>
            <a:r>
              <a:rPr sz="17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caractères)</a:t>
            </a:r>
            <a:endParaRPr sz="17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Début</a:t>
            </a:r>
            <a:endParaRPr sz="1700">
              <a:latin typeface="Tahoma"/>
              <a:cs typeface="Tahoma"/>
            </a:endParaRPr>
          </a:p>
          <a:p>
            <a:pPr marL="549275" marR="1501140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 ("entrer la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couleur") 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lire</a:t>
            </a:r>
            <a:r>
              <a:rPr sz="17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(Couleur)</a:t>
            </a:r>
            <a:endParaRPr sz="1700">
              <a:latin typeface="Tahoma"/>
              <a:cs typeface="Tahoma"/>
            </a:endParaRPr>
          </a:p>
          <a:p>
            <a:pPr marL="5492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 (Couleur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=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"Rouge")</a:t>
            </a:r>
            <a:r>
              <a:rPr sz="1700" spc="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700">
              <a:latin typeface="Tahoma"/>
              <a:cs typeface="Tahoma"/>
            </a:endParaRPr>
          </a:p>
          <a:p>
            <a:pPr marL="10064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("S’arrêter")</a:t>
            </a:r>
            <a:endParaRPr sz="1700">
              <a:latin typeface="Tahoma"/>
              <a:cs typeface="Tahoma"/>
            </a:endParaRPr>
          </a:p>
          <a:p>
            <a:pPr marL="5492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700">
              <a:latin typeface="Tahoma"/>
              <a:cs typeface="Tahoma"/>
            </a:endParaRPr>
          </a:p>
          <a:p>
            <a:pPr marL="10064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 (Couleur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= </a:t>
            </a:r>
            <a:r>
              <a:rPr sz="1700" spc="-10" dirty="0">
                <a:solidFill>
                  <a:srgbClr val="40458B"/>
                </a:solidFill>
                <a:latin typeface="Tahoma"/>
                <a:cs typeface="Tahoma"/>
              </a:rPr>
              <a:t>"Vert")</a:t>
            </a:r>
            <a:r>
              <a:rPr sz="17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alors</a:t>
            </a:r>
            <a:endParaRPr sz="1700">
              <a:latin typeface="Tahoma"/>
              <a:cs typeface="Tahoma"/>
            </a:endParaRPr>
          </a:p>
          <a:p>
            <a:pPr marL="19208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17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("Passer")</a:t>
            </a:r>
            <a:endParaRPr sz="1700">
              <a:latin typeface="Tahoma"/>
              <a:cs typeface="Tahoma"/>
            </a:endParaRPr>
          </a:p>
          <a:p>
            <a:pPr marL="10064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Sinon</a:t>
            </a:r>
            <a:endParaRPr sz="1700">
              <a:latin typeface="Tahoma"/>
              <a:cs typeface="Tahoma"/>
            </a:endParaRPr>
          </a:p>
          <a:p>
            <a:pPr marL="19208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écrire</a:t>
            </a:r>
            <a:r>
              <a:rPr sz="17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("Ralentir")</a:t>
            </a:r>
            <a:endParaRPr sz="1700">
              <a:latin typeface="Tahoma"/>
              <a:cs typeface="Tahoma"/>
            </a:endParaRPr>
          </a:p>
          <a:p>
            <a:pPr marL="549275" marR="3061970" indent="457200">
              <a:lnSpc>
                <a:spcPct val="100000"/>
              </a:lnSpc>
              <a:spcBef>
                <a:spcPts val="5"/>
              </a:spcBef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r>
              <a:rPr sz="1700" spc="-9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  Fin</a:t>
            </a:r>
            <a:r>
              <a:rPr sz="17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endParaRPr sz="17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700" spc="-5" dirty="0">
                <a:solidFill>
                  <a:srgbClr val="40458B"/>
                </a:solidFill>
                <a:latin typeface="Tahoma"/>
                <a:cs typeface="Tahoma"/>
              </a:rPr>
              <a:t>Fin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21309"/>
            <a:ext cx="7874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ahoma"/>
                <a:cs typeface="Tahoma"/>
              </a:rPr>
              <a:t>Structures conditionnelles </a:t>
            </a:r>
            <a:r>
              <a:rPr sz="3000" dirty="0">
                <a:latin typeface="Tahoma"/>
                <a:cs typeface="Tahoma"/>
              </a:rPr>
              <a:t>à </a:t>
            </a:r>
            <a:r>
              <a:rPr sz="3000" spc="-5" dirty="0">
                <a:latin typeface="Tahoma"/>
                <a:cs typeface="Tahoma"/>
              </a:rPr>
              <a:t>plusieurs choix</a:t>
            </a:r>
            <a:r>
              <a:rPr sz="3000" spc="-1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(1)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0" y="4038600"/>
            <a:ext cx="5029200" cy="2446020"/>
          </a:xfrm>
          <a:custGeom>
            <a:avLst/>
            <a:gdLst/>
            <a:ahLst/>
            <a:cxnLst/>
            <a:rect l="l" t="t" r="r" b="b"/>
            <a:pathLst>
              <a:path w="5029200" h="2446020">
                <a:moveTo>
                  <a:pt x="0" y="2446020"/>
                </a:moveTo>
                <a:lnTo>
                  <a:pt x="5029200" y="2446020"/>
                </a:lnTo>
                <a:lnTo>
                  <a:pt x="5029200" y="0"/>
                </a:lnTo>
                <a:lnTo>
                  <a:pt x="0" y="0"/>
                </a:lnTo>
                <a:lnTo>
                  <a:pt x="0" y="2446020"/>
                </a:lnTo>
                <a:close/>
              </a:path>
            </a:pathLst>
          </a:custGeom>
          <a:ln w="9143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40" y="1367916"/>
            <a:ext cx="7567295" cy="5075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  <a:buFont typeface="Wingdings"/>
              <a:buChar char=""/>
              <a:tabLst>
                <a:tab pos="266065" algn="l"/>
              </a:tabLst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Lorsqu’une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expression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 atteindre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plusieurs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valeurs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possibles, et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qu’il  faut faire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quelques choses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différent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chaque fois, 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utiliser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 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structure conditionnelle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plusieurs choix (branchement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multiple).</a:t>
            </a:r>
            <a:endParaRPr sz="1800">
              <a:latin typeface="Tahoma"/>
              <a:cs typeface="Tahoma"/>
            </a:endParaRPr>
          </a:p>
          <a:p>
            <a:pPr marL="12700" marR="47625">
              <a:lnSpc>
                <a:spcPct val="119100"/>
              </a:lnSpc>
              <a:spcBef>
                <a:spcPts val="975"/>
              </a:spcBef>
              <a:buFont typeface="Wingdings"/>
              <a:buChar char=""/>
              <a:tabLst>
                <a:tab pos="266065" algn="l"/>
              </a:tabLst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Cette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structure conditionnelle ressemble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la structure </a:t>
            </a:r>
            <a:r>
              <a:rPr sz="1900" i="1" spc="-45" dirty="0">
                <a:solidFill>
                  <a:srgbClr val="40458B"/>
                </a:solidFill>
                <a:latin typeface="Tahoma"/>
                <a:cs typeface="Tahoma"/>
              </a:rPr>
              <a:t>Si...Alors...Sinon</a:t>
            </a:r>
            <a:r>
              <a:rPr sz="1800" spc="-45" dirty="0">
                <a:solidFill>
                  <a:srgbClr val="40458B"/>
                </a:solidFill>
                <a:latin typeface="Tahoma"/>
                <a:cs typeface="Tahoma"/>
              </a:rPr>
              <a:t>, 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mais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elle est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plus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efficace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lorsqu'il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s'agit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tester la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même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variable  plusieurs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fois.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ahoma"/>
              <a:cs typeface="Tahoma"/>
            </a:endParaRPr>
          </a:p>
          <a:p>
            <a:pPr marR="1578610" algn="r">
              <a:lnSpc>
                <a:spcPct val="100000"/>
              </a:lnSpc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Suivant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variable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ou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expression</a:t>
            </a:r>
            <a:r>
              <a:rPr sz="2200" spc="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A40020"/>
                </a:solidFill>
                <a:latin typeface="Tahoma"/>
                <a:cs typeface="Tahoma"/>
              </a:rPr>
              <a:t>faire</a:t>
            </a:r>
            <a:endParaRPr sz="2200">
              <a:latin typeface="Tahoma"/>
              <a:cs typeface="Tahoma"/>
            </a:endParaRPr>
          </a:p>
          <a:p>
            <a:pPr marR="1505585" algn="r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&lt;Liste_valeur_1&gt; : instruction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  <a:p>
            <a:pPr marR="1505585" algn="r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&lt;Liste_valeur_2&gt; : instruction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endParaRPr sz="2200">
              <a:latin typeface="Tahoma"/>
              <a:cs typeface="Tahoma"/>
            </a:endParaRPr>
          </a:p>
          <a:p>
            <a:pPr marL="2070735">
              <a:lnSpc>
                <a:spcPct val="100000"/>
              </a:lnSpc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...</a:t>
            </a:r>
            <a:endParaRPr sz="2200">
              <a:latin typeface="Tahoma"/>
              <a:cs typeface="Tahoma"/>
            </a:endParaRPr>
          </a:p>
          <a:p>
            <a:pPr marL="2070735" marR="1499235"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&lt;Liste_valeur_n&gt; : instruction n  [Sinon : instruction par</a:t>
            </a:r>
            <a:r>
              <a:rPr sz="22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défaut]</a:t>
            </a:r>
            <a:endParaRPr sz="2200">
              <a:latin typeface="Tahoma"/>
              <a:cs typeface="Tahoma"/>
            </a:endParaRPr>
          </a:p>
          <a:p>
            <a:pPr marL="16129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Fin Suivant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3523" y="6433732"/>
            <a:ext cx="17399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8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49909"/>
            <a:ext cx="7874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ahoma"/>
                <a:cs typeface="Tahoma"/>
              </a:rPr>
              <a:t>Structures conditionnelles </a:t>
            </a:r>
            <a:r>
              <a:rPr sz="3000" dirty="0">
                <a:latin typeface="Tahoma"/>
                <a:cs typeface="Tahoma"/>
              </a:rPr>
              <a:t>à </a:t>
            </a:r>
            <a:r>
              <a:rPr sz="3000" spc="-5" dirty="0">
                <a:latin typeface="Tahoma"/>
                <a:cs typeface="Tahoma"/>
              </a:rPr>
              <a:t>plusieurs choix</a:t>
            </a:r>
            <a:r>
              <a:rPr sz="3000" spc="-1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(2)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4147184"/>
            <a:ext cx="1254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61620" algn="l"/>
              </a:tabLst>
            </a:pPr>
            <a:r>
              <a:rPr sz="1800" b="1" spc="-5" dirty="0">
                <a:solidFill>
                  <a:srgbClr val="40458B"/>
                </a:solidFill>
                <a:latin typeface="Tahoma"/>
                <a:cs typeface="Tahoma"/>
              </a:rPr>
              <a:t>Exemp</a:t>
            </a:r>
            <a:r>
              <a:rPr sz="1800" b="1" spc="-10" dirty="0">
                <a:solidFill>
                  <a:srgbClr val="40458B"/>
                </a:solidFill>
                <a:latin typeface="Tahoma"/>
                <a:cs typeface="Tahoma"/>
              </a:rPr>
              <a:t>l</a:t>
            </a:r>
            <a:r>
              <a:rPr sz="1800" b="1" dirty="0">
                <a:solidFill>
                  <a:srgbClr val="40458B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3886200"/>
            <a:ext cx="5105400" cy="2746375"/>
          </a:xfrm>
          <a:custGeom>
            <a:avLst/>
            <a:gdLst/>
            <a:ahLst/>
            <a:cxnLst/>
            <a:rect l="l" t="t" r="r" b="b"/>
            <a:pathLst>
              <a:path w="5105400" h="2746375">
                <a:moveTo>
                  <a:pt x="0" y="2746248"/>
                </a:moveTo>
                <a:lnTo>
                  <a:pt x="5105400" y="2746248"/>
                </a:lnTo>
                <a:lnTo>
                  <a:pt x="5105400" y="0"/>
                </a:lnTo>
                <a:lnTo>
                  <a:pt x="0" y="0"/>
                </a:lnTo>
                <a:lnTo>
                  <a:pt x="0" y="2746248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66065" algn="l"/>
              </a:tabLst>
            </a:pPr>
            <a:r>
              <a:rPr sz="1800" spc="-5" dirty="0"/>
              <a:t>L’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expression </a:t>
            </a:r>
            <a:r>
              <a:rPr sz="1800" spc="-5" dirty="0"/>
              <a:t>ou </a:t>
            </a:r>
            <a:r>
              <a:rPr sz="1800" b="1" dirty="0">
                <a:solidFill>
                  <a:srgbClr val="A40020"/>
                </a:solidFill>
                <a:latin typeface="Tahoma"/>
                <a:cs typeface="Tahoma"/>
              </a:rPr>
              <a:t>valeur </a:t>
            </a:r>
            <a:r>
              <a:rPr sz="1800" spc="-5" dirty="0"/>
              <a:t>doit être </a:t>
            </a:r>
            <a:r>
              <a:rPr sz="1800" dirty="0"/>
              <a:t>une </a:t>
            </a:r>
            <a:r>
              <a:rPr sz="1800" spc="-5" dirty="0"/>
              <a:t>expression scalaire </a:t>
            </a:r>
            <a:r>
              <a:rPr sz="1800" dirty="0"/>
              <a:t>de même</a:t>
            </a:r>
            <a:r>
              <a:rPr sz="1800" spc="95" dirty="0"/>
              <a:t> </a:t>
            </a:r>
            <a:r>
              <a:rPr sz="1800" spc="-5" dirty="0"/>
              <a:t>type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/>
              <a:t>que les </a:t>
            </a:r>
            <a:r>
              <a:rPr sz="1800" spc="-5" dirty="0"/>
              <a:t>valeurs </a:t>
            </a:r>
            <a:r>
              <a:rPr sz="1800" dirty="0"/>
              <a:t>dans les </a:t>
            </a:r>
            <a:r>
              <a:rPr sz="1800" spc="-5" dirty="0"/>
              <a:t>listes</a:t>
            </a:r>
            <a:r>
              <a:rPr sz="1800" spc="-15" dirty="0"/>
              <a:t> </a:t>
            </a:r>
            <a:r>
              <a:rPr sz="1800" spc="-5" dirty="0"/>
              <a:t>(liste_valeur_i).</a:t>
            </a:r>
            <a:endParaRPr sz="1800"/>
          </a:p>
          <a:p>
            <a:pPr marL="12700" marR="5270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66065" algn="l"/>
              </a:tabLst>
            </a:pPr>
            <a:r>
              <a:rPr sz="1800" spc="-5" dirty="0"/>
              <a:t>Si la </a:t>
            </a:r>
            <a:r>
              <a:rPr sz="1800" dirty="0"/>
              <a:t>valeur de </a:t>
            </a:r>
            <a:r>
              <a:rPr sz="1800" spc="-5" dirty="0"/>
              <a:t>l’expression </a:t>
            </a:r>
            <a:r>
              <a:rPr sz="1800" dirty="0"/>
              <a:t>appartient à l’une des listes de valeurs,  </a:t>
            </a:r>
            <a:r>
              <a:rPr sz="1800" spc="-5" dirty="0"/>
              <a:t>l’instruction correspondante est exécutée et </a:t>
            </a:r>
            <a:r>
              <a:rPr sz="1800" dirty="0"/>
              <a:t>le </a:t>
            </a:r>
            <a:r>
              <a:rPr sz="1800" spc="-5" dirty="0"/>
              <a:t>branchement se termine (on  </a:t>
            </a:r>
            <a:r>
              <a:rPr sz="1800" dirty="0"/>
              <a:t>ne </a:t>
            </a:r>
            <a:r>
              <a:rPr sz="1800" spc="-5" dirty="0"/>
              <a:t>regarde </a:t>
            </a:r>
            <a:r>
              <a:rPr sz="1800" dirty="0"/>
              <a:t>pas les autres</a:t>
            </a:r>
            <a:r>
              <a:rPr sz="1800" spc="10" dirty="0"/>
              <a:t> </a:t>
            </a:r>
            <a:r>
              <a:rPr sz="1800" dirty="0"/>
              <a:t>valeurs).</a:t>
            </a:r>
            <a:endParaRPr sz="1800"/>
          </a:p>
          <a:p>
            <a:pPr marL="194945" indent="-18288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195580" algn="l"/>
              </a:tabLst>
            </a:pPr>
            <a:r>
              <a:rPr sz="1800" spc="-5" dirty="0"/>
              <a:t>Si </a:t>
            </a:r>
            <a:r>
              <a:rPr sz="1800" dirty="0"/>
              <a:t>aucune de </a:t>
            </a:r>
            <a:r>
              <a:rPr sz="1800" spc="-5" dirty="0"/>
              <a:t>ces valeurs </a:t>
            </a:r>
            <a:r>
              <a:rPr sz="1800" dirty="0"/>
              <a:t>ne </a:t>
            </a:r>
            <a:r>
              <a:rPr sz="1800" spc="-5" dirty="0"/>
              <a:t>convient, l’instruction </a:t>
            </a:r>
            <a:r>
              <a:rPr sz="1800" dirty="0"/>
              <a:t>qui </a:t>
            </a:r>
            <a:r>
              <a:rPr sz="1800" spc="-5" dirty="0"/>
              <a:t>suit éventuellement</a:t>
            </a:r>
            <a:endParaRPr sz="18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/>
              <a:t>SINON (l’action </a:t>
            </a:r>
            <a:r>
              <a:rPr sz="1800" dirty="0"/>
              <a:t>par défaut) </a:t>
            </a:r>
            <a:r>
              <a:rPr sz="1800" spc="-5" dirty="0"/>
              <a:t>est</a:t>
            </a:r>
            <a:r>
              <a:rPr sz="1800" spc="15" dirty="0"/>
              <a:t> </a:t>
            </a:r>
            <a:r>
              <a:rPr sz="1800" spc="-5" dirty="0"/>
              <a:t>exécutée.</a:t>
            </a:r>
            <a:endParaRPr sz="1800"/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/>
          </a:p>
          <a:p>
            <a:pPr marL="1688464">
              <a:lnSpc>
                <a:spcPct val="100000"/>
              </a:lnSpc>
            </a:pPr>
            <a:r>
              <a:rPr sz="1800" spc="-5" dirty="0"/>
              <a:t>Suivant nombre</a:t>
            </a:r>
            <a:r>
              <a:rPr sz="1800" spc="-15" dirty="0"/>
              <a:t> </a:t>
            </a:r>
            <a:r>
              <a:rPr sz="1800" spc="-10" dirty="0"/>
              <a:t>faire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8408923" y="6433732"/>
            <a:ext cx="123189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4975" y="4322140"/>
            <a:ext cx="2543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0 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("Nombre nul")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7394" y="4597145"/>
            <a:ext cx="474408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81025">
              <a:lnSpc>
                <a:spcPct val="14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("Nombre égal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1") 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2,3,5,7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: ("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‘Nombre</a:t>
            </a:r>
            <a:r>
              <a:rPr sz="1800" spc="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premier")</a:t>
            </a:r>
            <a:endParaRPr sz="1800">
              <a:latin typeface="Tahoma"/>
              <a:cs typeface="Tahoma"/>
            </a:endParaRPr>
          </a:p>
          <a:p>
            <a:pPr marL="469900" marR="5080">
              <a:lnSpc>
                <a:spcPts val="3030"/>
              </a:lnSpc>
              <a:spcBef>
                <a:spcPts val="240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4,6,8..10 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("écrire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‘Nombre non premier")  Sinon :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écrire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("Nombre négatif ou &gt;</a:t>
            </a:r>
            <a:r>
              <a:rPr sz="18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10")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Fin Suivant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73709"/>
            <a:ext cx="78740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ahoma"/>
                <a:cs typeface="Tahoma"/>
              </a:rPr>
              <a:t>Structures conditionnelles </a:t>
            </a:r>
            <a:r>
              <a:rPr sz="3000" dirty="0">
                <a:latin typeface="Tahoma"/>
                <a:cs typeface="Tahoma"/>
              </a:rPr>
              <a:t>à </a:t>
            </a:r>
            <a:r>
              <a:rPr sz="3000" spc="-5" dirty="0">
                <a:latin typeface="Tahoma"/>
                <a:cs typeface="Tahoma"/>
              </a:rPr>
              <a:t>plusieurs choix</a:t>
            </a:r>
            <a:r>
              <a:rPr sz="3000" spc="-15" dirty="0">
                <a:latin typeface="Tahoma"/>
                <a:cs typeface="Tahoma"/>
              </a:rPr>
              <a:t> </a:t>
            </a:r>
            <a:r>
              <a:rPr sz="3000" dirty="0">
                <a:latin typeface="Tahoma"/>
                <a:cs typeface="Tahoma"/>
              </a:rPr>
              <a:t>(3)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0" y="2057400"/>
            <a:ext cx="5181600" cy="2819400"/>
          </a:xfrm>
          <a:custGeom>
            <a:avLst/>
            <a:gdLst/>
            <a:ahLst/>
            <a:cxnLst/>
            <a:rect l="l" t="t" r="r" b="b"/>
            <a:pathLst>
              <a:path w="5181600" h="2819400">
                <a:moveTo>
                  <a:pt x="0" y="2819400"/>
                </a:moveTo>
                <a:lnTo>
                  <a:pt x="5181600" y="2819400"/>
                </a:lnTo>
                <a:lnTo>
                  <a:pt x="5181600" y="0"/>
                </a:lnTo>
                <a:lnTo>
                  <a:pt x="0" y="0"/>
                </a:lnTo>
                <a:lnTo>
                  <a:pt x="0" y="2819400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0143" y="1403350"/>
            <a:ext cx="7812405" cy="494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indent="-2533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168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Un autre format pour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structures conditionnelles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plusieurs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choix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1800" spc="7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endParaRPr sz="180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</a:pP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suivant:</a:t>
            </a:r>
            <a:endParaRPr sz="1800">
              <a:latin typeface="Tahoma"/>
              <a:cs typeface="Tahoma"/>
            </a:endParaRPr>
          </a:p>
          <a:p>
            <a:pPr marL="1206500">
              <a:lnSpc>
                <a:spcPct val="100000"/>
              </a:lnSpc>
              <a:spcBef>
                <a:spcPts val="1080"/>
              </a:spcBef>
            </a:pPr>
            <a:r>
              <a:rPr sz="2400" spc="-5" dirty="0">
                <a:solidFill>
                  <a:srgbClr val="A40020"/>
                </a:solidFill>
                <a:latin typeface="Tahoma"/>
                <a:cs typeface="Tahoma"/>
              </a:rPr>
              <a:t>Suivant </a:t>
            </a:r>
            <a:r>
              <a:rPr sz="2400" spc="-5" dirty="0">
                <a:solidFill>
                  <a:srgbClr val="40458B"/>
                </a:solidFill>
                <a:latin typeface="Tahoma"/>
                <a:cs typeface="Tahoma"/>
              </a:rPr>
              <a:t>variable ou expression</a:t>
            </a:r>
            <a:r>
              <a:rPr sz="24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A40020"/>
                </a:solidFill>
                <a:latin typeface="Tahoma"/>
                <a:cs typeface="Tahoma"/>
              </a:rPr>
              <a:t>faire</a:t>
            </a:r>
            <a:endParaRPr sz="2400">
              <a:latin typeface="Tahoma"/>
              <a:cs typeface="Tahoma"/>
            </a:endParaRPr>
          </a:p>
          <a:p>
            <a:pPr marL="1663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&lt;Condition_1&gt; :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instruction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1663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&lt;Condition_2&gt;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: instruction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1663700">
              <a:lnSpc>
                <a:spcPct val="100000"/>
              </a:lnSpc>
              <a:spcBef>
                <a:spcPts val="484"/>
              </a:spcBef>
            </a:pPr>
            <a:r>
              <a:rPr sz="2000" spc="5" dirty="0">
                <a:solidFill>
                  <a:srgbClr val="40458B"/>
                </a:solidFill>
                <a:latin typeface="Tahoma"/>
                <a:cs typeface="Tahoma"/>
              </a:rPr>
              <a:t>...</a:t>
            </a:r>
            <a:endParaRPr sz="2000">
              <a:latin typeface="Tahoma"/>
              <a:cs typeface="Tahoma"/>
            </a:endParaRPr>
          </a:p>
          <a:p>
            <a:pPr marL="1663700" marR="2658110">
              <a:lnSpc>
                <a:spcPct val="120000"/>
              </a:lnSpc>
            </a:pP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&lt;Condition_n&gt; :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instruction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n  [Sinon :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instruction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par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défaut]</a:t>
            </a:r>
            <a:endParaRPr sz="2000">
              <a:latin typeface="Tahoma"/>
              <a:cs typeface="Tahoma"/>
            </a:endParaRPr>
          </a:p>
          <a:p>
            <a:pPr marL="12065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solidFill>
                  <a:srgbClr val="A40020"/>
                </a:solidFill>
                <a:latin typeface="Tahoma"/>
                <a:cs typeface="Tahoma"/>
              </a:rPr>
              <a:t>Fin Suivant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ahoma"/>
              <a:cs typeface="Tahoma"/>
            </a:endParaRPr>
          </a:p>
          <a:p>
            <a:pPr marL="265430" indent="-253365">
              <a:lnSpc>
                <a:spcPct val="100000"/>
              </a:lnSpc>
              <a:buFont typeface="Wingdings"/>
              <a:buChar char=""/>
              <a:tabLst>
                <a:tab pos="26606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Si la condition i est vérifiée, alors l'algorithme exécute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l’instruction</a:t>
            </a:r>
            <a:r>
              <a:rPr sz="1800" spc="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  <a:p>
            <a:pPr marL="12700" marR="50165">
              <a:lnSpc>
                <a:spcPct val="100000"/>
              </a:lnSpc>
              <a:spcBef>
                <a:spcPts val="1085"/>
              </a:spcBef>
              <a:buFont typeface="Wingdings"/>
              <a:buChar char=""/>
              <a:tabLst>
                <a:tab pos="19494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Si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aucune des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conditions n’est vérifiée,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l’instruction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qui suit éventuellement  SINON (l’action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par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défaut) est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exécutée.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5988" y="6433732"/>
            <a:ext cx="27178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10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52800" y="0"/>
            <a:ext cx="5791200" cy="152400"/>
          </a:xfrm>
          <a:custGeom>
            <a:avLst/>
            <a:gdLst/>
            <a:ahLst/>
            <a:cxnLst/>
            <a:rect l="l" t="t" r="r" b="b"/>
            <a:pathLst>
              <a:path w="5791200" h="152400">
                <a:moveTo>
                  <a:pt x="5791200" y="0"/>
                </a:moveTo>
                <a:lnTo>
                  <a:pt x="0" y="0"/>
                </a:lnTo>
                <a:lnTo>
                  <a:pt x="0" y="152400"/>
                </a:lnTo>
                <a:lnTo>
                  <a:pt x="5791200" y="152400"/>
                </a:lnTo>
                <a:lnTo>
                  <a:pt x="5791200" y="0"/>
                </a:lnTo>
                <a:close/>
              </a:path>
            </a:pathLst>
          </a:custGeom>
          <a:solidFill>
            <a:srgbClr val="CFDB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0227"/>
            <a:ext cx="9144000" cy="91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09827"/>
            <a:ext cx="9144000" cy="91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9427"/>
            <a:ext cx="9144000" cy="91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29027"/>
            <a:ext cx="9144000" cy="91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3427"/>
            <a:ext cx="9144000" cy="91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3028"/>
            <a:ext cx="9144000" cy="914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62628"/>
            <a:ext cx="9144000" cy="91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72228"/>
            <a:ext cx="9144000" cy="91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81828"/>
            <a:ext cx="9144000" cy="914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91428"/>
            <a:ext cx="9144000" cy="9143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96228"/>
              <a:ext cx="9144000" cy="91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839199" y="0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h="2362200">
                  <a:moveTo>
                    <a:pt x="0" y="0"/>
                  </a:moveTo>
                  <a:lnTo>
                    <a:pt x="0" y="236220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147" y="886967"/>
              <a:ext cx="0" cy="2851785"/>
            </a:xfrm>
            <a:custGeom>
              <a:avLst/>
              <a:gdLst/>
              <a:ahLst/>
              <a:cxnLst/>
              <a:rect l="l" t="t" r="r" b="b"/>
              <a:pathLst>
                <a:path h="2851785">
                  <a:moveTo>
                    <a:pt x="0" y="0"/>
                  </a:moveTo>
                  <a:lnTo>
                    <a:pt x="0" y="2851404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1" y="3054095"/>
              <a:ext cx="5097780" cy="1905"/>
            </a:xfrm>
            <a:custGeom>
              <a:avLst/>
              <a:gdLst/>
              <a:ahLst/>
              <a:cxnLst/>
              <a:rect l="l" t="t" r="r" b="b"/>
              <a:pathLst>
                <a:path w="5097780" h="1905">
                  <a:moveTo>
                    <a:pt x="50977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9600" y="1488947"/>
              <a:ext cx="6050280" cy="1905"/>
            </a:xfrm>
            <a:custGeom>
              <a:avLst/>
              <a:gdLst/>
              <a:ahLst/>
              <a:cxnLst/>
              <a:rect l="l" t="t" r="r" b="b"/>
              <a:pathLst>
                <a:path w="6050280" h="1905">
                  <a:moveTo>
                    <a:pt x="6050280" y="152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5132" y="1365503"/>
              <a:ext cx="250190" cy="248920"/>
            </a:xfrm>
            <a:custGeom>
              <a:avLst/>
              <a:gdLst/>
              <a:ahLst/>
              <a:cxnLst/>
              <a:rect l="l" t="t" r="r" b="b"/>
              <a:pathLst>
                <a:path w="250190" h="248919">
                  <a:moveTo>
                    <a:pt x="25" y="121412"/>
                  </a:moveTo>
                  <a:lnTo>
                    <a:pt x="0" y="122300"/>
                  </a:lnTo>
                  <a:lnTo>
                    <a:pt x="0" y="123317"/>
                  </a:lnTo>
                  <a:lnTo>
                    <a:pt x="0" y="124206"/>
                  </a:lnTo>
                  <a:lnTo>
                    <a:pt x="9819" y="172545"/>
                  </a:lnTo>
                  <a:lnTo>
                    <a:pt x="36599" y="212026"/>
                  </a:lnTo>
                  <a:lnTo>
                    <a:pt x="76322" y="238648"/>
                  </a:lnTo>
                  <a:lnTo>
                    <a:pt x="124968" y="248412"/>
                  </a:lnTo>
                  <a:lnTo>
                    <a:pt x="173608" y="238648"/>
                  </a:lnTo>
                  <a:lnTo>
                    <a:pt x="213331" y="212026"/>
                  </a:lnTo>
                  <a:lnTo>
                    <a:pt x="240114" y="172545"/>
                  </a:lnTo>
                  <a:lnTo>
                    <a:pt x="249936" y="124206"/>
                  </a:lnTo>
                  <a:lnTo>
                    <a:pt x="240380" y="76491"/>
                  </a:lnTo>
                  <a:lnTo>
                    <a:pt x="214261" y="37290"/>
                  </a:lnTo>
                  <a:lnTo>
                    <a:pt x="175398" y="10495"/>
                  </a:lnTo>
                  <a:lnTo>
                    <a:pt x="127609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50007" y="3098292"/>
              <a:ext cx="6044565" cy="2877820"/>
            </a:xfrm>
            <a:custGeom>
              <a:avLst/>
              <a:gdLst/>
              <a:ahLst/>
              <a:cxnLst/>
              <a:rect l="l" t="t" r="r" b="b"/>
              <a:pathLst>
                <a:path w="6044565" h="2877820">
                  <a:moveTo>
                    <a:pt x="0" y="2365248"/>
                  </a:moveTo>
                  <a:lnTo>
                    <a:pt x="6044184" y="2365248"/>
                  </a:lnTo>
                </a:path>
                <a:path w="6044565" h="2877820">
                  <a:moveTo>
                    <a:pt x="5861304" y="0"/>
                  </a:moveTo>
                  <a:lnTo>
                    <a:pt x="5861304" y="287731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090915" y="5314188"/>
              <a:ext cx="248920" cy="247015"/>
            </a:xfrm>
            <a:custGeom>
              <a:avLst/>
              <a:gdLst/>
              <a:ahLst/>
              <a:cxnLst/>
              <a:rect l="l" t="t" r="r" b="b"/>
              <a:pathLst>
                <a:path w="248920" h="247014">
                  <a:moveTo>
                    <a:pt x="248411" y="120650"/>
                  </a:moveTo>
                  <a:lnTo>
                    <a:pt x="248411" y="121539"/>
                  </a:lnTo>
                  <a:lnTo>
                    <a:pt x="248411" y="122555"/>
                  </a:lnTo>
                  <a:lnTo>
                    <a:pt x="248411" y="123443"/>
                  </a:lnTo>
                  <a:lnTo>
                    <a:pt x="238648" y="171503"/>
                  </a:lnTo>
                  <a:lnTo>
                    <a:pt x="212026" y="210740"/>
                  </a:lnTo>
                  <a:lnTo>
                    <a:pt x="172545" y="237190"/>
                  </a:lnTo>
                  <a:lnTo>
                    <a:pt x="124205" y="246887"/>
                  </a:lnTo>
                  <a:lnTo>
                    <a:pt x="75866" y="237190"/>
                  </a:lnTo>
                  <a:lnTo>
                    <a:pt x="36385" y="210740"/>
                  </a:lnTo>
                  <a:lnTo>
                    <a:pt x="9763" y="171503"/>
                  </a:lnTo>
                  <a:lnTo>
                    <a:pt x="0" y="123443"/>
                  </a:lnTo>
                  <a:lnTo>
                    <a:pt x="9489" y="76009"/>
                  </a:lnTo>
                  <a:lnTo>
                    <a:pt x="35432" y="37052"/>
                  </a:lnTo>
                  <a:lnTo>
                    <a:pt x="74044" y="10429"/>
                  </a:lnTo>
                  <a:lnTo>
                    <a:pt x="121538" y="0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Les</a:t>
            </a:r>
            <a:r>
              <a:rPr spc="-30" dirty="0"/>
              <a:t> </a:t>
            </a:r>
            <a:r>
              <a:rPr spc="-5" dirty="0"/>
              <a:t>Structures</a:t>
            </a:r>
            <a:r>
              <a:rPr spc="-20" dirty="0"/>
              <a:t> </a:t>
            </a:r>
            <a:r>
              <a:rPr spc="-5" dirty="0"/>
              <a:t>itératives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1145844" y="2042287"/>
            <a:ext cx="2940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660066"/>
                </a:solidFill>
                <a:latin typeface="Tahoma"/>
                <a:cs typeface="Tahoma"/>
              </a:rPr>
              <a:t>-</a:t>
            </a:r>
            <a:r>
              <a:rPr sz="3200" spc="-40" dirty="0">
                <a:solidFill>
                  <a:srgbClr val="66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660066"/>
                </a:solidFill>
                <a:latin typeface="Tahoma"/>
                <a:cs typeface="Tahoma"/>
              </a:rPr>
              <a:t>POUR...FAIRE-</a:t>
            </a:r>
            <a:endParaRPr sz="32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037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73126"/>
            <a:ext cx="4264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Éléments</a:t>
            </a:r>
            <a:r>
              <a:rPr sz="3600" spc="-15" dirty="0"/>
              <a:t> </a:t>
            </a:r>
            <a:r>
              <a:rPr sz="3600" dirty="0"/>
              <a:t>de</a:t>
            </a:r>
            <a:r>
              <a:rPr sz="3600" spc="-35" dirty="0"/>
              <a:t> </a:t>
            </a:r>
            <a:r>
              <a:rPr sz="3600" spc="-5" dirty="0"/>
              <a:t>contenu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1969007"/>
            <a:ext cx="164591" cy="176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2421635"/>
            <a:ext cx="164591" cy="1767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2874264"/>
            <a:ext cx="164591" cy="176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326891"/>
            <a:ext cx="164591" cy="1767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3779520"/>
            <a:ext cx="164591" cy="1767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4232147"/>
            <a:ext cx="164591" cy="1767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239" y="4684776"/>
            <a:ext cx="164591" cy="17678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88694" y="1902078"/>
            <a:ext cx="3644265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Introduction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65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 “ POUR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…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FAIRE ” 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 “ TANT QUE … FAIRE ” 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“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REPETER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JUSQU’A”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Les boucles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imbriquées</a:t>
            </a:r>
            <a:endParaRPr sz="1800">
              <a:latin typeface="Arial MT"/>
              <a:cs typeface="Arial MT"/>
            </a:endParaRPr>
          </a:p>
          <a:p>
            <a:pPr marL="12700" marR="2331085">
              <a:lnSpc>
                <a:spcPts val="3570"/>
              </a:lnSpc>
              <a:spcBef>
                <a:spcPts val="145"/>
              </a:spcBef>
            </a:pP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Synthèse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 A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ic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tio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</a:t>
            </a:r>
            <a:r>
              <a:rPr sz="1800" dirty="0">
                <a:solidFill>
                  <a:srgbClr val="A40020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271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4961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Introduction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3645408"/>
            <a:ext cx="164591" cy="1767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4098035"/>
            <a:ext cx="164591" cy="1767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4550664"/>
            <a:ext cx="164591" cy="1767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4890" y="1359153"/>
            <a:ext cx="7783830" cy="342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1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notion</a:t>
            </a:r>
            <a:r>
              <a:rPr sz="1800" spc="1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d’itération</a:t>
            </a:r>
            <a:r>
              <a:rPr sz="1800" spc="1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spc="1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utilisée</a:t>
            </a:r>
            <a:r>
              <a:rPr sz="1800" spc="1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quand</a:t>
            </a:r>
            <a:r>
              <a:rPr sz="1800" spc="1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on</a:t>
            </a:r>
            <a:r>
              <a:rPr sz="1800" spc="1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doit</a:t>
            </a:r>
            <a:r>
              <a:rPr sz="1800" spc="1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exécuter</a:t>
            </a:r>
            <a:r>
              <a:rPr sz="1800" spc="1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1800" spc="1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même</a:t>
            </a:r>
            <a:r>
              <a:rPr sz="1800" spc="1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traitement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certain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nombre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fois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 qui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peut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être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connu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à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l’avance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ou non.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Dans</a:t>
            </a:r>
            <a:r>
              <a:rPr sz="1800" spc="4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ce</a:t>
            </a:r>
            <a:r>
              <a:rPr sz="1800" spc="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dernier</a:t>
            </a:r>
            <a:r>
              <a:rPr sz="1800" spc="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cas,</a:t>
            </a:r>
            <a:r>
              <a:rPr sz="1800" spc="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l’arrêt</a:t>
            </a:r>
            <a:r>
              <a:rPr sz="1800" spc="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1800" spc="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l’itération</a:t>
            </a:r>
            <a:r>
              <a:rPr sz="18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spc="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déclenché</a:t>
            </a:r>
            <a:r>
              <a:rPr sz="1800" spc="4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par</a:t>
            </a:r>
            <a:r>
              <a:rPr sz="1800" spc="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condition</a:t>
            </a:r>
            <a:r>
              <a:rPr sz="1800" spc="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sur </a:t>
            </a:r>
            <a:r>
              <a:rPr sz="1800" spc="-49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l’état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des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variables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dans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 programme.</a:t>
            </a:r>
            <a:endParaRPr sz="1800">
              <a:latin typeface="Arial MT"/>
              <a:cs typeface="Arial MT"/>
            </a:endParaRPr>
          </a:p>
          <a:p>
            <a:pPr marL="523875" marR="1259205" indent="-511809">
              <a:lnSpc>
                <a:spcPts val="4510"/>
              </a:lnSpc>
              <a:spcBef>
                <a:spcPts val="350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On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peut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distinguer</a:t>
            </a:r>
            <a:r>
              <a:rPr sz="18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trois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structures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 traitement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itératif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savoir</a:t>
            </a:r>
            <a:r>
              <a:rPr sz="18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: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 “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 FAIRE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523875">
              <a:lnSpc>
                <a:spcPct val="100000"/>
              </a:lnSpc>
              <a:spcBef>
                <a:spcPts val="865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“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FAIRE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”</a:t>
            </a:r>
            <a:endParaRPr sz="1800">
              <a:latin typeface="Arial MT"/>
              <a:cs typeface="Arial MT"/>
            </a:endParaRPr>
          </a:p>
          <a:p>
            <a:pPr marL="523875">
              <a:lnSpc>
                <a:spcPct val="100000"/>
              </a:lnSpc>
              <a:spcBef>
                <a:spcPts val="141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structure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“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REPETER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JUSQU’A”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79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5440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51425" algn="l"/>
              </a:tabLst>
            </a:pPr>
            <a:r>
              <a:rPr sz="3600" spc="-5" dirty="0"/>
              <a:t>Struct</a:t>
            </a:r>
            <a:r>
              <a:rPr sz="3600" spc="-15" dirty="0"/>
              <a:t>u</a:t>
            </a:r>
            <a:r>
              <a:rPr sz="3600" spc="-5" dirty="0"/>
              <a:t>r</a:t>
            </a:r>
            <a:r>
              <a:rPr sz="3600" dirty="0"/>
              <a:t>e</a:t>
            </a:r>
            <a:r>
              <a:rPr sz="3600" spc="20" dirty="0"/>
              <a:t> </a:t>
            </a:r>
            <a:r>
              <a:rPr sz="3600" spc="-5" dirty="0"/>
              <a:t>POUR…FAIR</a:t>
            </a:r>
            <a:r>
              <a:rPr sz="3600" dirty="0"/>
              <a:t>E	</a:t>
            </a:r>
            <a:r>
              <a:rPr sz="2000" dirty="0"/>
              <a:t>1/6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676655" y="1140967"/>
            <a:ext cx="8478520" cy="2451100"/>
            <a:chOff x="676655" y="1140967"/>
            <a:chExt cx="8478520" cy="2451100"/>
          </a:xfrm>
        </p:grpSpPr>
        <p:sp>
          <p:nvSpPr>
            <p:cNvPr id="4" name="object 4"/>
            <p:cNvSpPr/>
            <p:nvPr/>
          </p:nvSpPr>
          <p:spPr>
            <a:xfrm>
              <a:off x="8068055" y="2260091"/>
              <a:ext cx="634365" cy="22860"/>
            </a:xfrm>
            <a:custGeom>
              <a:avLst/>
              <a:gdLst/>
              <a:ahLst/>
              <a:cxnLst/>
              <a:rect l="l" t="t" r="r" b="b"/>
              <a:pathLst>
                <a:path w="634365" h="22860">
                  <a:moveTo>
                    <a:pt x="633983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633983" y="22860"/>
                  </a:lnTo>
                  <a:lnTo>
                    <a:pt x="633983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6561" y="1905761"/>
              <a:ext cx="8458200" cy="1676400"/>
            </a:xfrm>
            <a:custGeom>
              <a:avLst/>
              <a:gdLst/>
              <a:ahLst/>
              <a:cxnLst/>
              <a:rect l="l" t="t" r="r" b="b"/>
              <a:pathLst>
                <a:path w="8458200" h="1676400">
                  <a:moveTo>
                    <a:pt x="0" y="1676400"/>
                  </a:moveTo>
                  <a:lnTo>
                    <a:pt x="8458200" y="16764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03135" y="1140967"/>
              <a:ext cx="323215" cy="916940"/>
            </a:xfrm>
            <a:custGeom>
              <a:avLst/>
              <a:gdLst/>
              <a:ahLst/>
              <a:cxnLst/>
              <a:rect l="l" t="t" r="r" b="b"/>
              <a:pathLst>
                <a:path w="323215" h="916939">
                  <a:moveTo>
                    <a:pt x="0" y="832104"/>
                  </a:moveTo>
                  <a:lnTo>
                    <a:pt x="12065" y="916432"/>
                  </a:lnTo>
                  <a:lnTo>
                    <a:pt x="70357" y="858139"/>
                  </a:lnTo>
                  <a:lnTo>
                    <a:pt x="38226" y="858139"/>
                  </a:lnTo>
                  <a:lnTo>
                    <a:pt x="26162" y="854202"/>
                  </a:lnTo>
                  <a:lnTo>
                    <a:pt x="30169" y="842178"/>
                  </a:lnTo>
                  <a:lnTo>
                    <a:pt x="0" y="832104"/>
                  </a:lnTo>
                  <a:close/>
                </a:path>
                <a:path w="323215" h="916939">
                  <a:moveTo>
                    <a:pt x="30169" y="842178"/>
                  </a:moveTo>
                  <a:lnTo>
                    <a:pt x="26162" y="854202"/>
                  </a:lnTo>
                  <a:lnTo>
                    <a:pt x="38226" y="858139"/>
                  </a:lnTo>
                  <a:lnTo>
                    <a:pt x="42206" y="846197"/>
                  </a:lnTo>
                  <a:lnTo>
                    <a:pt x="30169" y="842178"/>
                  </a:lnTo>
                  <a:close/>
                </a:path>
                <a:path w="323215" h="916939">
                  <a:moveTo>
                    <a:pt x="42206" y="846197"/>
                  </a:moveTo>
                  <a:lnTo>
                    <a:pt x="38226" y="858139"/>
                  </a:lnTo>
                  <a:lnTo>
                    <a:pt x="70357" y="858139"/>
                  </a:lnTo>
                  <a:lnTo>
                    <a:pt x="72263" y="856234"/>
                  </a:lnTo>
                  <a:lnTo>
                    <a:pt x="42206" y="846197"/>
                  </a:lnTo>
                  <a:close/>
                </a:path>
                <a:path w="323215" h="916939">
                  <a:moveTo>
                    <a:pt x="310896" y="0"/>
                  </a:moveTo>
                  <a:lnTo>
                    <a:pt x="30169" y="842178"/>
                  </a:lnTo>
                  <a:lnTo>
                    <a:pt x="42206" y="846197"/>
                  </a:lnTo>
                  <a:lnTo>
                    <a:pt x="322834" y="4064"/>
                  </a:lnTo>
                  <a:lnTo>
                    <a:pt x="310896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55534" y="850468"/>
            <a:ext cx="11595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optionnel</a:t>
            </a:r>
            <a:endParaRPr sz="22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187952"/>
            <a:ext cx="164592" cy="1661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4640579"/>
            <a:ext cx="164592" cy="1661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5093208"/>
            <a:ext cx="164592" cy="1661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" y="5536691"/>
            <a:ext cx="164592" cy="17678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1640" y="1384554"/>
            <a:ext cx="8644890" cy="478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Syntaxe</a:t>
            </a:r>
            <a:endParaRPr sz="2200">
              <a:latin typeface="Tahoma"/>
              <a:cs typeface="Tahoma"/>
            </a:endParaRPr>
          </a:p>
          <a:p>
            <a:pPr marL="279400">
              <a:lnSpc>
                <a:spcPct val="100000"/>
              </a:lnSpc>
              <a:spcBef>
                <a:spcPts val="2280"/>
              </a:spcBef>
              <a:tabLst>
                <a:tab pos="1083945" algn="l"/>
              </a:tabLst>
            </a:pPr>
            <a:r>
              <a:rPr sz="1700" b="1" dirty="0">
                <a:solidFill>
                  <a:srgbClr val="40458B"/>
                </a:solidFill>
                <a:latin typeface="Arial"/>
                <a:cs typeface="Arial"/>
              </a:rPr>
              <a:t>POUR	</a:t>
            </a: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&lt;Compteur&gt;</a:t>
            </a:r>
            <a:r>
              <a:rPr sz="17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700" b="1" spc="5" dirty="0">
                <a:solidFill>
                  <a:srgbClr val="40458B"/>
                </a:solidFill>
                <a:latin typeface="Arial"/>
                <a:cs typeface="Arial"/>
              </a:rPr>
              <a:t>DE</a:t>
            </a:r>
            <a:r>
              <a:rPr sz="1700" b="1" spc="-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&lt;valeurInitiale&gt;</a:t>
            </a:r>
            <a:r>
              <a:rPr sz="17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40458B"/>
                </a:solidFill>
                <a:latin typeface="Arial"/>
                <a:cs typeface="Arial"/>
              </a:rPr>
              <a:t>À</a:t>
            </a:r>
            <a:r>
              <a:rPr sz="17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&lt;valeurFinale&gt;</a:t>
            </a:r>
            <a:r>
              <a:rPr sz="17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700" spc="-40" dirty="0">
                <a:solidFill>
                  <a:srgbClr val="40458B"/>
                </a:solidFill>
                <a:latin typeface="Arial MT"/>
                <a:cs typeface="Arial MT"/>
              </a:rPr>
              <a:t>[</a:t>
            </a:r>
            <a:r>
              <a:rPr sz="1700" b="1" spc="-40" dirty="0">
                <a:solidFill>
                  <a:srgbClr val="40458B"/>
                </a:solidFill>
                <a:latin typeface="Arial"/>
                <a:cs typeface="Arial"/>
              </a:rPr>
              <a:t>PAR</a:t>
            </a:r>
            <a:r>
              <a:rPr sz="1700" b="1" spc="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b="1" spc="-50" dirty="0">
                <a:solidFill>
                  <a:srgbClr val="40458B"/>
                </a:solidFill>
                <a:latin typeface="Arial"/>
                <a:cs typeface="Arial"/>
              </a:rPr>
              <a:t>PAS</a:t>
            </a:r>
            <a:r>
              <a:rPr sz="1700" b="1" spc="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b="1" spc="5" dirty="0">
                <a:solidFill>
                  <a:srgbClr val="40458B"/>
                </a:solidFill>
                <a:latin typeface="Arial"/>
                <a:cs typeface="Arial"/>
              </a:rPr>
              <a:t>DE</a:t>
            </a:r>
            <a:r>
              <a:rPr sz="17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p</a:t>
            </a:r>
            <a:r>
              <a:rPr sz="17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] </a:t>
            </a:r>
            <a:r>
              <a:rPr sz="1700" b="1" spc="-30" dirty="0">
                <a:solidFill>
                  <a:srgbClr val="40458B"/>
                </a:solidFill>
                <a:latin typeface="Arial"/>
                <a:cs typeface="Arial"/>
              </a:rPr>
              <a:t>FAIRE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Arial"/>
              <a:cs typeface="Arial"/>
            </a:endParaRPr>
          </a:p>
          <a:p>
            <a:pPr marL="581025">
              <a:lnSpc>
                <a:spcPct val="100000"/>
              </a:lnSpc>
            </a:pPr>
            <a:r>
              <a:rPr sz="1700" dirty="0">
                <a:solidFill>
                  <a:srgbClr val="40458B"/>
                </a:solidFill>
                <a:latin typeface="Arial MT"/>
                <a:cs typeface="Arial MT"/>
              </a:rPr>
              <a:t>&lt;Séquence</a:t>
            </a:r>
            <a:r>
              <a:rPr sz="17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40458B"/>
                </a:solidFill>
                <a:latin typeface="Arial MT"/>
                <a:cs typeface="Arial MT"/>
              </a:rPr>
              <a:t>d’instructions&gt;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1700" b="1" spc="-4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40458B"/>
                </a:solidFill>
                <a:latin typeface="Arial"/>
                <a:cs typeface="Arial"/>
              </a:rPr>
              <a:t>POUR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800" b="1" spc="-15" dirty="0">
                <a:solidFill>
                  <a:srgbClr val="A40020"/>
                </a:solidFill>
                <a:latin typeface="Arial"/>
                <a:cs typeface="Arial"/>
              </a:rPr>
              <a:t>AVEC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700" b="1" dirty="0">
                <a:solidFill>
                  <a:srgbClr val="A40020"/>
                </a:solidFill>
                <a:latin typeface="Arial"/>
                <a:cs typeface="Arial"/>
              </a:rPr>
              <a:t>Compteur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variable</a:t>
            </a:r>
            <a:r>
              <a:rPr sz="18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entière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contrôle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appelée</a:t>
            </a:r>
            <a:r>
              <a:rPr sz="1800" spc="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900" i="1" spc="-55" dirty="0">
                <a:solidFill>
                  <a:srgbClr val="40458B"/>
                </a:solidFill>
                <a:latin typeface="Arial"/>
                <a:cs typeface="Arial"/>
              </a:rPr>
              <a:t>index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700" b="1" spc="-5" dirty="0">
                <a:solidFill>
                  <a:srgbClr val="A40020"/>
                </a:solidFill>
                <a:latin typeface="Arial"/>
                <a:cs typeface="Arial"/>
              </a:rPr>
              <a:t>valeurInitiale</a:t>
            </a:r>
            <a:r>
              <a:rPr sz="1700" b="1" spc="8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expression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à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entière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dont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initiale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1700" b="1" spc="-5" dirty="0">
                <a:solidFill>
                  <a:srgbClr val="A40020"/>
                </a:solidFill>
                <a:latin typeface="Arial"/>
                <a:cs typeface="Arial"/>
              </a:rPr>
              <a:t>valeurFinale</a:t>
            </a:r>
            <a:r>
              <a:rPr sz="1700" b="1" spc="7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expression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à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entière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dont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la valeur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finale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45100"/>
              </a:lnSpc>
              <a:spcBef>
                <a:spcPts val="430"/>
              </a:spcBef>
            </a:pP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p</a:t>
            </a:r>
            <a:r>
              <a:rPr sz="1800" b="1" spc="7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spc="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expression</a:t>
            </a:r>
            <a:r>
              <a:rPr sz="1800" spc="8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dont</a:t>
            </a:r>
            <a:r>
              <a:rPr sz="1800" spc="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valeur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1800" spc="6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1800" spc="8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pas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d'avancement.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Il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facultatif,</a:t>
            </a:r>
            <a:r>
              <a:rPr sz="1800" spc="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s'il</a:t>
            </a:r>
            <a:r>
              <a:rPr sz="1800" spc="7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est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omis,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 pas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pris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par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défaut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égal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668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5298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Structure</a:t>
            </a:r>
            <a:r>
              <a:rPr sz="3600" spc="-5" dirty="0"/>
              <a:t> POUR…FAIRE</a:t>
            </a:r>
            <a:r>
              <a:rPr sz="3600" spc="15" dirty="0"/>
              <a:t> </a:t>
            </a:r>
            <a:r>
              <a:rPr sz="2000" dirty="0"/>
              <a:t>2/6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905000" y="3276600"/>
            <a:ext cx="3352800" cy="304800"/>
          </a:xfrm>
          <a:prstGeom prst="rect">
            <a:avLst/>
          </a:prstGeom>
          <a:solidFill>
            <a:srgbClr val="0033CC"/>
          </a:solidFill>
          <a:ln w="9144">
            <a:solidFill>
              <a:srgbClr val="40458B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compteur</a:t>
            </a:r>
            <a:r>
              <a:rPr sz="1800" spc="-5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valeurInitiale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6437" y="3986593"/>
            <a:ext cx="3209925" cy="1457325"/>
            <a:chOff x="1976437" y="3986593"/>
            <a:chExt cx="3209925" cy="1457325"/>
          </a:xfrm>
        </p:grpSpPr>
        <p:sp>
          <p:nvSpPr>
            <p:cNvPr id="5" name="object 5"/>
            <p:cNvSpPr/>
            <p:nvPr/>
          </p:nvSpPr>
          <p:spPr>
            <a:xfrm>
              <a:off x="1981200" y="3991355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1600200" y="0"/>
                  </a:moveTo>
                  <a:lnTo>
                    <a:pt x="0" y="381000"/>
                  </a:lnTo>
                  <a:lnTo>
                    <a:pt x="1600200" y="762000"/>
                  </a:lnTo>
                  <a:lnTo>
                    <a:pt x="3200400" y="381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3991355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0" y="381000"/>
                  </a:moveTo>
                  <a:lnTo>
                    <a:pt x="1600200" y="0"/>
                  </a:lnTo>
                  <a:lnTo>
                    <a:pt x="3200400" y="381000"/>
                  </a:lnTo>
                  <a:lnTo>
                    <a:pt x="1600200" y="76200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5058155"/>
              <a:ext cx="2895600" cy="381000"/>
            </a:xfrm>
            <a:custGeom>
              <a:avLst/>
              <a:gdLst/>
              <a:ahLst/>
              <a:cxnLst/>
              <a:rect l="l" t="t" r="r" b="b"/>
              <a:pathLst>
                <a:path w="2895600" h="381000">
                  <a:moveTo>
                    <a:pt x="28956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895600" y="381000"/>
                  </a:lnTo>
                  <a:lnTo>
                    <a:pt x="28956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5058155"/>
              <a:ext cx="2895600" cy="381000"/>
            </a:xfrm>
            <a:custGeom>
              <a:avLst/>
              <a:gdLst/>
              <a:ahLst/>
              <a:cxnLst/>
              <a:rect l="l" t="t" r="r" b="b"/>
              <a:pathLst>
                <a:path w="2895600" h="381000">
                  <a:moveTo>
                    <a:pt x="0" y="381000"/>
                  </a:moveTo>
                  <a:lnTo>
                    <a:pt x="2895600" y="381000"/>
                  </a:lnTo>
                  <a:lnTo>
                    <a:pt x="28956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33600" y="5098160"/>
            <a:ext cx="2891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Séquence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d'instructions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8800" y="4191000"/>
            <a:ext cx="2438400" cy="304800"/>
          </a:xfrm>
          <a:prstGeom prst="rect">
            <a:avLst/>
          </a:prstGeom>
          <a:solidFill>
            <a:srgbClr val="0033CC"/>
          </a:solidFill>
          <a:ln w="9144">
            <a:solidFill>
              <a:srgbClr val="40458B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suite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programme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05037" y="5891593"/>
            <a:ext cx="2752725" cy="390525"/>
            <a:chOff x="2205037" y="5891593"/>
            <a:chExt cx="2752725" cy="390525"/>
          </a:xfrm>
        </p:grpSpPr>
        <p:sp>
          <p:nvSpPr>
            <p:cNvPr id="12" name="object 12"/>
            <p:cNvSpPr/>
            <p:nvPr/>
          </p:nvSpPr>
          <p:spPr>
            <a:xfrm>
              <a:off x="2209800" y="5896355"/>
              <a:ext cx="2743200" cy="381000"/>
            </a:xfrm>
            <a:custGeom>
              <a:avLst/>
              <a:gdLst/>
              <a:ahLst/>
              <a:cxnLst/>
              <a:rect l="l" t="t" r="r" b="b"/>
              <a:pathLst>
                <a:path w="2743200" h="381000">
                  <a:moveTo>
                    <a:pt x="27432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743200" y="381000"/>
                  </a:lnTo>
                  <a:lnTo>
                    <a:pt x="27432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09800" y="5896355"/>
              <a:ext cx="2743200" cy="381000"/>
            </a:xfrm>
            <a:custGeom>
              <a:avLst/>
              <a:gdLst/>
              <a:ahLst/>
              <a:cxnLst/>
              <a:rect l="l" t="t" r="r" b="b"/>
              <a:pathLst>
                <a:path w="2743200" h="381000">
                  <a:moveTo>
                    <a:pt x="0" y="381000"/>
                  </a:moveTo>
                  <a:lnTo>
                    <a:pt x="2743200" y="381000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09800" y="5934862"/>
            <a:ext cx="2738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Compteur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compteur+1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44062" y="3611117"/>
            <a:ext cx="2095500" cy="2286000"/>
          </a:xfrm>
          <a:custGeom>
            <a:avLst/>
            <a:gdLst/>
            <a:ahLst/>
            <a:cxnLst/>
            <a:rect l="l" t="t" r="r" b="b"/>
            <a:pathLst>
              <a:path w="2095500" h="2286000">
                <a:moveTo>
                  <a:pt x="76200" y="2209800"/>
                </a:moveTo>
                <a:lnTo>
                  <a:pt x="48006" y="2209800"/>
                </a:lnTo>
                <a:lnTo>
                  <a:pt x="48006" y="1828800"/>
                </a:lnTo>
                <a:lnTo>
                  <a:pt x="28194" y="1828800"/>
                </a:lnTo>
                <a:lnTo>
                  <a:pt x="28194" y="2209800"/>
                </a:lnTo>
                <a:lnTo>
                  <a:pt x="0" y="2209800"/>
                </a:lnTo>
                <a:lnTo>
                  <a:pt x="38100" y="2286000"/>
                </a:lnTo>
                <a:lnTo>
                  <a:pt x="69850" y="2222500"/>
                </a:lnTo>
                <a:lnTo>
                  <a:pt x="76200" y="2209800"/>
                </a:lnTo>
                <a:close/>
              </a:path>
              <a:path w="2095500" h="2286000">
                <a:moveTo>
                  <a:pt x="76200" y="1371600"/>
                </a:moveTo>
                <a:lnTo>
                  <a:pt x="48006" y="1371600"/>
                </a:lnTo>
                <a:lnTo>
                  <a:pt x="48006" y="1143000"/>
                </a:lnTo>
                <a:lnTo>
                  <a:pt x="28194" y="1143000"/>
                </a:lnTo>
                <a:lnTo>
                  <a:pt x="28194" y="1371600"/>
                </a:lnTo>
                <a:lnTo>
                  <a:pt x="0" y="1371600"/>
                </a:lnTo>
                <a:lnTo>
                  <a:pt x="38100" y="1447800"/>
                </a:lnTo>
                <a:lnTo>
                  <a:pt x="69850" y="1384300"/>
                </a:lnTo>
                <a:lnTo>
                  <a:pt x="76200" y="1371600"/>
                </a:lnTo>
                <a:close/>
              </a:path>
              <a:path w="2095500" h="2286000">
                <a:moveTo>
                  <a:pt x="76200" y="304800"/>
                </a:moveTo>
                <a:lnTo>
                  <a:pt x="48006" y="304800"/>
                </a:lnTo>
                <a:lnTo>
                  <a:pt x="48006" y="0"/>
                </a:lnTo>
                <a:lnTo>
                  <a:pt x="28194" y="0"/>
                </a:lnTo>
                <a:lnTo>
                  <a:pt x="28194" y="304800"/>
                </a:lnTo>
                <a:lnTo>
                  <a:pt x="0" y="304800"/>
                </a:lnTo>
                <a:lnTo>
                  <a:pt x="38100" y="381000"/>
                </a:lnTo>
                <a:lnTo>
                  <a:pt x="69850" y="317500"/>
                </a:lnTo>
                <a:lnTo>
                  <a:pt x="76200" y="304800"/>
                </a:lnTo>
                <a:close/>
              </a:path>
              <a:path w="2095500" h="2286000">
                <a:moveTo>
                  <a:pt x="2095500" y="762000"/>
                </a:moveTo>
                <a:lnTo>
                  <a:pt x="2075688" y="752094"/>
                </a:lnTo>
                <a:lnTo>
                  <a:pt x="2019300" y="723900"/>
                </a:lnTo>
                <a:lnTo>
                  <a:pt x="2019300" y="752094"/>
                </a:lnTo>
                <a:lnTo>
                  <a:pt x="1638300" y="752094"/>
                </a:lnTo>
                <a:lnTo>
                  <a:pt x="1638300" y="771906"/>
                </a:lnTo>
                <a:lnTo>
                  <a:pt x="2019300" y="771906"/>
                </a:lnTo>
                <a:lnTo>
                  <a:pt x="2019300" y="800100"/>
                </a:lnTo>
                <a:lnTo>
                  <a:pt x="2075688" y="771906"/>
                </a:lnTo>
                <a:lnTo>
                  <a:pt x="2095500" y="76200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39720" y="4220082"/>
            <a:ext cx="248412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Compteur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</a:t>
            </a:r>
            <a:r>
              <a:rPr sz="1800" spc="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valeurFinale</a:t>
            </a:r>
            <a:endParaRPr sz="1800">
              <a:latin typeface="Tahoma"/>
              <a:cs typeface="Tahoma"/>
            </a:endParaRPr>
          </a:p>
          <a:p>
            <a:pPr marL="647700">
              <a:lnSpc>
                <a:spcPct val="100000"/>
              </a:lnSpc>
              <a:spcBef>
                <a:spcPts val="1685"/>
              </a:spcBef>
            </a:pP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vrai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32628" y="4023486"/>
            <a:ext cx="5511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40458B"/>
                </a:solidFill>
                <a:latin typeface="Tahoma"/>
                <a:cs typeface="Tahoma"/>
              </a:rPr>
              <a:t>f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aux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43455" y="4335017"/>
            <a:ext cx="3671570" cy="2181860"/>
            <a:chOff x="1743455" y="4335017"/>
            <a:chExt cx="3671570" cy="2181860"/>
          </a:xfrm>
        </p:grpSpPr>
        <p:sp>
          <p:nvSpPr>
            <p:cNvPr id="19" name="object 19"/>
            <p:cNvSpPr/>
            <p:nvPr/>
          </p:nvSpPr>
          <p:spPr>
            <a:xfrm>
              <a:off x="1743455" y="4335017"/>
              <a:ext cx="1849120" cy="2181860"/>
            </a:xfrm>
            <a:custGeom>
              <a:avLst/>
              <a:gdLst/>
              <a:ahLst/>
              <a:cxnLst/>
              <a:rect l="l" t="t" r="r" b="b"/>
              <a:pathLst>
                <a:path w="1849120" h="2181859">
                  <a:moveTo>
                    <a:pt x="162306" y="28193"/>
                  </a:moveTo>
                  <a:lnTo>
                    <a:pt x="0" y="28193"/>
                  </a:lnTo>
                  <a:lnTo>
                    <a:pt x="0" y="2181605"/>
                  </a:lnTo>
                  <a:lnTo>
                    <a:pt x="1848611" y="2181605"/>
                  </a:lnTo>
                  <a:lnTo>
                    <a:pt x="1848611" y="2171699"/>
                  </a:lnTo>
                  <a:lnTo>
                    <a:pt x="19812" y="2171699"/>
                  </a:lnTo>
                  <a:lnTo>
                    <a:pt x="9906" y="2161793"/>
                  </a:lnTo>
                  <a:lnTo>
                    <a:pt x="19812" y="2161793"/>
                  </a:lnTo>
                  <a:lnTo>
                    <a:pt x="19812" y="48005"/>
                  </a:lnTo>
                  <a:lnTo>
                    <a:pt x="9906" y="48005"/>
                  </a:lnTo>
                  <a:lnTo>
                    <a:pt x="19812" y="38099"/>
                  </a:lnTo>
                  <a:lnTo>
                    <a:pt x="162306" y="38099"/>
                  </a:lnTo>
                  <a:lnTo>
                    <a:pt x="162306" y="28193"/>
                  </a:lnTo>
                  <a:close/>
                </a:path>
                <a:path w="1849120" h="2181859">
                  <a:moveTo>
                    <a:pt x="19812" y="2161793"/>
                  </a:moveTo>
                  <a:lnTo>
                    <a:pt x="9906" y="2161793"/>
                  </a:lnTo>
                  <a:lnTo>
                    <a:pt x="19812" y="2171699"/>
                  </a:lnTo>
                  <a:lnTo>
                    <a:pt x="19812" y="2161793"/>
                  </a:lnTo>
                  <a:close/>
                </a:path>
                <a:path w="1849120" h="2181859">
                  <a:moveTo>
                    <a:pt x="1828799" y="2161793"/>
                  </a:moveTo>
                  <a:lnTo>
                    <a:pt x="19812" y="2161793"/>
                  </a:lnTo>
                  <a:lnTo>
                    <a:pt x="19812" y="2171699"/>
                  </a:lnTo>
                  <a:lnTo>
                    <a:pt x="1828799" y="2171699"/>
                  </a:lnTo>
                  <a:lnTo>
                    <a:pt x="1828799" y="2161793"/>
                  </a:lnTo>
                  <a:close/>
                </a:path>
                <a:path w="1849120" h="2181859">
                  <a:moveTo>
                    <a:pt x="1848611" y="1943099"/>
                  </a:moveTo>
                  <a:lnTo>
                    <a:pt x="1828799" y="1943099"/>
                  </a:lnTo>
                  <a:lnTo>
                    <a:pt x="1828799" y="2171699"/>
                  </a:lnTo>
                  <a:lnTo>
                    <a:pt x="1838706" y="2161793"/>
                  </a:lnTo>
                  <a:lnTo>
                    <a:pt x="1848611" y="2161793"/>
                  </a:lnTo>
                  <a:lnTo>
                    <a:pt x="1848611" y="1943099"/>
                  </a:lnTo>
                  <a:close/>
                </a:path>
                <a:path w="1849120" h="2181859">
                  <a:moveTo>
                    <a:pt x="1848611" y="2161793"/>
                  </a:moveTo>
                  <a:lnTo>
                    <a:pt x="1838706" y="2161793"/>
                  </a:lnTo>
                  <a:lnTo>
                    <a:pt x="1828799" y="2171699"/>
                  </a:lnTo>
                  <a:lnTo>
                    <a:pt x="1848611" y="2171699"/>
                  </a:lnTo>
                  <a:lnTo>
                    <a:pt x="1848611" y="2161793"/>
                  </a:lnTo>
                  <a:close/>
                </a:path>
                <a:path w="1849120" h="2181859">
                  <a:moveTo>
                    <a:pt x="162306" y="0"/>
                  </a:moveTo>
                  <a:lnTo>
                    <a:pt x="162306" y="76199"/>
                  </a:lnTo>
                  <a:lnTo>
                    <a:pt x="218694" y="48005"/>
                  </a:lnTo>
                  <a:lnTo>
                    <a:pt x="175006" y="48005"/>
                  </a:lnTo>
                  <a:lnTo>
                    <a:pt x="175006" y="28193"/>
                  </a:lnTo>
                  <a:lnTo>
                    <a:pt x="218694" y="28193"/>
                  </a:lnTo>
                  <a:lnTo>
                    <a:pt x="162306" y="0"/>
                  </a:lnTo>
                  <a:close/>
                </a:path>
                <a:path w="1849120" h="2181859">
                  <a:moveTo>
                    <a:pt x="19812" y="38099"/>
                  </a:moveTo>
                  <a:lnTo>
                    <a:pt x="9906" y="48005"/>
                  </a:lnTo>
                  <a:lnTo>
                    <a:pt x="19812" y="48005"/>
                  </a:lnTo>
                  <a:lnTo>
                    <a:pt x="19812" y="38099"/>
                  </a:lnTo>
                  <a:close/>
                </a:path>
                <a:path w="1849120" h="2181859">
                  <a:moveTo>
                    <a:pt x="162306" y="38099"/>
                  </a:moveTo>
                  <a:lnTo>
                    <a:pt x="19812" y="38099"/>
                  </a:lnTo>
                  <a:lnTo>
                    <a:pt x="19812" y="48005"/>
                  </a:lnTo>
                  <a:lnTo>
                    <a:pt x="162306" y="48005"/>
                  </a:lnTo>
                  <a:lnTo>
                    <a:pt x="162306" y="38099"/>
                  </a:lnTo>
                  <a:close/>
                </a:path>
                <a:path w="1849120" h="2181859">
                  <a:moveTo>
                    <a:pt x="218694" y="28193"/>
                  </a:moveTo>
                  <a:lnTo>
                    <a:pt x="175006" y="28193"/>
                  </a:lnTo>
                  <a:lnTo>
                    <a:pt x="175006" y="48005"/>
                  </a:lnTo>
                  <a:lnTo>
                    <a:pt x="218694" y="48005"/>
                  </a:lnTo>
                  <a:lnTo>
                    <a:pt x="238506" y="38099"/>
                  </a:lnTo>
                  <a:lnTo>
                    <a:pt x="218694" y="28193"/>
                  </a:lnTo>
                  <a:close/>
                </a:path>
              </a:pathLst>
            </a:custGeom>
            <a:solidFill>
              <a:srgbClr val="A40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29200" y="5972555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95250" y="0"/>
                  </a:moveTo>
                  <a:lnTo>
                    <a:pt x="0" y="152400"/>
                  </a:lnTo>
                  <a:lnTo>
                    <a:pt x="95250" y="304800"/>
                  </a:lnTo>
                  <a:lnTo>
                    <a:pt x="95250" y="228600"/>
                  </a:lnTo>
                  <a:lnTo>
                    <a:pt x="381000" y="228600"/>
                  </a:lnTo>
                  <a:lnTo>
                    <a:pt x="381000" y="76200"/>
                  </a:lnTo>
                  <a:lnTo>
                    <a:pt x="95250" y="7620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045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29200" y="5972555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152400"/>
                  </a:moveTo>
                  <a:lnTo>
                    <a:pt x="95250" y="0"/>
                  </a:lnTo>
                  <a:lnTo>
                    <a:pt x="95250" y="76200"/>
                  </a:lnTo>
                  <a:lnTo>
                    <a:pt x="381000" y="76200"/>
                  </a:lnTo>
                  <a:lnTo>
                    <a:pt x="381000" y="228600"/>
                  </a:lnTo>
                  <a:lnTo>
                    <a:pt x="95250" y="228600"/>
                  </a:lnTo>
                  <a:lnTo>
                    <a:pt x="95250" y="304800"/>
                  </a:lnTo>
                  <a:lnTo>
                    <a:pt x="0" y="152400"/>
                  </a:lnTo>
                  <a:close/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489828" y="5852566"/>
            <a:ext cx="3230880" cy="509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sz="1600" spc="-5" dirty="0">
                <a:solidFill>
                  <a:srgbClr val="006666"/>
                </a:solidFill>
                <a:latin typeface="Tahoma"/>
                <a:cs typeface="Tahoma"/>
              </a:rPr>
              <a:t>Compteur</a:t>
            </a:r>
            <a:r>
              <a:rPr sz="1600" spc="15" dirty="0">
                <a:solidFill>
                  <a:srgbClr val="006666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006666"/>
                </a:solidFill>
                <a:latin typeface="Symbol"/>
                <a:cs typeface="Symbol"/>
              </a:rPr>
              <a:t></a:t>
            </a:r>
            <a:r>
              <a:rPr sz="1600" spc="85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6666"/>
                </a:solidFill>
                <a:latin typeface="Tahoma"/>
                <a:cs typeface="Tahoma"/>
              </a:rPr>
              <a:t>compteur+P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ts val="1910"/>
              </a:lnSpc>
            </a:pPr>
            <a:r>
              <a:rPr sz="1600" spc="-5" dirty="0">
                <a:solidFill>
                  <a:srgbClr val="006666"/>
                </a:solidFill>
                <a:latin typeface="Tahoma"/>
                <a:cs typeface="Tahoma"/>
              </a:rPr>
              <a:t>Si</a:t>
            </a:r>
            <a:r>
              <a:rPr sz="1600" spc="-20" dirty="0">
                <a:solidFill>
                  <a:srgbClr val="006666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006666"/>
                </a:solidFill>
                <a:latin typeface="Tahoma"/>
                <a:cs typeface="Tahoma"/>
              </a:rPr>
              <a:t>on </a:t>
            </a:r>
            <a:r>
              <a:rPr sz="1600" spc="-10" dirty="0">
                <a:solidFill>
                  <a:srgbClr val="006666"/>
                </a:solidFill>
                <a:latin typeface="Tahoma"/>
                <a:cs typeface="Tahoma"/>
              </a:rPr>
              <a:t>utilise</a:t>
            </a:r>
            <a:r>
              <a:rPr sz="1600" spc="15" dirty="0">
                <a:solidFill>
                  <a:srgbClr val="006666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006666"/>
                </a:solidFill>
                <a:latin typeface="Tahoma"/>
                <a:cs typeface="Tahoma"/>
              </a:rPr>
              <a:t>l'option</a:t>
            </a:r>
            <a:r>
              <a:rPr sz="1600" spc="30" dirty="0">
                <a:solidFill>
                  <a:srgbClr val="006666"/>
                </a:solidFill>
                <a:latin typeface="Tahoma"/>
                <a:cs typeface="Tahoma"/>
              </a:rPr>
              <a:t> </a:t>
            </a:r>
            <a:r>
              <a:rPr sz="1600" b="1" spc="-60" dirty="0">
                <a:solidFill>
                  <a:srgbClr val="40458B"/>
                </a:solidFill>
                <a:latin typeface="Arial"/>
                <a:cs typeface="Arial"/>
              </a:rPr>
              <a:t>PAR</a:t>
            </a:r>
            <a:r>
              <a:rPr sz="1600" b="1" spc="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600" b="1" spc="-60" dirty="0">
                <a:solidFill>
                  <a:srgbClr val="40458B"/>
                </a:solidFill>
                <a:latin typeface="Arial"/>
                <a:cs typeface="Arial"/>
              </a:rPr>
              <a:t>PAS</a:t>
            </a:r>
            <a:r>
              <a:rPr sz="1600" b="1" spc="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40458B"/>
                </a:solidFill>
                <a:latin typeface="Arial"/>
                <a:cs typeface="Arial"/>
              </a:rPr>
              <a:t>DE P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3" name="object 23"/>
          <p:cNvSpPr txBox="1"/>
          <p:nvPr/>
        </p:nvSpPr>
        <p:spPr>
          <a:xfrm>
            <a:off x="688340" y="1174749"/>
            <a:ext cx="7302500" cy="1960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Principe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fonctionnement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paramètre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compteur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reçoit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la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initiale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moment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d’accès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la 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boucle,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puis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chaque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parcours,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il passe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Tahoma"/>
                <a:cs typeface="Tahoma"/>
              </a:rPr>
              <a:t>automatiquement</a:t>
            </a:r>
            <a:r>
              <a:rPr sz="1800" b="1" spc="4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à la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valeur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suivante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dans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son domaine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jusqu’à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 atteindre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18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valeur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 finale.</a:t>
            </a:r>
            <a:endParaRPr sz="18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83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Organigramme</a:t>
            </a:r>
            <a:endParaRPr sz="22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7089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5298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Structure</a:t>
            </a:r>
            <a:r>
              <a:rPr sz="3600" spc="-5" dirty="0"/>
              <a:t> </a:t>
            </a:r>
            <a:r>
              <a:rPr sz="3600" spc="-5" dirty="0" smtClean="0"/>
              <a:t>POUR…FAIRE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690880" y="977644"/>
            <a:ext cx="547116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85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Remarques</a:t>
            </a:r>
            <a:endParaRPr sz="2200" dirty="0">
              <a:latin typeface="Tahoma"/>
              <a:cs typeface="Tahoma"/>
            </a:endParaRPr>
          </a:p>
          <a:p>
            <a:pPr marL="431800" indent="-343535">
              <a:lnSpc>
                <a:spcPts val="1905"/>
              </a:lnSpc>
              <a:buClr>
                <a:srgbClr val="6E88F7"/>
              </a:buClr>
              <a:buSzPct val="108333"/>
              <a:buFont typeface="Wingdings"/>
              <a:buChar char=""/>
              <a:tabLst>
                <a:tab pos="431800" algn="l"/>
                <a:tab pos="432434" algn="l"/>
              </a:tabLst>
            </a:pP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Une</a:t>
            </a:r>
            <a:r>
              <a:rPr sz="18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boucle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Tahoma"/>
                <a:cs typeface="Tahoma"/>
              </a:rPr>
              <a:t>être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exécutée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0,1</a:t>
            </a:r>
            <a:r>
              <a:rPr sz="18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ou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fois.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621662"/>
            <a:ext cx="7614920" cy="7631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45000"/>
              </a:lnSpc>
              <a:spcBef>
                <a:spcPts val="100"/>
              </a:spcBef>
              <a:buClr>
                <a:srgbClr val="6E88F7"/>
              </a:buClr>
              <a:buSzPct val="108333"/>
              <a:buFont typeface="Wingdings"/>
              <a:buChar char=""/>
              <a:tabLst>
                <a:tab pos="355600" algn="l"/>
                <a:tab pos="356235" algn="l"/>
              </a:tabLst>
            </a:pP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4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ne</a:t>
            </a:r>
            <a:r>
              <a:rPr sz="1800" spc="4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peut</a:t>
            </a:r>
            <a:r>
              <a:rPr sz="1800" spc="4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utiliser</a:t>
            </a:r>
            <a:r>
              <a:rPr sz="1800" spc="4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la</a:t>
            </a:r>
            <a:r>
              <a:rPr sz="1800" spc="4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boucle</a:t>
            </a:r>
            <a:r>
              <a:rPr sz="1800" spc="4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POUR</a:t>
            </a:r>
            <a:r>
              <a:rPr sz="1800" spc="4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que</a:t>
            </a:r>
            <a:r>
              <a:rPr sz="1800" spc="4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si</a:t>
            </a:r>
            <a:r>
              <a:rPr sz="1800" spc="4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on</a:t>
            </a:r>
            <a:r>
              <a:rPr sz="1800" spc="4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connaît</a:t>
            </a:r>
            <a:r>
              <a:rPr sz="1800" spc="4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au</a:t>
            </a:r>
            <a:r>
              <a:rPr sz="1800" spc="4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préalable </a:t>
            </a:r>
            <a:r>
              <a:rPr sz="1800" spc="-5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combien </a:t>
            </a:r>
            <a:r>
              <a:rPr sz="1800" dirty="0">
                <a:solidFill>
                  <a:srgbClr val="40458B"/>
                </a:solidFill>
                <a:latin typeface="Tahoma"/>
                <a:cs typeface="Tahoma"/>
              </a:rPr>
              <a:t>de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fois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1800" spc="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Tahoma"/>
                <a:cs typeface="Tahoma"/>
              </a:rPr>
              <a:t>traitement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40458B"/>
                </a:solidFill>
                <a:latin typeface="Tahoma"/>
                <a:cs typeface="Tahoma"/>
              </a:rPr>
              <a:t>sera</a:t>
            </a:r>
            <a:r>
              <a:rPr sz="18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1800" spc="-5" dirty="0" err="1">
                <a:solidFill>
                  <a:srgbClr val="40458B"/>
                </a:solidFill>
                <a:latin typeface="Tahoma"/>
                <a:cs typeface="Tahoma"/>
              </a:rPr>
              <a:t>répété</a:t>
            </a:r>
            <a:r>
              <a:rPr sz="1800" spc="-5" dirty="0" smtClean="0">
                <a:solidFill>
                  <a:srgbClr val="40458B"/>
                </a:solidFill>
                <a:latin typeface="Tahoma"/>
                <a:cs typeface="Tahoma"/>
              </a:rPr>
              <a:t>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3200" y="2819400"/>
            <a:ext cx="2668270" cy="29718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875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Algorithme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ESSAI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</a:pP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i,N</a:t>
            </a:r>
            <a:r>
              <a:rPr sz="1800" i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(entier)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Début</a:t>
            </a:r>
            <a:endParaRPr sz="1800">
              <a:latin typeface="Arial"/>
              <a:cs typeface="Arial"/>
            </a:endParaRPr>
          </a:p>
          <a:p>
            <a:pPr marL="218440">
              <a:lnSpc>
                <a:spcPct val="100000"/>
              </a:lnSpc>
            </a:pP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r>
              <a:rPr sz="1800" i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2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  <a:p>
            <a:pPr marL="408940" marR="409575" indent="-190500">
              <a:lnSpc>
                <a:spcPct val="100000"/>
              </a:lnSpc>
            </a:pP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Pour i de 1 à N faire </a:t>
            </a:r>
            <a:r>
              <a:rPr sz="1800" i="1" spc="-49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écrire</a:t>
            </a:r>
            <a:r>
              <a:rPr sz="1800" i="1" spc="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(i)</a:t>
            </a:r>
            <a:endParaRPr sz="1800">
              <a:latin typeface="Arial"/>
              <a:cs typeface="Arial"/>
            </a:endParaRPr>
          </a:p>
          <a:p>
            <a:pPr marL="91440" marR="1605280" indent="316865" algn="just">
              <a:lnSpc>
                <a:spcPct val="100000"/>
              </a:lnSpc>
            </a:pPr>
            <a:r>
              <a:rPr sz="1800" i="1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r>
              <a:rPr sz="1800" i="1" spc="-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40458B"/>
                </a:solidFill>
                <a:latin typeface="Arial"/>
                <a:cs typeface="Arial"/>
              </a:rPr>
              <a:t>0 </a:t>
            </a:r>
            <a:r>
              <a:rPr sz="1800" i="1" spc="-484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Fin </a:t>
            </a:r>
            <a:r>
              <a:rPr sz="1800" i="1" spc="-10" dirty="0">
                <a:solidFill>
                  <a:srgbClr val="40458B"/>
                </a:solidFill>
                <a:latin typeface="Arial"/>
                <a:cs typeface="Arial"/>
              </a:rPr>
              <a:t>pour </a:t>
            </a:r>
            <a:r>
              <a:rPr sz="1800" i="1" spc="-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1926"/>
            <a:ext cx="130175" cy="205740"/>
          </a:xfrm>
          <a:custGeom>
            <a:avLst/>
            <a:gdLst/>
            <a:ahLst/>
            <a:cxnLst/>
            <a:rect l="l" t="t" r="r" b="b"/>
            <a:pathLst>
              <a:path w="130175" h="205739">
                <a:moveTo>
                  <a:pt x="129694" y="0"/>
                </a:moveTo>
                <a:lnTo>
                  <a:pt x="0" y="0"/>
                </a:lnTo>
                <a:lnTo>
                  <a:pt x="0" y="205246"/>
                </a:lnTo>
                <a:lnTo>
                  <a:pt x="129694" y="205246"/>
                </a:lnTo>
                <a:lnTo>
                  <a:pt x="1296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3749052"/>
            <a:ext cx="130175" cy="388620"/>
          </a:xfrm>
          <a:custGeom>
            <a:avLst/>
            <a:gdLst/>
            <a:ahLst/>
            <a:cxnLst/>
            <a:rect l="l" t="t" r="r" b="b"/>
            <a:pathLst>
              <a:path w="130175" h="388620">
                <a:moveTo>
                  <a:pt x="129692" y="0"/>
                </a:moveTo>
                <a:lnTo>
                  <a:pt x="0" y="0"/>
                </a:lnTo>
                <a:lnTo>
                  <a:pt x="0" y="182880"/>
                </a:lnTo>
                <a:lnTo>
                  <a:pt x="0" y="205244"/>
                </a:lnTo>
                <a:lnTo>
                  <a:pt x="0" y="388124"/>
                </a:lnTo>
                <a:lnTo>
                  <a:pt x="129692" y="388124"/>
                </a:lnTo>
                <a:lnTo>
                  <a:pt x="129692" y="205244"/>
                </a:lnTo>
                <a:lnTo>
                  <a:pt x="129692" y="182880"/>
                </a:lnTo>
                <a:lnTo>
                  <a:pt x="1296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72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5298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Structure</a:t>
            </a:r>
            <a:r>
              <a:rPr sz="3600" spc="-5" dirty="0"/>
              <a:t> POUR…FAIRE</a:t>
            </a:r>
            <a:r>
              <a:rPr sz="3600" spc="15" dirty="0"/>
              <a:t> </a:t>
            </a:r>
            <a:r>
              <a:rPr sz="2000" dirty="0"/>
              <a:t>4/6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688340" y="1174749"/>
            <a:ext cx="1485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9694" y="1819655"/>
          <a:ext cx="4571998" cy="30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2435"/>
                <a:gridCol w="75564"/>
                <a:gridCol w="1296035"/>
                <a:gridCol w="227964"/>
              </a:tblGrid>
              <a:tr h="9144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POUR</a:t>
                      </a:r>
                      <a:r>
                        <a:rPr sz="1800" b="1" spc="-10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i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-1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À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-10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spc="-30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FAIRE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Ecrire</a:t>
                      </a:r>
                      <a:r>
                        <a:rPr sz="1800" spc="-3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(i*10)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FINPOUR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58B"/>
                      </a:solidFill>
                      <a:prstDash val="solid"/>
                    </a:lnL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14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A40020"/>
                          </a:solidFill>
                          <a:latin typeface="Tahoma"/>
                          <a:cs typeface="Tahoma"/>
                        </a:rPr>
                        <a:t>Exemple</a:t>
                      </a:r>
                      <a:r>
                        <a:rPr sz="2200" b="1" spc="-30" dirty="0">
                          <a:solidFill>
                            <a:srgbClr val="A4002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b="1" spc="-5" dirty="0">
                          <a:solidFill>
                            <a:srgbClr val="A40020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T w="28575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219200"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2512060" algn="l"/>
                        </a:tabLst>
                      </a:pP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POUR</a:t>
                      </a:r>
                      <a:r>
                        <a:rPr sz="1800" b="1" spc="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spc="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spc="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À</a:t>
                      </a:r>
                      <a:r>
                        <a:rPr sz="1800" b="1" spc="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sz="1800" b="1" spc="10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6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PAR	PAS</a:t>
                      </a:r>
                      <a:r>
                        <a:rPr sz="1800" b="1" spc="2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spc="-1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800" b="1" spc="-10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30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FAIRE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Ecrire</a:t>
                      </a:r>
                      <a:r>
                        <a:rPr sz="1800" spc="-3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40458B"/>
                          </a:solidFill>
                          <a:latin typeface="Arial MT"/>
                          <a:cs typeface="Arial MT"/>
                        </a:rPr>
                        <a:t>(i*10)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800" b="1" dirty="0">
                          <a:solidFill>
                            <a:srgbClr val="40458B"/>
                          </a:solidFill>
                          <a:latin typeface="Arial"/>
                          <a:cs typeface="Arial"/>
                        </a:rPr>
                        <a:t>FINPOUR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40458B"/>
                      </a:solidFill>
                      <a:prstDash val="solid"/>
                    </a:lnL>
                    <a:lnR w="28575">
                      <a:solidFill>
                        <a:srgbClr val="40458B"/>
                      </a:solidFill>
                      <a:prstDash val="solid"/>
                    </a:lnR>
                    <a:lnT w="28575">
                      <a:solidFill>
                        <a:srgbClr val="40458B"/>
                      </a:solidFill>
                      <a:prstDash val="solid"/>
                    </a:lnT>
                    <a:lnB w="28575">
                      <a:solidFill>
                        <a:srgbClr val="40458B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0458B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81600" y="1295400"/>
          <a:ext cx="609600" cy="1766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/>
                <a:gridCol w="457200"/>
              </a:tblGrid>
              <a:tr h="380117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545"/>
                        </a:lnSpc>
                        <a:spcBef>
                          <a:spcPts val="345"/>
                        </a:spcBef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solidFill>
                      <a:srgbClr val="0033CC"/>
                    </a:solidFill>
                  </a:tcPr>
                </a:tc>
              </a:tr>
              <a:tr h="3818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635"/>
                        </a:lnSpc>
                      </a:pPr>
                      <a:r>
                        <a:rPr sz="2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270"/>
                        </a:lnSpc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300"/>
                        </a:lnSpc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  <a:tr h="3947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3335" marB="0"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3881628" y="2052827"/>
            <a:ext cx="1076325" cy="238125"/>
            <a:chOff x="3881628" y="2052827"/>
            <a:chExt cx="1076325" cy="238125"/>
          </a:xfrm>
        </p:grpSpPr>
        <p:sp>
          <p:nvSpPr>
            <p:cNvPr id="7" name="object 7"/>
            <p:cNvSpPr/>
            <p:nvPr/>
          </p:nvSpPr>
          <p:spPr>
            <a:xfrm>
              <a:off x="3886200" y="2057399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3333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33337" y="171450"/>
                  </a:lnTo>
                  <a:lnTo>
                    <a:pt x="33337" y="57150"/>
                  </a:lnTo>
                  <a:close/>
                </a:path>
                <a:path w="1066800" h="228600">
                  <a:moveTo>
                    <a:pt x="133350" y="57150"/>
                  </a:moveTo>
                  <a:lnTo>
                    <a:pt x="66675" y="57150"/>
                  </a:lnTo>
                  <a:lnTo>
                    <a:pt x="66675" y="171450"/>
                  </a:lnTo>
                  <a:lnTo>
                    <a:pt x="133350" y="171450"/>
                  </a:lnTo>
                  <a:lnTo>
                    <a:pt x="133350" y="57150"/>
                  </a:lnTo>
                  <a:close/>
                </a:path>
                <a:path w="1066800" h="228600">
                  <a:moveTo>
                    <a:pt x="1066800" y="114300"/>
                  </a:moveTo>
                  <a:lnTo>
                    <a:pt x="800100" y="0"/>
                  </a:ln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6200" y="2057399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800100" y="0"/>
                  </a:move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lnTo>
                    <a:pt x="800100" y="0"/>
                  </a:lnTo>
                  <a:close/>
                </a:path>
                <a:path w="1066800" h="228600">
                  <a:moveTo>
                    <a:pt x="66675" y="171450"/>
                  </a:moveTo>
                  <a:lnTo>
                    <a:pt x="133350" y="171450"/>
                  </a:lnTo>
                  <a:lnTo>
                    <a:pt x="133350" y="57150"/>
                  </a:lnTo>
                  <a:lnTo>
                    <a:pt x="66675" y="57150"/>
                  </a:lnTo>
                  <a:lnTo>
                    <a:pt x="66675" y="171450"/>
                  </a:lnTo>
                  <a:close/>
                </a:path>
                <a:path w="1066800" h="228600">
                  <a:moveTo>
                    <a:pt x="0" y="171450"/>
                  </a:moveTo>
                  <a:lnTo>
                    <a:pt x="33337" y="171450"/>
                  </a:lnTo>
                  <a:lnTo>
                    <a:pt x="3333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029200" y="4110228"/>
            <a:ext cx="462280" cy="238125"/>
            <a:chOff x="5029200" y="4110228"/>
            <a:chExt cx="462280" cy="238125"/>
          </a:xfrm>
        </p:grpSpPr>
        <p:sp>
          <p:nvSpPr>
            <p:cNvPr id="10" name="object 10"/>
            <p:cNvSpPr/>
            <p:nvPr/>
          </p:nvSpPr>
          <p:spPr>
            <a:xfrm>
              <a:off x="5029200" y="41148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200" y="11430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00573" y="4114800"/>
              <a:ext cx="386080" cy="228600"/>
            </a:xfrm>
            <a:custGeom>
              <a:avLst/>
              <a:gdLst/>
              <a:ahLst/>
              <a:cxnLst/>
              <a:rect l="l" t="t" r="r" b="b"/>
              <a:pathLst>
                <a:path w="386079" h="228600">
                  <a:moveTo>
                    <a:pt x="271525" y="0"/>
                  </a:moveTo>
                  <a:lnTo>
                    <a:pt x="271525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271525" y="171450"/>
                  </a:lnTo>
                  <a:lnTo>
                    <a:pt x="271525" y="228600"/>
                  </a:lnTo>
                  <a:lnTo>
                    <a:pt x="385825" y="114300"/>
                  </a:lnTo>
                  <a:lnTo>
                    <a:pt x="271525" y="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029200" y="4171950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28575" y="114300"/>
                </a:moveTo>
                <a:lnTo>
                  <a:pt x="57150" y="114300"/>
                </a:lnTo>
                <a:lnTo>
                  <a:pt x="57150" y="0"/>
                </a:lnTo>
                <a:lnTo>
                  <a:pt x="28575" y="0"/>
                </a:lnTo>
                <a:lnTo>
                  <a:pt x="28575" y="114300"/>
                </a:lnTo>
                <a:close/>
              </a:path>
              <a:path w="57150" h="114300">
                <a:moveTo>
                  <a:pt x="0" y="114300"/>
                </a:moveTo>
                <a:lnTo>
                  <a:pt x="14287" y="114300"/>
                </a:lnTo>
                <a:lnTo>
                  <a:pt x="14287" y="0"/>
                </a:ln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ln w="9144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62600" y="3886200"/>
            <a:ext cx="489584" cy="1097280"/>
          </a:xfrm>
          <a:custGeom>
            <a:avLst/>
            <a:gdLst/>
            <a:ahLst/>
            <a:cxnLst/>
            <a:rect l="l" t="t" r="r" b="b"/>
            <a:pathLst>
              <a:path w="489585" h="1097279">
                <a:moveTo>
                  <a:pt x="489203" y="0"/>
                </a:moveTo>
                <a:lnTo>
                  <a:pt x="0" y="0"/>
                </a:lnTo>
                <a:lnTo>
                  <a:pt x="0" y="1097280"/>
                </a:lnTo>
                <a:lnTo>
                  <a:pt x="489203" y="1097280"/>
                </a:lnTo>
                <a:lnTo>
                  <a:pt x="489203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62600" y="3886200"/>
            <a:ext cx="489584" cy="38100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5562600" y="4266951"/>
            <a:ext cx="489584" cy="33591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35"/>
              </a:lnSpc>
            </a:pP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30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2600" y="4602606"/>
            <a:ext cx="489584" cy="38100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2635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50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64884" y="1249043"/>
            <a:ext cx="758571" cy="184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6444169" y="3685155"/>
            <a:ext cx="758571" cy="184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77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52984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Structure</a:t>
            </a:r>
            <a:r>
              <a:rPr sz="3600" spc="-5" dirty="0"/>
              <a:t> POUR…FAIRE</a:t>
            </a:r>
            <a:r>
              <a:rPr sz="3600" spc="15" dirty="0"/>
              <a:t> </a:t>
            </a:r>
            <a:r>
              <a:rPr sz="2000" dirty="0"/>
              <a:t>5/6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41044" y="1403350"/>
            <a:ext cx="7657465" cy="1680588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pc="-5" dirty="0"/>
              <a:t>Exemple</a:t>
            </a:r>
            <a:r>
              <a:rPr spc="-30" dirty="0"/>
              <a:t> </a:t>
            </a:r>
            <a:r>
              <a:rPr spc="-5" dirty="0"/>
              <a:t>3</a:t>
            </a:r>
          </a:p>
          <a:p>
            <a:pPr marL="99060">
              <a:lnSpc>
                <a:spcPct val="100000"/>
              </a:lnSpc>
              <a:spcBef>
                <a:spcPts val="400"/>
              </a:spcBef>
            </a:pP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Lire</a:t>
            </a:r>
            <a:r>
              <a:rPr sz="1800" b="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10</a:t>
            </a:r>
            <a:r>
              <a:rPr sz="1800" b="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notes</a:t>
            </a:r>
            <a:r>
              <a:rPr sz="1800" b="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et</a:t>
            </a:r>
            <a:r>
              <a:rPr sz="1800" b="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calculer</a:t>
            </a:r>
            <a:r>
              <a:rPr sz="1800" b="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leur</a:t>
            </a:r>
            <a:r>
              <a:rPr sz="1800" b="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b="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et</a:t>
            </a:r>
            <a:r>
              <a:rPr sz="1800" b="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spc="-5" dirty="0">
                <a:solidFill>
                  <a:srgbClr val="40458B"/>
                </a:solidFill>
                <a:latin typeface="Arial MT"/>
                <a:cs typeface="Arial MT"/>
              </a:rPr>
              <a:t>leur</a:t>
            </a:r>
            <a:r>
              <a:rPr sz="1800" b="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0" dirty="0">
                <a:solidFill>
                  <a:srgbClr val="40458B"/>
                </a:solidFill>
                <a:latin typeface="Arial MT"/>
                <a:cs typeface="Arial MT"/>
              </a:rPr>
              <a:t>moyenne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00" dirty="0">
              <a:latin typeface="Arial MT"/>
              <a:cs typeface="Arial MT"/>
            </a:endParaRPr>
          </a:p>
          <a:p>
            <a:pPr marL="12700" marR="2331720">
              <a:lnSpc>
                <a:spcPct val="100000"/>
              </a:lnSpc>
              <a:tabLst>
                <a:tab pos="1361440" algn="l"/>
              </a:tabLst>
            </a:pPr>
            <a:r>
              <a:rPr sz="1800" spc="-95" dirty="0">
                <a:solidFill>
                  <a:srgbClr val="40458B"/>
                </a:solidFill>
                <a:latin typeface="Arial"/>
                <a:cs typeface="Arial"/>
              </a:rPr>
              <a:t>A</a:t>
            </a:r>
            <a:r>
              <a:rPr sz="1800" spc="-100" dirty="0">
                <a:solidFill>
                  <a:srgbClr val="40458B"/>
                </a:solidFill>
                <a:latin typeface="Arial"/>
                <a:cs typeface="Arial"/>
              </a:rPr>
              <a:t>l</a:t>
            </a:r>
            <a:r>
              <a:rPr sz="1800" spc="-95" dirty="0">
                <a:solidFill>
                  <a:srgbClr val="40458B"/>
                </a:solidFill>
                <a:latin typeface="Arial"/>
                <a:cs typeface="Arial"/>
              </a:rPr>
              <a:t>go</a:t>
            </a:r>
            <a:r>
              <a:rPr sz="1800" spc="-85" dirty="0">
                <a:solidFill>
                  <a:srgbClr val="40458B"/>
                </a:solidFill>
                <a:latin typeface="Arial"/>
                <a:cs typeface="Arial"/>
              </a:rPr>
              <a:t>rithme</a:t>
            </a:r>
            <a:r>
              <a:rPr sz="1800" dirty="0">
                <a:solidFill>
                  <a:srgbClr val="40458B"/>
                </a:solidFill>
                <a:latin typeface="Arial"/>
                <a:cs typeface="Arial"/>
              </a:rPr>
              <a:t>	</a:t>
            </a:r>
            <a:r>
              <a:rPr sz="1800" b="0" dirty="0" err="1">
                <a:solidFill>
                  <a:srgbClr val="40458B"/>
                </a:solidFill>
                <a:latin typeface="Arial MT"/>
                <a:cs typeface="Arial MT"/>
              </a:rPr>
              <a:t>somm</a:t>
            </a:r>
            <a:r>
              <a:rPr sz="1800" b="0" spc="-10" dirty="0" err="1">
                <a:solidFill>
                  <a:srgbClr val="40458B"/>
                </a:solidFill>
                <a:latin typeface="Arial MT"/>
                <a:cs typeface="Arial MT"/>
              </a:rPr>
              <a:t>e</a:t>
            </a:r>
            <a:r>
              <a:rPr sz="1800" spc="-95" dirty="0" err="1">
                <a:solidFill>
                  <a:srgbClr val="40458B"/>
                </a:solidFill>
                <a:latin typeface="Arial"/>
                <a:cs typeface="Arial"/>
              </a:rPr>
              <a:t>_</a:t>
            </a:r>
            <a:r>
              <a:rPr sz="1800" b="0" dirty="0" err="1">
                <a:solidFill>
                  <a:srgbClr val="40458B"/>
                </a:solidFill>
                <a:latin typeface="Arial MT"/>
                <a:cs typeface="Arial MT"/>
              </a:rPr>
              <a:t>moy</a:t>
            </a:r>
            <a:r>
              <a:rPr sz="1800" b="0" spc="-10" dirty="0" err="1">
                <a:solidFill>
                  <a:srgbClr val="40458B"/>
                </a:solidFill>
                <a:latin typeface="Arial MT"/>
                <a:cs typeface="Arial MT"/>
              </a:rPr>
              <a:t>e</a:t>
            </a:r>
            <a:r>
              <a:rPr sz="1800" b="0" spc="-5" dirty="0" err="1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b="0" spc="-10" dirty="0" err="1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b="0" dirty="0" err="1">
                <a:solidFill>
                  <a:srgbClr val="40458B"/>
                </a:solidFill>
                <a:latin typeface="Arial MT"/>
                <a:cs typeface="Arial MT"/>
              </a:rPr>
              <a:t>e</a:t>
            </a:r>
            <a:r>
              <a:rPr sz="1800" b="0" dirty="0">
                <a:solidFill>
                  <a:srgbClr val="40458B"/>
                </a:solidFill>
                <a:latin typeface="Arial MT"/>
                <a:cs typeface="Arial MT"/>
              </a:rPr>
              <a:t>  </a:t>
            </a:r>
            <a:endParaRPr lang="fr-FR" sz="1800" b="0" dirty="0" smtClean="0">
              <a:solidFill>
                <a:srgbClr val="40458B"/>
              </a:solidFill>
              <a:latin typeface="Arial MT"/>
              <a:cs typeface="Arial MT"/>
            </a:endParaRPr>
          </a:p>
          <a:p>
            <a:pPr marL="12700" marR="2331720">
              <a:lnSpc>
                <a:spcPct val="100000"/>
              </a:lnSpc>
              <a:tabLst>
                <a:tab pos="1361440" algn="l"/>
              </a:tabLst>
            </a:pPr>
            <a:r>
              <a:rPr sz="1800" b="0" spc="-5" dirty="0" smtClean="0">
                <a:solidFill>
                  <a:srgbClr val="40458B"/>
                </a:solidFill>
                <a:latin typeface="Arial MT"/>
                <a:cs typeface="Arial MT"/>
              </a:rPr>
              <a:t>VAR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270884"/>
            <a:ext cx="638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40458B"/>
                </a:solidFill>
                <a:latin typeface="Arial"/>
                <a:cs typeface="Arial"/>
              </a:rPr>
              <a:t>D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é</a:t>
            </a:r>
            <a:r>
              <a:rPr sz="1800" b="1" spc="-95" dirty="0">
                <a:solidFill>
                  <a:srgbClr val="40458B"/>
                </a:solidFill>
                <a:latin typeface="Arial"/>
                <a:cs typeface="Arial"/>
              </a:rPr>
              <a:t>but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2994" y="2721990"/>
            <a:ext cx="36169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note,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moyenne,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somme(réel)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(entier)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spc="-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2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0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à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10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faire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Lire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(note)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4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note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endParaRPr sz="1800" dirty="0">
              <a:latin typeface="Arial MT"/>
              <a:cs typeface="Arial MT"/>
            </a:endParaRPr>
          </a:p>
          <a:p>
            <a:pPr marL="12700" marR="386715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("la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est",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somme)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moyenne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4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somme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/10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("la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moyenne est",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moyenne)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5739790"/>
            <a:ext cx="346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" dirty="0">
                <a:solidFill>
                  <a:srgbClr val="40458B"/>
                </a:solidFill>
                <a:latin typeface="Arial"/>
                <a:cs typeface="Arial"/>
              </a:rPr>
              <a:t>F</a:t>
            </a:r>
            <a:r>
              <a:rPr sz="1800" b="1" spc="-95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100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0362" y="2186367"/>
            <a:ext cx="5562600" cy="4114800"/>
          </a:xfrm>
          <a:custGeom>
            <a:avLst/>
            <a:gdLst/>
            <a:ahLst/>
            <a:cxnLst/>
            <a:rect l="l" t="t" r="r" b="b"/>
            <a:pathLst>
              <a:path w="5562600" h="4114800">
                <a:moveTo>
                  <a:pt x="0" y="4114800"/>
                </a:moveTo>
                <a:lnTo>
                  <a:pt x="5562600" y="4114800"/>
                </a:lnTo>
                <a:lnTo>
                  <a:pt x="55626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ln w="19812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639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281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0" dirty="0"/>
              <a:t> </a:t>
            </a:r>
            <a:r>
              <a:rPr dirty="0"/>
              <a:t>QUE ..FAIRE</a:t>
            </a:r>
            <a:r>
              <a:rPr spc="-40" dirty="0"/>
              <a:t> </a:t>
            </a:r>
            <a:r>
              <a:rPr sz="1800" spc="-5" dirty="0"/>
              <a:t>1/6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764540" y="1250949"/>
            <a:ext cx="1160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Synt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ax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6000" y="1371600"/>
            <a:ext cx="3810000" cy="120142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  <a:tabLst>
                <a:tab pos="1370330" algn="l"/>
              </a:tabLst>
            </a:pPr>
            <a:r>
              <a:rPr sz="1800" b="1" spc="-50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	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&lt;Condition&gt;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FAIRE</a:t>
            </a:r>
            <a:endParaRPr sz="1800">
              <a:latin typeface="Arial"/>
              <a:cs typeface="Arial"/>
            </a:endParaRPr>
          </a:p>
          <a:p>
            <a:pPr marL="28257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&lt;Séquence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d’instructions&gt;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1800" b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2775330"/>
            <a:ext cx="7388225" cy="1884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2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Principe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fonctionnement</a:t>
            </a:r>
            <a:endParaRPr sz="2200">
              <a:latin typeface="Tahoma"/>
              <a:cs typeface="Tahoma"/>
            </a:endParaRPr>
          </a:p>
          <a:p>
            <a:pPr marL="12700" marR="5080" algn="just">
              <a:lnSpc>
                <a:spcPts val="2400"/>
              </a:lnSpc>
              <a:spcBef>
                <a:spcPts val="60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A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l’exécution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de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l’algorithme, la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suite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d’instructions est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exécutée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tant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que la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condition (une expression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logique)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est satisfaite.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Si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d’emblée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condition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n’est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pas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remplie,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boucle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ne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sera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exécutée</a:t>
            </a:r>
            <a:r>
              <a:rPr sz="20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aucune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fois.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ts val="2360"/>
              </a:lnSpc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Organigramme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71637" y="4795837"/>
            <a:ext cx="3209925" cy="771525"/>
            <a:chOff x="1671637" y="4795837"/>
            <a:chExt cx="3209925" cy="771525"/>
          </a:xfrm>
        </p:grpSpPr>
        <p:sp>
          <p:nvSpPr>
            <p:cNvPr id="11" name="object 11"/>
            <p:cNvSpPr/>
            <p:nvPr/>
          </p:nvSpPr>
          <p:spPr>
            <a:xfrm>
              <a:off x="1676400" y="4800600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1600200" y="0"/>
                  </a:moveTo>
                  <a:lnTo>
                    <a:pt x="0" y="381000"/>
                  </a:lnTo>
                  <a:lnTo>
                    <a:pt x="1600200" y="762000"/>
                  </a:lnTo>
                  <a:lnTo>
                    <a:pt x="3200400" y="381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6400" y="4800600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0" y="381000"/>
                  </a:moveTo>
                  <a:lnTo>
                    <a:pt x="1600200" y="0"/>
                  </a:lnTo>
                  <a:lnTo>
                    <a:pt x="3200400" y="381000"/>
                  </a:lnTo>
                  <a:lnTo>
                    <a:pt x="1600200" y="76200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28800" y="5867400"/>
            <a:ext cx="2895600" cy="381000"/>
          </a:xfrm>
          <a:prstGeom prst="rect">
            <a:avLst/>
          </a:prstGeom>
          <a:solidFill>
            <a:srgbClr val="0033CC"/>
          </a:solidFill>
          <a:ln w="9144">
            <a:solidFill>
              <a:srgbClr val="40458B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42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Séquence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d'instructions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39262" y="5144261"/>
            <a:ext cx="2095500" cy="723900"/>
          </a:xfrm>
          <a:custGeom>
            <a:avLst/>
            <a:gdLst/>
            <a:ahLst/>
            <a:cxnLst/>
            <a:rect l="l" t="t" r="r" b="b"/>
            <a:pathLst>
              <a:path w="2095500" h="723900">
                <a:moveTo>
                  <a:pt x="76200" y="647700"/>
                </a:moveTo>
                <a:lnTo>
                  <a:pt x="47993" y="647700"/>
                </a:lnTo>
                <a:lnTo>
                  <a:pt x="47993" y="419100"/>
                </a:lnTo>
                <a:lnTo>
                  <a:pt x="28181" y="419100"/>
                </a:lnTo>
                <a:lnTo>
                  <a:pt x="28181" y="647700"/>
                </a:lnTo>
                <a:lnTo>
                  <a:pt x="0" y="647700"/>
                </a:lnTo>
                <a:lnTo>
                  <a:pt x="38100" y="723900"/>
                </a:lnTo>
                <a:lnTo>
                  <a:pt x="69850" y="660400"/>
                </a:lnTo>
                <a:lnTo>
                  <a:pt x="76200" y="647700"/>
                </a:lnTo>
                <a:close/>
              </a:path>
              <a:path w="2095500" h="723900">
                <a:moveTo>
                  <a:pt x="2095500" y="38100"/>
                </a:moveTo>
                <a:lnTo>
                  <a:pt x="2075688" y="28194"/>
                </a:lnTo>
                <a:lnTo>
                  <a:pt x="2019300" y="0"/>
                </a:lnTo>
                <a:lnTo>
                  <a:pt x="2019300" y="28194"/>
                </a:lnTo>
                <a:lnTo>
                  <a:pt x="1638300" y="28194"/>
                </a:lnTo>
                <a:lnTo>
                  <a:pt x="1638300" y="48006"/>
                </a:lnTo>
                <a:lnTo>
                  <a:pt x="2019300" y="48006"/>
                </a:lnTo>
                <a:lnTo>
                  <a:pt x="2019300" y="76200"/>
                </a:lnTo>
                <a:lnTo>
                  <a:pt x="2075688" y="48006"/>
                </a:lnTo>
                <a:lnTo>
                  <a:pt x="2095500" y="3810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70175" y="5031485"/>
            <a:ext cx="109283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nditi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vrai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4028" y="4833365"/>
            <a:ext cx="504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f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aux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38655" y="4572000"/>
            <a:ext cx="1876425" cy="1496695"/>
            <a:chOff x="1438655" y="4572000"/>
            <a:chExt cx="1876425" cy="1496695"/>
          </a:xfrm>
        </p:grpSpPr>
        <p:sp>
          <p:nvSpPr>
            <p:cNvPr id="18" name="object 18"/>
            <p:cNvSpPr/>
            <p:nvPr/>
          </p:nvSpPr>
          <p:spPr>
            <a:xfrm>
              <a:off x="1438655" y="5144262"/>
              <a:ext cx="391160" cy="924560"/>
            </a:xfrm>
            <a:custGeom>
              <a:avLst/>
              <a:gdLst/>
              <a:ahLst/>
              <a:cxnLst/>
              <a:rect l="l" t="t" r="r" b="b"/>
              <a:pathLst>
                <a:path w="391160" h="924560">
                  <a:moveTo>
                    <a:pt x="162306" y="28193"/>
                  </a:moveTo>
                  <a:lnTo>
                    <a:pt x="0" y="28193"/>
                  </a:lnTo>
                  <a:lnTo>
                    <a:pt x="0" y="924306"/>
                  </a:lnTo>
                  <a:lnTo>
                    <a:pt x="390906" y="924306"/>
                  </a:lnTo>
                  <a:lnTo>
                    <a:pt x="390906" y="914400"/>
                  </a:lnTo>
                  <a:lnTo>
                    <a:pt x="19812" y="914400"/>
                  </a:lnTo>
                  <a:lnTo>
                    <a:pt x="9906" y="904494"/>
                  </a:lnTo>
                  <a:lnTo>
                    <a:pt x="19812" y="904494"/>
                  </a:lnTo>
                  <a:lnTo>
                    <a:pt x="19812" y="48006"/>
                  </a:lnTo>
                  <a:lnTo>
                    <a:pt x="9906" y="48006"/>
                  </a:lnTo>
                  <a:lnTo>
                    <a:pt x="19812" y="38100"/>
                  </a:lnTo>
                  <a:lnTo>
                    <a:pt x="162306" y="38100"/>
                  </a:lnTo>
                  <a:lnTo>
                    <a:pt x="162306" y="28193"/>
                  </a:lnTo>
                  <a:close/>
                </a:path>
                <a:path w="391160" h="924560">
                  <a:moveTo>
                    <a:pt x="19812" y="904494"/>
                  </a:moveTo>
                  <a:lnTo>
                    <a:pt x="9906" y="904494"/>
                  </a:lnTo>
                  <a:lnTo>
                    <a:pt x="19812" y="914400"/>
                  </a:lnTo>
                  <a:lnTo>
                    <a:pt x="19812" y="904494"/>
                  </a:lnTo>
                  <a:close/>
                </a:path>
                <a:path w="391160" h="924560">
                  <a:moveTo>
                    <a:pt x="390906" y="904494"/>
                  </a:moveTo>
                  <a:lnTo>
                    <a:pt x="19812" y="904494"/>
                  </a:lnTo>
                  <a:lnTo>
                    <a:pt x="19812" y="914400"/>
                  </a:lnTo>
                  <a:lnTo>
                    <a:pt x="390906" y="914400"/>
                  </a:lnTo>
                  <a:lnTo>
                    <a:pt x="390906" y="904494"/>
                  </a:lnTo>
                  <a:close/>
                </a:path>
                <a:path w="391160" h="924560">
                  <a:moveTo>
                    <a:pt x="162306" y="0"/>
                  </a:moveTo>
                  <a:lnTo>
                    <a:pt x="162306" y="76200"/>
                  </a:lnTo>
                  <a:lnTo>
                    <a:pt x="218694" y="48006"/>
                  </a:lnTo>
                  <a:lnTo>
                    <a:pt x="175006" y="48006"/>
                  </a:lnTo>
                  <a:lnTo>
                    <a:pt x="175006" y="28193"/>
                  </a:lnTo>
                  <a:lnTo>
                    <a:pt x="218694" y="28193"/>
                  </a:lnTo>
                  <a:lnTo>
                    <a:pt x="162306" y="0"/>
                  </a:lnTo>
                  <a:close/>
                </a:path>
                <a:path w="391160" h="924560">
                  <a:moveTo>
                    <a:pt x="19812" y="38100"/>
                  </a:moveTo>
                  <a:lnTo>
                    <a:pt x="9906" y="48006"/>
                  </a:lnTo>
                  <a:lnTo>
                    <a:pt x="19812" y="48006"/>
                  </a:lnTo>
                  <a:lnTo>
                    <a:pt x="19812" y="38100"/>
                  </a:lnTo>
                  <a:close/>
                </a:path>
                <a:path w="391160" h="924560">
                  <a:moveTo>
                    <a:pt x="162306" y="38100"/>
                  </a:moveTo>
                  <a:lnTo>
                    <a:pt x="19812" y="38100"/>
                  </a:lnTo>
                  <a:lnTo>
                    <a:pt x="19812" y="48006"/>
                  </a:lnTo>
                  <a:lnTo>
                    <a:pt x="162306" y="48006"/>
                  </a:lnTo>
                  <a:lnTo>
                    <a:pt x="162306" y="38100"/>
                  </a:lnTo>
                  <a:close/>
                </a:path>
                <a:path w="391160" h="924560">
                  <a:moveTo>
                    <a:pt x="218694" y="28193"/>
                  </a:moveTo>
                  <a:lnTo>
                    <a:pt x="175006" y="28193"/>
                  </a:lnTo>
                  <a:lnTo>
                    <a:pt x="175006" y="48006"/>
                  </a:lnTo>
                  <a:lnTo>
                    <a:pt x="218694" y="48006"/>
                  </a:lnTo>
                  <a:lnTo>
                    <a:pt x="238506" y="38100"/>
                  </a:lnTo>
                  <a:lnTo>
                    <a:pt x="218694" y="28193"/>
                  </a:lnTo>
                  <a:close/>
                </a:path>
              </a:pathLst>
            </a:custGeom>
            <a:solidFill>
              <a:srgbClr val="A40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8500" y="4572000"/>
              <a:ext cx="76200" cy="2286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334000" y="4953000"/>
            <a:ext cx="2438400" cy="381000"/>
          </a:xfrm>
          <a:prstGeom prst="rect">
            <a:avLst/>
          </a:prstGeom>
          <a:solidFill>
            <a:srgbClr val="0033CC"/>
          </a:solidFill>
          <a:ln w="9144">
            <a:solidFill>
              <a:srgbClr val="40458B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1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suite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programme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19</a:t>
            </a:fld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0722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320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5" dirty="0"/>
              <a:t> </a:t>
            </a:r>
            <a:r>
              <a:rPr dirty="0"/>
              <a:t>QUE</a:t>
            </a:r>
            <a:r>
              <a:rPr spc="5" dirty="0"/>
              <a:t> </a:t>
            </a:r>
            <a:r>
              <a:rPr dirty="0"/>
              <a:t>..FAIRE</a:t>
            </a:r>
            <a:r>
              <a:rPr spc="-45" dirty="0"/>
              <a:t> </a:t>
            </a:r>
            <a:r>
              <a:rPr sz="2000" dirty="0"/>
              <a:t>3/6</a:t>
            </a:r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1486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5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1829561"/>
            <a:ext cx="4192270" cy="30480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 marR="2353945">
              <a:lnSpc>
                <a:spcPct val="100000"/>
              </a:lnSpc>
              <a:spcBef>
                <a:spcPts val="19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Algorithme</a:t>
            </a:r>
            <a:r>
              <a:rPr sz="1800" spc="-7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TEST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VAR</a:t>
            </a:r>
            <a:endParaRPr sz="1800" dirty="0">
              <a:latin typeface="Arial MT"/>
              <a:cs typeface="Arial MT"/>
            </a:endParaRPr>
          </a:p>
          <a:p>
            <a:pPr marL="91440" marR="325501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(entier)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Début</a:t>
            </a:r>
            <a:endParaRPr sz="1800" dirty="0">
              <a:latin typeface="Arial MT"/>
              <a:cs typeface="Arial MT"/>
            </a:endParaRPr>
          </a:p>
          <a:p>
            <a:pPr marL="28194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("donnez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 entier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S.V.P")</a:t>
            </a:r>
            <a:endParaRPr sz="1800" dirty="0">
              <a:latin typeface="Arial MT"/>
              <a:cs typeface="Arial MT"/>
            </a:endParaRPr>
          </a:p>
          <a:p>
            <a:pPr marL="28194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Lire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(i)</a:t>
            </a:r>
            <a:endParaRPr sz="1800" dirty="0">
              <a:latin typeface="Arial MT"/>
              <a:cs typeface="Arial MT"/>
            </a:endParaRPr>
          </a:p>
          <a:p>
            <a:pPr marL="277495">
              <a:lnSpc>
                <a:spcPct val="100000"/>
              </a:lnSpc>
            </a:pP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&lt;&gt;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0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FAIRE</a:t>
            </a:r>
            <a:endParaRPr sz="1800" dirty="0">
              <a:latin typeface="Arial MT"/>
              <a:cs typeface="Arial MT"/>
            </a:endParaRPr>
          </a:p>
          <a:p>
            <a:pPr marL="789305" marR="889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 ("donnez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entier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S.V.P")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Lire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(i)</a:t>
            </a:r>
            <a:endParaRPr sz="1800" dirty="0">
              <a:latin typeface="Arial MT"/>
              <a:cs typeface="Arial MT"/>
            </a:endParaRPr>
          </a:p>
          <a:p>
            <a:pPr marL="28194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endParaRPr sz="1800" dirty="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6400" y="2286000"/>
            <a:ext cx="3429000" cy="1432560"/>
          </a:xfrm>
          <a:custGeom>
            <a:avLst/>
            <a:gdLst/>
            <a:ahLst/>
            <a:cxnLst/>
            <a:rect l="l" t="t" r="r" b="b"/>
            <a:pathLst>
              <a:path w="3429000" h="1432560">
                <a:moveTo>
                  <a:pt x="3429000" y="0"/>
                </a:moveTo>
                <a:lnTo>
                  <a:pt x="0" y="0"/>
                </a:lnTo>
                <a:lnTo>
                  <a:pt x="0" y="1432560"/>
                </a:lnTo>
                <a:lnTo>
                  <a:pt x="3429000" y="1432560"/>
                </a:lnTo>
                <a:lnTo>
                  <a:pt x="3429000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66028" y="2318130"/>
            <a:ext cx="309880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L'algorithme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continue</a:t>
            </a:r>
            <a:r>
              <a:rPr sz="2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à 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demander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l'utilisateur 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saisir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des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entiers</a:t>
            </a:r>
            <a:r>
              <a:rPr sz="2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tant </a:t>
            </a:r>
            <a:r>
              <a:rPr sz="2200" spc="-6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qu'il</a:t>
            </a:r>
            <a:r>
              <a:rPr sz="22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n'a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pas saisi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sz="2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zéro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72228" y="2891027"/>
            <a:ext cx="542925" cy="238125"/>
            <a:chOff x="4872228" y="2891027"/>
            <a:chExt cx="542925" cy="238125"/>
          </a:xfrm>
        </p:grpSpPr>
        <p:sp>
          <p:nvSpPr>
            <p:cNvPr id="12" name="object 12"/>
            <p:cNvSpPr/>
            <p:nvPr/>
          </p:nvSpPr>
          <p:spPr>
            <a:xfrm>
              <a:off x="4876800" y="2895599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16662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6662" y="171450"/>
                  </a:lnTo>
                  <a:lnTo>
                    <a:pt x="16662" y="57150"/>
                  </a:lnTo>
                  <a:close/>
                </a:path>
                <a:path w="533400" h="228600">
                  <a:moveTo>
                    <a:pt x="66611" y="57150"/>
                  </a:moveTo>
                  <a:lnTo>
                    <a:pt x="33274" y="57150"/>
                  </a:lnTo>
                  <a:lnTo>
                    <a:pt x="33274" y="171450"/>
                  </a:lnTo>
                  <a:lnTo>
                    <a:pt x="66611" y="171450"/>
                  </a:lnTo>
                  <a:lnTo>
                    <a:pt x="66611" y="57150"/>
                  </a:lnTo>
                  <a:close/>
                </a:path>
                <a:path w="533400" h="228600">
                  <a:moveTo>
                    <a:pt x="533400" y="114300"/>
                  </a:moveTo>
                  <a:lnTo>
                    <a:pt x="400050" y="0"/>
                  </a:lnTo>
                  <a:lnTo>
                    <a:pt x="400050" y="57150"/>
                  </a:lnTo>
                  <a:lnTo>
                    <a:pt x="83312" y="57150"/>
                  </a:lnTo>
                  <a:lnTo>
                    <a:pt x="83312" y="171450"/>
                  </a:lnTo>
                  <a:lnTo>
                    <a:pt x="400050" y="171450"/>
                  </a:lnTo>
                  <a:lnTo>
                    <a:pt x="400050" y="228600"/>
                  </a:lnTo>
                  <a:lnTo>
                    <a:pt x="5334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76800" y="2895599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400050" y="0"/>
                  </a:moveTo>
                  <a:lnTo>
                    <a:pt x="400050" y="57150"/>
                  </a:lnTo>
                  <a:lnTo>
                    <a:pt x="83312" y="57150"/>
                  </a:lnTo>
                  <a:lnTo>
                    <a:pt x="83312" y="171450"/>
                  </a:lnTo>
                  <a:lnTo>
                    <a:pt x="400050" y="171450"/>
                  </a:lnTo>
                  <a:lnTo>
                    <a:pt x="400050" y="228600"/>
                  </a:lnTo>
                  <a:lnTo>
                    <a:pt x="533400" y="114300"/>
                  </a:lnTo>
                  <a:lnTo>
                    <a:pt x="400050" y="0"/>
                  </a:lnTo>
                  <a:close/>
                </a:path>
                <a:path w="533400" h="228600">
                  <a:moveTo>
                    <a:pt x="33274" y="171450"/>
                  </a:moveTo>
                  <a:lnTo>
                    <a:pt x="66611" y="171450"/>
                  </a:lnTo>
                  <a:lnTo>
                    <a:pt x="66611" y="57150"/>
                  </a:lnTo>
                  <a:lnTo>
                    <a:pt x="33274" y="57150"/>
                  </a:lnTo>
                  <a:lnTo>
                    <a:pt x="33274" y="171450"/>
                  </a:lnTo>
                  <a:close/>
                </a:path>
                <a:path w="533400" h="228600">
                  <a:moveTo>
                    <a:pt x="0" y="171450"/>
                  </a:moveTo>
                  <a:lnTo>
                    <a:pt x="16668" y="171450"/>
                  </a:lnTo>
                  <a:lnTo>
                    <a:pt x="16668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2140" y="5214365"/>
            <a:ext cx="762380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50155" algn="l"/>
              </a:tabLst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Remarque:</a:t>
            </a:r>
            <a:r>
              <a:rPr sz="2200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spc="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2200" spc="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d'itérations</a:t>
            </a:r>
            <a:r>
              <a:rPr sz="2200" spc="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n'est	pas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connu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 à</a:t>
            </a:r>
            <a:r>
              <a:rPr sz="22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l'avance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20</a:t>
            </a:fld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84957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9765" y="1030224"/>
            <a:ext cx="1794510" cy="2333625"/>
            <a:chOff x="409765" y="1030224"/>
            <a:chExt cx="1794510" cy="2333625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320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5" dirty="0"/>
              <a:t> </a:t>
            </a:r>
            <a:r>
              <a:rPr dirty="0"/>
              <a:t>QUE</a:t>
            </a:r>
            <a:r>
              <a:rPr spc="5" dirty="0"/>
              <a:t> </a:t>
            </a:r>
            <a:r>
              <a:rPr dirty="0"/>
              <a:t>..FAIRE</a:t>
            </a:r>
            <a:r>
              <a:rPr spc="-45" dirty="0"/>
              <a:t> </a:t>
            </a:r>
            <a:r>
              <a:rPr sz="2000" dirty="0"/>
              <a:t>3/6</a:t>
            </a:r>
            <a:endParaRPr sz="20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1485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2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340" y="1841119"/>
            <a:ext cx="241109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9113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	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-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 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&lt;=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FAIRE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4000" y="1295400"/>
            <a:ext cx="489584" cy="1766570"/>
          </a:xfrm>
          <a:custGeom>
            <a:avLst/>
            <a:gdLst/>
            <a:ahLst/>
            <a:cxnLst/>
            <a:rect l="l" t="t" r="r" b="b"/>
            <a:pathLst>
              <a:path w="489585" h="1766570">
                <a:moveTo>
                  <a:pt x="489203" y="0"/>
                </a:moveTo>
                <a:lnTo>
                  <a:pt x="0" y="0"/>
                </a:lnTo>
                <a:lnTo>
                  <a:pt x="0" y="1766315"/>
                </a:lnTo>
                <a:lnTo>
                  <a:pt x="489203" y="1766315"/>
                </a:lnTo>
                <a:lnTo>
                  <a:pt x="489203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13628" y="1327149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3628" y="1662125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13628" y="1998091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30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3628" y="2333370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40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3628" y="2668650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50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81628" y="2052827"/>
            <a:ext cx="1076325" cy="238125"/>
            <a:chOff x="3881628" y="2052827"/>
            <a:chExt cx="1076325" cy="238125"/>
          </a:xfrm>
        </p:grpSpPr>
        <p:sp>
          <p:nvSpPr>
            <p:cNvPr id="16" name="object 16"/>
            <p:cNvSpPr/>
            <p:nvPr/>
          </p:nvSpPr>
          <p:spPr>
            <a:xfrm>
              <a:off x="3886200" y="2057399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3333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33337" y="171450"/>
                  </a:lnTo>
                  <a:lnTo>
                    <a:pt x="33337" y="57150"/>
                  </a:lnTo>
                  <a:close/>
                </a:path>
                <a:path w="1066800" h="228600">
                  <a:moveTo>
                    <a:pt x="133350" y="57150"/>
                  </a:moveTo>
                  <a:lnTo>
                    <a:pt x="66675" y="57150"/>
                  </a:lnTo>
                  <a:lnTo>
                    <a:pt x="66675" y="171450"/>
                  </a:lnTo>
                  <a:lnTo>
                    <a:pt x="133350" y="171450"/>
                  </a:lnTo>
                  <a:lnTo>
                    <a:pt x="133350" y="57150"/>
                  </a:lnTo>
                  <a:close/>
                </a:path>
                <a:path w="1066800" h="228600">
                  <a:moveTo>
                    <a:pt x="1066800" y="114300"/>
                  </a:moveTo>
                  <a:lnTo>
                    <a:pt x="800100" y="0"/>
                  </a:ln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86200" y="2057399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800100" y="0"/>
                  </a:move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lnTo>
                    <a:pt x="800100" y="0"/>
                  </a:lnTo>
                  <a:close/>
                </a:path>
                <a:path w="1066800" h="228600">
                  <a:moveTo>
                    <a:pt x="66675" y="171450"/>
                  </a:moveTo>
                  <a:lnTo>
                    <a:pt x="133350" y="171450"/>
                  </a:lnTo>
                  <a:lnTo>
                    <a:pt x="133350" y="57150"/>
                  </a:lnTo>
                  <a:lnTo>
                    <a:pt x="66675" y="57150"/>
                  </a:lnTo>
                  <a:lnTo>
                    <a:pt x="66675" y="171450"/>
                  </a:lnTo>
                  <a:close/>
                </a:path>
                <a:path w="1066800" h="228600">
                  <a:moveTo>
                    <a:pt x="0" y="171450"/>
                  </a:moveTo>
                  <a:lnTo>
                    <a:pt x="33337" y="171450"/>
                  </a:lnTo>
                  <a:lnTo>
                    <a:pt x="3333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38800" y="4860035"/>
            <a:ext cx="2286000" cy="42672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Rien</a:t>
            </a:r>
            <a:r>
              <a:rPr sz="22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n'est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affiché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24628" y="4931664"/>
            <a:ext cx="466725" cy="238125"/>
            <a:chOff x="5024628" y="4931664"/>
            <a:chExt cx="466725" cy="238125"/>
          </a:xfrm>
        </p:grpSpPr>
        <p:sp>
          <p:nvSpPr>
            <p:cNvPr id="20" name="object 20"/>
            <p:cNvSpPr/>
            <p:nvPr/>
          </p:nvSpPr>
          <p:spPr>
            <a:xfrm>
              <a:off x="5029200" y="4936236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200" y="11430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29200" y="4936236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42900" y="0"/>
                  </a:move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lnTo>
                    <a:pt x="342900" y="0"/>
                  </a:lnTo>
                  <a:close/>
                </a:path>
                <a:path w="457200" h="228600">
                  <a:moveTo>
                    <a:pt x="28575" y="171450"/>
                  </a:moveTo>
                  <a:lnTo>
                    <a:pt x="57150" y="171450"/>
                  </a:lnTo>
                  <a:lnTo>
                    <a:pt x="57150" y="57150"/>
                  </a:lnTo>
                  <a:lnTo>
                    <a:pt x="28575" y="57150"/>
                  </a:lnTo>
                  <a:lnTo>
                    <a:pt x="28575" y="171450"/>
                  </a:lnTo>
                  <a:close/>
                </a:path>
                <a:path w="457200" h="228600">
                  <a:moveTo>
                    <a:pt x="0" y="171450"/>
                  </a:moveTo>
                  <a:lnTo>
                    <a:pt x="14287" y="171450"/>
                  </a:lnTo>
                  <a:lnTo>
                    <a:pt x="1428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610362" y="1829561"/>
            <a:ext cx="2971800" cy="1676400"/>
          </a:xfrm>
          <a:custGeom>
            <a:avLst/>
            <a:gdLst/>
            <a:ahLst/>
            <a:cxnLst/>
            <a:rect l="l" t="t" r="r" b="b"/>
            <a:pathLst>
              <a:path w="2971800" h="1676400">
                <a:moveTo>
                  <a:pt x="0" y="1676400"/>
                </a:moveTo>
                <a:lnTo>
                  <a:pt x="2971800" y="1676400"/>
                </a:lnTo>
                <a:lnTo>
                  <a:pt x="2971800" y="0"/>
                </a:lnTo>
                <a:lnTo>
                  <a:pt x="0" y="0"/>
                </a:lnTo>
                <a:lnTo>
                  <a:pt x="0" y="1676400"/>
                </a:lnTo>
                <a:close/>
              </a:path>
            </a:pathLst>
          </a:custGeom>
          <a:ln w="19812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0362" y="4496561"/>
            <a:ext cx="4343400" cy="2057400"/>
          </a:xfrm>
          <a:custGeom>
            <a:avLst/>
            <a:gdLst/>
            <a:ahLst/>
            <a:cxnLst/>
            <a:rect l="l" t="t" r="r" b="b"/>
            <a:pathLst>
              <a:path w="4343400" h="2057400">
                <a:moveTo>
                  <a:pt x="0" y="2057400"/>
                </a:moveTo>
                <a:lnTo>
                  <a:pt x="4343400" y="2057400"/>
                </a:lnTo>
                <a:lnTo>
                  <a:pt x="4343400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ln w="19812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64540" y="4600194"/>
            <a:ext cx="241109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19113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	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-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&lt;=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FAIRE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31123" y="6433732"/>
            <a:ext cx="173990" cy="24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400" dirty="0">
                <a:solidFill>
                  <a:srgbClr val="40458B"/>
                </a:solidFill>
                <a:latin typeface="Tahoma"/>
                <a:cs typeface="Tahoma"/>
              </a:rPr>
              <a:t>21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2140" y="3212972"/>
            <a:ext cx="6808470" cy="1294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ts val="2055"/>
              </a:lnSpc>
              <a:spcBef>
                <a:spcPts val="10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ts val="2535"/>
              </a:lnSpc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Remarque:</a:t>
            </a:r>
            <a:r>
              <a:rPr sz="22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Le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nombre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d'itérations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est</a:t>
            </a:r>
            <a:r>
              <a:rPr sz="2200" spc="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connu</a:t>
            </a:r>
            <a:r>
              <a:rPr sz="2200" spc="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à</a:t>
            </a:r>
            <a:r>
              <a:rPr sz="2200" spc="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l'avance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3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19800" y="1244408"/>
            <a:ext cx="489584" cy="1930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 rot="16200000">
            <a:off x="6911117" y="4536468"/>
            <a:ext cx="489584" cy="2498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71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990600"/>
          </a:xfrm>
          <a:custGeom>
            <a:avLst/>
            <a:gdLst/>
            <a:ahLst/>
            <a:cxnLst/>
            <a:rect l="l" t="t" r="r" b="b"/>
            <a:pathLst>
              <a:path w="9525" h="990600">
                <a:moveTo>
                  <a:pt x="0" y="990600"/>
                </a:moveTo>
                <a:lnTo>
                  <a:pt x="9144" y="990600"/>
                </a:lnTo>
                <a:lnTo>
                  <a:pt x="9144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08923" y="6433820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58B"/>
                </a:solidFill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320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5" dirty="0"/>
              <a:t> </a:t>
            </a:r>
            <a:r>
              <a:rPr dirty="0"/>
              <a:t>QUE</a:t>
            </a:r>
            <a:r>
              <a:rPr spc="5" dirty="0"/>
              <a:t> </a:t>
            </a:r>
            <a:r>
              <a:rPr dirty="0"/>
              <a:t>..FAIRE</a:t>
            </a:r>
            <a:r>
              <a:rPr spc="-45" dirty="0"/>
              <a:t> </a:t>
            </a:r>
            <a:r>
              <a:rPr sz="2000" dirty="0"/>
              <a:t>4/6</a:t>
            </a:r>
            <a:endParaRPr sz="2000"/>
          </a:p>
        </p:txBody>
      </p:sp>
      <p:sp>
        <p:nvSpPr>
          <p:cNvPr id="8" name="object 8"/>
          <p:cNvSpPr txBox="1"/>
          <p:nvPr/>
        </p:nvSpPr>
        <p:spPr>
          <a:xfrm>
            <a:off x="688340" y="1174749"/>
            <a:ext cx="1485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4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600" y="1829561"/>
            <a:ext cx="2973070" cy="15240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  <a:tabLst>
                <a:tab pos="26987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	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-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 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&lt;=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FAIRE</a:t>
            </a:r>
            <a:endParaRPr sz="1800">
              <a:latin typeface="Arial MT"/>
              <a:cs typeface="Arial MT"/>
            </a:endParaRPr>
          </a:p>
          <a:p>
            <a:pPr marL="100584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19600" y="990600"/>
            <a:ext cx="4495800" cy="411226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endParaRPr sz="2200">
              <a:latin typeface="Tahoma"/>
              <a:cs typeface="Tahoma"/>
            </a:endParaRPr>
          </a:p>
          <a:p>
            <a:pPr marL="92075" marR="382270">
              <a:lnSpc>
                <a:spcPct val="100000"/>
              </a:lnSpc>
            </a:pP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L'algorithme</a:t>
            </a: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tourne</a:t>
            </a: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indéfiniment </a:t>
            </a:r>
            <a:r>
              <a:rPr sz="2200" spc="-6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car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omis</a:t>
            </a:r>
            <a:r>
              <a:rPr sz="2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d'incrémenter</a:t>
            </a:r>
            <a:r>
              <a:rPr sz="22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le 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compteur </a:t>
            </a:r>
            <a:r>
              <a:rPr sz="2200" spc="-5" dirty="0">
                <a:solidFill>
                  <a:srgbClr val="FFFF00"/>
                </a:solidFill>
                <a:latin typeface="Tahoma"/>
                <a:cs typeface="Tahoma"/>
              </a:rPr>
              <a:t>(on parle d'une boucle </a:t>
            </a:r>
            <a:r>
              <a:rPr sz="2200" spc="-675" dirty="0">
                <a:solidFill>
                  <a:srgbClr val="FFFF0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00"/>
                </a:solidFill>
                <a:latin typeface="Tahoma"/>
                <a:cs typeface="Tahoma"/>
              </a:rPr>
              <a:t>infinie)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81628" y="2052827"/>
            <a:ext cx="466725" cy="238125"/>
            <a:chOff x="3881628" y="2052827"/>
            <a:chExt cx="466725" cy="238125"/>
          </a:xfrm>
        </p:grpSpPr>
        <p:sp>
          <p:nvSpPr>
            <p:cNvPr id="12" name="object 12"/>
            <p:cNvSpPr/>
            <p:nvPr/>
          </p:nvSpPr>
          <p:spPr>
            <a:xfrm>
              <a:off x="3886200" y="2057399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200" y="11430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86200" y="2057399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42900" y="0"/>
                  </a:move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lnTo>
                    <a:pt x="342900" y="0"/>
                  </a:lnTo>
                  <a:close/>
                </a:path>
                <a:path w="457200" h="228600">
                  <a:moveTo>
                    <a:pt x="28575" y="171450"/>
                  </a:moveTo>
                  <a:lnTo>
                    <a:pt x="57150" y="171450"/>
                  </a:lnTo>
                  <a:lnTo>
                    <a:pt x="57150" y="57150"/>
                  </a:lnTo>
                  <a:lnTo>
                    <a:pt x="28575" y="57150"/>
                  </a:lnTo>
                  <a:lnTo>
                    <a:pt x="28575" y="171450"/>
                  </a:lnTo>
                  <a:close/>
                </a:path>
                <a:path w="457200" h="228600">
                  <a:moveTo>
                    <a:pt x="0" y="171450"/>
                  </a:moveTo>
                  <a:lnTo>
                    <a:pt x="14287" y="171450"/>
                  </a:lnTo>
                  <a:lnTo>
                    <a:pt x="1428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5029200" y="5334000"/>
            <a:ext cx="489584" cy="1097280"/>
          </a:xfrm>
          <a:custGeom>
            <a:avLst/>
            <a:gdLst/>
            <a:ahLst/>
            <a:cxnLst/>
            <a:rect l="l" t="t" r="r" b="b"/>
            <a:pathLst>
              <a:path w="489585" h="1097279">
                <a:moveTo>
                  <a:pt x="489203" y="0"/>
                </a:moveTo>
                <a:lnTo>
                  <a:pt x="0" y="0"/>
                </a:lnTo>
                <a:lnTo>
                  <a:pt x="0" y="1097280"/>
                </a:lnTo>
                <a:lnTo>
                  <a:pt x="489203" y="1097280"/>
                </a:lnTo>
                <a:lnTo>
                  <a:pt x="489203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29200" y="5334000"/>
            <a:ext cx="457200" cy="38100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8828" y="5701690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9200" y="6019800"/>
            <a:ext cx="457200" cy="41148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298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3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40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05428" y="5786628"/>
            <a:ext cx="1076325" cy="238125"/>
            <a:chOff x="3805428" y="5786628"/>
            <a:chExt cx="1076325" cy="238125"/>
          </a:xfrm>
        </p:grpSpPr>
        <p:sp>
          <p:nvSpPr>
            <p:cNvPr id="19" name="object 19"/>
            <p:cNvSpPr/>
            <p:nvPr/>
          </p:nvSpPr>
          <p:spPr>
            <a:xfrm>
              <a:off x="3810000" y="5791200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3333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33337" y="171450"/>
                  </a:lnTo>
                  <a:lnTo>
                    <a:pt x="33337" y="57150"/>
                  </a:lnTo>
                  <a:close/>
                </a:path>
                <a:path w="1066800" h="228600">
                  <a:moveTo>
                    <a:pt x="133350" y="57150"/>
                  </a:moveTo>
                  <a:lnTo>
                    <a:pt x="66675" y="57150"/>
                  </a:lnTo>
                  <a:lnTo>
                    <a:pt x="66675" y="171450"/>
                  </a:lnTo>
                  <a:lnTo>
                    <a:pt x="133350" y="171450"/>
                  </a:lnTo>
                  <a:lnTo>
                    <a:pt x="133350" y="57150"/>
                  </a:lnTo>
                  <a:close/>
                </a:path>
                <a:path w="1066800" h="228600">
                  <a:moveTo>
                    <a:pt x="1066800" y="114300"/>
                  </a:moveTo>
                  <a:lnTo>
                    <a:pt x="800100" y="0"/>
                  </a:ln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0000" y="5791200"/>
              <a:ext cx="1066800" cy="228600"/>
            </a:xfrm>
            <a:custGeom>
              <a:avLst/>
              <a:gdLst/>
              <a:ahLst/>
              <a:cxnLst/>
              <a:rect l="l" t="t" r="r" b="b"/>
              <a:pathLst>
                <a:path w="1066800" h="228600">
                  <a:moveTo>
                    <a:pt x="800100" y="0"/>
                  </a:moveTo>
                  <a:lnTo>
                    <a:pt x="800100" y="57150"/>
                  </a:lnTo>
                  <a:lnTo>
                    <a:pt x="166624" y="57150"/>
                  </a:lnTo>
                  <a:lnTo>
                    <a:pt x="166624" y="171450"/>
                  </a:lnTo>
                  <a:lnTo>
                    <a:pt x="800100" y="171450"/>
                  </a:lnTo>
                  <a:lnTo>
                    <a:pt x="800100" y="228600"/>
                  </a:lnTo>
                  <a:lnTo>
                    <a:pt x="1066800" y="114300"/>
                  </a:lnTo>
                  <a:lnTo>
                    <a:pt x="800100" y="0"/>
                  </a:lnTo>
                  <a:close/>
                </a:path>
                <a:path w="1066800" h="228600">
                  <a:moveTo>
                    <a:pt x="66675" y="171450"/>
                  </a:moveTo>
                  <a:lnTo>
                    <a:pt x="133350" y="171450"/>
                  </a:lnTo>
                  <a:lnTo>
                    <a:pt x="133350" y="57150"/>
                  </a:lnTo>
                  <a:lnTo>
                    <a:pt x="66675" y="57150"/>
                  </a:lnTo>
                  <a:lnTo>
                    <a:pt x="66675" y="171450"/>
                  </a:lnTo>
                  <a:close/>
                </a:path>
                <a:path w="1066800" h="228600">
                  <a:moveTo>
                    <a:pt x="0" y="171450"/>
                  </a:moveTo>
                  <a:lnTo>
                    <a:pt x="33337" y="171450"/>
                  </a:lnTo>
                  <a:lnTo>
                    <a:pt x="3333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88340" y="4541011"/>
            <a:ext cx="1486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5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5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7962" y="4953761"/>
            <a:ext cx="3276600" cy="16002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2570">
              <a:lnSpc>
                <a:spcPts val="1614"/>
              </a:lnSpc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…</a:t>
            </a:r>
            <a:endParaRPr sz="18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tabLst>
                <a:tab pos="42100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	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1800" spc="-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</a:pP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 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&lt;=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FAIRE</a:t>
            </a:r>
            <a:endParaRPr sz="1800">
              <a:latin typeface="Arial MT"/>
              <a:cs typeface="Arial MT"/>
            </a:endParaRPr>
          </a:p>
          <a:p>
            <a:pPr marL="1157605">
              <a:lnSpc>
                <a:spcPts val="215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242570" marR="1355725" indent="888365">
              <a:lnSpc>
                <a:spcPts val="2260"/>
              </a:lnSpc>
              <a:spcBef>
                <a:spcPts val="185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Wingdings"/>
                <a:cs typeface="Wingdings"/>
              </a:rPr>
              <a:t></a:t>
            </a:r>
            <a:r>
              <a:rPr sz="2200" spc="-8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*2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Fin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tant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Rectangle 23"/>
          <p:cNvSpPr/>
          <p:nvPr/>
        </p:nvSpPr>
        <p:spPr>
          <a:xfrm rot="5400000">
            <a:off x="5722344" y="5719090"/>
            <a:ext cx="1203750" cy="686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7162800" y="2031239"/>
            <a:ext cx="1093722" cy="1015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56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320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5" dirty="0"/>
              <a:t> </a:t>
            </a:r>
            <a:r>
              <a:rPr dirty="0"/>
              <a:t>QUE</a:t>
            </a:r>
            <a:r>
              <a:rPr spc="5" dirty="0"/>
              <a:t> </a:t>
            </a:r>
            <a:r>
              <a:rPr dirty="0"/>
              <a:t>..FAIRE</a:t>
            </a:r>
            <a:r>
              <a:rPr spc="-45" dirty="0"/>
              <a:t> </a:t>
            </a:r>
            <a:r>
              <a:rPr sz="2000" dirty="0"/>
              <a:t>5/6</a:t>
            </a:r>
            <a:endParaRPr sz="2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764540" y="1403349"/>
            <a:ext cx="4049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6</a:t>
            </a:r>
            <a:r>
              <a:rPr sz="2200" b="1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calcul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factoriel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2058161"/>
            <a:ext cx="6400800" cy="37338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67640" marR="4346575">
              <a:lnSpc>
                <a:spcPct val="100000"/>
              </a:lnSpc>
              <a:spcBef>
                <a:spcPts val="190"/>
              </a:spcBef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Algorithme</a:t>
            </a:r>
            <a:r>
              <a:rPr sz="1800" b="1" spc="-4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Facto </a:t>
            </a:r>
            <a:r>
              <a:rPr sz="1800" b="1" spc="-484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40458B"/>
                </a:solidFill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0820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n,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f,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(Entier)</a:t>
            </a:r>
            <a:endParaRPr sz="1800">
              <a:latin typeface="Arial"/>
              <a:cs typeface="Arial"/>
            </a:endParaRPr>
          </a:p>
          <a:p>
            <a:pPr marL="16764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DEBUT</a:t>
            </a:r>
            <a:endParaRPr sz="1800">
              <a:latin typeface="Arial"/>
              <a:cs typeface="Arial"/>
            </a:endParaRPr>
          </a:p>
          <a:p>
            <a:pPr marL="1082040" marR="45999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L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r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(n)  f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2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0820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5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1082040">
              <a:lnSpc>
                <a:spcPct val="100000"/>
              </a:lnSpc>
            </a:pP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&gt;=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Faire</a:t>
            </a:r>
            <a:endParaRPr sz="1800">
              <a:latin typeface="Arial"/>
              <a:cs typeface="Arial"/>
            </a:endParaRPr>
          </a:p>
          <a:p>
            <a:pPr marL="1997075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1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*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  <a:p>
            <a:pPr marL="1082040" marR="3585845" indent="9144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2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-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1 </a:t>
            </a:r>
            <a:r>
              <a:rPr sz="1800" b="1" spc="-484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  <a:p>
            <a:pPr marL="167640" marR="446532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Ecrire(n,"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!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=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",f) </a:t>
            </a:r>
            <a:r>
              <a:rPr sz="1800" b="1" spc="-484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061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6606540" cy="4639310"/>
            <a:chOff x="414527" y="1030224"/>
            <a:chExt cx="6606540" cy="463931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0361" y="1849374"/>
              <a:ext cx="6400800" cy="3810000"/>
            </a:xfrm>
            <a:custGeom>
              <a:avLst/>
              <a:gdLst/>
              <a:ahLst/>
              <a:cxnLst/>
              <a:rect l="l" t="t" r="r" b="b"/>
              <a:pathLst>
                <a:path w="6400800" h="3810000">
                  <a:moveTo>
                    <a:pt x="0" y="3810000"/>
                  </a:moveTo>
                  <a:lnTo>
                    <a:pt x="6400799" y="3810000"/>
                  </a:lnTo>
                  <a:lnTo>
                    <a:pt x="6400799" y="0"/>
                  </a:lnTo>
                  <a:lnTo>
                    <a:pt x="0" y="0"/>
                  </a:lnTo>
                  <a:lnTo>
                    <a:pt x="0" y="3810000"/>
                  </a:lnTo>
                  <a:close/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319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TANT</a:t>
            </a:r>
            <a:r>
              <a:rPr spc="-15" dirty="0"/>
              <a:t> </a:t>
            </a:r>
            <a:r>
              <a:rPr dirty="0"/>
              <a:t>QUE ..FAIRE</a:t>
            </a:r>
            <a:r>
              <a:rPr spc="-45" dirty="0"/>
              <a:t> </a:t>
            </a:r>
            <a:r>
              <a:rPr sz="2000" dirty="0"/>
              <a:t>6/6</a:t>
            </a:r>
            <a:endParaRPr sz="200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764540" y="1270254"/>
            <a:ext cx="4802505" cy="4258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7 Affichage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des</a:t>
            </a:r>
            <a:r>
              <a:rPr sz="2200" b="1" spc="2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diviseurs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50">
              <a:latin typeface="Tahoma"/>
              <a:cs typeface="Tahoma"/>
            </a:endParaRPr>
          </a:p>
          <a:p>
            <a:pPr marL="12700" marR="2488565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Algorithme 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Diviseurs </a:t>
            </a:r>
            <a:r>
              <a:rPr sz="1800" b="1" spc="-49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65" dirty="0">
                <a:solidFill>
                  <a:srgbClr val="40458B"/>
                </a:solidFill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n,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(Entier)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DEBUT</a:t>
            </a:r>
            <a:endParaRPr sz="1800">
              <a:latin typeface="Arial"/>
              <a:cs typeface="Arial"/>
            </a:endParaRPr>
          </a:p>
          <a:p>
            <a:pPr marL="927100" marR="3156585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L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r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(n)  i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1308100" marR="1384935" indent="-381000">
              <a:lnSpc>
                <a:spcPct val="100000"/>
              </a:lnSpc>
            </a:pP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9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</a:t>
            </a:r>
            <a:r>
              <a:rPr sz="1800" b="1" spc="10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10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&lt;=</a:t>
            </a:r>
            <a:r>
              <a:rPr sz="1800" b="1" spc="10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n</a:t>
            </a:r>
            <a:r>
              <a:rPr sz="1800" b="1" spc="10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Faire 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Si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n Mod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=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0</a:t>
            </a:r>
            <a:r>
              <a:rPr sz="1800" b="1" spc="-7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Alors</a:t>
            </a:r>
            <a:endParaRPr sz="1800">
              <a:latin typeface="Arial"/>
              <a:cs typeface="Arial"/>
            </a:endParaRPr>
          </a:p>
          <a:p>
            <a:pPr marL="1600835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Ecrire(i)</a:t>
            </a:r>
            <a:endParaRPr sz="1800">
              <a:latin typeface="Arial"/>
              <a:cs typeface="Arial"/>
            </a:endParaRPr>
          </a:p>
          <a:p>
            <a:pPr marL="134620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1800" b="1" spc="-5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  <a:p>
            <a:pPr marR="2581275" algn="r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i</a:t>
            </a:r>
            <a:r>
              <a:rPr sz="1800" b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+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R="2522855" algn="r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r>
              <a:rPr sz="1800" b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Tant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que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695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66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REPETER</a:t>
            </a:r>
            <a:r>
              <a:rPr spc="25" dirty="0"/>
              <a:t> </a:t>
            </a:r>
            <a:r>
              <a:rPr dirty="0"/>
              <a:t>..</a:t>
            </a:r>
            <a:r>
              <a:rPr spc="-15" dirty="0"/>
              <a:t> </a:t>
            </a:r>
            <a:r>
              <a:rPr dirty="0"/>
              <a:t>JUSQU'A</a:t>
            </a:r>
            <a:r>
              <a:rPr spc="-75" dirty="0"/>
              <a:t> </a:t>
            </a:r>
            <a:r>
              <a:rPr sz="1800" dirty="0"/>
              <a:t>1/6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764540" y="1250949"/>
            <a:ext cx="11601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Synt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ax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6000" y="1371600"/>
            <a:ext cx="3810000" cy="92519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REPETER</a:t>
            </a:r>
            <a:endParaRPr sz="1800">
              <a:latin typeface="Arial"/>
              <a:cs typeface="Arial"/>
            </a:endParaRPr>
          </a:p>
          <a:p>
            <a:pPr marL="34607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&lt;Séquence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d’instructions&gt;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JUSQU'A</a:t>
            </a:r>
            <a:r>
              <a:rPr sz="1800" b="1" spc="-9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&lt;Condition&gt;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2775330"/>
            <a:ext cx="7387590" cy="1961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2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Principe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spc="-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fonctionnement</a:t>
            </a:r>
            <a:endParaRPr sz="2200">
              <a:latin typeface="Tahoma"/>
              <a:cs typeface="Tahoma"/>
            </a:endParaRPr>
          </a:p>
          <a:p>
            <a:pPr marL="12700" marR="5080" algn="just">
              <a:lnSpc>
                <a:spcPts val="2400"/>
              </a:lnSpc>
              <a:spcBef>
                <a:spcPts val="60"/>
              </a:spcBef>
            </a:pP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A l’exécution de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l’algorithme, toutes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les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instructions écrites entre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b="1" i="1" dirty="0">
                <a:solidFill>
                  <a:srgbClr val="40458B"/>
                </a:solidFill>
                <a:latin typeface="Arial"/>
                <a:cs typeface="Arial"/>
              </a:rPr>
              <a:t>Répéter </a:t>
            </a:r>
            <a:r>
              <a:rPr sz="2000" spc="-10" dirty="0">
                <a:solidFill>
                  <a:srgbClr val="40458B"/>
                </a:solidFill>
                <a:latin typeface="Arial MT"/>
                <a:cs typeface="Arial MT"/>
              </a:rPr>
              <a:t>et </a:t>
            </a:r>
            <a:r>
              <a:rPr sz="2000" b="1" dirty="0">
                <a:solidFill>
                  <a:srgbClr val="40458B"/>
                </a:solidFill>
                <a:latin typeface="Arial"/>
                <a:cs typeface="Arial"/>
              </a:rPr>
              <a:t>Jusqu’à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sont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exécutées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au moins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une fois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et leur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exécution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répétée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jusqu’à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ce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 condition</a:t>
            </a:r>
            <a:r>
              <a:rPr sz="2000" spc="55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placée </a:t>
            </a:r>
            <a:r>
              <a:rPr sz="20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derrière</a:t>
            </a:r>
            <a:r>
              <a:rPr sz="2000" spc="-4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Jusqu’à</a:t>
            </a:r>
            <a:r>
              <a:rPr sz="20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soit</a:t>
            </a:r>
            <a:r>
              <a:rPr sz="20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58B"/>
                </a:solidFill>
                <a:latin typeface="Arial MT"/>
                <a:cs typeface="Arial MT"/>
              </a:rPr>
              <a:t>satisfaite.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Organigramme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71637" y="5634037"/>
            <a:ext cx="3209925" cy="771525"/>
            <a:chOff x="1671637" y="5634037"/>
            <a:chExt cx="3209925" cy="771525"/>
          </a:xfrm>
        </p:grpSpPr>
        <p:sp>
          <p:nvSpPr>
            <p:cNvPr id="11" name="object 11"/>
            <p:cNvSpPr/>
            <p:nvPr/>
          </p:nvSpPr>
          <p:spPr>
            <a:xfrm>
              <a:off x="1676400" y="5638800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1600200" y="0"/>
                  </a:moveTo>
                  <a:lnTo>
                    <a:pt x="0" y="381000"/>
                  </a:lnTo>
                  <a:lnTo>
                    <a:pt x="1600200" y="762000"/>
                  </a:lnTo>
                  <a:lnTo>
                    <a:pt x="3200400" y="381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6400" y="5638800"/>
              <a:ext cx="3200400" cy="762000"/>
            </a:xfrm>
            <a:custGeom>
              <a:avLst/>
              <a:gdLst/>
              <a:ahLst/>
              <a:cxnLst/>
              <a:rect l="l" t="t" r="r" b="b"/>
              <a:pathLst>
                <a:path w="3200400" h="762000">
                  <a:moveTo>
                    <a:pt x="0" y="381000"/>
                  </a:moveTo>
                  <a:lnTo>
                    <a:pt x="1600200" y="0"/>
                  </a:lnTo>
                  <a:lnTo>
                    <a:pt x="3200400" y="381000"/>
                  </a:lnTo>
                  <a:lnTo>
                    <a:pt x="1600200" y="76200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91205" y="5869940"/>
            <a:ext cx="972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nditi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8800" y="4953000"/>
            <a:ext cx="2895600" cy="381000"/>
          </a:xfrm>
          <a:prstGeom prst="rect">
            <a:avLst/>
          </a:prstGeom>
          <a:solidFill>
            <a:srgbClr val="0033CC"/>
          </a:solidFill>
          <a:ln w="9144">
            <a:solidFill>
              <a:srgbClr val="40458B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415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Séquence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d'instructions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01361" y="59824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7388" y="48006"/>
                </a:lnTo>
                <a:lnTo>
                  <a:pt x="393700" y="48006"/>
                </a:lnTo>
                <a:lnTo>
                  <a:pt x="393700" y="28193"/>
                </a:lnTo>
                <a:lnTo>
                  <a:pt x="437388" y="28193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8193"/>
                </a:moveTo>
                <a:lnTo>
                  <a:pt x="0" y="28193"/>
                </a:lnTo>
                <a:lnTo>
                  <a:pt x="0" y="48006"/>
                </a:lnTo>
                <a:lnTo>
                  <a:pt x="381000" y="48006"/>
                </a:lnTo>
                <a:lnTo>
                  <a:pt x="381000" y="28193"/>
                </a:lnTo>
                <a:close/>
              </a:path>
              <a:path w="457200" h="76200">
                <a:moveTo>
                  <a:pt x="437388" y="28193"/>
                </a:moveTo>
                <a:lnTo>
                  <a:pt x="393700" y="28193"/>
                </a:lnTo>
                <a:lnTo>
                  <a:pt x="393700" y="48006"/>
                </a:lnTo>
                <a:lnTo>
                  <a:pt x="437388" y="48006"/>
                </a:lnTo>
                <a:lnTo>
                  <a:pt x="457200" y="38100"/>
                </a:lnTo>
                <a:lnTo>
                  <a:pt x="437388" y="28193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80228" y="5595010"/>
            <a:ext cx="4311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v</a:t>
            </a:r>
            <a:r>
              <a:rPr sz="2000" spc="-45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ai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5844" y="5671210"/>
            <a:ext cx="50545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f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aux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53037" y="5862637"/>
            <a:ext cx="2447925" cy="390525"/>
            <a:chOff x="5253037" y="5862637"/>
            <a:chExt cx="2447925" cy="390525"/>
          </a:xfrm>
        </p:grpSpPr>
        <p:sp>
          <p:nvSpPr>
            <p:cNvPr id="19" name="object 19"/>
            <p:cNvSpPr/>
            <p:nvPr/>
          </p:nvSpPr>
          <p:spPr>
            <a:xfrm>
              <a:off x="5257800" y="5867400"/>
              <a:ext cx="2438400" cy="381000"/>
            </a:xfrm>
            <a:custGeom>
              <a:avLst/>
              <a:gdLst/>
              <a:ahLst/>
              <a:cxnLst/>
              <a:rect l="l" t="t" r="r" b="b"/>
              <a:pathLst>
                <a:path w="2438400" h="381000">
                  <a:moveTo>
                    <a:pt x="2438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2438400" y="381000"/>
                  </a:lnTo>
                  <a:lnTo>
                    <a:pt x="24384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5867400"/>
              <a:ext cx="2438400" cy="381000"/>
            </a:xfrm>
            <a:custGeom>
              <a:avLst/>
              <a:gdLst/>
              <a:ahLst/>
              <a:cxnLst/>
              <a:rect l="l" t="t" r="r" b="b"/>
              <a:pathLst>
                <a:path w="2438400" h="381000">
                  <a:moveTo>
                    <a:pt x="0" y="381000"/>
                  </a:moveTo>
                  <a:lnTo>
                    <a:pt x="2438400" y="38100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08091" y="5908040"/>
            <a:ext cx="235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suite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du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programme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39261" y="5334761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28193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28193" y="241300"/>
                </a:lnTo>
                <a:lnTo>
                  <a:pt x="28193" y="228600"/>
                </a:lnTo>
                <a:close/>
              </a:path>
              <a:path w="76200" h="304800">
                <a:moveTo>
                  <a:pt x="48005" y="0"/>
                </a:moveTo>
                <a:lnTo>
                  <a:pt x="28193" y="0"/>
                </a:lnTo>
                <a:lnTo>
                  <a:pt x="28193" y="241300"/>
                </a:lnTo>
                <a:lnTo>
                  <a:pt x="48005" y="241300"/>
                </a:lnTo>
                <a:lnTo>
                  <a:pt x="48005" y="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8005" y="228600"/>
                </a:lnTo>
                <a:lnTo>
                  <a:pt x="48005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46530" y="5106161"/>
            <a:ext cx="783590" cy="924560"/>
          </a:xfrm>
          <a:custGeom>
            <a:avLst/>
            <a:gdLst/>
            <a:ahLst/>
            <a:cxnLst/>
            <a:rect l="l" t="t" r="r" b="b"/>
            <a:pathLst>
              <a:path w="783589" h="924560">
                <a:moveTo>
                  <a:pt x="706831" y="28193"/>
                </a:moveTo>
                <a:lnTo>
                  <a:pt x="0" y="28193"/>
                </a:lnTo>
                <a:lnTo>
                  <a:pt x="0" y="924306"/>
                </a:lnTo>
                <a:lnTo>
                  <a:pt x="630631" y="924306"/>
                </a:lnTo>
                <a:lnTo>
                  <a:pt x="630631" y="914400"/>
                </a:lnTo>
                <a:lnTo>
                  <a:pt x="19812" y="914400"/>
                </a:lnTo>
                <a:lnTo>
                  <a:pt x="9906" y="904494"/>
                </a:lnTo>
                <a:lnTo>
                  <a:pt x="19812" y="904494"/>
                </a:lnTo>
                <a:lnTo>
                  <a:pt x="19812" y="48006"/>
                </a:lnTo>
                <a:lnTo>
                  <a:pt x="9906" y="48006"/>
                </a:lnTo>
                <a:lnTo>
                  <a:pt x="19812" y="38100"/>
                </a:lnTo>
                <a:lnTo>
                  <a:pt x="706831" y="38100"/>
                </a:lnTo>
                <a:lnTo>
                  <a:pt x="706831" y="28193"/>
                </a:lnTo>
                <a:close/>
              </a:path>
              <a:path w="783589" h="924560">
                <a:moveTo>
                  <a:pt x="19812" y="904494"/>
                </a:moveTo>
                <a:lnTo>
                  <a:pt x="9906" y="904494"/>
                </a:lnTo>
                <a:lnTo>
                  <a:pt x="19812" y="914400"/>
                </a:lnTo>
                <a:lnTo>
                  <a:pt x="19812" y="904494"/>
                </a:lnTo>
                <a:close/>
              </a:path>
              <a:path w="783589" h="924560">
                <a:moveTo>
                  <a:pt x="630631" y="904494"/>
                </a:moveTo>
                <a:lnTo>
                  <a:pt x="19812" y="904494"/>
                </a:lnTo>
                <a:lnTo>
                  <a:pt x="19812" y="914400"/>
                </a:lnTo>
                <a:lnTo>
                  <a:pt x="630631" y="914400"/>
                </a:lnTo>
                <a:lnTo>
                  <a:pt x="630631" y="904494"/>
                </a:lnTo>
                <a:close/>
              </a:path>
              <a:path w="783589" h="924560">
                <a:moveTo>
                  <a:pt x="706831" y="0"/>
                </a:moveTo>
                <a:lnTo>
                  <a:pt x="706831" y="76200"/>
                </a:lnTo>
                <a:lnTo>
                  <a:pt x="763219" y="48006"/>
                </a:lnTo>
                <a:lnTo>
                  <a:pt x="719531" y="48006"/>
                </a:lnTo>
                <a:lnTo>
                  <a:pt x="719531" y="28193"/>
                </a:lnTo>
                <a:lnTo>
                  <a:pt x="763219" y="28193"/>
                </a:lnTo>
                <a:lnTo>
                  <a:pt x="706831" y="0"/>
                </a:lnTo>
                <a:close/>
              </a:path>
              <a:path w="783589" h="924560">
                <a:moveTo>
                  <a:pt x="19812" y="38100"/>
                </a:moveTo>
                <a:lnTo>
                  <a:pt x="9906" y="48006"/>
                </a:lnTo>
                <a:lnTo>
                  <a:pt x="19812" y="48006"/>
                </a:lnTo>
                <a:lnTo>
                  <a:pt x="19812" y="38100"/>
                </a:lnTo>
                <a:close/>
              </a:path>
              <a:path w="783589" h="924560">
                <a:moveTo>
                  <a:pt x="706831" y="38100"/>
                </a:moveTo>
                <a:lnTo>
                  <a:pt x="19812" y="38100"/>
                </a:lnTo>
                <a:lnTo>
                  <a:pt x="19812" y="48006"/>
                </a:lnTo>
                <a:lnTo>
                  <a:pt x="706831" y="48006"/>
                </a:lnTo>
                <a:lnTo>
                  <a:pt x="706831" y="38100"/>
                </a:lnTo>
                <a:close/>
              </a:path>
              <a:path w="783589" h="924560">
                <a:moveTo>
                  <a:pt x="763219" y="28193"/>
                </a:moveTo>
                <a:lnTo>
                  <a:pt x="719531" y="28193"/>
                </a:lnTo>
                <a:lnTo>
                  <a:pt x="719531" y="48006"/>
                </a:lnTo>
                <a:lnTo>
                  <a:pt x="763219" y="48006"/>
                </a:lnTo>
                <a:lnTo>
                  <a:pt x="783031" y="38100"/>
                </a:lnTo>
                <a:lnTo>
                  <a:pt x="763219" y="28193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0" y="4724400"/>
            <a:ext cx="76200" cy="22860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85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66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REPETER</a:t>
            </a:r>
            <a:r>
              <a:rPr spc="30" dirty="0"/>
              <a:t> </a:t>
            </a:r>
            <a:r>
              <a:rPr dirty="0"/>
              <a:t>..</a:t>
            </a:r>
            <a:r>
              <a:rPr spc="-15" dirty="0"/>
              <a:t> </a:t>
            </a:r>
            <a:r>
              <a:rPr dirty="0"/>
              <a:t>JUSQU'A</a:t>
            </a:r>
            <a:r>
              <a:rPr spc="-70" dirty="0"/>
              <a:t> </a:t>
            </a:r>
            <a:r>
              <a:rPr sz="1800" spc="-5" dirty="0"/>
              <a:t>2/6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14852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6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1829561"/>
            <a:ext cx="3506470" cy="16764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0"/>
              </a:spcBef>
              <a:tabLst>
                <a:tab pos="57721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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REPETER</a:t>
            </a:r>
            <a:endParaRPr sz="1800">
              <a:latin typeface="Arial"/>
              <a:cs typeface="Arial"/>
            </a:endParaRPr>
          </a:p>
          <a:p>
            <a:pPr marL="100584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1005840">
              <a:lnSpc>
                <a:spcPct val="100000"/>
              </a:lnSpc>
              <a:tabLst>
                <a:tab pos="1554480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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JUSQU'A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&gt;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86428" y="2357627"/>
            <a:ext cx="695325" cy="238125"/>
            <a:chOff x="4186428" y="2357627"/>
            <a:chExt cx="695325" cy="238125"/>
          </a:xfrm>
        </p:grpSpPr>
        <p:sp>
          <p:nvSpPr>
            <p:cNvPr id="10" name="object 10"/>
            <p:cNvSpPr/>
            <p:nvPr/>
          </p:nvSpPr>
          <p:spPr>
            <a:xfrm>
              <a:off x="4191000" y="2362199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21424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21424" y="171450"/>
                  </a:lnTo>
                  <a:lnTo>
                    <a:pt x="21424" y="57150"/>
                  </a:lnTo>
                  <a:close/>
                </a:path>
                <a:path w="685800" h="228600">
                  <a:moveTo>
                    <a:pt x="85661" y="57150"/>
                  </a:moveTo>
                  <a:lnTo>
                    <a:pt x="42799" y="57150"/>
                  </a:lnTo>
                  <a:lnTo>
                    <a:pt x="42799" y="171450"/>
                  </a:lnTo>
                  <a:lnTo>
                    <a:pt x="85661" y="171450"/>
                  </a:lnTo>
                  <a:lnTo>
                    <a:pt x="85661" y="57150"/>
                  </a:lnTo>
                  <a:close/>
                </a:path>
                <a:path w="685800" h="228600">
                  <a:moveTo>
                    <a:pt x="685800" y="114300"/>
                  </a:moveTo>
                  <a:lnTo>
                    <a:pt x="514350" y="0"/>
                  </a:lnTo>
                  <a:lnTo>
                    <a:pt x="514350" y="57150"/>
                  </a:lnTo>
                  <a:lnTo>
                    <a:pt x="107188" y="57150"/>
                  </a:lnTo>
                  <a:lnTo>
                    <a:pt x="107188" y="171450"/>
                  </a:lnTo>
                  <a:lnTo>
                    <a:pt x="514350" y="171450"/>
                  </a:lnTo>
                  <a:lnTo>
                    <a:pt x="514350" y="228600"/>
                  </a:lnTo>
                  <a:lnTo>
                    <a:pt x="6858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1000" y="2362199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514350" y="0"/>
                  </a:moveTo>
                  <a:lnTo>
                    <a:pt x="514350" y="57150"/>
                  </a:lnTo>
                  <a:lnTo>
                    <a:pt x="107187" y="57150"/>
                  </a:lnTo>
                  <a:lnTo>
                    <a:pt x="107187" y="171450"/>
                  </a:lnTo>
                  <a:lnTo>
                    <a:pt x="514350" y="171450"/>
                  </a:lnTo>
                  <a:lnTo>
                    <a:pt x="514350" y="228600"/>
                  </a:lnTo>
                  <a:lnTo>
                    <a:pt x="685800" y="114300"/>
                  </a:lnTo>
                  <a:lnTo>
                    <a:pt x="514350" y="0"/>
                  </a:lnTo>
                  <a:close/>
                </a:path>
                <a:path w="685800" h="228600">
                  <a:moveTo>
                    <a:pt x="42799" y="171450"/>
                  </a:moveTo>
                  <a:lnTo>
                    <a:pt x="85661" y="171450"/>
                  </a:lnTo>
                  <a:lnTo>
                    <a:pt x="85661" y="57150"/>
                  </a:lnTo>
                  <a:lnTo>
                    <a:pt x="42799" y="57150"/>
                  </a:lnTo>
                  <a:lnTo>
                    <a:pt x="42799" y="171450"/>
                  </a:lnTo>
                  <a:close/>
                </a:path>
                <a:path w="685800" h="228600">
                  <a:moveTo>
                    <a:pt x="0" y="171450"/>
                  </a:moveTo>
                  <a:lnTo>
                    <a:pt x="21431" y="171450"/>
                  </a:lnTo>
                  <a:lnTo>
                    <a:pt x="21431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876800" y="1676400"/>
          <a:ext cx="609600" cy="1766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"/>
                <a:gridCol w="471805"/>
              </a:tblGrid>
              <a:tr h="38100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550"/>
                        </a:lnSpc>
                        <a:spcBef>
                          <a:spcPts val="345"/>
                        </a:spcBef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solidFill>
                      <a:srgbClr val="0033CC"/>
                    </a:solidFill>
                  </a:tcPr>
                </a:tc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300"/>
                        </a:lnSpc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  <a:tr h="3654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550"/>
                        </a:lnSpc>
                        <a:spcBef>
                          <a:spcPts val="229"/>
                        </a:spcBef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29209" marB="0">
                    <a:solidFill>
                      <a:srgbClr val="0033CC"/>
                    </a:solidFill>
                  </a:tcPr>
                </a:tc>
              </a:tr>
              <a:tr h="33540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540"/>
                        </a:lnSpc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  <a:tr h="3796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2635"/>
                        </a:lnSpc>
                      </a:pPr>
                      <a:r>
                        <a:rPr sz="22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4033837" y="5029200"/>
            <a:ext cx="951230" cy="426720"/>
            <a:chOff x="4033837" y="5029200"/>
            <a:chExt cx="951230" cy="426720"/>
          </a:xfrm>
        </p:grpSpPr>
        <p:sp>
          <p:nvSpPr>
            <p:cNvPr id="14" name="object 14"/>
            <p:cNvSpPr/>
            <p:nvPr/>
          </p:nvSpPr>
          <p:spPr>
            <a:xfrm>
              <a:off x="4038600" y="5105399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14287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14287" y="171450"/>
                  </a:lnTo>
                  <a:lnTo>
                    <a:pt x="14287" y="57150"/>
                  </a:lnTo>
                  <a:close/>
                </a:path>
                <a:path w="457200" h="228600">
                  <a:moveTo>
                    <a:pt x="57150" y="57150"/>
                  </a:moveTo>
                  <a:lnTo>
                    <a:pt x="28575" y="57150"/>
                  </a:lnTo>
                  <a:lnTo>
                    <a:pt x="28575" y="171450"/>
                  </a:lnTo>
                  <a:lnTo>
                    <a:pt x="57150" y="171450"/>
                  </a:lnTo>
                  <a:lnTo>
                    <a:pt x="57150" y="57150"/>
                  </a:lnTo>
                  <a:close/>
                </a:path>
                <a:path w="457200" h="228600">
                  <a:moveTo>
                    <a:pt x="457200" y="114300"/>
                  </a:moveTo>
                  <a:lnTo>
                    <a:pt x="342900" y="0"/>
                  </a:ln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38600" y="51054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42900" y="0"/>
                  </a:moveTo>
                  <a:lnTo>
                    <a:pt x="342900" y="57150"/>
                  </a:lnTo>
                  <a:lnTo>
                    <a:pt x="71374" y="57150"/>
                  </a:lnTo>
                  <a:lnTo>
                    <a:pt x="71374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lnTo>
                    <a:pt x="342900" y="0"/>
                  </a:lnTo>
                  <a:close/>
                </a:path>
                <a:path w="457200" h="228600">
                  <a:moveTo>
                    <a:pt x="28575" y="171450"/>
                  </a:moveTo>
                  <a:lnTo>
                    <a:pt x="57150" y="171450"/>
                  </a:lnTo>
                  <a:lnTo>
                    <a:pt x="57150" y="57150"/>
                  </a:lnTo>
                  <a:lnTo>
                    <a:pt x="28575" y="57150"/>
                  </a:lnTo>
                  <a:lnTo>
                    <a:pt x="28575" y="171450"/>
                  </a:lnTo>
                  <a:close/>
                </a:path>
                <a:path w="457200" h="228600">
                  <a:moveTo>
                    <a:pt x="0" y="171450"/>
                  </a:moveTo>
                  <a:lnTo>
                    <a:pt x="14287" y="171450"/>
                  </a:lnTo>
                  <a:lnTo>
                    <a:pt x="14287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95800" y="5029200"/>
              <a:ext cx="489584" cy="426720"/>
            </a:xfrm>
            <a:custGeom>
              <a:avLst/>
              <a:gdLst/>
              <a:ahLst/>
              <a:cxnLst/>
              <a:rect l="l" t="t" r="r" b="b"/>
              <a:pathLst>
                <a:path w="489585" h="426720">
                  <a:moveTo>
                    <a:pt x="489203" y="0"/>
                  </a:moveTo>
                  <a:lnTo>
                    <a:pt x="0" y="0"/>
                  </a:lnTo>
                  <a:lnTo>
                    <a:pt x="0" y="426719"/>
                  </a:lnTo>
                  <a:lnTo>
                    <a:pt x="489203" y="426719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75428" y="5061965"/>
            <a:ext cx="330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60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4146880"/>
            <a:ext cx="1487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4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2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962" y="4572761"/>
            <a:ext cx="3504565" cy="16764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7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tabLst>
                <a:tab pos="576580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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REPETER</a:t>
            </a:r>
            <a:endParaRPr sz="1800">
              <a:latin typeface="Arial"/>
              <a:cs typeface="Arial"/>
            </a:endParaRPr>
          </a:p>
          <a:p>
            <a:pPr marL="100520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</a:t>
            </a:r>
            <a:endParaRPr sz="1800">
              <a:latin typeface="Arial MT"/>
              <a:cs typeface="Arial MT"/>
            </a:endParaRPr>
          </a:p>
          <a:p>
            <a:pPr marL="1005205">
              <a:lnSpc>
                <a:spcPct val="100000"/>
              </a:lnSpc>
              <a:tabLst>
                <a:tab pos="1553845" algn="l"/>
              </a:tabLst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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JUSQU'A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&gt;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29200" y="3962400"/>
            <a:ext cx="4114800" cy="1766570"/>
          </a:xfrm>
          <a:custGeom>
            <a:avLst/>
            <a:gdLst/>
            <a:ahLst/>
            <a:cxnLst/>
            <a:rect l="l" t="t" r="r" b="b"/>
            <a:pathLst>
              <a:path w="4114800" h="1766570">
                <a:moveTo>
                  <a:pt x="4114800" y="0"/>
                </a:moveTo>
                <a:lnTo>
                  <a:pt x="0" y="0"/>
                </a:lnTo>
                <a:lnTo>
                  <a:pt x="0" y="1766315"/>
                </a:lnTo>
                <a:lnTo>
                  <a:pt x="4114800" y="1766315"/>
                </a:lnTo>
                <a:lnTo>
                  <a:pt x="4114800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108828" y="3994784"/>
            <a:ext cx="366014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Tahoma"/>
                <a:cs typeface="Tahoma"/>
              </a:rPr>
              <a:t>différence</a:t>
            </a:r>
            <a:r>
              <a:rPr sz="22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l'instruction </a:t>
            </a:r>
            <a:r>
              <a:rPr sz="2200" spc="-6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Tahoma"/>
                <a:cs typeface="Tahoma"/>
              </a:rPr>
              <a:t>TANT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 QUE,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condition</a:t>
            </a:r>
            <a:r>
              <a:rPr sz="2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n'est </a:t>
            </a:r>
            <a:r>
              <a:rPr sz="2200" spc="-6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testée</a:t>
            </a:r>
            <a:r>
              <a:rPr sz="22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qu'après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avoir exécuté </a:t>
            </a:r>
            <a:r>
              <a:rPr sz="2200" spc="-6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une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fois</a:t>
            </a:r>
            <a:r>
              <a:rPr sz="22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sz="2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séquence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 d'instructions</a:t>
            </a:r>
            <a:r>
              <a:rPr sz="22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de la</a:t>
            </a:r>
            <a:r>
              <a:rPr sz="22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boucle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5831014" y="1651761"/>
            <a:ext cx="809372" cy="1829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5257800" y="1510028"/>
            <a:ext cx="4495800" cy="16492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8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66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REPETER</a:t>
            </a:r>
            <a:r>
              <a:rPr spc="30" dirty="0"/>
              <a:t> </a:t>
            </a:r>
            <a:r>
              <a:rPr dirty="0"/>
              <a:t>..</a:t>
            </a:r>
            <a:r>
              <a:rPr spc="-15" dirty="0"/>
              <a:t> </a:t>
            </a:r>
            <a:r>
              <a:rPr dirty="0"/>
              <a:t>JUSQU'A</a:t>
            </a:r>
            <a:r>
              <a:rPr spc="-70" dirty="0"/>
              <a:t> </a:t>
            </a:r>
            <a:r>
              <a:rPr sz="1800" spc="-5" dirty="0"/>
              <a:t>3/6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14865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-5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3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1829561"/>
            <a:ext cx="3506470" cy="1676400"/>
          </a:xfrm>
          <a:prstGeom prst="rect">
            <a:avLst/>
          </a:prstGeom>
          <a:ln w="19811">
            <a:solidFill>
              <a:srgbClr val="40458B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 marR="2326005">
              <a:lnSpc>
                <a:spcPct val="100000"/>
              </a:lnSpc>
              <a:spcBef>
                <a:spcPts val="190"/>
              </a:spcBef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Wingdings"/>
                <a:cs typeface="Wingdings"/>
              </a:rPr>
              <a:t></a:t>
            </a:r>
            <a:r>
              <a:rPr sz="1800" spc="4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REPE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T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ER</a:t>
            </a:r>
            <a:endParaRPr sz="1800">
              <a:latin typeface="Arial MT"/>
              <a:cs typeface="Arial MT"/>
            </a:endParaRPr>
          </a:p>
          <a:p>
            <a:pPr marL="91440" marR="1021080" indent="9144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</a:t>
            </a:r>
            <a:r>
              <a:rPr sz="1800" spc="-6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(i*10)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JUSQU'A</a:t>
            </a:r>
            <a:r>
              <a:rPr sz="1800" spc="-1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&gt;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5)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86428" y="2357627"/>
            <a:ext cx="695325" cy="238125"/>
            <a:chOff x="4186428" y="2357627"/>
            <a:chExt cx="695325" cy="238125"/>
          </a:xfrm>
        </p:grpSpPr>
        <p:sp>
          <p:nvSpPr>
            <p:cNvPr id="10" name="object 10"/>
            <p:cNvSpPr/>
            <p:nvPr/>
          </p:nvSpPr>
          <p:spPr>
            <a:xfrm>
              <a:off x="4191000" y="2362199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21424" y="57150"/>
                  </a:moveTo>
                  <a:lnTo>
                    <a:pt x="0" y="57150"/>
                  </a:lnTo>
                  <a:lnTo>
                    <a:pt x="0" y="171450"/>
                  </a:lnTo>
                  <a:lnTo>
                    <a:pt x="21424" y="171450"/>
                  </a:lnTo>
                  <a:lnTo>
                    <a:pt x="21424" y="57150"/>
                  </a:lnTo>
                  <a:close/>
                </a:path>
                <a:path w="685800" h="228600">
                  <a:moveTo>
                    <a:pt x="85661" y="57150"/>
                  </a:moveTo>
                  <a:lnTo>
                    <a:pt x="42799" y="57150"/>
                  </a:lnTo>
                  <a:lnTo>
                    <a:pt x="42799" y="171450"/>
                  </a:lnTo>
                  <a:lnTo>
                    <a:pt x="85661" y="171450"/>
                  </a:lnTo>
                  <a:lnTo>
                    <a:pt x="85661" y="57150"/>
                  </a:lnTo>
                  <a:close/>
                </a:path>
                <a:path w="685800" h="228600">
                  <a:moveTo>
                    <a:pt x="685800" y="114300"/>
                  </a:moveTo>
                  <a:lnTo>
                    <a:pt x="514350" y="0"/>
                  </a:lnTo>
                  <a:lnTo>
                    <a:pt x="514350" y="57150"/>
                  </a:lnTo>
                  <a:lnTo>
                    <a:pt x="107188" y="57150"/>
                  </a:lnTo>
                  <a:lnTo>
                    <a:pt x="107188" y="171450"/>
                  </a:lnTo>
                  <a:lnTo>
                    <a:pt x="514350" y="171450"/>
                  </a:lnTo>
                  <a:lnTo>
                    <a:pt x="514350" y="228600"/>
                  </a:lnTo>
                  <a:lnTo>
                    <a:pt x="685800" y="11430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1000" y="2362199"/>
              <a:ext cx="685800" cy="228600"/>
            </a:xfrm>
            <a:custGeom>
              <a:avLst/>
              <a:gdLst/>
              <a:ahLst/>
              <a:cxnLst/>
              <a:rect l="l" t="t" r="r" b="b"/>
              <a:pathLst>
                <a:path w="685800" h="228600">
                  <a:moveTo>
                    <a:pt x="514350" y="0"/>
                  </a:moveTo>
                  <a:lnTo>
                    <a:pt x="514350" y="57150"/>
                  </a:lnTo>
                  <a:lnTo>
                    <a:pt x="107187" y="57150"/>
                  </a:lnTo>
                  <a:lnTo>
                    <a:pt x="107187" y="171450"/>
                  </a:lnTo>
                  <a:lnTo>
                    <a:pt x="514350" y="171450"/>
                  </a:lnTo>
                  <a:lnTo>
                    <a:pt x="514350" y="228600"/>
                  </a:lnTo>
                  <a:lnTo>
                    <a:pt x="685800" y="114300"/>
                  </a:lnTo>
                  <a:lnTo>
                    <a:pt x="514350" y="0"/>
                  </a:lnTo>
                  <a:close/>
                </a:path>
                <a:path w="685800" h="228600">
                  <a:moveTo>
                    <a:pt x="42799" y="171450"/>
                  </a:moveTo>
                  <a:lnTo>
                    <a:pt x="85661" y="171450"/>
                  </a:lnTo>
                  <a:lnTo>
                    <a:pt x="85661" y="57150"/>
                  </a:lnTo>
                  <a:lnTo>
                    <a:pt x="42799" y="57150"/>
                  </a:lnTo>
                  <a:lnTo>
                    <a:pt x="42799" y="171450"/>
                  </a:lnTo>
                  <a:close/>
                </a:path>
                <a:path w="685800" h="228600">
                  <a:moveTo>
                    <a:pt x="0" y="171450"/>
                  </a:moveTo>
                  <a:lnTo>
                    <a:pt x="21431" y="171450"/>
                  </a:lnTo>
                  <a:lnTo>
                    <a:pt x="21431" y="57150"/>
                  </a:lnTo>
                  <a:lnTo>
                    <a:pt x="0" y="571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29200" y="1676400"/>
            <a:ext cx="1864360" cy="2437130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38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…</a:t>
            </a:r>
            <a:endParaRPr sz="22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Boucle</a:t>
            </a:r>
            <a:r>
              <a:rPr sz="2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Tahoma"/>
                <a:cs typeface="Tahoma"/>
              </a:rPr>
              <a:t>Infinie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612140" y="4525517"/>
            <a:ext cx="7616190" cy="1029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0"/>
              </a:spcBef>
            </a:pPr>
            <a:r>
              <a:rPr sz="2200" spc="-10" dirty="0">
                <a:solidFill>
                  <a:srgbClr val="A40020"/>
                </a:solidFill>
                <a:latin typeface="Tahoma"/>
                <a:cs typeface="Tahoma"/>
              </a:rPr>
              <a:t>Remarque:</a:t>
            </a:r>
            <a:r>
              <a:rPr sz="2200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Il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faut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toujours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s’assurer que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 condition de sortie </a:t>
            </a:r>
            <a:r>
              <a:rPr sz="2200" spc="-59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sera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vérifiée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après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22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certain</a:t>
            </a:r>
            <a:r>
              <a:rPr sz="22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nombre</a:t>
            </a:r>
            <a:r>
              <a:rPr sz="2200" spc="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fini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parcours.</a:t>
            </a:r>
            <a:r>
              <a:rPr sz="22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Sinon 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c’est</a:t>
            </a:r>
            <a:r>
              <a:rPr sz="22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22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2200" i="1" spc="-5" dirty="0">
                <a:solidFill>
                  <a:srgbClr val="40458B"/>
                </a:solidFill>
                <a:latin typeface="Arial"/>
                <a:cs typeface="Arial"/>
              </a:rPr>
              <a:t>boucle </a:t>
            </a:r>
            <a:r>
              <a:rPr sz="2200" i="1" dirty="0">
                <a:solidFill>
                  <a:srgbClr val="40458B"/>
                </a:solidFill>
                <a:latin typeface="Arial"/>
                <a:cs typeface="Arial"/>
              </a:rPr>
              <a:t>infinie</a:t>
            </a:r>
            <a:r>
              <a:rPr sz="2200" dirty="0">
                <a:solidFill>
                  <a:srgbClr val="40458B"/>
                </a:solidFill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77228" y="1232916"/>
            <a:ext cx="2057400" cy="2835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52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9765" y="1030224"/>
            <a:ext cx="1794510" cy="2333625"/>
            <a:chOff x="409765" y="1030224"/>
            <a:chExt cx="1794510" cy="2333625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66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REPETER</a:t>
            </a:r>
            <a:r>
              <a:rPr spc="30" dirty="0"/>
              <a:t> </a:t>
            </a:r>
            <a:r>
              <a:rPr dirty="0"/>
              <a:t>..</a:t>
            </a:r>
            <a:r>
              <a:rPr spc="-15" dirty="0"/>
              <a:t> </a:t>
            </a:r>
            <a:r>
              <a:rPr dirty="0"/>
              <a:t>JUSQU'A</a:t>
            </a:r>
            <a:r>
              <a:rPr spc="-70" dirty="0"/>
              <a:t> </a:t>
            </a:r>
            <a:r>
              <a:rPr sz="1800" spc="-5" dirty="0"/>
              <a:t>4/6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6919595" cy="4594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4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l’algorithme</a:t>
            </a:r>
            <a:r>
              <a:rPr sz="22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spc="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calcul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des</a:t>
            </a:r>
            <a:r>
              <a:rPr sz="2200" b="1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diviseurs</a:t>
            </a:r>
            <a:r>
              <a:rPr sz="22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en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utilisant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une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boucle</a:t>
            </a:r>
            <a:r>
              <a:rPr sz="22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“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Répéter</a:t>
            </a:r>
            <a:r>
              <a:rPr sz="2200" b="1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”.</a:t>
            </a:r>
            <a:endParaRPr sz="2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ALGORITHME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Diviseurs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solidFill>
                  <a:srgbClr val="40458B"/>
                </a:solidFill>
                <a:latin typeface="Arial"/>
                <a:cs typeface="Arial"/>
              </a:rPr>
              <a:t>VAR</a:t>
            </a:r>
            <a:endParaRPr sz="18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n,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(Entier)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DEBUT</a:t>
            </a:r>
            <a:endParaRPr sz="1800" dirty="0">
              <a:latin typeface="Arial"/>
              <a:cs typeface="Arial"/>
            </a:endParaRPr>
          </a:p>
          <a:p>
            <a:pPr marL="927100" marR="532574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re(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)  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3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Répéter</a:t>
            </a:r>
            <a:endParaRPr sz="1800" dirty="0">
              <a:latin typeface="Arial"/>
              <a:cs typeface="Arial"/>
            </a:endParaRPr>
          </a:p>
          <a:p>
            <a:pPr marL="1181735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Si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Mod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=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0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Alors</a:t>
            </a:r>
            <a:endParaRPr sz="1800" dirty="0">
              <a:latin typeface="Arial"/>
              <a:cs typeface="Arial"/>
            </a:endParaRPr>
          </a:p>
          <a:p>
            <a:pPr marL="1600835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Ecrire(i)</a:t>
            </a:r>
            <a:endParaRPr sz="1800" dirty="0">
              <a:latin typeface="Arial MT"/>
              <a:cs typeface="Arial MT"/>
            </a:endParaRPr>
          </a:p>
          <a:p>
            <a:pPr marL="9652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FinSi</a:t>
            </a:r>
            <a:endParaRPr sz="1800" dirty="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3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+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 dirty="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Jusqu’à</a:t>
            </a:r>
            <a:r>
              <a:rPr sz="1800" b="1" spc="-3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&gt;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n)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362" y="1981961"/>
            <a:ext cx="5486400" cy="3962400"/>
          </a:xfrm>
          <a:custGeom>
            <a:avLst/>
            <a:gdLst/>
            <a:ahLst/>
            <a:cxnLst/>
            <a:rect l="l" t="t" r="r" b="b"/>
            <a:pathLst>
              <a:path w="5486400" h="3962400">
                <a:moveTo>
                  <a:pt x="0" y="3962400"/>
                </a:moveTo>
                <a:lnTo>
                  <a:pt x="5486400" y="3962400"/>
                </a:lnTo>
                <a:lnTo>
                  <a:pt x="5486400" y="0"/>
                </a:lnTo>
                <a:lnTo>
                  <a:pt x="0" y="0"/>
                </a:lnTo>
                <a:lnTo>
                  <a:pt x="0" y="3962400"/>
                </a:lnTo>
                <a:close/>
              </a:path>
            </a:pathLst>
          </a:custGeom>
          <a:ln w="19812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486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9765" y="1030224"/>
            <a:ext cx="1794510" cy="2333625"/>
            <a:chOff x="409765" y="1030224"/>
            <a:chExt cx="1794510" cy="2333625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666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Structure</a:t>
            </a:r>
            <a:r>
              <a:rPr spc="5" dirty="0"/>
              <a:t> </a:t>
            </a:r>
            <a:r>
              <a:rPr dirty="0"/>
              <a:t>REPETER</a:t>
            </a:r>
            <a:r>
              <a:rPr spc="30" dirty="0"/>
              <a:t> </a:t>
            </a:r>
            <a:r>
              <a:rPr dirty="0"/>
              <a:t>..</a:t>
            </a:r>
            <a:r>
              <a:rPr spc="-15" dirty="0"/>
              <a:t> </a:t>
            </a:r>
            <a:r>
              <a:rPr dirty="0"/>
              <a:t>JUSQU'A</a:t>
            </a:r>
            <a:r>
              <a:rPr spc="-70" dirty="0"/>
              <a:t> </a:t>
            </a:r>
            <a:r>
              <a:rPr sz="1800" spc="-5" dirty="0"/>
              <a:t>5/6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688340" y="1174749"/>
            <a:ext cx="6691630" cy="514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Exemple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5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l’algorithme</a:t>
            </a:r>
            <a:r>
              <a:rPr sz="22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de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calcul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du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factoriel</a:t>
            </a:r>
            <a:r>
              <a:rPr sz="2200" b="1" spc="1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en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utilisant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une</a:t>
            </a:r>
            <a:r>
              <a:rPr sz="2200" b="1" spc="1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boucle</a:t>
            </a:r>
            <a:r>
              <a:rPr sz="2200" b="1" spc="35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“</a:t>
            </a:r>
            <a:r>
              <a:rPr sz="2200" b="1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A40020"/>
                </a:solidFill>
                <a:latin typeface="Tahoma"/>
                <a:cs typeface="Tahoma"/>
              </a:rPr>
              <a:t>Répéter</a:t>
            </a:r>
            <a:r>
              <a:rPr sz="2200" b="1" spc="20" dirty="0">
                <a:solidFill>
                  <a:srgbClr val="A40020"/>
                </a:solidFill>
                <a:latin typeface="Tahoma"/>
                <a:cs typeface="Tahoma"/>
              </a:rPr>
              <a:t> </a:t>
            </a:r>
            <a:r>
              <a:rPr sz="2200" b="1" spc="-5" dirty="0">
                <a:solidFill>
                  <a:srgbClr val="A40020"/>
                </a:solidFill>
                <a:latin typeface="Tahoma"/>
                <a:cs typeface="Tahoma"/>
              </a:rPr>
              <a:t>”.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ALGORITHME</a:t>
            </a:r>
            <a:r>
              <a:rPr sz="1800" b="1" spc="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Factoriel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65" dirty="0">
                <a:solidFill>
                  <a:srgbClr val="40458B"/>
                </a:solidFill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n,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f,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(Entier)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DEBUT</a:t>
            </a:r>
            <a:endParaRPr sz="1800">
              <a:latin typeface="Arial"/>
              <a:cs typeface="Arial"/>
            </a:endParaRPr>
          </a:p>
          <a:p>
            <a:pPr marL="927100" marR="509778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re(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)  f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2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-5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5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Si</a:t>
            </a:r>
            <a:r>
              <a:rPr sz="1800" b="1" spc="-2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&gt;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0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Alors</a:t>
            </a:r>
            <a:endParaRPr sz="18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Répéter</a:t>
            </a:r>
            <a:endParaRPr sz="1800">
              <a:latin typeface="Arial"/>
              <a:cs typeface="Arial"/>
            </a:endParaRPr>
          </a:p>
          <a:p>
            <a:pPr marL="1841500" marR="3143250" indent="914400" algn="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f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* i </a:t>
            </a:r>
            <a:r>
              <a:rPr sz="1800" spc="-49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10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Symbol"/>
                <a:cs typeface="Symbol"/>
              </a:rPr>
              <a:t></a:t>
            </a:r>
            <a:r>
              <a:rPr sz="1800" spc="160" dirty="0">
                <a:solidFill>
                  <a:srgbClr val="40458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</a:t>
            </a:r>
            <a:r>
              <a:rPr sz="1800" spc="1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-</a:t>
            </a:r>
            <a:r>
              <a:rPr sz="1800" spc="1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Jusqu’à</a:t>
            </a:r>
            <a:r>
              <a:rPr sz="1800" b="1" spc="-4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(i</a:t>
            </a:r>
            <a:r>
              <a:rPr sz="1800" spc="-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&lt;=</a:t>
            </a:r>
            <a:r>
              <a:rPr sz="1800" spc="-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1)</a:t>
            </a:r>
            <a:endParaRPr sz="1800">
              <a:latin typeface="Arial MT"/>
              <a:cs typeface="Arial MT"/>
            </a:endParaRPr>
          </a:p>
          <a:p>
            <a:pPr marL="12700" marR="5117465" indent="91440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FinSi 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Ecrire(n,"!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=</a:t>
            </a:r>
            <a:r>
              <a:rPr sz="1800" spc="-3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",f) </a:t>
            </a:r>
            <a:r>
              <a:rPr sz="1800" spc="-484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FIN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0362" y="1981961"/>
            <a:ext cx="5486400" cy="4419600"/>
          </a:xfrm>
          <a:custGeom>
            <a:avLst/>
            <a:gdLst/>
            <a:ahLst/>
            <a:cxnLst/>
            <a:rect l="l" t="t" r="r" b="b"/>
            <a:pathLst>
              <a:path w="5486400" h="4419600">
                <a:moveTo>
                  <a:pt x="0" y="4419600"/>
                </a:moveTo>
                <a:lnTo>
                  <a:pt x="5486400" y="4419600"/>
                </a:lnTo>
                <a:lnTo>
                  <a:pt x="5486400" y="0"/>
                </a:lnTo>
                <a:lnTo>
                  <a:pt x="0" y="0"/>
                </a:lnTo>
                <a:lnTo>
                  <a:pt x="0" y="4419600"/>
                </a:lnTo>
                <a:close/>
              </a:path>
            </a:pathLst>
          </a:custGeom>
          <a:ln w="19812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0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09765" y="1030224"/>
            <a:ext cx="5473065" cy="4090670"/>
            <a:chOff x="409765" y="1030224"/>
            <a:chExt cx="5473065" cy="409067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53361" y="3124962"/>
              <a:ext cx="4114800" cy="1981200"/>
            </a:xfrm>
            <a:custGeom>
              <a:avLst/>
              <a:gdLst/>
              <a:ahLst/>
              <a:cxnLst/>
              <a:rect l="l" t="t" r="r" b="b"/>
              <a:pathLst>
                <a:path w="4114800" h="1981200">
                  <a:moveTo>
                    <a:pt x="228600" y="1981200"/>
                  </a:moveTo>
                  <a:lnTo>
                    <a:pt x="176188" y="1976839"/>
                  </a:lnTo>
                  <a:lnTo>
                    <a:pt x="128073" y="1964419"/>
                  </a:lnTo>
                  <a:lnTo>
                    <a:pt x="85628" y="1944930"/>
                  </a:lnTo>
                  <a:lnTo>
                    <a:pt x="50225" y="1919363"/>
                  </a:lnTo>
                  <a:lnTo>
                    <a:pt x="23237" y="1888708"/>
                  </a:lnTo>
                  <a:lnTo>
                    <a:pt x="6038" y="1853957"/>
                  </a:lnTo>
                  <a:lnTo>
                    <a:pt x="0" y="1816100"/>
                  </a:lnTo>
                  <a:lnTo>
                    <a:pt x="0" y="165100"/>
                  </a:lnTo>
                  <a:lnTo>
                    <a:pt x="6038" y="127242"/>
                  </a:lnTo>
                  <a:lnTo>
                    <a:pt x="23237" y="92491"/>
                  </a:lnTo>
                  <a:lnTo>
                    <a:pt x="50225" y="61836"/>
                  </a:lnTo>
                  <a:lnTo>
                    <a:pt x="85628" y="36269"/>
                  </a:lnTo>
                  <a:lnTo>
                    <a:pt x="128073" y="16780"/>
                  </a:lnTo>
                  <a:lnTo>
                    <a:pt x="176188" y="4360"/>
                  </a:lnTo>
                  <a:lnTo>
                    <a:pt x="228600" y="0"/>
                  </a:lnTo>
                </a:path>
                <a:path w="4114800" h="1981200">
                  <a:moveTo>
                    <a:pt x="381000" y="1752600"/>
                  </a:moveTo>
                  <a:lnTo>
                    <a:pt x="308750" y="1749692"/>
                  </a:lnTo>
                  <a:lnTo>
                    <a:pt x="245997" y="1741590"/>
                  </a:lnTo>
                  <a:lnTo>
                    <a:pt x="196510" y="1729227"/>
                  </a:lnTo>
                  <a:lnTo>
                    <a:pt x="152400" y="1695450"/>
                  </a:lnTo>
                  <a:lnTo>
                    <a:pt x="152400" y="1123950"/>
                  </a:lnTo>
                  <a:lnTo>
                    <a:pt x="164055" y="1105863"/>
                  </a:lnTo>
                  <a:lnTo>
                    <a:pt x="196510" y="1090172"/>
                  </a:lnTo>
                  <a:lnTo>
                    <a:pt x="245997" y="1077809"/>
                  </a:lnTo>
                  <a:lnTo>
                    <a:pt x="308750" y="1069707"/>
                  </a:lnTo>
                  <a:lnTo>
                    <a:pt x="381000" y="1066800"/>
                  </a:lnTo>
                </a:path>
                <a:path w="4114800" h="1981200">
                  <a:moveTo>
                    <a:pt x="2209800" y="914400"/>
                  </a:moveTo>
                  <a:lnTo>
                    <a:pt x="2180159" y="908405"/>
                  </a:lnTo>
                  <a:lnTo>
                    <a:pt x="2155936" y="892063"/>
                  </a:lnTo>
                  <a:lnTo>
                    <a:pt x="2139594" y="867840"/>
                  </a:lnTo>
                  <a:lnTo>
                    <a:pt x="2133600" y="838200"/>
                  </a:lnTo>
                  <a:lnTo>
                    <a:pt x="2133600" y="76200"/>
                  </a:lnTo>
                  <a:lnTo>
                    <a:pt x="2139594" y="46559"/>
                  </a:lnTo>
                  <a:lnTo>
                    <a:pt x="2155936" y="22336"/>
                  </a:lnTo>
                  <a:lnTo>
                    <a:pt x="2180159" y="5994"/>
                  </a:lnTo>
                  <a:lnTo>
                    <a:pt x="2209800" y="0"/>
                  </a:lnTo>
                </a:path>
                <a:path w="4114800" h="1981200">
                  <a:moveTo>
                    <a:pt x="2209800" y="1981200"/>
                  </a:moveTo>
                  <a:lnTo>
                    <a:pt x="2180159" y="1975205"/>
                  </a:lnTo>
                  <a:lnTo>
                    <a:pt x="2155936" y="1958863"/>
                  </a:lnTo>
                  <a:lnTo>
                    <a:pt x="2139594" y="1934640"/>
                  </a:lnTo>
                  <a:lnTo>
                    <a:pt x="2133600" y="1905000"/>
                  </a:lnTo>
                  <a:lnTo>
                    <a:pt x="2133600" y="1143000"/>
                  </a:lnTo>
                  <a:lnTo>
                    <a:pt x="2139594" y="1113359"/>
                  </a:lnTo>
                  <a:lnTo>
                    <a:pt x="2155936" y="1089136"/>
                  </a:lnTo>
                  <a:lnTo>
                    <a:pt x="2180159" y="1072794"/>
                  </a:lnTo>
                  <a:lnTo>
                    <a:pt x="2209800" y="1066800"/>
                  </a:lnTo>
                </a:path>
                <a:path w="4114800" h="1981200">
                  <a:moveTo>
                    <a:pt x="4114800" y="1447800"/>
                  </a:moveTo>
                  <a:lnTo>
                    <a:pt x="4054034" y="1443493"/>
                  </a:lnTo>
                  <a:lnTo>
                    <a:pt x="3999427" y="1431337"/>
                  </a:lnTo>
                  <a:lnTo>
                    <a:pt x="3953160" y="1412478"/>
                  </a:lnTo>
                  <a:lnTo>
                    <a:pt x="3917413" y="1388062"/>
                  </a:lnTo>
                  <a:lnTo>
                    <a:pt x="3886200" y="1327150"/>
                  </a:lnTo>
                  <a:lnTo>
                    <a:pt x="3886200" y="120650"/>
                  </a:lnTo>
                  <a:lnTo>
                    <a:pt x="3917413" y="59737"/>
                  </a:lnTo>
                  <a:lnTo>
                    <a:pt x="3953160" y="35321"/>
                  </a:lnTo>
                  <a:lnTo>
                    <a:pt x="3999427" y="16462"/>
                  </a:lnTo>
                  <a:lnTo>
                    <a:pt x="4054034" y="4306"/>
                  </a:lnTo>
                  <a:lnTo>
                    <a:pt x="4114800" y="0"/>
                  </a:lnTo>
                </a:path>
                <a:path w="4114800" h="1981200">
                  <a:moveTo>
                    <a:pt x="4114800" y="1981200"/>
                  </a:moveTo>
                  <a:lnTo>
                    <a:pt x="4066617" y="1975372"/>
                  </a:lnTo>
                  <a:lnTo>
                    <a:pt x="4024780" y="1959144"/>
                  </a:lnTo>
                  <a:lnTo>
                    <a:pt x="3991794" y="1934401"/>
                  </a:lnTo>
                  <a:lnTo>
                    <a:pt x="3970166" y="1903024"/>
                  </a:lnTo>
                  <a:lnTo>
                    <a:pt x="3962400" y="1866900"/>
                  </a:lnTo>
                  <a:lnTo>
                    <a:pt x="3962400" y="723900"/>
                  </a:lnTo>
                  <a:lnTo>
                    <a:pt x="3970166" y="687775"/>
                  </a:lnTo>
                  <a:lnTo>
                    <a:pt x="3991794" y="656398"/>
                  </a:lnTo>
                  <a:lnTo>
                    <a:pt x="4024780" y="631655"/>
                  </a:lnTo>
                  <a:lnTo>
                    <a:pt x="4066617" y="615427"/>
                  </a:lnTo>
                  <a:lnTo>
                    <a:pt x="4114800" y="609600"/>
                  </a:lnTo>
                </a:path>
              </a:pathLst>
            </a:custGeom>
            <a:ln w="28956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391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Boucles</a:t>
            </a:r>
            <a:r>
              <a:rPr spc="-30" dirty="0"/>
              <a:t> </a:t>
            </a:r>
            <a:r>
              <a:rPr dirty="0"/>
              <a:t>imbriquées</a:t>
            </a:r>
            <a:r>
              <a:rPr spc="-15" dirty="0"/>
              <a:t> </a:t>
            </a:r>
            <a:r>
              <a:rPr sz="1800" dirty="0"/>
              <a:t>3/4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1069644" y="1379601"/>
            <a:ext cx="668655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D'une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manière</a:t>
            </a:r>
            <a:r>
              <a:rPr sz="20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générale,</a:t>
            </a:r>
            <a:r>
              <a:rPr sz="2000" spc="-2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étant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données</a:t>
            </a:r>
            <a:r>
              <a:rPr sz="20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deux</a:t>
            </a:r>
            <a:r>
              <a:rPr sz="2000" spc="-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boucles,</a:t>
            </a:r>
            <a:r>
              <a:rPr sz="20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deux </a:t>
            </a:r>
            <a:r>
              <a:rPr sz="2000" spc="-6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situations seulement peuvent exister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: soit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elles sont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 disjointes,</a:t>
            </a:r>
            <a:r>
              <a:rPr sz="20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soit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elles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/>
                <a:cs typeface="Tahoma"/>
              </a:rPr>
              <a:t>sont</a:t>
            </a:r>
            <a:r>
              <a:rPr sz="2000" spc="-1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40458B"/>
                </a:solidFill>
                <a:latin typeface="Tahoma"/>
                <a:cs typeface="Tahoma"/>
              </a:rPr>
              <a:t>imbriquées.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3746" y="5195442"/>
            <a:ext cx="1358265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Boucles </a:t>
            </a:r>
            <a:r>
              <a:rPr sz="220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imbriquées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7275" y="5290565"/>
            <a:ext cx="11696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Boucles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disjointes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2528" y="5366715"/>
            <a:ext cx="9785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40458B"/>
                </a:solidFill>
                <a:latin typeface="Tahoma"/>
                <a:cs typeface="Tahoma"/>
              </a:rPr>
              <a:t>Sch</a:t>
            </a:r>
            <a:r>
              <a:rPr sz="2200" spc="-15" dirty="0">
                <a:solidFill>
                  <a:srgbClr val="40458B"/>
                </a:solidFill>
                <a:latin typeface="Tahoma"/>
                <a:cs typeface="Tahoma"/>
              </a:rPr>
              <a:t>é</a:t>
            </a: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ma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r>
              <a:rPr sz="2200" spc="-5" dirty="0">
                <a:solidFill>
                  <a:srgbClr val="40458B"/>
                </a:solidFill>
                <a:latin typeface="Tahoma"/>
                <a:cs typeface="Tahoma"/>
              </a:rPr>
              <a:t>interdit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19961" y="2896361"/>
            <a:ext cx="6096000" cy="3352800"/>
          </a:xfrm>
          <a:custGeom>
            <a:avLst/>
            <a:gdLst/>
            <a:ahLst/>
            <a:cxnLst/>
            <a:rect l="l" t="t" r="r" b="b"/>
            <a:pathLst>
              <a:path w="6096000" h="3352800">
                <a:moveTo>
                  <a:pt x="0" y="3352800"/>
                </a:moveTo>
                <a:lnTo>
                  <a:pt x="6095999" y="3352800"/>
                </a:lnTo>
                <a:lnTo>
                  <a:pt x="6095999" y="0"/>
                </a:lnTo>
                <a:lnTo>
                  <a:pt x="0" y="0"/>
                </a:lnTo>
                <a:lnTo>
                  <a:pt x="0" y="3352800"/>
                </a:lnTo>
                <a:close/>
              </a:path>
            </a:pathLst>
          </a:custGeom>
          <a:ln w="28956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561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4391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Boucles</a:t>
            </a:r>
            <a:r>
              <a:rPr spc="-25" dirty="0"/>
              <a:t> </a:t>
            </a:r>
            <a:r>
              <a:rPr dirty="0"/>
              <a:t>imbriquées</a:t>
            </a:r>
            <a:r>
              <a:rPr spc="-10" dirty="0"/>
              <a:t> </a:t>
            </a:r>
            <a:r>
              <a:rPr sz="1800" spc="-5" dirty="0"/>
              <a:t>4/4</a:t>
            </a:r>
            <a:endParaRPr sz="1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764540" y="1548863"/>
            <a:ext cx="7616190" cy="2866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3180" indent="-343535">
              <a:lnSpc>
                <a:spcPct val="145000"/>
              </a:lnSpc>
              <a:spcBef>
                <a:spcPts val="105"/>
              </a:spcBef>
              <a:buClr>
                <a:srgbClr val="6E88F7"/>
              </a:buClr>
              <a:buSzPct val="108333"/>
              <a:buFont typeface="Wingdings"/>
              <a:buChar char=""/>
              <a:tabLst>
                <a:tab pos="355600" algn="l"/>
                <a:tab pos="356235" algn="l"/>
              </a:tabLst>
            </a:pP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ATTENTION,</a:t>
            </a:r>
            <a:r>
              <a:rPr sz="1800" spc="-4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lorsque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la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boucle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extérieure</a:t>
            </a:r>
            <a:r>
              <a:rPr sz="1800" spc="3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est</a:t>
            </a:r>
            <a:r>
              <a:rPr sz="1800" spc="-10" dirty="0">
                <a:solidFill>
                  <a:srgbClr val="40458B"/>
                </a:solidFill>
                <a:latin typeface="Arial MT"/>
                <a:cs typeface="Arial MT"/>
              </a:rPr>
              <a:t> une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boucle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58B"/>
                </a:solidFill>
                <a:latin typeface="Arial MT"/>
                <a:cs typeface="Arial MT"/>
              </a:rPr>
              <a:t>Pour,</a:t>
            </a:r>
            <a:r>
              <a:rPr sz="1800" spc="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A40020"/>
                </a:solidFill>
                <a:latin typeface="Arial MT"/>
                <a:cs typeface="Arial MT"/>
              </a:rPr>
              <a:t>la </a:t>
            </a:r>
            <a:r>
              <a:rPr sz="1800" spc="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boucle</a:t>
            </a:r>
            <a:r>
              <a:rPr sz="1800" spc="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intérieure</a:t>
            </a:r>
            <a:r>
              <a:rPr sz="1800" spc="2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ne doit</a:t>
            </a:r>
            <a:r>
              <a:rPr sz="1800" spc="1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pas</a:t>
            </a:r>
            <a:r>
              <a:rPr sz="180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modifier</a:t>
            </a:r>
            <a:r>
              <a:rPr sz="1800" spc="1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l'indice</a:t>
            </a:r>
            <a:r>
              <a:rPr sz="1800" spc="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de la</a:t>
            </a:r>
            <a:r>
              <a:rPr sz="180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boucle</a:t>
            </a:r>
            <a:r>
              <a:rPr sz="1800" spc="2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extérieure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,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ainsi,</a:t>
            </a:r>
            <a:r>
              <a:rPr sz="1800" spc="2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s'il</a:t>
            </a:r>
            <a:r>
              <a:rPr sz="1800" spc="-1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s'agit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 deux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boucles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Pour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imbriquées,</a:t>
            </a:r>
            <a:r>
              <a:rPr sz="1800" spc="4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les</a:t>
            </a:r>
            <a:r>
              <a:rPr sz="1800" spc="5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indices</a:t>
            </a:r>
            <a:r>
              <a:rPr sz="1800" spc="3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ne doivent </a:t>
            </a:r>
            <a:r>
              <a:rPr sz="1800" spc="-484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pas porter</a:t>
            </a:r>
            <a:r>
              <a:rPr sz="1800" spc="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le</a:t>
            </a:r>
            <a:r>
              <a:rPr sz="1800" spc="-1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même</a:t>
            </a:r>
            <a:r>
              <a:rPr sz="1800" dirty="0">
                <a:solidFill>
                  <a:srgbClr val="A4002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A40020"/>
                </a:solidFill>
                <a:latin typeface="Arial MT"/>
                <a:cs typeface="Arial MT"/>
              </a:rPr>
              <a:t>nom.</a:t>
            </a:r>
            <a:endParaRPr sz="1800"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145000"/>
              </a:lnSpc>
              <a:spcBef>
                <a:spcPts val="434"/>
              </a:spcBef>
              <a:buClr>
                <a:srgbClr val="6E88F7"/>
              </a:buClr>
              <a:buSzPct val="108333"/>
              <a:buFont typeface="Wingdings"/>
              <a:buChar char=""/>
              <a:tabLst>
                <a:tab pos="356235" algn="l"/>
              </a:tabLst>
            </a:pP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L'utilisation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deux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boucles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imbriquées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se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rencontre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dès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que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l'on </a:t>
            </a:r>
            <a:r>
              <a:rPr sz="1800" spc="-49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travaille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sur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ensemble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d'objets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dont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le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traitement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de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chacun </a:t>
            </a:r>
            <a:r>
              <a:rPr sz="180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nécessite</a:t>
            </a:r>
            <a:r>
              <a:rPr sz="1800" spc="5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une</a:t>
            </a:r>
            <a:r>
              <a:rPr sz="1800" spc="10" dirty="0">
                <a:solidFill>
                  <a:srgbClr val="40458B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0458B"/>
                </a:solidFill>
                <a:latin typeface="Arial MT"/>
                <a:cs typeface="Arial MT"/>
              </a:rPr>
              <a:t>boucle.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5560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14527" y="1030224"/>
            <a:ext cx="1784985" cy="2329180"/>
            <a:chOff x="414527" y="1030224"/>
            <a:chExt cx="1784985" cy="2329180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378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Synthèse</a:t>
            </a:r>
            <a:r>
              <a:rPr spc="-60" dirty="0"/>
              <a:t> </a:t>
            </a:r>
            <a:r>
              <a:rPr sz="1600" b="1" spc="-5" dirty="0">
                <a:latin typeface="Tahoma"/>
                <a:cs typeface="Tahoma"/>
              </a:rPr>
              <a:t>1/2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1191514"/>
            <a:ext cx="490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Passage</a:t>
            </a:r>
            <a:r>
              <a:rPr sz="1800" b="1" spc="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d’une</a:t>
            </a:r>
            <a:r>
              <a:rPr sz="1800" b="1" spc="-1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structure </a:t>
            </a:r>
            <a:r>
              <a:rPr sz="1800" b="1" spc="-10" dirty="0">
                <a:solidFill>
                  <a:srgbClr val="A40020"/>
                </a:solidFill>
                <a:latin typeface="Arial"/>
                <a:cs typeface="Arial"/>
              </a:rPr>
              <a:t>itérative</a:t>
            </a:r>
            <a:r>
              <a:rPr sz="1800" b="1" spc="5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à</a:t>
            </a: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 une</a:t>
            </a:r>
            <a:r>
              <a:rPr sz="1800" b="1" spc="-1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autre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0400" y="1600200"/>
            <a:ext cx="2802890" cy="91630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44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0"/>
              </a:spcBef>
            </a:pP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Pour</a:t>
            </a:r>
            <a:r>
              <a:rPr sz="1800" b="1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cpt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180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vi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180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vf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Faire</a:t>
            </a:r>
            <a:endParaRPr sz="1800">
              <a:latin typeface="Tahoma"/>
              <a:cs typeface="Tahoma"/>
            </a:endParaRPr>
          </a:p>
          <a:p>
            <a:pPr marL="10064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Traitement</a:t>
            </a:r>
            <a:endParaRPr sz="1800">
              <a:latin typeface="Tahoma"/>
              <a:cs typeface="Tahoma"/>
            </a:endParaRPr>
          </a:p>
          <a:p>
            <a:pPr marL="92075">
              <a:lnSpc>
                <a:spcPct val="100000"/>
              </a:lnSpc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Fin</a:t>
            </a: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Pour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800" y="3354323"/>
            <a:ext cx="3258820" cy="146621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1910" rIns="0" bIns="0" rtlCol="0">
            <a:spAutoFit/>
          </a:bodyPr>
          <a:lstStyle/>
          <a:p>
            <a:pPr marL="91440" marR="2205355">
              <a:lnSpc>
                <a:spcPct val="100600"/>
              </a:lnSpc>
              <a:spcBef>
                <a:spcPts val="330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Cpt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vi </a:t>
            </a:r>
            <a:r>
              <a:rPr sz="1800" b="1" spc="-5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Répéter</a:t>
            </a:r>
            <a:endParaRPr sz="1800">
              <a:latin typeface="Tahoma"/>
              <a:cs typeface="Tahoma"/>
            </a:endParaRPr>
          </a:p>
          <a:p>
            <a:pPr marL="1005840">
              <a:lnSpc>
                <a:spcPts val="2155"/>
              </a:lnSpc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Traitement</a:t>
            </a:r>
            <a:endParaRPr sz="1800">
              <a:latin typeface="Tahoma"/>
              <a:cs typeface="Tahoma"/>
            </a:endParaRPr>
          </a:p>
          <a:p>
            <a:pPr marL="91440" marR="82550" indent="914400">
              <a:lnSpc>
                <a:spcPts val="2170"/>
              </a:lnSpc>
              <a:spcBef>
                <a:spcPts val="60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Cpt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suivant(cpt) </a:t>
            </a:r>
            <a:r>
              <a:rPr sz="1800" b="1" spc="-5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Jusqu’à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(cpt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&gt;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vf)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9200" y="3354323"/>
            <a:ext cx="3258820" cy="146621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Cpt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vi</a:t>
            </a:r>
            <a:endParaRPr sz="1800">
              <a:latin typeface="Tahoma"/>
              <a:cs typeface="Tahoma"/>
            </a:endParaRPr>
          </a:p>
          <a:p>
            <a:pPr marL="1007110" marR="115570" indent="-915035">
              <a:lnSpc>
                <a:spcPct val="100000"/>
              </a:lnSpc>
              <a:spcBef>
                <a:spcPts val="15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Tant</a:t>
            </a:r>
            <a:r>
              <a:rPr sz="18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(cpt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&lt;=</a:t>
            </a:r>
            <a:r>
              <a:rPr sz="1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vf)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Faire </a:t>
            </a:r>
            <a:r>
              <a:rPr sz="1800" b="1" spc="-5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Traitement</a:t>
            </a:r>
            <a:endParaRPr sz="1800">
              <a:latin typeface="Tahoma"/>
              <a:cs typeface="Tahoma"/>
            </a:endParaRPr>
          </a:p>
          <a:p>
            <a:pPr marL="92075" marR="82550" indent="914400">
              <a:lnSpc>
                <a:spcPts val="2170"/>
              </a:lnSpc>
              <a:spcBef>
                <a:spcPts val="55"/>
              </a:spcBef>
            </a:pP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Cpt</a:t>
            </a:r>
            <a:r>
              <a:rPr sz="180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Symbol"/>
                <a:cs typeface="Symbol"/>
              </a:rPr>
              <a:t>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suivant(cpt) </a:t>
            </a:r>
            <a:r>
              <a:rPr sz="1800" b="1" spc="-5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Fin</a:t>
            </a:r>
            <a:r>
              <a:rPr sz="1800" b="1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Tant</a:t>
            </a:r>
            <a:r>
              <a:rPr sz="1800" b="1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ahoma"/>
                <a:cs typeface="Tahoma"/>
              </a:rPr>
              <a:t>que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15718" y="2502534"/>
            <a:ext cx="4343400" cy="867410"/>
          </a:xfrm>
          <a:custGeom>
            <a:avLst/>
            <a:gdLst/>
            <a:ahLst/>
            <a:cxnLst/>
            <a:rect l="l" t="t" r="r" b="b"/>
            <a:pathLst>
              <a:path w="4343400" h="867410">
                <a:moveTo>
                  <a:pt x="4343273" y="852551"/>
                </a:moveTo>
                <a:lnTo>
                  <a:pt x="4331017" y="838581"/>
                </a:lnTo>
                <a:lnTo>
                  <a:pt x="4279252" y="779526"/>
                </a:lnTo>
                <a:lnTo>
                  <a:pt x="4268343" y="806310"/>
                </a:lnTo>
                <a:lnTo>
                  <a:pt x="2373376" y="33769"/>
                </a:lnTo>
                <a:lnTo>
                  <a:pt x="2375598" y="28321"/>
                </a:lnTo>
                <a:lnTo>
                  <a:pt x="2384298" y="6985"/>
                </a:lnTo>
                <a:lnTo>
                  <a:pt x="2287651" y="14351"/>
                </a:lnTo>
                <a:lnTo>
                  <a:pt x="2160651" y="0"/>
                </a:lnTo>
                <a:lnTo>
                  <a:pt x="2173719" y="35775"/>
                </a:lnTo>
                <a:lnTo>
                  <a:pt x="100749" y="795350"/>
                </a:lnTo>
                <a:lnTo>
                  <a:pt x="87630" y="759587"/>
                </a:lnTo>
                <a:lnTo>
                  <a:pt x="0" y="852551"/>
                </a:lnTo>
                <a:lnTo>
                  <a:pt x="127000" y="866902"/>
                </a:lnTo>
                <a:lnTo>
                  <a:pt x="116281" y="837692"/>
                </a:lnTo>
                <a:lnTo>
                  <a:pt x="113880" y="831151"/>
                </a:lnTo>
                <a:lnTo>
                  <a:pt x="2186825" y="71589"/>
                </a:lnTo>
                <a:lnTo>
                  <a:pt x="2199894" y="107315"/>
                </a:lnTo>
                <a:lnTo>
                  <a:pt x="2273617" y="29210"/>
                </a:lnTo>
                <a:lnTo>
                  <a:pt x="2287574" y="14427"/>
                </a:lnTo>
                <a:lnTo>
                  <a:pt x="2351532" y="87376"/>
                </a:lnTo>
                <a:lnTo>
                  <a:pt x="2362454" y="60566"/>
                </a:lnTo>
                <a:lnTo>
                  <a:pt x="4257421" y="833107"/>
                </a:lnTo>
                <a:lnTo>
                  <a:pt x="4246499" y="859917"/>
                </a:lnTo>
                <a:lnTo>
                  <a:pt x="4343273" y="852551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44873" y="4044696"/>
            <a:ext cx="1085850" cy="86995"/>
          </a:xfrm>
          <a:custGeom>
            <a:avLst/>
            <a:gdLst/>
            <a:ahLst/>
            <a:cxnLst/>
            <a:rect l="l" t="t" r="r" b="b"/>
            <a:pathLst>
              <a:path w="1085850" h="86995">
                <a:moveTo>
                  <a:pt x="86867" y="0"/>
                </a:moveTo>
                <a:lnTo>
                  <a:pt x="0" y="43433"/>
                </a:lnTo>
                <a:lnTo>
                  <a:pt x="86867" y="86867"/>
                </a:lnTo>
                <a:lnTo>
                  <a:pt x="86867" y="57911"/>
                </a:lnTo>
                <a:lnTo>
                  <a:pt x="72389" y="57911"/>
                </a:lnTo>
                <a:lnTo>
                  <a:pt x="72389" y="28955"/>
                </a:lnTo>
                <a:lnTo>
                  <a:pt x="86867" y="28955"/>
                </a:lnTo>
                <a:lnTo>
                  <a:pt x="86867" y="0"/>
                </a:lnTo>
                <a:close/>
              </a:path>
              <a:path w="1085850" h="86995">
                <a:moveTo>
                  <a:pt x="998981" y="0"/>
                </a:moveTo>
                <a:lnTo>
                  <a:pt x="998981" y="86867"/>
                </a:lnTo>
                <a:lnTo>
                  <a:pt x="1056894" y="57911"/>
                </a:lnTo>
                <a:lnTo>
                  <a:pt x="1013460" y="57911"/>
                </a:lnTo>
                <a:lnTo>
                  <a:pt x="1013460" y="28955"/>
                </a:lnTo>
                <a:lnTo>
                  <a:pt x="1056893" y="28955"/>
                </a:lnTo>
                <a:lnTo>
                  <a:pt x="998981" y="0"/>
                </a:lnTo>
                <a:close/>
              </a:path>
              <a:path w="1085850" h="86995">
                <a:moveTo>
                  <a:pt x="86867" y="28955"/>
                </a:moveTo>
                <a:lnTo>
                  <a:pt x="72389" y="28955"/>
                </a:lnTo>
                <a:lnTo>
                  <a:pt x="72389" y="57911"/>
                </a:lnTo>
                <a:lnTo>
                  <a:pt x="86867" y="57911"/>
                </a:lnTo>
                <a:lnTo>
                  <a:pt x="86867" y="28955"/>
                </a:lnTo>
                <a:close/>
              </a:path>
              <a:path w="1085850" h="86995">
                <a:moveTo>
                  <a:pt x="998981" y="28955"/>
                </a:moveTo>
                <a:lnTo>
                  <a:pt x="86867" y="28955"/>
                </a:lnTo>
                <a:lnTo>
                  <a:pt x="86867" y="57911"/>
                </a:lnTo>
                <a:lnTo>
                  <a:pt x="998981" y="57911"/>
                </a:lnTo>
                <a:lnTo>
                  <a:pt x="998981" y="28955"/>
                </a:lnTo>
                <a:close/>
              </a:path>
              <a:path w="1085850" h="86995">
                <a:moveTo>
                  <a:pt x="1056893" y="28955"/>
                </a:moveTo>
                <a:lnTo>
                  <a:pt x="1013460" y="28955"/>
                </a:lnTo>
                <a:lnTo>
                  <a:pt x="1013460" y="57911"/>
                </a:lnTo>
                <a:lnTo>
                  <a:pt x="1056894" y="57911"/>
                </a:lnTo>
                <a:lnTo>
                  <a:pt x="1085850" y="43433"/>
                </a:lnTo>
                <a:lnTo>
                  <a:pt x="1056893" y="28955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3400" y="5334000"/>
            <a:ext cx="7696200" cy="925194"/>
          </a:xfrm>
          <a:prstGeom prst="rect">
            <a:avLst/>
          </a:prstGeom>
          <a:ln w="9144">
            <a:solidFill>
              <a:srgbClr val="A4002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Remarque:</a:t>
            </a:r>
            <a:r>
              <a:rPr sz="1800" b="1" spc="15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Le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passage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 d’une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boucle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«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répéter</a:t>
            </a:r>
            <a:r>
              <a:rPr sz="1800" b="1" spc="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»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à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une</a:t>
            </a:r>
            <a:r>
              <a:rPr sz="1800" b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boucle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« pour</a:t>
            </a:r>
            <a:r>
              <a:rPr sz="1800" b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»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 n’est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pas </a:t>
            </a:r>
            <a:r>
              <a:rPr sz="1800" b="1" dirty="0">
                <a:solidFill>
                  <a:srgbClr val="40458B"/>
                </a:solidFill>
                <a:latin typeface="Arial"/>
                <a:cs typeface="Arial"/>
              </a:rPr>
              <a:t>toujours</a:t>
            </a:r>
            <a:r>
              <a:rPr sz="1800" b="1" spc="-3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40458B"/>
                </a:solidFill>
                <a:latin typeface="Arial"/>
                <a:cs typeface="Arial"/>
              </a:rPr>
              <a:t>possible</a:t>
            </a:r>
            <a:r>
              <a:rPr sz="1800" b="1" spc="40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40458B"/>
                </a:solidFill>
                <a:latin typeface="Arial"/>
                <a:cs typeface="Arial"/>
              </a:rPr>
              <a:t>(cas </a:t>
            </a:r>
            <a:r>
              <a:rPr sz="1800" b="1" i="1" dirty="0">
                <a:solidFill>
                  <a:srgbClr val="40458B"/>
                </a:solidFill>
                <a:latin typeface="Arial"/>
                <a:cs typeface="Arial"/>
              </a:rPr>
              <a:t>où</a:t>
            </a:r>
            <a:r>
              <a:rPr sz="1800" b="1" i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40458B"/>
                </a:solidFill>
                <a:latin typeface="Arial"/>
                <a:cs typeface="Arial"/>
              </a:rPr>
              <a:t>le nombre</a:t>
            </a:r>
            <a:r>
              <a:rPr sz="1800" b="1" i="1" spc="-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spc="-5" dirty="0">
                <a:solidFill>
                  <a:srgbClr val="40458B"/>
                </a:solidFill>
                <a:latin typeface="Arial"/>
                <a:cs typeface="Arial"/>
              </a:rPr>
              <a:t>d'itérations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sz="1800" b="1" i="1" spc="-10" dirty="0">
                <a:solidFill>
                  <a:srgbClr val="40458B"/>
                </a:solidFill>
                <a:latin typeface="Arial"/>
                <a:cs typeface="Arial"/>
              </a:rPr>
              <a:t>n'est</a:t>
            </a:r>
            <a:r>
              <a:rPr sz="1800" b="1" i="1" spc="1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40458B"/>
                </a:solidFill>
                <a:latin typeface="Arial"/>
                <a:cs typeface="Arial"/>
              </a:rPr>
              <a:t>pas</a:t>
            </a:r>
            <a:r>
              <a:rPr sz="1800" b="1" i="1" spc="-20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40458B"/>
                </a:solidFill>
                <a:latin typeface="Arial"/>
                <a:cs typeface="Arial"/>
              </a:rPr>
              <a:t>connu</a:t>
            </a:r>
            <a:r>
              <a:rPr sz="1800" b="1" i="1" spc="-15" dirty="0">
                <a:solidFill>
                  <a:srgbClr val="40458B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40458B"/>
                </a:solidFill>
                <a:latin typeface="Arial"/>
                <a:cs typeface="Arial"/>
              </a:rPr>
              <a:t>d'avance)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855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34628" y="0"/>
            <a:ext cx="9525" cy="1981200"/>
          </a:xfrm>
          <a:custGeom>
            <a:avLst/>
            <a:gdLst/>
            <a:ahLst/>
            <a:cxnLst/>
            <a:rect l="l" t="t" r="r" b="b"/>
            <a:pathLst>
              <a:path w="9525" h="1981200">
                <a:moveTo>
                  <a:pt x="0" y="1981200"/>
                </a:moveTo>
                <a:lnTo>
                  <a:pt x="9144" y="1981200"/>
                </a:lnTo>
                <a:lnTo>
                  <a:pt x="9144" y="0"/>
                </a:lnTo>
                <a:lnTo>
                  <a:pt x="0" y="0"/>
                </a:lnTo>
                <a:lnTo>
                  <a:pt x="0" y="1981200"/>
                </a:lnTo>
                <a:close/>
              </a:path>
            </a:pathLst>
          </a:custGeom>
          <a:solidFill>
            <a:srgbClr val="6E88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7637" y="1030224"/>
            <a:ext cx="3438525" cy="2333625"/>
            <a:chOff x="147637" y="1030224"/>
            <a:chExt cx="3438525" cy="2333625"/>
          </a:xfrm>
        </p:grpSpPr>
        <p:sp>
          <p:nvSpPr>
            <p:cNvPr id="4" name="object 4"/>
            <p:cNvSpPr/>
            <p:nvPr/>
          </p:nvSpPr>
          <p:spPr>
            <a:xfrm>
              <a:off x="414527" y="1037844"/>
              <a:ext cx="1784985" cy="2321560"/>
            </a:xfrm>
            <a:custGeom>
              <a:avLst/>
              <a:gdLst/>
              <a:ahLst/>
              <a:cxnLst/>
              <a:rect l="l" t="t" r="r" b="b"/>
              <a:pathLst>
                <a:path w="1784985" h="2321560">
                  <a:moveTo>
                    <a:pt x="1784603" y="96011"/>
                  </a:moveTo>
                  <a:lnTo>
                    <a:pt x="0" y="96011"/>
                  </a:lnTo>
                </a:path>
                <a:path w="1784985" h="2321560">
                  <a:moveTo>
                    <a:pt x="193548" y="0"/>
                  </a:moveTo>
                  <a:lnTo>
                    <a:pt x="193548" y="2321052"/>
                  </a:lnTo>
                </a:path>
              </a:pathLst>
            </a:custGeom>
            <a:ln w="9144">
              <a:solidFill>
                <a:srgbClr val="6E88F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15" y="1030224"/>
              <a:ext cx="201168" cy="2026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00" y="1981200"/>
              <a:ext cx="3429000" cy="1219200"/>
            </a:xfrm>
            <a:custGeom>
              <a:avLst/>
              <a:gdLst/>
              <a:ahLst/>
              <a:cxnLst/>
              <a:rect l="l" t="t" r="r" b="b"/>
              <a:pathLst>
                <a:path w="3429000" h="1219200">
                  <a:moveTo>
                    <a:pt x="1714500" y="0"/>
                  </a:moveTo>
                  <a:lnTo>
                    <a:pt x="0" y="609600"/>
                  </a:lnTo>
                  <a:lnTo>
                    <a:pt x="1714500" y="1219200"/>
                  </a:lnTo>
                  <a:lnTo>
                    <a:pt x="3429000" y="609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" y="1981200"/>
              <a:ext cx="3429000" cy="1219200"/>
            </a:xfrm>
            <a:custGeom>
              <a:avLst/>
              <a:gdLst/>
              <a:ahLst/>
              <a:cxnLst/>
              <a:rect l="l" t="t" r="r" b="b"/>
              <a:pathLst>
                <a:path w="3429000" h="1219200">
                  <a:moveTo>
                    <a:pt x="0" y="609600"/>
                  </a:moveTo>
                  <a:lnTo>
                    <a:pt x="1714500" y="0"/>
                  </a:lnTo>
                  <a:lnTo>
                    <a:pt x="3429000" y="609600"/>
                  </a:lnTo>
                  <a:lnTo>
                    <a:pt x="171450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88340" y="380746"/>
            <a:ext cx="233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Synthèse</a:t>
            </a:r>
            <a:r>
              <a:rPr spc="-65" dirty="0"/>
              <a:t> </a:t>
            </a:r>
            <a:r>
              <a:rPr sz="1800" dirty="0"/>
              <a:t>2/2</a:t>
            </a:r>
            <a:endParaRPr sz="1800"/>
          </a:p>
        </p:txBody>
      </p:sp>
      <p:sp>
        <p:nvSpPr>
          <p:cNvPr id="9" name="object 9"/>
          <p:cNvSpPr txBox="1"/>
          <p:nvPr/>
        </p:nvSpPr>
        <p:spPr>
          <a:xfrm>
            <a:off x="764540" y="1444497"/>
            <a:ext cx="3233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Choix</a:t>
            </a:r>
            <a:r>
              <a:rPr sz="1800" b="1" spc="-2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de</a:t>
            </a:r>
            <a:r>
              <a:rPr sz="1800" b="1" spc="-1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A40020"/>
                </a:solidFill>
                <a:latin typeface="Arial"/>
                <a:cs typeface="Arial"/>
              </a:rPr>
              <a:t>la</a:t>
            </a:r>
            <a:r>
              <a:rPr sz="1800" b="1" spc="-10" dirty="0">
                <a:solidFill>
                  <a:srgbClr val="A4002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A40020"/>
                </a:solidFill>
                <a:latin typeface="Arial"/>
                <a:cs typeface="Arial"/>
              </a:rPr>
              <a:t>structure </a:t>
            </a:r>
            <a:r>
              <a:rPr sz="1800" b="1" spc="-10" dirty="0">
                <a:solidFill>
                  <a:srgbClr val="A40020"/>
                </a:solidFill>
                <a:latin typeface="Arial"/>
                <a:cs typeface="Arial"/>
              </a:rPr>
              <a:t>itérative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763" y="2294660"/>
            <a:ext cx="2430780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marR="5080" indent="-688975">
              <a:lnSpc>
                <a:spcPct val="11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Nbre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d’itérations</a:t>
            </a:r>
            <a:r>
              <a:rPr sz="16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connu </a:t>
            </a:r>
            <a:r>
              <a:rPr sz="1600" b="1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l’avance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05961" y="2553461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381000" y="0"/>
                </a:moveTo>
                <a:lnTo>
                  <a:pt x="381000" y="76200"/>
                </a:lnTo>
                <a:lnTo>
                  <a:pt x="437388" y="48005"/>
                </a:lnTo>
                <a:lnTo>
                  <a:pt x="393700" y="48005"/>
                </a:lnTo>
                <a:lnTo>
                  <a:pt x="393700" y="28193"/>
                </a:lnTo>
                <a:lnTo>
                  <a:pt x="437387" y="28193"/>
                </a:lnTo>
                <a:lnTo>
                  <a:pt x="381000" y="0"/>
                </a:lnTo>
                <a:close/>
              </a:path>
              <a:path w="457200" h="76200">
                <a:moveTo>
                  <a:pt x="381000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381000" y="48005"/>
                </a:lnTo>
                <a:lnTo>
                  <a:pt x="381000" y="28193"/>
                </a:lnTo>
                <a:close/>
              </a:path>
              <a:path w="457200" h="76200">
                <a:moveTo>
                  <a:pt x="437387" y="28193"/>
                </a:moveTo>
                <a:lnTo>
                  <a:pt x="393700" y="28193"/>
                </a:lnTo>
                <a:lnTo>
                  <a:pt x="393700" y="48005"/>
                </a:lnTo>
                <a:lnTo>
                  <a:pt x="437388" y="48005"/>
                </a:lnTo>
                <a:lnTo>
                  <a:pt x="457200" y="38100"/>
                </a:lnTo>
                <a:lnTo>
                  <a:pt x="437387" y="28193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84575" y="2226056"/>
            <a:ext cx="44830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non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67637" y="2281237"/>
            <a:ext cx="1152525" cy="619125"/>
            <a:chOff x="7767637" y="2281237"/>
            <a:chExt cx="1152525" cy="619125"/>
          </a:xfrm>
        </p:grpSpPr>
        <p:sp>
          <p:nvSpPr>
            <p:cNvPr id="14" name="object 14"/>
            <p:cNvSpPr/>
            <p:nvPr/>
          </p:nvSpPr>
          <p:spPr>
            <a:xfrm>
              <a:off x="7772400" y="22860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72400" y="22860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964551" y="2302890"/>
            <a:ext cx="68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Bouc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01482" y="2577210"/>
            <a:ext cx="1087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"Tant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que"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67661" y="1976437"/>
            <a:ext cx="5452745" cy="1529715"/>
            <a:chOff x="1867661" y="1976437"/>
            <a:chExt cx="5452745" cy="1529715"/>
          </a:xfrm>
        </p:grpSpPr>
        <p:sp>
          <p:nvSpPr>
            <p:cNvPr id="19" name="object 19"/>
            <p:cNvSpPr/>
            <p:nvPr/>
          </p:nvSpPr>
          <p:spPr>
            <a:xfrm>
              <a:off x="1867661" y="3201161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28193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28193" y="241300"/>
                  </a:lnTo>
                  <a:lnTo>
                    <a:pt x="28193" y="228600"/>
                  </a:lnTo>
                  <a:close/>
                </a:path>
                <a:path w="76200" h="304800">
                  <a:moveTo>
                    <a:pt x="48006" y="0"/>
                  </a:moveTo>
                  <a:lnTo>
                    <a:pt x="28193" y="0"/>
                  </a:lnTo>
                  <a:lnTo>
                    <a:pt x="28193" y="241300"/>
                  </a:lnTo>
                  <a:lnTo>
                    <a:pt x="48006" y="241300"/>
                  </a:lnTo>
                  <a:lnTo>
                    <a:pt x="48006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8006" y="228600"/>
                  </a:lnTo>
                  <a:lnTo>
                    <a:pt x="48006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A40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86200" y="1981200"/>
              <a:ext cx="3429000" cy="1219200"/>
            </a:xfrm>
            <a:custGeom>
              <a:avLst/>
              <a:gdLst/>
              <a:ahLst/>
              <a:cxnLst/>
              <a:rect l="l" t="t" r="r" b="b"/>
              <a:pathLst>
                <a:path w="3429000" h="1219200">
                  <a:moveTo>
                    <a:pt x="1714500" y="0"/>
                  </a:moveTo>
                  <a:lnTo>
                    <a:pt x="0" y="609600"/>
                  </a:lnTo>
                  <a:lnTo>
                    <a:pt x="1714500" y="1219200"/>
                  </a:lnTo>
                  <a:lnTo>
                    <a:pt x="3429000" y="6096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86200" y="1981200"/>
              <a:ext cx="3429000" cy="1219200"/>
            </a:xfrm>
            <a:custGeom>
              <a:avLst/>
              <a:gdLst/>
              <a:ahLst/>
              <a:cxnLst/>
              <a:rect l="l" t="t" r="r" b="b"/>
              <a:pathLst>
                <a:path w="3429000" h="1219200">
                  <a:moveTo>
                    <a:pt x="0" y="609600"/>
                  </a:moveTo>
                  <a:lnTo>
                    <a:pt x="1714500" y="0"/>
                  </a:lnTo>
                  <a:lnTo>
                    <a:pt x="3429000" y="609600"/>
                  </a:lnTo>
                  <a:lnTo>
                    <a:pt x="1714500" y="121920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83151" y="2334894"/>
            <a:ext cx="24371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Le traitement s’exécute </a:t>
            </a:r>
            <a:r>
              <a:rPr sz="1600" b="1" spc="-4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au</a:t>
            </a: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moins</a:t>
            </a:r>
            <a:r>
              <a:rPr sz="160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une</a:t>
            </a:r>
            <a:r>
              <a:rPr sz="16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fois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00637" y="3500437"/>
            <a:ext cx="1152525" cy="619125"/>
            <a:chOff x="5100637" y="3500437"/>
            <a:chExt cx="1152525" cy="619125"/>
          </a:xfrm>
        </p:grpSpPr>
        <p:sp>
          <p:nvSpPr>
            <p:cNvPr id="24" name="object 24"/>
            <p:cNvSpPr/>
            <p:nvPr/>
          </p:nvSpPr>
          <p:spPr>
            <a:xfrm>
              <a:off x="5105400" y="35052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05400" y="35052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109971" y="3509771"/>
            <a:ext cx="1134110" cy="30035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20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Boucle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9971" y="3810056"/>
            <a:ext cx="1134110" cy="30035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2155"/>
              </a:lnSpc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"Répéter"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43037" y="3500437"/>
            <a:ext cx="1152525" cy="619125"/>
            <a:chOff x="1443037" y="3500437"/>
            <a:chExt cx="1152525" cy="619125"/>
          </a:xfrm>
        </p:grpSpPr>
        <p:sp>
          <p:nvSpPr>
            <p:cNvPr id="29" name="object 29"/>
            <p:cNvSpPr/>
            <p:nvPr/>
          </p:nvSpPr>
          <p:spPr>
            <a:xfrm>
              <a:off x="1447800" y="35052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47800" y="35052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144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52372" y="3509771"/>
            <a:ext cx="1134110" cy="30035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25400" rIns="0" bIns="0" rtlCol="0">
            <a:spAutoFit/>
          </a:bodyPr>
          <a:lstStyle/>
          <a:p>
            <a:pPr marL="198755">
              <a:lnSpc>
                <a:spcPct val="100000"/>
              </a:lnSpc>
              <a:spcBef>
                <a:spcPts val="200"/>
              </a:spcBef>
            </a:pP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Boucle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52372" y="3810056"/>
            <a:ext cx="1134110" cy="300355"/>
          </a:xfrm>
          <a:prstGeom prst="rect">
            <a:avLst/>
          </a:prstGeom>
          <a:solidFill>
            <a:srgbClr val="0033CC"/>
          </a:solidFill>
        </p:spPr>
        <p:txBody>
          <a:bodyPr vert="horz" wrap="square" lIns="0" tIns="0" rIns="0" bIns="0" rtlCol="0">
            <a:spAutoFit/>
          </a:bodyPr>
          <a:lstStyle/>
          <a:p>
            <a:pPr marL="247650">
              <a:lnSpc>
                <a:spcPts val="2155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"Pour"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601462" y="2553461"/>
            <a:ext cx="2176780" cy="952500"/>
          </a:xfrm>
          <a:custGeom>
            <a:avLst/>
            <a:gdLst/>
            <a:ahLst/>
            <a:cxnLst/>
            <a:rect l="l" t="t" r="r" b="b"/>
            <a:pathLst>
              <a:path w="2176779" h="952500">
                <a:moveTo>
                  <a:pt x="76200" y="876300"/>
                </a:moveTo>
                <a:lnTo>
                  <a:pt x="48006" y="876300"/>
                </a:lnTo>
                <a:lnTo>
                  <a:pt x="48006" y="647700"/>
                </a:lnTo>
                <a:lnTo>
                  <a:pt x="28194" y="647700"/>
                </a:lnTo>
                <a:lnTo>
                  <a:pt x="28194" y="876300"/>
                </a:lnTo>
                <a:lnTo>
                  <a:pt x="0" y="876300"/>
                </a:lnTo>
                <a:lnTo>
                  <a:pt x="38100" y="952500"/>
                </a:lnTo>
                <a:lnTo>
                  <a:pt x="69850" y="889000"/>
                </a:lnTo>
                <a:lnTo>
                  <a:pt x="76200" y="876300"/>
                </a:lnTo>
                <a:close/>
              </a:path>
              <a:path w="2176779" h="952500">
                <a:moveTo>
                  <a:pt x="2176272" y="38100"/>
                </a:moveTo>
                <a:lnTo>
                  <a:pt x="2156447" y="28194"/>
                </a:lnTo>
                <a:lnTo>
                  <a:pt x="2100072" y="0"/>
                </a:lnTo>
                <a:lnTo>
                  <a:pt x="2100072" y="28194"/>
                </a:lnTo>
                <a:lnTo>
                  <a:pt x="1719072" y="28194"/>
                </a:lnTo>
                <a:lnTo>
                  <a:pt x="1719072" y="48006"/>
                </a:lnTo>
                <a:lnTo>
                  <a:pt x="2100072" y="48006"/>
                </a:lnTo>
                <a:lnTo>
                  <a:pt x="2100072" y="76200"/>
                </a:lnTo>
                <a:lnTo>
                  <a:pt x="2156460" y="48006"/>
                </a:lnTo>
                <a:lnTo>
                  <a:pt x="2176272" y="38100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242809" y="2226056"/>
            <a:ext cx="44830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non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60194" y="3156585"/>
            <a:ext cx="3638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oui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94628" y="3156585"/>
            <a:ext cx="3638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A40020"/>
                </a:solidFill>
                <a:latin typeface="Tahoma"/>
                <a:cs typeface="Tahoma"/>
              </a:rPr>
              <a:t>oui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3162" y="1905761"/>
            <a:ext cx="8839200" cy="2667000"/>
          </a:xfrm>
          <a:custGeom>
            <a:avLst/>
            <a:gdLst/>
            <a:ahLst/>
            <a:cxnLst/>
            <a:rect l="l" t="t" r="r" b="b"/>
            <a:pathLst>
              <a:path w="8839200" h="2667000">
                <a:moveTo>
                  <a:pt x="0" y="2667000"/>
                </a:moveTo>
                <a:lnTo>
                  <a:pt x="8839200" y="2667000"/>
                </a:lnTo>
                <a:lnTo>
                  <a:pt x="8839200" y="0"/>
                </a:lnTo>
                <a:lnTo>
                  <a:pt x="0" y="0"/>
                </a:lnTo>
                <a:lnTo>
                  <a:pt x="0" y="2667000"/>
                </a:lnTo>
                <a:close/>
              </a:path>
            </a:pathLst>
          </a:custGeom>
          <a:ln w="28956">
            <a:solidFill>
              <a:srgbClr val="4045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12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2060</Words>
  <Application>Microsoft Office PowerPoint</Application>
  <PresentationFormat>Affichage à l'écran (4:3)</PresentationFormat>
  <Paragraphs>449</Paragraphs>
  <Slides>33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Office Theme</vt:lpstr>
      <vt:lpstr>Structures de Contrôle</vt:lpstr>
      <vt:lpstr>Les Structures décisionnelles ou instructions conditionnelles </vt:lpstr>
      <vt:lpstr>Structures décisionnelles ou instructions</vt:lpstr>
      <vt:lpstr>Structure conditionnelle</vt:lpstr>
      <vt:lpstr>Nature de la condition</vt:lpstr>
      <vt:lpstr>Exemple 1</vt:lpstr>
      <vt:lpstr>Structures conditionnelles imbriquées (1)</vt:lpstr>
      <vt:lpstr>Structures conditionnelles à plusieurs choix (1)</vt:lpstr>
      <vt:lpstr>Structures conditionnelles à plusieurs choix (2)</vt:lpstr>
      <vt:lpstr>Structures conditionnelles à plusieurs choix (3)</vt:lpstr>
      <vt:lpstr>Les Structures itératives</vt:lpstr>
      <vt:lpstr>Éléments de contenu</vt:lpstr>
      <vt:lpstr>Introduction</vt:lpstr>
      <vt:lpstr>Structure POUR…FAIRE 1/6</vt:lpstr>
      <vt:lpstr>Structure POUR…FAIRE 2/6</vt:lpstr>
      <vt:lpstr>Structure POUR…FAIRE</vt:lpstr>
      <vt:lpstr>Structure POUR…FAIRE 4/6</vt:lpstr>
      <vt:lpstr>Structure POUR…FAIRE 5/6</vt:lpstr>
      <vt:lpstr>Structure TANT QUE ..FAIRE 1/6</vt:lpstr>
      <vt:lpstr>Structure TANT QUE ..FAIRE 3/6</vt:lpstr>
      <vt:lpstr>Structure TANT QUE ..FAIRE 3/6</vt:lpstr>
      <vt:lpstr>Structure TANT QUE ..FAIRE 4/6</vt:lpstr>
      <vt:lpstr>Structure TANT QUE ..FAIRE 5/6</vt:lpstr>
      <vt:lpstr>Structure TANT QUE ..FAIRE 6/6</vt:lpstr>
      <vt:lpstr>Structure REPETER .. JUSQU'A 1/6</vt:lpstr>
      <vt:lpstr>Structure REPETER .. JUSQU'A 2/6</vt:lpstr>
      <vt:lpstr>Structure REPETER .. JUSQU'A 3/6</vt:lpstr>
      <vt:lpstr>Structure REPETER .. JUSQU'A 4/6</vt:lpstr>
      <vt:lpstr>Structure REPETER .. JUSQU'A 5/6</vt:lpstr>
      <vt:lpstr>Boucles imbriquées 3/4</vt:lpstr>
      <vt:lpstr>Boucles imbriquées 4/4</vt:lpstr>
      <vt:lpstr>Synthèse 1/2</vt:lpstr>
      <vt:lpstr>Synthèse 2/2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 Gestion</dc:title>
  <dc:creator>***</dc:creator>
  <cp:lastModifiedBy>PC ASUS</cp:lastModifiedBy>
  <cp:revision>11</cp:revision>
  <dcterms:created xsi:type="dcterms:W3CDTF">2021-10-13T17:36:16Z</dcterms:created>
  <dcterms:modified xsi:type="dcterms:W3CDTF">2022-09-27T09:36:53Z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2017-10-01T00:00:00Z</vt:filetime>
  </property>
  <property fmtid="{D5CDD505-2E9C-101B-9397-08002B2CF9AE}" pid="3" name="Creator">
    <vt:lpwstr>Microsoft® PowerPoint® 2013</vt:lpwstr>
  </property>
  <property fmtid="{D5CDD505-2E9C-101B-9397-08002B2CF9AE}" pid="4" name="LastSaved">
    <vt:filetime>2021-10-13T00:00:00Z</vt:filetime>
  </property>
</Properties>
</file>