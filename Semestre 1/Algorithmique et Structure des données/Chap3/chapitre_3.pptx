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40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288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336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384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432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480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528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3576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24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9672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720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5768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16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864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4912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960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008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56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104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52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00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7" y="0"/>
            <a:ext cx="9143" cy="64770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027" y="0"/>
            <a:ext cx="9143" cy="64770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827" y="0"/>
            <a:ext cx="9143" cy="64770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4627" y="0"/>
            <a:ext cx="9143" cy="64770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427" y="0"/>
            <a:ext cx="9143" cy="647700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4227" y="0"/>
            <a:ext cx="9144" cy="6477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9027" y="0"/>
            <a:ext cx="9144" cy="64770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3827" y="0"/>
            <a:ext cx="9144" cy="64770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627" y="0"/>
            <a:ext cx="9144" cy="64770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3427" y="0"/>
            <a:ext cx="9144" cy="647700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48228" y="0"/>
            <a:ext cx="9144" cy="64770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3028" y="0"/>
            <a:ext cx="9144" cy="647700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7828" y="0"/>
            <a:ext cx="9144" cy="64770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2628" y="0"/>
            <a:ext cx="9144" cy="647700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7428" y="0"/>
            <a:ext cx="9144" cy="64770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228" y="0"/>
            <a:ext cx="9144" cy="6477000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7028" y="0"/>
            <a:ext cx="9144" cy="647700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1828" y="0"/>
            <a:ext cx="9144" cy="647700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6628" y="0"/>
            <a:ext cx="9144" cy="6477000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1428" y="0"/>
            <a:ext cx="9144" cy="6477000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6228" y="0"/>
            <a:ext cx="9144" cy="6477000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028" y="0"/>
            <a:ext cx="9144" cy="64770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5828" y="0"/>
            <a:ext cx="9144" cy="6477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0628" y="0"/>
            <a:ext cx="9144" cy="6477000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5428" y="0"/>
            <a:ext cx="9144" cy="6477000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0228" y="0"/>
            <a:ext cx="9144" cy="6477000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5028" y="0"/>
            <a:ext cx="9144" cy="647700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9828" y="0"/>
            <a:ext cx="9144" cy="6477000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628" y="0"/>
            <a:ext cx="9144" cy="6477000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bg 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030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167385"/>
            <a:ext cx="62858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3514" y="1579879"/>
            <a:ext cx="8776970" cy="359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31123" y="6433732"/>
            <a:ext cx="17399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5331153" cy="62837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b="1" spc="-5" dirty="0" smtClean="0"/>
              <a:t>Les Tableaux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77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73126"/>
            <a:ext cx="4264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Éléments</a:t>
            </a:r>
            <a:r>
              <a:rPr spc="-1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5" dirty="0"/>
              <a:t>contenu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1969007"/>
            <a:ext cx="164591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4232147"/>
            <a:ext cx="164591" cy="1767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88694" y="1902078"/>
            <a:ext cx="5179060" cy="437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LES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TABLEAUX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UNIDIMENTIONNELS</a:t>
            </a:r>
            <a:endParaRPr sz="1800">
              <a:latin typeface="Arial MT"/>
              <a:cs typeface="Arial MT"/>
            </a:endParaRPr>
          </a:p>
          <a:p>
            <a:pPr marL="413384" indent="-287020">
              <a:lnSpc>
                <a:spcPct val="100000"/>
              </a:lnSpc>
              <a:spcBef>
                <a:spcPts val="1405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Positionnement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du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problème</a:t>
            </a:r>
            <a:endParaRPr sz="1800">
              <a:latin typeface="Arial"/>
              <a:cs typeface="Arial"/>
            </a:endParaRPr>
          </a:p>
          <a:p>
            <a:pPr marL="413384" indent="-287020">
              <a:lnSpc>
                <a:spcPct val="100000"/>
              </a:lnSpc>
              <a:spcBef>
                <a:spcPts val="1400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Définition</a:t>
            </a:r>
            <a:endParaRPr sz="1800">
              <a:latin typeface="Arial"/>
              <a:cs typeface="Arial"/>
            </a:endParaRPr>
          </a:p>
          <a:p>
            <a:pPr marL="413384" indent="-287020">
              <a:lnSpc>
                <a:spcPct val="100000"/>
              </a:lnSpc>
              <a:spcBef>
                <a:spcPts val="1410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Déclaration</a:t>
            </a:r>
            <a:endParaRPr sz="1800">
              <a:latin typeface="Arial"/>
              <a:cs typeface="Arial"/>
            </a:endParaRPr>
          </a:p>
          <a:p>
            <a:pPr marL="413384" indent="-287020">
              <a:lnSpc>
                <a:spcPct val="100000"/>
              </a:lnSpc>
              <a:spcBef>
                <a:spcPts val="1400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Résolution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d'un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problème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avec</a:t>
            </a:r>
            <a:r>
              <a:rPr sz="1800" b="1" spc="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les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tableaux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LES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TABLEAUX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BIDIMENTIONNELS</a:t>
            </a:r>
            <a:endParaRPr sz="1800">
              <a:latin typeface="Arial MT"/>
              <a:cs typeface="Arial MT"/>
            </a:endParaRPr>
          </a:p>
          <a:p>
            <a:pPr marL="413384" indent="-287020">
              <a:lnSpc>
                <a:spcPct val="100000"/>
              </a:lnSpc>
              <a:spcBef>
                <a:spcPts val="1410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Positionnement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du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problème</a:t>
            </a:r>
            <a:endParaRPr sz="1800">
              <a:latin typeface="Arial"/>
              <a:cs typeface="Arial"/>
            </a:endParaRPr>
          </a:p>
          <a:p>
            <a:pPr marL="413384" indent="-287020">
              <a:lnSpc>
                <a:spcPct val="100000"/>
              </a:lnSpc>
              <a:spcBef>
                <a:spcPts val="1400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Définition</a:t>
            </a:r>
            <a:endParaRPr sz="1800">
              <a:latin typeface="Arial"/>
              <a:cs typeface="Arial"/>
            </a:endParaRPr>
          </a:p>
          <a:p>
            <a:pPr marL="413384" indent="-287020">
              <a:lnSpc>
                <a:spcPct val="100000"/>
              </a:lnSpc>
              <a:spcBef>
                <a:spcPts val="1405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Déclaration</a:t>
            </a:r>
            <a:endParaRPr sz="1800">
              <a:latin typeface="Arial"/>
              <a:cs typeface="Arial"/>
            </a:endParaRPr>
          </a:p>
          <a:p>
            <a:pPr marL="413384" indent="-287020">
              <a:lnSpc>
                <a:spcPct val="100000"/>
              </a:lnSpc>
              <a:spcBef>
                <a:spcPts val="1405"/>
              </a:spcBef>
              <a:buSzPct val="58333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Exemples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0"/>
            <a:ext cx="6287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0" dirty="0"/>
              <a:t> </a:t>
            </a:r>
            <a:r>
              <a:rPr dirty="0"/>
              <a:t>Tableaux</a:t>
            </a:r>
            <a:r>
              <a:rPr spc="-20" dirty="0"/>
              <a:t> </a:t>
            </a:r>
            <a:r>
              <a:rPr dirty="0"/>
              <a:t>unidimensionnels</a:t>
            </a:r>
          </a:p>
        </p:txBody>
      </p:sp>
      <p:sp>
        <p:nvSpPr>
          <p:cNvPr id="3" name="object 3"/>
          <p:cNvSpPr/>
          <p:nvPr/>
        </p:nvSpPr>
        <p:spPr>
          <a:xfrm>
            <a:off x="822960" y="1277111"/>
            <a:ext cx="7940040" cy="4790440"/>
          </a:xfrm>
          <a:custGeom>
            <a:avLst/>
            <a:gdLst/>
            <a:ahLst/>
            <a:cxnLst/>
            <a:rect l="l" t="t" r="r" b="b"/>
            <a:pathLst>
              <a:path w="7940040" h="4790440">
                <a:moveTo>
                  <a:pt x="0" y="4789932"/>
                </a:moveTo>
                <a:lnTo>
                  <a:pt x="7940040" y="4789932"/>
                </a:lnTo>
                <a:lnTo>
                  <a:pt x="7940040" y="0"/>
                </a:lnTo>
                <a:lnTo>
                  <a:pt x="0" y="0"/>
                </a:lnTo>
                <a:lnTo>
                  <a:pt x="0" y="4789932"/>
                </a:lnTo>
                <a:close/>
              </a:path>
            </a:pathLst>
          </a:custGeom>
          <a:ln w="9144">
            <a:solidFill>
              <a:srgbClr val="A40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685546"/>
            <a:ext cx="7999095" cy="5007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Positionnement</a:t>
            </a:r>
            <a:r>
              <a:rPr sz="2400" spc="-3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du</a:t>
            </a:r>
            <a:r>
              <a:rPr sz="24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problème</a:t>
            </a:r>
            <a:endParaRPr sz="2400">
              <a:latin typeface="Tahoma"/>
              <a:cs typeface="Tahoma"/>
            </a:endParaRPr>
          </a:p>
          <a:p>
            <a:pPr marL="225425" marR="8255" algn="just">
              <a:lnSpc>
                <a:spcPct val="100000"/>
              </a:lnSpc>
              <a:spcBef>
                <a:spcPts val="2020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Supposons que nous souhaitons </a:t>
            </a:r>
            <a:r>
              <a:rPr sz="2200" spc="-35" dirty="0">
                <a:solidFill>
                  <a:srgbClr val="40458B"/>
                </a:solidFill>
                <a:latin typeface="Tahoma"/>
                <a:cs typeface="Tahoma"/>
              </a:rPr>
              <a:t>déterminer,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partir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20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notes d'élèves (fournies en données), combien d'entre elles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sont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supérieures</a:t>
            </a:r>
            <a:r>
              <a:rPr sz="2200" spc="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la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moyenne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classe.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225425" marR="8255" algn="just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S'il</a:t>
            </a:r>
            <a:r>
              <a:rPr sz="2200" spc="5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ne</a:t>
            </a:r>
            <a:r>
              <a:rPr sz="2200" spc="49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s'agissait</a:t>
            </a:r>
            <a:r>
              <a:rPr sz="2200" spc="50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que</a:t>
            </a:r>
            <a:r>
              <a:rPr sz="2200" spc="50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0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calculer</a:t>
            </a:r>
            <a:r>
              <a:rPr sz="2200" spc="5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spc="5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moyenne</a:t>
            </a:r>
            <a:r>
              <a:rPr sz="2200" spc="5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0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ces</a:t>
            </a:r>
            <a:r>
              <a:rPr sz="2200" spc="5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notes, </a:t>
            </a:r>
            <a:r>
              <a:rPr sz="2200" spc="-6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nous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ayons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calculé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la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somme,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en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cumulant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variable,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au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fur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mesure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leur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lecture.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225425" marR="5080" algn="just">
              <a:lnSpc>
                <a:spcPct val="100000"/>
              </a:lnSpc>
            </a:pP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Mais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il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faudrait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nouveau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consulter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notes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déterminer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combien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d'entre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elles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sont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supérieures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moyenne.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Il est donc nécessaire 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de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mémoriser ces 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notes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.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Il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ne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serait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pas raisonnable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d'utiliser 20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différentes.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offre</a:t>
            </a:r>
            <a:r>
              <a:rPr sz="22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solution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problème.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717550"/>
            <a:ext cx="1308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Définition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2960" y="1277111"/>
            <a:ext cx="7940040" cy="1415415"/>
          </a:xfrm>
          <a:prstGeom prst="rect">
            <a:avLst/>
          </a:prstGeom>
          <a:ln w="9144">
            <a:solidFill>
              <a:srgbClr val="A4002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 marR="82550" algn="just">
              <a:lnSpc>
                <a:spcPct val="100000"/>
              </a:lnSpc>
              <a:spcBef>
                <a:spcPts val="340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 une structure linéaire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données constituée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nombre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fini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d'éléments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même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type.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possède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 identificateur et chaque élément du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repéré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précisant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sa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position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au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sein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du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tableau.</a:t>
            </a:r>
            <a:endParaRPr sz="22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86027" y="3424428"/>
          <a:ext cx="53340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304800"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5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[1]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5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[2]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5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[3]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…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6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[20]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990600" y="3429000"/>
            <a:ext cx="5334000" cy="304800"/>
          </a:xfrm>
          <a:custGeom>
            <a:avLst/>
            <a:gdLst/>
            <a:ahLst/>
            <a:cxnLst/>
            <a:rect l="l" t="t" r="r" b="b"/>
            <a:pathLst>
              <a:path w="5334000" h="304800">
                <a:moveTo>
                  <a:pt x="5334000" y="0"/>
                </a:moveTo>
                <a:lnTo>
                  <a:pt x="5334000" y="0"/>
                </a:lnTo>
                <a:lnTo>
                  <a:pt x="0" y="0"/>
                </a:lnTo>
                <a:lnTo>
                  <a:pt x="0" y="304800"/>
                </a:lnTo>
                <a:lnTo>
                  <a:pt x="5334000" y="304800"/>
                </a:lnTo>
                <a:lnTo>
                  <a:pt x="533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18589" y="3766184"/>
            <a:ext cx="1778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1118" y="3766184"/>
            <a:ext cx="1778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9060" y="3766184"/>
            <a:ext cx="1778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3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81310" y="3766184"/>
            <a:ext cx="194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..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22693" y="3766184"/>
            <a:ext cx="330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8690" y="4509261"/>
            <a:ext cx="7391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5509" y="4115561"/>
            <a:ext cx="316865" cy="465455"/>
          </a:xfrm>
          <a:custGeom>
            <a:avLst/>
            <a:gdLst/>
            <a:ahLst/>
            <a:cxnLst/>
            <a:rect l="l" t="t" r="r" b="b"/>
            <a:pathLst>
              <a:path w="316865" h="465454">
                <a:moveTo>
                  <a:pt x="256631" y="64232"/>
                </a:moveTo>
                <a:lnTo>
                  <a:pt x="0" y="449199"/>
                </a:lnTo>
                <a:lnTo>
                  <a:pt x="24104" y="465200"/>
                </a:lnTo>
                <a:lnTo>
                  <a:pt x="280765" y="80350"/>
                </a:lnTo>
                <a:lnTo>
                  <a:pt x="256631" y="64232"/>
                </a:lnTo>
                <a:close/>
              </a:path>
              <a:path w="316865" h="465454">
                <a:moveTo>
                  <a:pt x="310319" y="52196"/>
                </a:moveTo>
                <a:lnTo>
                  <a:pt x="264655" y="52196"/>
                </a:lnTo>
                <a:lnTo>
                  <a:pt x="288785" y="68325"/>
                </a:lnTo>
                <a:lnTo>
                  <a:pt x="280765" y="80350"/>
                </a:lnTo>
                <a:lnTo>
                  <a:pt x="304787" y="96393"/>
                </a:lnTo>
                <a:lnTo>
                  <a:pt x="310319" y="52196"/>
                </a:lnTo>
                <a:close/>
              </a:path>
              <a:path w="316865" h="465454">
                <a:moveTo>
                  <a:pt x="264655" y="52196"/>
                </a:moveTo>
                <a:lnTo>
                  <a:pt x="256631" y="64232"/>
                </a:lnTo>
                <a:lnTo>
                  <a:pt x="280765" y="80350"/>
                </a:lnTo>
                <a:lnTo>
                  <a:pt x="288785" y="68325"/>
                </a:lnTo>
                <a:lnTo>
                  <a:pt x="264655" y="52196"/>
                </a:lnTo>
                <a:close/>
              </a:path>
              <a:path w="316865" h="465454">
                <a:moveTo>
                  <a:pt x="316852" y="0"/>
                </a:moveTo>
                <a:lnTo>
                  <a:pt x="232524" y="48132"/>
                </a:lnTo>
                <a:lnTo>
                  <a:pt x="256631" y="64232"/>
                </a:lnTo>
                <a:lnTo>
                  <a:pt x="264655" y="52196"/>
                </a:lnTo>
                <a:lnTo>
                  <a:pt x="310319" y="52196"/>
                </a:lnTo>
                <a:lnTo>
                  <a:pt x="316852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7595" y="2908807"/>
            <a:ext cx="17595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A40020"/>
                </a:solidFill>
                <a:latin typeface="Tahoma"/>
                <a:cs typeface="Tahoma"/>
              </a:rPr>
              <a:t>Tableau</a:t>
            </a:r>
            <a:r>
              <a:rPr sz="2200" spc="-5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Notes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86027" y="1748027"/>
          <a:ext cx="53340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304800">
                <a:tc>
                  <a:txBody>
                    <a:bodyPr/>
                    <a:lstStyle/>
                    <a:p>
                      <a:pPr marL="111760">
                        <a:lnSpc>
                          <a:spcPts val="2039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5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[1]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2039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5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[2]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2039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5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[3]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39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…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2039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Note</a:t>
                      </a:r>
                      <a:r>
                        <a:rPr sz="1800" spc="-6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[20]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0458B"/>
                      </a:solidFill>
                      <a:prstDash val="solid"/>
                    </a:lnL>
                    <a:lnR w="9525">
                      <a:solidFill>
                        <a:srgbClr val="40458B"/>
                      </a:solidFill>
                      <a:prstDash val="solid"/>
                    </a:lnR>
                    <a:lnT w="9525">
                      <a:solidFill>
                        <a:srgbClr val="40458B"/>
                      </a:solidFill>
                      <a:prstDash val="solid"/>
                    </a:lnT>
                    <a:lnB w="952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990600" y="1772411"/>
            <a:ext cx="5334000" cy="304800"/>
            <a:chOff x="990600" y="1772411"/>
            <a:chExt cx="5334000" cy="304800"/>
          </a:xfrm>
        </p:grpSpPr>
        <p:sp>
          <p:nvSpPr>
            <p:cNvPr id="5" name="object 5"/>
            <p:cNvSpPr/>
            <p:nvPr/>
          </p:nvSpPr>
          <p:spPr>
            <a:xfrm>
              <a:off x="990600" y="1772411"/>
              <a:ext cx="1066800" cy="304800"/>
            </a:xfrm>
            <a:custGeom>
              <a:avLst/>
              <a:gdLst/>
              <a:ahLst/>
              <a:cxnLst/>
              <a:rect l="l" t="t" r="r" b="b"/>
              <a:pathLst>
                <a:path w="1066800" h="304800">
                  <a:moveTo>
                    <a:pt x="106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066800" y="3048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400" y="1772411"/>
              <a:ext cx="4267200" cy="304800"/>
            </a:xfrm>
            <a:custGeom>
              <a:avLst/>
              <a:gdLst/>
              <a:ahLst/>
              <a:cxnLst/>
              <a:rect l="l" t="t" r="r" b="b"/>
              <a:pathLst>
                <a:path w="4267200" h="304800">
                  <a:moveTo>
                    <a:pt x="4267200" y="0"/>
                  </a:moveTo>
                  <a:lnTo>
                    <a:pt x="3200400" y="0"/>
                  </a:lnTo>
                  <a:lnTo>
                    <a:pt x="2133600" y="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066800" y="304800"/>
                  </a:lnTo>
                  <a:lnTo>
                    <a:pt x="2133600" y="304800"/>
                  </a:lnTo>
                  <a:lnTo>
                    <a:pt x="3200400" y="304800"/>
                  </a:lnTo>
                  <a:lnTo>
                    <a:pt x="4267200" y="304800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55509" y="2458973"/>
            <a:ext cx="316865" cy="465455"/>
          </a:xfrm>
          <a:custGeom>
            <a:avLst/>
            <a:gdLst/>
            <a:ahLst/>
            <a:cxnLst/>
            <a:rect l="l" t="t" r="r" b="b"/>
            <a:pathLst>
              <a:path w="316865" h="465455">
                <a:moveTo>
                  <a:pt x="256631" y="64232"/>
                </a:moveTo>
                <a:lnTo>
                  <a:pt x="0" y="449199"/>
                </a:lnTo>
                <a:lnTo>
                  <a:pt x="24104" y="465200"/>
                </a:lnTo>
                <a:lnTo>
                  <a:pt x="280765" y="80350"/>
                </a:lnTo>
                <a:lnTo>
                  <a:pt x="256631" y="64232"/>
                </a:lnTo>
                <a:close/>
              </a:path>
              <a:path w="316865" h="465455">
                <a:moveTo>
                  <a:pt x="310319" y="52197"/>
                </a:moveTo>
                <a:lnTo>
                  <a:pt x="264655" y="52197"/>
                </a:lnTo>
                <a:lnTo>
                  <a:pt x="288785" y="68325"/>
                </a:lnTo>
                <a:lnTo>
                  <a:pt x="280765" y="80350"/>
                </a:lnTo>
                <a:lnTo>
                  <a:pt x="304787" y="96392"/>
                </a:lnTo>
                <a:lnTo>
                  <a:pt x="310319" y="52197"/>
                </a:lnTo>
                <a:close/>
              </a:path>
              <a:path w="316865" h="465455">
                <a:moveTo>
                  <a:pt x="264655" y="52197"/>
                </a:moveTo>
                <a:lnTo>
                  <a:pt x="256631" y="64232"/>
                </a:lnTo>
                <a:lnTo>
                  <a:pt x="280765" y="80350"/>
                </a:lnTo>
                <a:lnTo>
                  <a:pt x="288785" y="68325"/>
                </a:lnTo>
                <a:lnTo>
                  <a:pt x="264655" y="52197"/>
                </a:lnTo>
                <a:close/>
              </a:path>
              <a:path w="316865" h="465455">
                <a:moveTo>
                  <a:pt x="316852" y="0"/>
                </a:moveTo>
                <a:lnTo>
                  <a:pt x="232524" y="48133"/>
                </a:lnTo>
                <a:lnTo>
                  <a:pt x="256631" y="64232"/>
                </a:lnTo>
                <a:lnTo>
                  <a:pt x="264655" y="52197"/>
                </a:lnTo>
                <a:lnTo>
                  <a:pt x="310319" y="52197"/>
                </a:lnTo>
                <a:lnTo>
                  <a:pt x="316852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8340" y="534337"/>
            <a:ext cx="7578725" cy="394842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Définition</a:t>
            </a:r>
            <a:endParaRPr sz="2400">
              <a:latin typeface="Tahoma"/>
              <a:cs typeface="Tahoma"/>
            </a:endParaRPr>
          </a:p>
          <a:p>
            <a:pPr marL="301625">
              <a:lnSpc>
                <a:spcPct val="100000"/>
              </a:lnSpc>
              <a:spcBef>
                <a:spcPts val="1315"/>
              </a:spcBef>
            </a:pPr>
            <a:r>
              <a:rPr sz="2200" spc="-40" dirty="0">
                <a:solidFill>
                  <a:srgbClr val="A40020"/>
                </a:solidFill>
                <a:latin typeface="Tahoma"/>
                <a:cs typeface="Tahoma"/>
              </a:rPr>
              <a:t>Tableau</a:t>
            </a:r>
            <a:r>
              <a:rPr sz="2200" spc="-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Notes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Tahoma"/>
              <a:cs typeface="Tahoma"/>
            </a:endParaRPr>
          </a:p>
          <a:p>
            <a:pPr marL="742950">
              <a:lnSpc>
                <a:spcPct val="100000"/>
              </a:lnSpc>
              <a:tabLst>
                <a:tab pos="1854835" algn="l"/>
                <a:tab pos="2793365" algn="l"/>
                <a:tab pos="3905250" algn="l"/>
                <a:tab pos="4946650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	2	3	..	20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Tahoma"/>
              <a:cs typeface="Tahoma"/>
            </a:endParaRPr>
          </a:p>
          <a:p>
            <a:pPr marL="7302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365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peut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être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expression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arithmétique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exemple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NOTE[i+2],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NOTE[2*i+j]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notera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élément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 du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la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manière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suivante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T[i]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662940" y="4388611"/>
            <a:ext cx="5257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700" baseline="-1697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sz="1200" dirty="0">
                <a:solidFill>
                  <a:srgbClr val="40458B"/>
                </a:solidFill>
                <a:latin typeface="Tahoma"/>
                <a:cs typeface="Tahoma"/>
              </a:rPr>
              <a:t>er </a:t>
            </a:r>
            <a:r>
              <a:rPr sz="1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700" baseline="-16975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r>
              <a:rPr sz="12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200" spc="5" dirty="0">
                <a:solidFill>
                  <a:srgbClr val="40458B"/>
                </a:solidFill>
                <a:latin typeface="Tahoma"/>
                <a:cs typeface="Tahoma"/>
              </a:rPr>
              <a:t>è</a:t>
            </a:r>
            <a:r>
              <a:rPr sz="1200" dirty="0">
                <a:solidFill>
                  <a:srgbClr val="40458B"/>
                </a:solidFill>
                <a:latin typeface="Tahoma"/>
                <a:cs typeface="Tahoma"/>
              </a:rPr>
              <a:t>me  </a:t>
            </a:r>
            <a:r>
              <a:rPr sz="2700" baseline="-16975" dirty="0">
                <a:solidFill>
                  <a:srgbClr val="40458B"/>
                </a:solidFill>
                <a:latin typeface="Tahoma"/>
                <a:cs typeface="Tahoma"/>
              </a:rPr>
              <a:t>3</a:t>
            </a:r>
            <a:r>
              <a:rPr sz="12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200" spc="5" dirty="0">
                <a:solidFill>
                  <a:srgbClr val="40458B"/>
                </a:solidFill>
                <a:latin typeface="Tahoma"/>
                <a:cs typeface="Tahoma"/>
              </a:rPr>
              <a:t>è</a:t>
            </a:r>
            <a:r>
              <a:rPr sz="1200" dirty="0">
                <a:solidFill>
                  <a:srgbClr val="40458B"/>
                </a:solidFill>
                <a:latin typeface="Tahoma"/>
                <a:cs typeface="Tahoma"/>
              </a:rPr>
              <a:t>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4132" y="4457192"/>
            <a:ext cx="197103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élément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 T[1] 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élément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T[2] 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élément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T[3]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etc.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340" y="5554776"/>
            <a:ext cx="815085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Un élément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du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assimilable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une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variable 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et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prend,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un instant 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donné,</a:t>
            </a:r>
            <a:r>
              <a:rPr sz="1800" spc="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valeur</a:t>
            </a:r>
            <a:r>
              <a:rPr sz="1800" spc="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1800" spc="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seule.</a:t>
            </a:r>
            <a:r>
              <a:rPr sz="1800" spc="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même,</a:t>
            </a:r>
            <a:r>
              <a:rPr sz="1800" spc="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il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l'objet</a:t>
            </a:r>
            <a:r>
              <a:rPr sz="1800" spc="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d'une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affectation, </a:t>
            </a:r>
            <a:r>
              <a:rPr sz="1800" spc="-5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il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figurer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expression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ou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dans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action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lecture et écriture.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17615"/>
            <a:ext cx="6884670" cy="52774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Exemple</a:t>
            </a:r>
            <a:r>
              <a:rPr sz="2400" spc="-5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  <a:spcBef>
                <a:spcPts val="71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Soit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ayant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éléments</a:t>
            </a:r>
            <a:r>
              <a:rPr sz="2200" spc="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entiers.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Calculer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endParaRPr sz="22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ses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éléments.</a:t>
            </a:r>
            <a:endParaRPr sz="2200">
              <a:latin typeface="Tahoma"/>
              <a:cs typeface="Tahoma"/>
            </a:endParaRPr>
          </a:p>
          <a:p>
            <a:pPr marL="165100" marR="5862955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… 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D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é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but</a:t>
            </a:r>
            <a:endParaRPr sz="2200">
              <a:latin typeface="Tahoma"/>
              <a:cs typeface="Tahoma"/>
            </a:endParaRPr>
          </a:p>
          <a:p>
            <a:pPr marL="427355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2200" spc="-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(N)</a:t>
            </a:r>
            <a:endParaRPr sz="2200">
              <a:latin typeface="Tahoma"/>
              <a:cs typeface="Tahoma"/>
            </a:endParaRPr>
          </a:p>
          <a:p>
            <a:pPr marL="427355">
              <a:lnSpc>
                <a:spcPct val="100000"/>
              </a:lnSpc>
              <a:tabLst>
                <a:tab pos="1315085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	de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 à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2200">
              <a:latin typeface="Tahoma"/>
              <a:cs typeface="Tahoma"/>
            </a:endParaRPr>
          </a:p>
          <a:p>
            <a:pPr marL="427355" marR="5373370" indent="173355">
              <a:lnSpc>
                <a:spcPct val="99800"/>
              </a:lnSpc>
              <a:spcBef>
                <a:spcPts val="5"/>
              </a:spcBef>
              <a:tabLst>
                <a:tab pos="1120775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2200" spc="-8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T[i]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fin pour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 </a:t>
            </a:r>
            <a:r>
              <a:rPr sz="22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200" spc="-5" dirty="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endParaRPr sz="2200">
              <a:latin typeface="Tahoma"/>
              <a:cs typeface="Tahoma"/>
            </a:endParaRPr>
          </a:p>
          <a:p>
            <a:pPr marL="427355">
              <a:lnSpc>
                <a:spcPts val="2635"/>
              </a:lnSpc>
              <a:spcBef>
                <a:spcPts val="1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 de 1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N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2200">
              <a:latin typeface="Tahoma"/>
              <a:cs typeface="Tahoma"/>
            </a:endParaRPr>
          </a:p>
          <a:p>
            <a:pPr marL="600710">
              <a:lnSpc>
                <a:spcPts val="2635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200" spc="12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T[i]</a:t>
            </a:r>
            <a:endParaRPr sz="2200">
              <a:latin typeface="Tahoma"/>
              <a:cs typeface="Tahoma"/>
            </a:endParaRPr>
          </a:p>
          <a:p>
            <a:pPr marL="427355" marR="5307965">
              <a:lnSpc>
                <a:spcPct val="100000"/>
              </a:lnSpc>
              <a:spcBef>
                <a:spcPts val="10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fin pour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2200" spc="-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(S)</a:t>
            </a:r>
            <a:endParaRPr sz="22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</a:pP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17615"/>
            <a:ext cx="7997190" cy="56127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Exemple</a:t>
            </a:r>
            <a:r>
              <a:rPr sz="2400" spc="-5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715"/>
              </a:spcBef>
              <a:tabLst>
                <a:tab pos="866140" algn="l"/>
                <a:tab pos="1336675" algn="l"/>
                <a:tab pos="2404110" algn="l"/>
                <a:tab pos="2997200" algn="l"/>
                <a:tab pos="3830954" algn="l"/>
                <a:tab pos="4207510" algn="l"/>
                <a:tab pos="5481955" algn="l"/>
                <a:tab pos="6558915" algn="l"/>
                <a:tab pos="7769225" algn="l"/>
              </a:tabLst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So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l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ea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245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ab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200" spc="-45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m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ent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er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s.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mp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endParaRPr sz="2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nombre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d'éléments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nuls.</a:t>
            </a:r>
            <a:endParaRPr sz="2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2200">
              <a:latin typeface="Tahoma"/>
              <a:cs typeface="Tahoma"/>
            </a:endParaRPr>
          </a:p>
          <a:p>
            <a:pPr marL="416559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22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(M)</a:t>
            </a:r>
            <a:endParaRPr sz="2200">
              <a:latin typeface="Tahoma"/>
              <a:cs typeface="Tahoma"/>
            </a:endParaRPr>
          </a:p>
          <a:p>
            <a:pPr marL="416559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 i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2200">
              <a:latin typeface="Tahoma"/>
              <a:cs typeface="Tahoma"/>
            </a:endParaRPr>
          </a:p>
          <a:p>
            <a:pPr marL="590550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22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30" dirty="0">
                <a:solidFill>
                  <a:srgbClr val="40458B"/>
                </a:solidFill>
                <a:latin typeface="Tahoma"/>
                <a:cs typeface="Tahoma"/>
              </a:rPr>
              <a:t>(Tab[i])</a:t>
            </a:r>
            <a:endParaRPr sz="2200">
              <a:latin typeface="Tahoma"/>
              <a:cs typeface="Tahoma"/>
            </a:endParaRPr>
          </a:p>
          <a:p>
            <a:pPr marL="416559" marR="6616065">
              <a:lnSpc>
                <a:spcPts val="263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2200" spc="-1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NB</a:t>
            </a:r>
            <a:r>
              <a:rPr sz="22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200" spc="10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endParaRPr sz="2200">
              <a:latin typeface="Tahoma"/>
              <a:cs typeface="Tahoma"/>
            </a:endParaRPr>
          </a:p>
          <a:p>
            <a:pPr marR="4648835" algn="ctr">
              <a:lnSpc>
                <a:spcPts val="2565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 i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2200">
              <a:latin typeface="Tahoma"/>
              <a:cs typeface="Tahoma"/>
            </a:endParaRPr>
          </a:p>
          <a:p>
            <a:pPr marR="4587240" algn="ctr">
              <a:lnSpc>
                <a:spcPts val="2635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45" dirty="0">
                <a:solidFill>
                  <a:srgbClr val="40458B"/>
                </a:solidFill>
                <a:latin typeface="Tahoma"/>
                <a:cs typeface="Tahoma"/>
              </a:rPr>
              <a:t>Tab[i]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=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2200">
              <a:latin typeface="Tahoma"/>
              <a:cs typeface="Tahoma"/>
            </a:endParaRPr>
          </a:p>
          <a:p>
            <a:pPr marL="765810">
              <a:lnSpc>
                <a:spcPts val="2635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NB</a:t>
            </a:r>
            <a:r>
              <a:rPr sz="22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200" spc="13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NB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  <a:p>
            <a:pPr marL="416559" marR="6616065" indent="173355">
              <a:lnSpc>
                <a:spcPct val="100000"/>
              </a:lnSpc>
              <a:spcBef>
                <a:spcPts val="1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fin si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2200" spc="-1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2200">
              <a:latin typeface="Tahoma"/>
              <a:cs typeface="Tahoma"/>
            </a:endParaRPr>
          </a:p>
          <a:p>
            <a:pPr marL="416559">
              <a:lnSpc>
                <a:spcPct val="100000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22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(NB)</a:t>
            </a:r>
            <a:endParaRPr sz="2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717550"/>
            <a:ext cx="7997190" cy="577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Déclaration</a:t>
            </a:r>
            <a:endParaRPr sz="2400">
              <a:latin typeface="Tahoma"/>
              <a:cs typeface="Tahoma"/>
            </a:endParaRPr>
          </a:p>
          <a:p>
            <a:pPr marL="241300" marR="6350" algn="just">
              <a:lnSpc>
                <a:spcPct val="100000"/>
              </a:lnSpc>
              <a:spcBef>
                <a:spcPts val="114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tous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les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langages,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le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30" dirty="0">
                <a:solidFill>
                  <a:srgbClr val="40458B"/>
                </a:solidFill>
                <a:latin typeface="Tahoma"/>
                <a:cs typeface="Tahoma"/>
              </a:rPr>
              <a:t>Traducteur</a:t>
            </a:r>
            <a:r>
              <a:rPr sz="22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(compilateur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ou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interpréteur)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doit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nécessairement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connaître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nombre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d'éléments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d'un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(sa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taille).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241300" marR="5080" indent="86360" algn="just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Cette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information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lui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permet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réserver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l'emplacement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mémoire correspondant. De même, comme pour une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variable,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il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faut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préciser quel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type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d'un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et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donc,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type de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tous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ses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éléments.</a:t>
            </a:r>
            <a:endParaRPr sz="2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solidFill>
                  <a:srgbClr val="A40020"/>
                </a:solidFill>
                <a:latin typeface="Tahoma"/>
                <a:cs typeface="Tahoma"/>
              </a:rPr>
              <a:t>Syntaxe</a:t>
            </a:r>
            <a:endParaRPr sz="2200">
              <a:latin typeface="Tahoma"/>
              <a:cs typeface="Tahoma"/>
            </a:endParaRPr>
          </a:p>
          <a:p>
            <a:pPr marL="241300" marR="8255">
              <a:lnSpc>
                <a:spcPct val="100000"/>
              </a:lnSpc>
              <a:tabLst>
                <a:tab pos="1015365" algn="l"/>
                <a:tab pos="1745614" algn="l"/>
                <a:tab pos="3405504" algn="l"/>
                <a:tab pos="7639684" algn="l"/>
              </a:tabLst>
            </a:pP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T	(	ta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b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leau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[indi</a:t>
            </a:r>
            <a:r>
              <a:rPr sz="2200" b="1" spc="10" dirty="0">
                <a:solidFill>
                  <a:srgbClr val="40458B"/>
                </a:solidFill>
                <a:latin typeface="Tahoma"/>
                <a:cs typeface="Tahoma"/>
              </a:rPr>
              <a:t>c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nit</a:t>
            </a:r>
            <a:r>
              <a:rPr sz="2200" b="1" spc="-15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200" b="1" spc="5" dirty="0">
                <a:solidFill>
                  <a:srgbClr val="40458B"/>
                </a:solidFill>
                <a:latin typeface="Tahoma"/>
                <a:cs typeface="Tahoma"/>
              </a:rPr>
              <a:t>l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in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dice</a:t>
            </a:r>
            <a:r>
              <a:rPr sz="2200" b="1" spc="5" dirty="0">
                <a:solidFill>
                  <a:srgbClr val="40458B"/>
                </a:solidFill>
                <a:latin typeface="Tahoma"/>
                <a:cs typeface="Tahoma"/>
              </a:rPr>
              <a:t>F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inal]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de 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type_element)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indiceInitial</a:t>
            </a:r>
            <a:r>
              <a:rPr sz="2200" b="1" spc="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toujours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inférieure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indiceFinal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ahoma"/>
              <a:cs typeface="Tahoma"/>
            </a:endParaRPr>
          </a:p>
          <a:p>
            <a:pPr marL="241300" marR="5080">
              <a:lnSpc>
                <a:spcPct val="100000"/>
              </a:lnSpc>
              <a:tabLst>
                <a:tab pos="1835150" algn="l"/>
                <a:tab pos="2382520" algn="l"/>
                <a:tab pos="2411730" algn="l"/>
                <a:tab pos="2684780" algn="l"/>
                <a:tab pos="2997200" algn="l"/>
                <a:tab pos="3196590" algn="l"/>
                <a:tab pos="3675379" algn="l"/>
                <a:tab pos="4486275" algn="l"/>
                <a:tab pos="4684395" algn="l"/>
                <a:tab pos="5184140" algn="l"/>
                <a:tab pos="5373370" algn="l"/>
                <a:tab pos="6264910" algn="l"/>
                <a:tab pos="6320155" algn="l"/>
                <a:tab pos="6767830" algn="l"/>
                <a:tab pos="6965950" algn="l"/>
              </a:tabLst>
            </a:pP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Typ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_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200" b="1" spc="10" dirty="0">
                <a:solidFill>
                  <a:srgbClr val="40458B"/>
                </a:solidFill>
                <a:latin typeface="Tahoma"/>
                <a:cs typeface="Tahoma"/>
              </a:rPr>
              <a:t>m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ent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	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l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ém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nts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au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ont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ou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j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urs 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ca</a:t>
            </a:r>
            <a:r>
              <a:rPr sz="2200" spc="-5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éri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leur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(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tie</a:t>
            </a:r>
            <a:r>
              <a:rPr sz="2200" spc="-31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é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el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chaîne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ca</a:t>
            </a:r>
            <a:r>
              <a:rPr sz="2200" spc="-5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actè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e,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6464300"/>
            <a:ext cx="6534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0" dirty="0">
                <a:solidFill>
                  <a:srgbClr val="40458B"/>
                </a:solidFill>
                <a:latin typeface="Tahoma"/>
                <a:cs typeface="Tahoma"/>
              </a:rPr>
              <a:t>etc..)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717550"/>
            <a:ext cx="7895590" cy="56203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6359525" indent="-229235">
              <a:lnSpc>
                <a:spcPct val="90000"/>
              </a:lnSpc>
              <a:spcBef>
                <a:spcPts val="385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Déclarati</a:t>
            </a:r>
            <a:r>
              <a:rPr sz="2400" spc="5" dirty="0">
                <a:solidFill>
                  <a:srgbClr val="660066"/>
                </a:solidFill>
                <a:latin typeface="Tahoma"/>
                <a:cs typeface="Tahoma"/>
              </a:rPr>
              <a:t>o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n 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Exemple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2000">
              <a:latin typeface="Tahoma"/>
              <a:cs typeface="Tahoma"/>
            </a:endParaRPr>
          </a:p>
          <a:p>
            <a:pPr marL="396875">
              <a:lnSpc>
                <a:spcPct val="100000"/>
              </a:lnSpc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i,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j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(entier)</a:t>
            </a:r>
            <a:endParaRPr sz="2000">
              <a:latin typeface="Tahoma"/>
              <a:cs typeface="Tahoma"/>
            </a:endParaRPr>
          </a:p>
          <a:p>
            <a:pPr marL="396875" marR="3994785">
              <a:lnSpc>
                <a:spcPct val="100000"/>
              </a:lnSpc>
              <a:tabLst>
                <a:tab pos="92075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T1	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(Tableau</a:t>
            </a:r>
            <a:r>
              <a:rPr sz="20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[1..10]</a:t>
            </a:r>
            <a:r>
              <a:rPr sz="20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entier)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T2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(Tableau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[0..10]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réel)</a:t>
            </a:r>
            <a:endParaRPr sz="20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  <a:spcBef>
                <a:spcPts val="395"/>
              </a:spcBef>
            </a:pPr>
            <a:r>
              <a:rPr sz="2200" spc="-15" dirty="0">
                <a:solidFill>
                  <a:srgbClr val="A40020"/>
                </a:solidFill>
                <a:latin typeface="Tahoma"/>
                <a:cs typeface="Tahoma"/>
              </a:rPr>
              <a:t>Remarques:</a:t>
            </a:r>
            <a:endParaRPr sz="2200">
              <a:latin typeface="Tahoma"/>
              <a:cs typeface="Tahoma"/>
            </a:endParaRPr>
          </a:p>
          <a:p>
            <a:pPr marL="281305" indent="-116839">
              <a:lnSpc>
                <a:spcPct val="100000"/>
              </a:lnSpc>
              <a:spcBef>
                <a:spcPts val="10"/>
              </a:spcBef>
              <a:buSzPct val="95000"/>
              <a:buChar char="•"/>
              <a:tabLst>
                <a:tab pos="28194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T1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comporte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10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cases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pouvant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contenir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des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entiers,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endParaRPr sz="20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indices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ces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cases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varient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1 à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10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ahoma"/>
              <a:cs typeface="Tahoma"/>
            </a:endParaRPr>
          </a:p>
          <a:p>
            <a:pPr marL="281305" indent="-116839">
              <a:lnSpc>
                <a:spcPct val="100000"/>
              </a:lnSpc>
              <a:buSzPct val="95000"/>
              <a:buChar char="•"/>
              <a:tabLst>
                <a:tab pos="28194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T2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comporte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11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cases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pouvant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contenir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des réels,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endParaRPr sz="20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indices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ces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cases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varient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à 10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ahoma"/>
              <a:cs typeface="Tahoma"/>
            </a:endParaRPr>
          </a:p>
          <a:p>
            <a:pPr marL="165100" marR="1186815">
              <a:lnSpc>
                <a:spcPct val="100000"/>
              </a:lnSpc>
              <a:buSzPct val="95000"/>
              <a:buChar char="•"/>
              <a:tabLst>
                <a:tab pos="28194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taille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du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tableau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ne peut pas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changer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dans le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corps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l'algorithme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40458B"/>
              </a:buClr>
              <a:buFont typeface="Tahoma"/>
              <a:buChar char="•"/>
            </a:pPr>
            <a:endParaRPr sz="1950">
              <a:latin typeface="Tahoma"/>
              <a:cs typeface="Tahoma"/>
            </a:endParaRPr>
          </a:p>
          <a:p>
            <a:pPr marL="281305" indent="-116839">
              <a:lnSpc>
                <a:spcPct val="100000"/>
              </a:lnSpc>
              <a:buSzPct val="95000"/>
              <a:buChar char="•"/>
              <a:tabLst>
                <a:tab pos="28194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nombre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d'éléments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vont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être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placés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endParaRPr sz="2000">
              <a:latin typeface="Tahoma"/>
              <a:cs typeface="Tahoma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déterminé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l'utilisateur,</a:t>
            </a:r>
            <a:r>
              <a:rPr sz="20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il</a:t>
            </a:r>
            <a:r>
              <a:rPr sz="20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faut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prévoir</a:t>
            </a:r>
            <a:r>
              <a:rPr sz="20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taille</a:t>
            </a:r>
            <a:r>
              <a:rPr sz="20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assez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grande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044" y="6311900"/>
            <a:ext cx="4074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satisfaire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besoins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l'application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85988" y="6433732"/>
            <a:ext cx="27178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10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617615"/>
            <a:ext cx="6746240" cy="20262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85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Résolution</a:t>
            </a:r>
            <a:r>
              <a:rPr sz="2400" spc="-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d'un problème</a:t>
            </a:r>
            <a:r>
              <a:rPr sz="2400" spc="-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avec</a:t>
            </a:r>
            <a:r>
              <a:rPr sz="2400" spc="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les </a:t>
            </a: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tableaux</a:t>
            </a:r>
            <a:endParaRPr sz="2400">
              <a:latin typeface="Tahoma"/>
              <a:cs typeface="Tahoma"/>
            </a:endParaRPr>
          </a:p>
          <a:p>
            <a:pPr marL="241300" algn="just">
              <a:lnSpc>
                <a:spcPct val="100000"/>
              </a:lnSpc>
              <a:spcBef>
                <a:spcPts val="715"/>
              </a:spcBef>
            </a:pPr>
            <a:r>
              <a:rPr sz="2200" spc="-15" dirty="0">
                <a:solidFill>
                  <a:srgbClr val="A40020"/>
                </a:solidFill>
                <a:latin typeface="Tahoma"/>
                <a:cs typeface="Tahoma"/>
              </a:rPr>
              <a:t>Revenons</a:t>
            </a:r>
            <a:r>
              <a:rPr sz="2200" spc="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à notre</a:t>
            </a:r>
            <a:r>
              <a:rPr sz="22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problème</a:t>
            </a:r>
            <a:r>
              <a:rPr sz="22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initial:</a:t>
            </a:r>
            <a:endParaRPr sz="2200">
              <a:latin typeface="Tahoma"/>
              <a:cs typeface="Tahoma"/>
            </a:endParaRPr>
          </a:p>
          <a:p>
            <a:pPr marL="149225" marR="5080" algn="just">
              <a:lnSpc>
                <a:spcPct val="100000"/>
              </a:lnSpc>
              <a:spcBef>
                <a:spcPts val="815"/>
              </a:spcBef>
            </a:pPr>
            <a:r>
              <a:rPr sz="2200" spc="-35" dirty="0">
                <a:solidFill>
                  <a:srgbClr val="40458B"/>
                </a:solidFill>
                <a:latin typeface="Tahoma"/>
                <a:cs typeface="Tahoma"/>
              </a:rPr>
              <a:t>déterminer,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partir de 20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notes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d'élèves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(fournies en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données),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combien d'entre elles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sont supérieures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la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moyenne</a:t>
            </a:r>
            <a:r>
              <a:rPr sz="22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 la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classe.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461384"/>
            <a:ext cx="7840980" cy="261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Solution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1800" b="1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Statistiques_Moyennes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12700" marR="5536565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(int)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Moyenne_Classe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(réel)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tabLst>
                <a:tab pos="2824480" algn="l"/>
                <a:tab pos="3763645" algn="l"/>
              </a:tabLst>
            </a:pP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Tab_Notes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(Tableau</a:t>
            </a:r>
            <a:r>
              <a:rPr sz="18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[1..20]</a:t>
            </a:r>
            <a:r>
              <a:rPr sz="18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réel)	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//pour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mémoriser</a:t>
            </a:r>
            <a:r>
              <a:rPr sz="18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les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20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notes 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Nb_Notes_Sup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(entier)	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 contiendra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le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nombre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 notes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supérieures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à la </a:t>
            </a:r>
            <a:r>
              <a:rPr sz="1800" spc="-55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moyenne</a:t>
            </a:r>
            <a:r>
              <a:rPr sz="1800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 la</a:t>
            </a:r>
            <a:r>
              <a:rPr sz="18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classe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85988" y="6433732"/>
            <a:ext cx="27178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11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717550"/>
            <a:ext cx="7974330" cy="582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Résolution</a:t>
            </a:r>
            <a:r>
              <a:rPr sz="2400" spc="-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d'un problème</a:t>
            </a:r>
            <a:r>
              <a:rPr sz="2400" spc="-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avec</a:t>
            </a:r>
            <a:r>
              <a:rPr sz="2400" spc="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60066"/>
                </a:solidFill>
                <a:latin typeface="Tahoma"/>
                <a:cs typeface="Tahoma"/>
              </a:rPr>
              <a:t>les </a:t>
            </a:r>
            <a:r>
              <a:rPr sz="2400" spc="-5" dirty="0">
                <a:solidFill>
                  <a:srgbClr val="660066"/>
                </a:solidFill>
                <a:latin typeface="Tahoma"/>
                <a:cs typeface="Tahoma"/>
              </a:rPr>
              <a:t>tableaux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12700" marR="5140960">
              <a:lnSpc>
                <a:spcPts val="2150"/>
              </a:lnSpc>
              <a:spcBef>
                <a:spcPts val="85"/>
              </a:spcBef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 initialisation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des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variables </a:t>
            </a:r>
            <a:r>
              <a:rPr sz="1800" spc="-55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Moyenne_Classe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9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9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Nb_Notes_Sup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8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 marL="12700" marR="2807335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 saisie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des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notes et mémorisation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dans le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tableau </a:t>
            </a:r>
            <a:r>
              <a:rPr sz="1800" spc="-55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 à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L="297815">
              <a:lnSpc>
                <a:spcPct val="100000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Ecrire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("Donner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",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"ème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note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SVP")</a:t>
            </a:r>
            <a:endParaRPr sz="1800">
              <a:latin typeface="Tahoma"/>
              <a:cs typeface="Tahoma"/>
            </a:endParaRPr>
          </a:p>
          <a:p>
            <a:pPr marL="297815" marR="5080">
              <a:lnSpc>
                <a:spcPts val="2150"/>
              </a:lnSpc>
              <a:spcBef>
                <a:spcPts val="80"/>
              </a:spcBef>
              <a:tabLst>
                <a:tab pos="2341880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(Tab_Notes[i])	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la ième note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est mémorisée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dans la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case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i du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tableau </a:t>
            </a:r>
            <a:r>
              <a:rPr sz="1800" spc="-5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Moyenne_Classe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10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Moyenne_Classe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Tab_Notes[i]/20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1800">
              <a:latin typeface="Tahoma"/>
              <a:cs typeface="Tahoma"/>
            </a:endParaRPr>
          </a:p>
          <a:p>
            <a:pPr marL="12700" marR="1222375">
              <a:lnSpc>
                <a:spcPct val="100000"/>
              </a:lnSpc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Calcul du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nombre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notes supérieurs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à la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moyenne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 la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classe </a:t>
            </a:r>
            <a:r>
              <a:rPr sz="1800" spc="-55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1 à 20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L="798830" marR="3314700" indent="-501650">
              <a:lnSpc>
                <a:spcPts val="2150"/>
              </a:lnSpc>
              <a:spcBef>
                <a:spcPts val="85"/>
              </a:spcBef>
              <a:tabLst>
                <a:tab pos="4171950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(</a:t>
            </a:r>
            <a:r>
              <a:rPr sz="1800" spc="-195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ab_Notes[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]</a:t>
            </a:r>
            <a:r>
              <a:rPr sz="18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&gt; M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en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e_Class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)	al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rs  Nb_Notes_Sup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8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Nb_Notes_Sup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 marR="7122795" indent="285115">
              <a:lnSpc>
                <a:spcPts val="2160"/>
              </a:lnSpc>
              <a:spcBef>
                <a:spcPts val="1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 si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1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090"/>
              </a:lnSpc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//</a:t>
            </a:r>
            <a:r>
              <a:rPr sz="1800" spc="-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Affichage</a:t>
            </a:r>
            <a:r>
              <a:rPr sz="1800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du</a:t>
            </a:r>
            <a:r>
              <a:rPr sz="1800" spc="-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résultat</a:t>
            </a: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demandé</a:t>
            </a:r>
            <a:endParaRPr sz="1800">
              <a:latin typeface="Tahoma"/>
              <a:cs typeface="Tahoma"/>
            </a:endParaRPr>
          </a:p>
          <a:p>
            <a:pPr marL="12700" marR="649605">
              <a:lnSpc>
                <a:spcPct val="100000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Ecrire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("Le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nombre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notes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supérieurs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la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moyenne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la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classe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:",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Nb_Notes_Sup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67385"/>
            <a:ext cx="628586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Tableaux</a:t>
            </a:r>
            <a:r>
              <a:rPr spc="-30" dirty="0"/>
              <a:t> </a:t>
            </a:r>
            <a:r>
              <a:rPr dirty="0"/>
              <a:t>unidimensionnels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spc="-5" dirty="0"/>
              <a:t>Résolution</a:t>
            </a:r>
            <a:r>
              <a:rPr sz="2400" spc="-30" dirty="0"/>
              <a:t> </a:t>
            </a:r>
            <a:r>
              <a:rPr sz="2400" dirty="0"/>
              <a:t>d'un problème</a:t>
            </a:r>
            <a:r>
              <a:rPr sz="2400" spc="-30" dirty="0"/>
              <a:t> </a:t>
            </a:r>
            <a:r>
              <a:rPr sz="2400" dirty="0"/>
              <a:t>avec</a:t>
            </a:r>
            <a:r>
              <a:rPr sz="2400" spc="15" dirty="0"/>
              <a:t> </a:t>
            </a:r>
            <a:r>
              <a:rPr sz="2400" dirty="0"/>
              <a:t>les </a:t>
            </a:r>
            <a:r>
              <a:rPr sz="2400" spc="-5" dirty="0"/>
              <a:t>tableaux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8285988" y="6433732"/>
            <a:ext cx="27178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12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>
              <a:lnSpc>
                <a:spcPct val="100000"/>
              </a:lnSpc>
              <a:spcBef>
                <a:spcPts val="100"/>
              </a:spcBef>
              <a:tabLst>
                <a:tab pos="1762760" algn="l"/>
              </a:tabLst>
            </a:pPr>
            <a:r>
              <a:rPr spc="-10" dirty="0">
                <a:solidFill>
                  <a:srgbClr val="A40020"/>
                </a:solidFill>
              </a:rPr>
              <a:t>Remarque</a:t>
            </a:r>
            <a:r>
              <a:rPr spc="10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:	</a:t>
            </a:r>
            <a:r>
              <a:rPr spc="-5" dirty="0"/>
              <a:t>Nous pouvons</a:t>
            </a:r>
            <a:r>
              <a:rPr spc="-25" dirty="0"/>
              <a:t> </a:t>
            </a:r>
            <a:r>
              <a:rPr spc="-5" dirty="0"/>
              <a:t>aussi</a:t>
            </a:r>
            <a:r>
              <a:rPr spc="-15" dirty="0"/>
              <a:t> </a:t>
            </a:r>
            <a:r>
              <a:rPr spc="-5" dirty="0"/>
              <a:t>contrôler</a:t>
            </a:r>
            <a:r>
              <a:rPr spc="10" dirty="0"/>
              <a:t> </a:t>
            </a:r>
            <a:r>
              <a:rPr dirty="0"/>
              <a:t>le </a:t>
            </a:r>
            <a:r>
              <a:rPr spc="-10" dirty="0"/>
              <a:t>fait</a:t>
            </a:r>
            <a:r>
              <a:rPr spc="10" dirty="0"/>
              <a:t> </a:t>
            </a:r>
            <a:r>
              <a:rPr dirty="0"/>
              <a:t>que</a:t>
            </a:r>
            <a:r>
              <a:rPr spc="5" dirty="0"/>
              <a:t> </a:t>
            </a:r>
            <a:r>
              <a:rPr dirty="0"/>
              <a:t>la note </a:t>
            </a:r>
            <a:r>
              <a:rPr spc="-5" dirty="0"/>
              <a:t>soit</a:t>
            </a:r>
            <a:r>
              <a:rPr dirty="0"/>
              <a:t> </a:t>
            </a:r>
            <a:r>
              <a:rPr spc="-5" dirty="0"/>
              <a:t>comprise</a:t>
            </a:r>
            <a:r>
              <a:rPr spc="10" dirty="0"/>
              <a:t> </a:t>
            </a:r>
            <a:r>
              <a:rPr spc="-5" dirty="0"/>
              <a:t>entre </a:t>
            </a:r>
            <a:r>
              <a:rPr dirty="0"/>
              <a:t>1 </a:t>
            </a:r>
            <a:r>
              <a:rPr spc="-550" dirty="0"/>
              <a:t> </a:t>
            </a:r>
            <a:r>
              <a:rPr spc="-5" dirty="0"/>
              <a:t>et</a:t>
            </a:r>
            <a:r>
              <a:rPr spc="-10" dirty="0"/>
              <a:t> </a:t>
            </a:r>
            <a:r>
              <a:rPr dirty="0"/>
              <a:t>20</a:t>
            </a:r>
          </a:p>
          <a:p>
            <a:pPr marL="441325">
              <a:lnSpc>
                <a:spcPct val="100000"/>
              </a:lnSpc>
            </a:pPr>
            <a:r>
              <a:rPr spc="-5" dirty="0">
                <a:solidFill>
                  <a:srgbClr val="A40020"/>
                </a:solidFill>
              </a:rPr>
              <a:t>//</a:t>
            </a:r>
            <a:r>
              <a:rPr spc="-25" dirty="0">
                <a:solidFill>
                  <a:srgbClr val="A40020"/>
                </a:solidFill>
              </a:rPr>
              <a:t> </a:t>
            </a:r>
            <a:r>
              <a:rPr spc="-5" dirty="0">
                <a:solidFill>
                  <a:srgbClr val="A40020"/>
                </a:solidFill>
              </a:rPr>
              <a:t>saisie</a:t>
            </a:r>
            <a:r>
              <a:rPr spc="-10" dirty="0">
                <a:solidFill>
                  <a:srgbClr val="A40020"/>
                </a:solidFill>
              </a:rPr>
              <a:t> avec</a:t>
            </a:r>
            <a:r>
              <a:rPr spc="-30" dirty="0">
                <a:solidFill>
                  <a:srgbClr val="A40020"/>
                </a:solidFill>
              </a:rPr>
              <a:t> </a:t>
            </a:r>
            <a:r>
              <a:rPr spc="-5" dirty="0">
                <a:solidFill>
                  <a:srgbClr val="A40020"/>
                </a:solidFill>
              </a:rPr>
              <a:t>contrôle</a:t>
            </a:r>
          </a:p>
          <a:p>
            <a:pPr marL="441325">
              <a:lnSpc>
                <a:spcPct val="100000"/>
              </a:lnSpc>
            </a:pPr>
            <a:r>
              <a:rPr b="1" spc="-5" dirty="0">
                <a:latin typeface="Tahoma"/>
                <a:cs typeface="Tahoma"/>
              </a:rPr>
              <a:t>Pour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i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de</a:t>
            </a:r>
            <a:r>
              <a:rPr b="1" spc="-1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1</a:t>
            </a:r>
            <a:r>
              <a:rPr b="1" spc="-1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à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20</a:t>
            </a:r>
            <a:r>
              <a:rPr b="1" spc="-5" dirty="0">
                <a:latin typeface="Tahoma"/>
                <a:cs typeface="Tahoma"/>
              </a:rPr>
              <a:t> faire</a:t>
            </a:r>
          </a:p>
          <a:p>
            <a:pPr marL="428625">
              <a:lnSpc>
                <a:spcPct val="100000"/>
              </a:lnSpc>
              <a:spcBef>
                <a:spcPts val="45"/>
              </a:spcBef>
            </a:pPr>
            <a:endParaRPr sz="1750">
              <a:latin typeface="Tahoma"/>
              <a:cs typeface="Tahoma"/>
            </a:endParaRPr>
          </a:p>
          <a:p>
            <a:pPr marL="726440">
              <a:lnSpc>
                <a:spcPct val="100000"/>
              </a:lnSpc>
              <a:spcBef>
                <a:spcPts val="5"/>
              </a:spcBef>
            </a:pPr>
            <a:r>
              <a:rPr b="1" spc="-5" dirty="0">
                <a:latin typeface="Tahoma"/>
                <a:cs typeface="Tahoma"/>
              </a:rPr>
              <a:t>Répéter</a:t>
            </a:r>
          </a:p>
          <a:p>
            <a:pPr marL="1012825">
              <a:lnSpc>
                <a:spcPct val="100000"/>
              </a:lnSpc>
            </a:pPr>
            <a:r>
              <a:rPr spc="-10" dirty="0"/>
              <a:t>Écrire</a:t>
            </a:r>
            <a:r>
              <a:rPr spc="5" dirty="0"/>
              <a:t> </a:t>
            </a:r>
            <a:r>
              <a:rPr spc="-5" dirty="0"/>
              <a:t>("Donner</a:t>
            </a:r>
            <a:r>
              <a:rPr spc="-10" dirty="0"/>
              <a:t> </a:t>
            </a:r>
            <a:r>
              <a:rPr dirty="0"/>
              <a:t>la</a:t>
            </a:r>
            <a:r>
              <a:rPr spc="-5" dirty="0"/>
              <a:t> ",</a:t>
            </a:r>
            <a:r>
              <a:rPr spc="10" dirty="0"/>
              <a:t> </a:t>
            </a:r>
            <a:r>
              <a:rPr dirty="0"/>
              <a:t>i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"ème</a:t>
            </a:r>
            <a:r>
              <a:rPr spc="-10" dirty="0"/>
              <a:t> </a:t>
            </a:r>
            <a:r>
              <a:rPr dirty="0"/>
              <a:t>note</a:t>
            </a:r>
            <a:r>
              <a:rPr spc="-5" dirty="0"/>
              <a:t> SVP")</a:t>
            </a:r>
          </a:p>
          <a:p>
            <a:pPr marL="1012825">
              <a:lnSpc>
                <a:spcPct val="100000"/>
              </a:lnSpc>
              <a:tabLst>
                <a:tab pos="3054985" algn="l"/>
              </a:tabLst>
            </a:pPr>
            <a:r>
              <a:rPr spc="-5" dirty="0"/>
              <a:t>Lire</a:t>
            </a:r>
            <a:r>
              <a:rPr spc="10" dirty="0"/>
              <a:t> </a:t>
            </a:r>
            <a:r>
              <a:rPr spc="-15" dirty="0"/>
              <a:t>(Tab_Notes[i])	</a:t>
            </a:r>
            <a:r>
              <a:rPr spc="-5" dirty="0">
                <a:solidFill>
                  <a:srgbClr val="A40020"/>
                </a:solidFill>
              </a:rPr>
              <a:t>// </a:t>
            </a:r>
            <a:r>
              <a:rPr dirty="0">
                <a:solidFill>
                  <a:srgbClr val="A40020"/>
                </a:solidFill>
              </a:rPr>
              <a:t>la</a:t>
            </a:r>
            <a:r>
              <a:rPr spc="-5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ième</a:t>
            </a:r>
            <a:r>
              <a:rPr spc="5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note</a:t>
            </a:r>
            <a:r>
              <a:rPr spc="-15" dirty="0">
                <a:solidFill>
                  <a:srgbClr val="A40020"/>
                </a:solidFill>
              </a:rPr>
              <a:t> </a:t>
            </a:r>
            <a:r>
              <a:rPr spc="-5" dirty="0">
                <a:solidFill>
                  <a:srgbClr val="A40020"/>
                </a:solidFill>
              </a:rPr>
              <a:t>est</a:t>
            </a:r>
            <a:r>
              <a:rPr spc="-10" dirty="0">
                <a:solidFill>
                  <a:srgbClr val="A40020"/>
                </a:solidFill>
              </a:rPr>
              <a:t> </a:t>
            </a:r>
            <a:r>
              <a:rPr spc="-5" dirty="0">
                <a:solidFill>
                  <a:srgbClr val="A40020"/>
                </a:solidFill>
              </a:rPr>
              <a:t>mémorisée</a:t>
            </a:r>
            <a:r>
              <a:rPr spc="5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dans</a:t>
            </a:r>
            <a:r>
              <a:rPr spc="-20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la</a:t>
            </a:r>
            <a:r>
              <a:rPr spc="5" dirty="0">
                <a:solidFill>
                  <a:srgbClr val="A40020"/>
                </a:solidFill>
              </a:rPr>
              <a:t> </a:t>
            </a:r>
            <a:r>
              <a:rPr spc="-5" dirty="0">
                <a:solidFill>
                  <a:srgbClr val="A40020"/>
                </a:solidFill>
              </a:rPr>
              <a:t>case</a:t>
            </a:r>
            <a:r>
              <a:rPr spc="-10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i</a:t>
            </a:r>
            <a:r>
              <a:rPr spc="-5" dirty="0">
                <a:solidFill>
                  <a:srgbClr val="A40020"/>
                </a:solidFill>
              </a:rPr>
              <a:t> </a:t>
            </a:r>
            <a:r>
              <a:rPr dirty="0">
                <a:solidFill>
                  <a:srgbClr val="A40020"/>
                </a:solidFill>
              </a:rPr>
              <a:t>du</a:t>
            </a:r>
            <a:r>
              <a:rPr spc="-15" dirty="0">
                <a:solidFill>
                  <a:srgbClr val="A40020"/>
                </a:solidFill>
              </a:rPr>
              <a:t> </a:t>
            </a:r>
            <a:r>
              <a:rPr spc="-5" dirty="0">
                <a:solidFill>
                  <a:srgbClr val="A40020"/>
                </a:solidFill>
              </a:rPr>
              <a:t>tableau</a:t>
            </a:r>
          </a:p>
          <a:p>
            <a:pPr marL="726440">
              <a:lnSpc>
                <a:spcPct val="100000"/>
              </a:lnSpc>
            </a:pPr>
            <a:r>
              <a:rPr b="1" spc="-5" dirty="0">
                <a:latin typeface="Tahoma"/>
                <a:cs typeface="Tahoma"/>
              </a:rPr>
              <a:t>Jusqu'à</a:t>
            </a:r>
            <a:r>
              <a:rPr b="1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(Tab_Notes[i]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&gt;=0</a:t>
            </a:r>
            <a:r>
              <a:rPr b="1" dirty="0">
                <a:latin typeface="Tahoma"/>
                <a:cs typeface="Tahoma"/>
              </a:rPr>
              <a:t> et</a:t>
            </a:r>
            <a:r>
              <a:rPr b="1" spc="-5" dirty="0">
                <a:latin typeface="Tahoma"/>
                <a:cs typeface="Tahoma"/>
              </a:rPr>
              <a:t> Tab_Notes[i]</a:t>
            </a:r>
            <a:r>
              <a:rPr b="1" spc="-15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&lt;=</a:t>
            </a:r>
            <a:r>
              <a:rPr b="1" spc="-1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20</a:t>
            </a:r>
            <a:r>
              <a:rPr b="1" spc="5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)</a:t>
            </a:r>
          </a:p>
          <a:p>
            <a:pPr marL="428625">
              <a:lnSpc>
                <a:spcPct val="100000"/>
              </a:lnSpc>
              <a:spcBef>
                <a:spcPts val="35"/>
              </a:spcBef>
            </a:pPr>
            <a:endParaRPr sz="1750">
              <a:latin typeface="Tahoma"/>
              <a:cs typeface="Tahoma"/>
            </a:endParaRPr>
          </a:p>
          <a:p>
            <a:pPr marL="726440">
              <a:lnSpc>
                <a:spcPct val="100000"/>
              </a:lnSpc>
            </a:pPr>
            <a:r>
              <a:rPr spc="-5" dirty="0"/>
              <a:t>Moyenne_Classe</a:t>
            </a:r>
            <a:r>
              <a:rPr spc="-15" dirty="0"/>
              <a:t> </a:t>
            </a:r>
            <a:r>
              <a:rPr dirty="0">
                <a:latin typeface="Symbol"/>
                <a:cs typeface="Symbol"/>
              </a:rPr>
              <a:t>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5" dirty="0"/>
              <a:t>Moyenne_Classe</a:t>
            </a:r>
            <a:r>
              <a:rPr spc="-2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spc="-15" dirty="0"/>
              <a:t>Tab_Notes[i]/20</a:t>
            </a:r>
          </a:p>
          <a:p>
            <a:pPr marL="428625">
              <a:lnSpc>
                <a:spcPct val="100000"/>
              </a:lnSpc>
            </a:pPr>
            <a:endParaRPr spc="-15" dirty="0"/>
          </a:p>
          <a:p>
            <a:pPr marL="441325">
              <a:lnSpc>
                <a:spcPct val="100000"/>
              </a:lnSpc>
            </a:pPr>
            <a:r>
              <a:rPr b="1" spc="-5" dirty="0">
                <a:latin typeface="Tahoma"/>
                <a:cs typeface="Tahoma"/>
              </a:rPr>
              <a:t>Fin</a:t>
            </a:r>
            <a:r>
              <a:rPr b="1" spc="-55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pour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1981327"/>
            <a:ext cx="6024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0" dirty="0"/>
              <a:t> </a:t>
            </a:r>
            <a:r>
              <a:rPr spc="-5" dirty="0"/>
              <a:t>Tableaux</a:t>
            </a:r>
            <a:r>
              <a:rPr spc="-20" dirty="0"/>
              <a:t> </a:t>
            </a:r>
            <a:r>
              <a:rPr dirty="0"/>
              <a:t>bidimensionnels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31123" y="6433732"/>
            <a:ext cx="17399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13</a:t>
            </a:fld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15274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19488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Définition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1470660"/>
            <a:ext cx="164591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2129027"/>
            <a:ext cx="164591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3089148"/>
            <a:ext cx="164591" cy="17678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85644" y="3906011"/>
            <a:ext cx="1377950" cy="12700"/>
          </a:xfrm>
          <a:custGeom>
            <a:avLst/>
            <a:gdLst/>
            <a:ahLst/>
            <a:cxnLst/>
            <a:rect l="l" t="t" r="r" b="b"/>
            <a:pathLst>
              <a:path w="1377950" h="12700">
                <a:moveTo>
                  <a:pt x="1377695" y="0"/>
                </a:moveTo>
                <a:lnTo>
                  <a:pt x="0" y="0"/>
                </a:lnTo>
                <a:lnTo>
                  <a:pt x="0" y="12191"/>
                </a:lnTo>
                <a:lnTo>
                  <a:pt x="1377695" y="12191"/>
                </a:lnTo>
                <a:lnTo>
                  <a:pt x="1377695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59379" y="4223004"/>
            <a:ext cx="1644650" cy="12700"/>
          </a:xfrm>
          <a:custGeom>
            <a:avLst/>
            <a:gdLst/>
            <a:ahLst/>
            <a:cxnLst/>
            <a:rect l="l" t="t" r="r" b="b"/>
            <a:pathLst>
              <a:path w="1644650" h="12700">
                <a:moveTo>
                  <a:pt x="1644395" y="0"/>
                </a:moveTo>
                <a:lnTo>
                  <a:pt x="0" y="0"/>
                </a:lnTo>
                <a:lnTo>
                  <a:pt x="0" y="12191"/>
                </a:lnTo>
                <a:lnTo>
                  <a:pt x="1644395" y="12191"/>
                </a:lnTo>
                <a:lnTo>
                  <a:pt x="1644395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1544" y="1376258"/>
            <a:ext cx="7562215" cy="28841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parle</a:t>
            </a:r>
            <a:r>
              <a:rPr sz="18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bidimensionnels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lorsque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seul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insuffisant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repérer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une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information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434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Mais,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considérons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problème suivant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 On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s’intéresse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aux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relevés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pluviométriques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d’une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certaine station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climatique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1956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1998,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et,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chaque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année,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dispose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relevés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mois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mois.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parle</a:t>
            </a:r>
            <a:r>
              <a:rPr sz="18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8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bidimensionnels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car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localiser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relevé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pluviométrique,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deux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indices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sont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nécessaires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413384" indent="-287020">
              <a:lnSpc>
                <a:spcPct val="100000"/>
              </a:lnSpc>
              <a:spcBef>
                <a:spcPts val="595"/>
              </a:spcBef>
              <a:buSzPct val="59375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premier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lignes</a:t>
            </a:r>
            <a:r>
              <a:rPr sz="16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I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va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repérer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l’année</a:t>
            </a:r>
            <a:endParaRPr sz="1600">
              <a:latin typeface="Tahoma"/>
              <a:cs typeface="Tahoma"/>
            </a:endParaRPr>
          </a:p>
          <a:p>
            <a:pPr marL="413384" indent="-287020">
              <a:lnSpc>
                <a:spcPct val="100000"/>
              </a:lnSpc>
              <a:spcBef>
                <a:spcPts val="575"/>
              </a:spcBef>
              <a:buSzPct val="59375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un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deuxième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indice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colonnes,</a:t>
            </a:r>
            <a:r>
              <a:rPr sz="16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noté</a:t>
            </a:r>
            <a:r>
              <a:rPr sz="16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A40020"/>
                </a:solidFill>
                <a:latin typeface="Tahoma"/>
                <a:cs typeface="Tahoma"/>
              </a:rPr>
              <a:t>J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repère</a:t>
            </a:r>
            <a:r>
              <a:rPr sz="16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mois.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3200" y="4419551"/>
            <a:ext cx="3960774" cy="204803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9461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296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Déclaration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1318260"/>
            <a:ext cx="164591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2250948"/>
            <a:ext cx="164591" cy="1767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60094" y="1250950"/>
            <a:ext cx="6765925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1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tableaux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à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deux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dimensions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sont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très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utilisés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en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particulier</a:t>
            </a:r>
            <a:r>
              <a:rPr sz="18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mathématiques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avec la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notion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matrice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(calcul matriciel,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analyse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numérique,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exemple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résolution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systèmes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d’équations).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NL</a:t>
            </a:r>
            <a:r>
              <a:rPr sz="1800" b="1" spc="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lignes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NC</a:t>
            </a:r>
            <a:r>
              <a:rPr sz="1800" b="1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colonnes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suite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NL</a:t>
            </a:r>
            <a:r>
              <a:rPr sz="1800" b="1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X NC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variables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T[L,C]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endParaRPr sz="1800">
              <a:latin typeface="Tahoma"/>
              <a:cs typeface="Tahoma"/>
            </a:endParaRPr>
          </a:p>
          <a:p>
            <a:pPr marL="413384" indent="-287020">
              <a:lnSpc>
                <a:spcPct val="100000"/>
              </a:lnSpc>
              <a:spcBef>
                <a:spcPts val="825"/>
              </a:spcBef>
              <a:buSzPct val="59375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l’entier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L</a:t>
            </a:r>
            <a:r>
              <a:rPr sz="1600" b="1" spc="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variant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entre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1</a:t>
            </a:r>
            <a:r>
              <a:rPr sz="16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et </a:t>
            </a: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NL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16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l’entier</a:t>
            </a:r>
            <a:r>
              <a:rPr sz="16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C</a:t>
            </a:r>
            <a:r>
              <a:rPr sz="1600" b="1" spc="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entre</a:t>
            </a:r>
            <a:r>
              <a:rPr sz="16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1</a:t>
            </a:r>
            <a:r>
              <a:rPr sz="1600" b="1" spc="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16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NC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413384" indent="-287020">
              <a:lnSpc>
                <a:spcPct val="100000"/>
              </a:lnSpc>
              <a:spcBef>
                <a:spcPts val="770"/>
              </a:spcBef>
              <a:buClr>
                <a:srgbClr val="40458B"/>
              </a:buClr>
              <a:buSzPct val="59375"/>
              <a:buFont typeface="Wingdings"/>
              <a:buChar char=""/>
              <a:tabLst>
                <a:tab pos="413384" algn="l"/>
                <a:tab pos="414020" algn="l"/>
              </a:tabLst>
            </a:pP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T[L,C]</a:t>
            </a:r>
            <a:r>
              <a:rPr sz="1600" b="1" spc="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s’appelle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l’élément</a:t>
            </a:r>
            <a:r>
              <a:rPr sz="16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d’indices</a:t>
            </a:r>
            <a:r>
              <a:rPr sz="16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L</a:t>
            </a:r>
            <a:r>
              <a:rPr sz="1600" b="1" spc="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16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C</a:t>
            </a:r>
            <a:r>
              <a:rPr sz="16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du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6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0094" y="5220461"/>
            <a:ext cx="753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Il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 indispensable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déclarer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avant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première</a:t>
            </a:r>
            <a:r>
              <a:rPr sz="18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utilisation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: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5286755"/>
            <a:ext cx="164591" cy="1767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71600" y="5791200"/>
            <a:ext cx="7086600" cy="685800"/>
          </a:xfrm>
          <a:prstGeom prst="rect">
            <a:avLst/>
          </a:prstGeom>
          <a:ln w="9144">
            <a:solidFill>
              <a:srgbClr val="40458B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110"/>
              </a:spcBef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Id_tableau</a:t>
            </a:r>
            <a:r>
              <a:rPr sz="22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=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tableau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[1..NL,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1..NC]</a:t>
            </a:r>
            <a:r>
              <a:rPr sz="22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type-element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307340" y="6006795"/>
            <a:ext cx="96646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synta</a:t>
            </a:r>
            <a:r>
              <a:rPr sz="2200" spc="-30" dirty="0">
                <a:solidFill>
                  <a:srgbClr val="40458B"/>
                </a:solidFill>
                <a:latin typeface="Tahoma"/>
                <a:cs typeface="Tahoma"/>
              </a:rPr>
              <a:t>x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endParaRPr sz="2200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195512" y="3643312"/>
          <a:ext cx="51054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6350"/>
                <a:gridCol w="1276350"/>
                <a:gridCol w="1276350"/>
                <a:gridCol w="1276350"/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T[1,1]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T[1,2]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T[1,NC]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T[2,1]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T[2,2]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T[2,NC]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T[NL,1]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Tahoma"/>
                          <a:cs typeface="Tahoma"/>
                        </a:rPr>
                        <a:t>T[NL,NC]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63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278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Lecture /</a:t>
            </a:r>
            <a:r>
              <a:rPr spc="-25" dirty="0"/>
              <a:t> </a:t>
            </a:r>
            <a:r>
              <a:rPr spc="-10" dirty="0"/>
              <a:t>Écriture</a:t>
            </a:r>
            <a:r>
              <a:rPr spc="15" dirty="0"/>
              <a:t> </a:t>
            </a:r>
            <a:r>
              <a:rPr dirty="0"/>
              <a:t>(1)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1470660"/>
            <a:ext cx="164591" cy="176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1544" y="1403350"/>
            <a:ext cx="72720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instructions habituelles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(lecture,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écriture,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affectation,..)</a:t>
            </a:r>
            <a:r>
              <a:rPr sz="18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s’appliquent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aussi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aux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tableaux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dimensions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Exemple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2019300"/>
            <a:ext cx="164591" cy="1767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0600" y="2438400"/>
            <a:ext cx="2819400" cy="1219200"/>
          </a:xfrm>
          <a:prstGeom prst="rect">
            <a:avLst/>
          </a:prstGeom>
          <a:ln w="9144">
            <a:solidFill>
              <a:srgbClr val="40458B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67640" marR="1373505">
              <a:lnSpc>
                <a:spcPct val="99700"/>
              </a:lnSpc>
              <a:spcBef>
                <a:spcPts val="600"/>
              </a:spcBef>
              <a:tabLst>
                <a:tab pos="938530" algn="l"/>
              </a:tabLst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Lire T[1,2] 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1800" spc="-8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T[1,2]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T[1,2]	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6764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T[1,2]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10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*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T[1,2]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544" y="3872865"/>
            <a:ext cx="361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Lecture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éléments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d’une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matrice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3939540"/>
            <a:ext cx="164591" cy="1767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0600" y="4343400"/>
            <a:ext cx="2819400" cy="1600200"/>
          </a:xfrm>
          <a:prstGeom prst="rect">
            <a:avLst/>
          </a:prstGeom>
          <a:ln w="9144">
            <a:solidFill>
              <a:srgbClr val="40458B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71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1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L="624840" marR="310515" indent="-17081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j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faire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T[i,j]</a:t>
            </a:r>
            <a:endParaRPr sz="1800">
              <a:latin typeface="Tahoma"/>
              <a:cs typeface="Tahoma"/>
            </a:endParaRPr>
          </a:p>
          <a:p>
            <a:pPr marL="167640" marR="1526540" indent="28638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1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9369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1732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1690116"/>
            <a:ext cx="164591" cy="176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1544" y="1622501"/>
            <a:ext cx="718947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tableau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lignes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M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colonnes,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combien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d’éléments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sont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1945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nuls?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90600" y="2362200"/>
            <a:ext cx="4114800" cy="2438400"/>
          </a:xfrm>
          <a:prstGeom prst="rect">
            <a:avLst/>
          </a:prstGeom>
          <a:ln w="9144">
            <a:solidFill>
              <a:srgbClr val="40458B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Compt</a:t>
            </a:r>
            <a:r>
              <a:rPr sz="18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000" spc="4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 marL="167640">
              <a:lnSpc>
                <a:spcPct val="100000"/>
              </a:lnSpc>
              <a:spcBef>
                <a:spcPts val="2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1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R="1126490" algn="ctr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j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R="1123950" algn="ctr">
              <a:lnSpc>
                <a:spcPts val="2155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T[i,j]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=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1800">
              <a:latin typeface="Tahoma"/>
              <a:cs typeface="Tahoma"/>
            </a:endParaRPr>
          </a:p>
          <a:p>
            <a:pPr marL="1078230" algn="ctr">
              <a:lnSpc>
                <a:spcPts val="2155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Compt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9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Compt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454025" marR="2821940" indent="34925" algn="ctr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 si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1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1800">
              <a:latin typeface="Tahoma"/>
              <a:cs typeface="Tahoma"/>
            </a:endParaRPr>
          </a:p>
          <a:p>
            <a:pPr marR="2940050" algn="ctr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277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907</Words>
  <Application>Microsoft Office PowerPoint</Application>
  <PresentationFormat>Affichage à l'écran (4:3)</PresentationFormat>
  <Paragraphs>210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Office Theme</vt:lpstr>
      <vt:lpstr>Les Tableaux</vt:lpstr>
      <vt:lpstr>Éléments de contenu</vt:lpstr>
      <vt:lpstr>Les Tableaux unidimensionnels</vt:lpstr>
      <vt:lpstr>Les Tableaux unidimensionnels</vt:lpstr>
      <vt:lpstr>Les Tableaux unidimensionnels</vt:lpstr>
      <vt:lpstr>Les Tableaux unidimensionnels</vt:lpstr>
      <vt:lpstr>Les Tableaux unidimensionnels</vt:lpstr>
      <vt:lpstr>Les Tableaux unidimensionnels</vt:lpstr>
      <vt:lpstr>Les Tableaux unidimensionnels</vt:lpstr>
      <vt:lpstr>Les Tableaux unidimensionnels</vt:lpstr>
      <vt:lpstr>Les Tableaux unidimensionnels</vt:lpstr>
      <vt:lpstr>Les Tableaux unidimensionnels Résolution d'un problème avec les tableaux</vt:lpstr>
      <vt:lpstr>Les Tableaux bidimensionnels</vt:lpstr>
      <vt:lpstr>Définition</vt:lpstr>
      <vt:lpstr>Déclaration</vt:lpstr>
      <vt:lpstr>Lecture / Écriture (1)</vt:lpstr>
      <vt:lpstr>Exemple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 Gestion</dc:title>
  <dc:creator>***</dc:creator>
  <cp:lastModifiedBy>PC ASUS</cp:lastModifiedBy>
  <cp:revision>6</cp:revision>
  <dcterms:created xsi:type="dcterms:W3CDTF">2021-09-26T10:37:17Z</dcterms:created>
  <dcterms:modified xsi:type="dcterms:W3CDTF">2022-10-04T09:44:56Z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2017-10-22T00:00:00Z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2021-09-26T00:00:00Z</vt:filetime>
  </property>
</Properties>
</file>