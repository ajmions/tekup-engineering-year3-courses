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_rels/notesSlide3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3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media/image1.jpeg" ContentType="image/jpeg"/>
  <Override PartName="/ppt/media/image3.png" ContentType="image/png"/>
  <Override PartName="/ppt/media/image2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</p:sldIdLst>
  <p:sldSz cx="9144000" cy="6858000"/>
  <p:notesSz cx="7102475" cy="102346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Rockwell"/>
              </a:rPr>
              <a:t>Cliquez pour déplacer la diapo</a:t>
            </a:r>
            <a:endParaRPr b="0" lang="en-US" sz="18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fr-FR" sz="2000" spc="-1" strike="noStrike">
                <a:latin typeface="Arial"/>
              </a:rPr>
              <a:t>Cliquez pour modifier le format des notes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1400" spc="-1" strike="noStrike">
                <a:latin typeface="Times New Roman"/>
              </a:rPr>
              <a:t>&lt;en-tête&gt;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dt" idx="6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fr-FR" sz="1400" spc="-1" strike="noStrike"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fr-FR" sz="1400" spc="-1" strike="noStrike">
                <a:latin typeface="Times New Roman"/>
              </a:rPr>
              <a:t>&lt;date/heure&gt;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94" name="PlaceHolder 5"/>
          <p:cNvSpPr>
            <a:spLocks noGrp="1"/>
          </p:cNvSpPr>
          <p:nvPr>
            <p:ph type="ftr" idx="7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fr-FR" sz="1400" spc="-1" strike="noStrike"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latin typeface="Times New Roman"/>
              </a:rPr>
              <a:t>&lt;pied de page&gt;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95" name="PlaceHolder 6"/>
          <p:cNvSpPr>
            <a:spLocks noGrp="1"/>
          </p:cNvSpPr>
          <p:nvPr>
            <p:ph type="sldNum" idx="8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fr-FR" sz="1400" spc="-1" strike="noStrike">
                <a:latin typeface="Times New Roman"/>
              </a:defRPr>
            </a:lvl1pPr>
          </a:lstStyle>
          <a:p>
            <a:pPr indent="0" algn="r">
              <a:buNone/>
            </a:pPr>
            <a:fld id="{B5280345-74F8-461B-BA15-C0CAB2B85595}" type="slidenum">
              <a:rPr b="0" lang="fr-FR" sz="1400" spc="-1" strike="noStrike">
                <a:latin typeface="Times New Roman"/>
              </a:rPr>
              <a:t>&lt;numéro&gt;</a:t>
            </a:fld>
            <a:endParaRPr b="0" lang="fr-FR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sldImg"/>
          </p:nvPr>
        </p:nvSpPr>
        <p:spPr>
          <a:xfrm>
            <a:off x="993600" y="768240"/>
            <a:ext cx="5114520" cy="3836520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710280" y="4861440"/>
            <a:ext cx="5681520" cy="4605120"/>
          </a:xfrm>
          <a:prstGeom prst="rect">
            <a:avLst/>
          </a:prstGeom>
          <a:noFill/>
          <a:ln w="0">
            <a:noFill/>
          </a:ln>
        </p:spPr>
        <p:txBody>
          <a:bodyPr lIns="99000" rIns="99000" tIns="49680" bIns="49680" anchor="t">
            <a:norm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fr-FR" sz="2000" spc="-1" strike="noStrike">
                <a:latin typeface="Arial"/>
              </a:rPr>
              <a:t>ous devriez maintenant avoir l’habitude d’un certain nombre de commandes que propose la console de Linux. Le fonctionnement est toujours le même : 1 Vous tapez la commande (par exemple ls ) 2 Le résultat s’affiche dans la console Toutefois, au lieu d’afficher le résultat dans la console, vous allez pouvoir l’envoyer ailleurs.</a:t>
            </a:r>
            <a:endParaRPr b="0" lang="fr-FR" sz="2000" spc="-1" strike="noStrike"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fr-FR" sz="2000" spc="-1" strike="noStrike">
                <a:latin typeface="Arial"/>
              </a:rPr>
              <a:t> </a:t>
            </a:r>
            <a:r>
              <a:rPr b="0" lang="fr-FR" sz="2000" spc="-1" strike="noStrike">
                <a:latin typeface="Arial"/>
              </a:rPr>
              <a:t>Où ? Dans un fichier, ou en entrée d’une autre commande pour “chaîner des commandes“. Ainsi, le résultat d’une commande peut en déclencher une autre !</a:t>
            </a:r>
            <a:endParaRPr b="0" lang="fr-FR" sz="2000" spc="-1" strike="noStrike"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fr-FR" sz="2000" spc="-1" strike="noStrike">
                <a:latin typeface="Arial"/>
              </a:rPr>
              <a:t> </a:t>
            </a:r>
            <a:r>
              <a:rPr b="0" lang="fr-FR" sz="2000" spc="-1" strike="noStrike">
                <a:latin typeface="Arial"/>
              </a:rPr>
              <a:t>Comment ? A l’aide de petits symboles spéciaux, appelés flux de redirection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15"/>
          </p:nvPr>
        </p:nvSpPr>
        <p:spPr>
          <a:xfrm>
            <a:off x="4023000" y="9721080"/>
            <a:ext cx="3077280" cy="511200"/>
          </a:xfrm>
          <a:prstGeom prst="rect">
            <a:avLst/>
          </a:prstGeom>
          <a:noFill/>
          <a:ln w="0">
            <a:noFill/>
          </a:ln>
        </p:spPr>
        <p:txBody>
          <a:bodyPr lIns="99000" rIns="99000" tIns="49680" bIns="4968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3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38B0950-029F-4B4F-9CA3-B80E86B5059B}" type="slidenum">
              <a:rPr b="0" lang="en-US" sz="1300" spc="-1" strike="noStrike">
                <a:solidFill>
                  <a:srgbClr val="000000"/>
                </a:solidFill>
                <a:latin typeface="+mn-lt"/>
                <a:ea typeface="+mn-ea"/>
              </a:rPr>
              <a:t>3</a:t>
            </a:fld>
            <a:endParaRPr b="0" lang="fr-FR" sz="13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sldImg"/>
          </p:nvPr>
        </p:nvSpPr>
        <p:spPr>
          <a:xfrm>
            <a:off x="993600" y="768240"/>
            <a:ext cx="5114520" cy="3836520"/>
          </a:xfrm>
          <a:prstGeom prst="rect">
            <a:avLst/>
          </a:prstGeom>
          <a:ln w="0">
            <a:noFill/>
          </a:ln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710280" y="4861440"/>
            <a:ext cx="5681520" cy="4605120"/>
          </a:xfrm>
          <a:prstGeom prst="rect">
            <a:avLst/>
          </a:prstGeom>
          <a:noFill/>
          <a:ln w="0">
            <a:noFill/>
          </a:ln>
        </p:spPr>
        <p:txBody>
          <a:bodyPr lIns="99000" rIns="99000" tIns="49680" bIns="49680" anchor="t">
            <a:norm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fr-FR" sz="2000" spc="-1" strike="noStrike">
                <a:latin typeface="Arial"/>
              </a:rPr>
              <a:t>ous devriez maintenant avoir l’habitude d’un certain nombre de commandes que propose la console de Linux. Le fonctionnement est toujours le même : 1 Vous tapez la commande (par exemple ls ) 2 Le résultat s’affiche dans la console Toutefois, au lieu d’afficher le résultat dans la console, vous allez pouvoir l’envoyer ailleurs.</a:t>
            </a:r>
            <a:endParaRPr b="0" lang="fr-FR" sz="2000" spc="-1" strike="noStrike"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fr-FR" sz="2000" spc="-1" strike="noStrike">
                <a:latin typeface="Arial"/>
              </a:rPr>
              <a:t> </a:t>
            </a:r>
            <a:r>
              <a:rPr b="0" lang="fr-FR" sz="2000" spc="-1" strike="noStrike">
                <a:latin typeface="Arial"/>
              </a:rPr>
              <a:t>Où ? Dans un fichier, ou en entrée d’une autre commande pour “chaîner des commandes“. Ainsi, le résultat d’une commande peut en déclencher une autre !</a:t>
            </a:r>
            <a:endParaRPr b="0" lang="fr-FR" sz="2000" spc="-1" strike="noStrike"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fr-FR" sz="2000" spc="-1" strike="noStrike">
                <a:latin typeface="Arial"/>
              </a:rPr>
              <a:t> </a:t>
            </a:r>
            <a:r>
              <a:rPr b="0" lang="fr-FR" sz="2000" spc="-1" strike="noStrike">
                <a:latin typeface="Arial"/>
              </a:rPr>
              <a:t>Comment ? A l’aide de petits symboles spéciaux, appelés flux de redirection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16"/>
          </p:nvPr>
        </p:nvSpPr>
        <p:spPr>
          <a:xfrm>
            <a:off x="4023000" y="9721080"/>
            <a:ext cx="3077280" cy="511200"/>
          </a:xfrm>
          <a:prstGeom prst="rect">
            <a:avLst/>
          </a:prstGeom>
          <a:noFill/>
          <a:ln w="0">
            <a:noFill/>
          </a:ln>
        </p:spPr>
        <p:txBody>
          <a:bodyPr lIns="99000" rIns="99000" tIns="49680" bIns="4968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3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EA181A5-3810-41DF-BE19-8A7C1FA1D5F7}" type="slidenum">
              <a:rPr b="0" lang="en-US" sz="1300" spc="-1" strike="noStrike">
                <a:solidFill>
                  <a:srgbClr val="000000"/>
                </a:solidFill>
                <a:latin typeface="+mn-lt"/>
                <a:ea typeface="+mn-ea"/>
              </a:rPr>
              <a:t>4</a:t>
            </a:fld>
            <a:endParaRPr b="0" lang="fr-FR" sz="13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sldImg"/>
          </p:nvPr>
        </p:nvSpPr>
        <p:spPr>
          <a:xfrm>
            <a:off x="993600" y="768240"/>
            <a:ext cx="5114520" cy="383652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710280" y="4861440"/>
            <a:ext cx="5681520" cy="4605120"/>
          </a:xfrm>
          <a:prstGeom prst="rect">
            <a:avLst/>
          </a:prstGeom>
          <a:noFill/>
          <a:ln w="0">
            <a:noFill/>
          </a:ln>
        </p:spPr>
        <p:txBody>
          <a:bodyPr lIns="99000" rIns="99000" tIns="49680" bIns="49680" anchor="t">
            <a:normAutofit/>
          </a:bodyPr>
          <a:p>
            <a:pPr marL="216000" indent="0">
              <a:buNone/>
            </a:pPr>
            <a:endParaRPr b="0" lang="fr-FR" sz="2000" spc="-1" strike="noStrike"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sldNum" idx="17"/>
          </p:nvPr>
        </p:nvSpPr>
        <p:spPr>
          <a:xfrm>
            <a:off x="4023000" y="9721080"/>
            <a:ext cx="3077280" cy="511200"/>
          </a:xfrm>
          <a:prstGeom prst="rect">
            <a:avLst/>
          </a:prstGeom>
          <a:noFill/>
          <a:ln w="0">
            <a:noFill/>
          </a:ln>
        </p:spPr>
        <p:txBody>
          <a:bodyPr lIns="99000" rIns="99000" tIns="49680" bIns="4968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3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7D7B4F4-BFD1-4039-A758-A8DF1C490C63}" type="slidenum">
              <a:rPr b="0" lang="en-US" sz="1300" spc="-1" strike="noStrike">
                <a:solidFill>
                  <a:srgbClr val="000000"/>
                </a:solidFill>
                <a:latin typeface="+mn-lt"/>
                <a:ea typeface="+mn-ea"/>
              </a:rPr>
              <a:t>6</a:t>
            </a:fld>
            <a:endParaRPr b="0" lang="fr-FR" sz="13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sldImg"/>
          </p:nvPr>
        </p:nvSpPr>
        <p:spPr>
          <a:xfrm>
            <a:off x="993600" y="768240"/>
            <a:ext cx="5114520" cy="3836520"/>
          </a:xfrm>
          <a:prstGeom prst="rect">
            <a:avLst/>
          </a:prstGeom>
          <a:ln w="0">
            <a:noFill/>
          </a:ln>
        </p:spPr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710280" y="4861440"/>
            <a:ext cx="5681520" cy="4605120"/>
          </a:xfrm>
          <a:prstGeom prst="rect">
            <a:avLst/>
          </a:prstGeom>
          <a:noFill/>
          <a:ln w="0">
            <a:noFill/>
          </a:ln>
        </p:spPr>
        <p:txBody>
          <a:bodyPr lIns="99000" rIns="99000" tIns="49680" bIns="4968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fr-FR" sz="2000" spc="-1" strike="noStrike">
                <a:latin typeface="Arial"/>
              </a:rPr>
              <a:t>R: reverse the result</a:t>
            </a:r>
            <a:endParaRPr b="0" lang="fr-FR" sz="2000" spc="-1" strike="noStrike"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fr-FR" sz="2000" spc="-1" strike="noStrike">
                <a:latin typeface="Arial"/>
              </a:rPr>
              <a:t>T:field</a:t>
            </a:r>
            <a:endParaRPr b="0" lang="fr-FR" sz="2000" spc="-1" strike="noStrike"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fr-FR" sz="2000" spc="-1" strike="noStrike">
                <a:latin typeface="Arial"/>
              </a:rPr>
              <a:t>K : key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18"/>
          </p:nvPr>
        </p:nvSpPr>
        <p:spPr>
          <a:xfrm>
            <a:off x="4023000" y="9721080"/>
            <a:ext cx="3077280" cy="511200"/>
          </a:xfrm>
          <a:prstGeom prst="rect">
            <a:avLst/>
          </a:prstGeom>
          <a:noFill/>
          <a:ln w="0">
            <a:noFill/>
          </a:ln>
        </p:spPr>
        <p:txBody>
          <a:bodyPr lIns="99000" rIns="99000" tIns="49680" bIns="4968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300" spc="-1" strike="noStrike"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796C341-D717-4BCF-BB79-3311F346F419}" type="slidenum">
              <a:rPr b="0" lang="en-US" sz="1300" spc="-1" strike="noStrike">
                <a:latin typeface="Times New Roman"/>
              </a:rPr>
              <a:t>6</a:t>
            </a:fld>
            <a:endParaRPr b="0" lang="fr-FR" sz="13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sldImg"/>
          </p:nvPr>
        </p:nvSpPr>
        <p:spPr>
          <a:xfrm>
            <a:off x="993600" y="768240"/>
            <a:ext cx="5114520" cy="3836520"/>
          </a:xfrm>
          <a:prstGeom prst="rect">
            <a:avLst/>
          </a:prstGeom>
          <a:ln w="0">
            <a:noFill/>
          </a:ln>
        </p:spPr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710280" y="4861440"/>
            <a:ext cx="5681520" cy="4605120"/>
          </a:xfrm>
          <a:prstGeom prst="rect">
            <a:avLst/>
          </a:prstGeom>
          <a:noFill/>
          <a:ln w="0">
            <a:noFill/>
          </a:ln>
        </p:spPr>
        <p:txBody>
          <a:bodyPr lIns="99000" rIns="99000" tIns="49680" bIns="4968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fr-FR" sz="2000" spc="-1" strike="noStrike">
                <a:latin typeface="Arial"/>
              </a:rPr>
              <a:t>-E : extended regexp</a:t>
            </a:r>
            <a:endParaRPr b="0" lang="fr-FR" sz="2000" spc="-1" strike="noStrike"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fr-FR" sz="2000" spc="-1" strike="noStrike">
                <a:latin typeface="Arial"/>
              </a:rPr>
              <a:t>-r 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sldNum" idx="19"/>
          </p:nvPr>
        </p:nvSpPr>
        <p:spPr>
          <a:xfrm>
            <a:off x="4023000" y="9721080"/>
            <a:ext cx="3077280" cy="511200"/>
          </a:xfrm>
          <a:prstGeom prst="rect">
            <a:avLst/>
          </a:prstGeom>
          <a:noFill/>
          <a:ln w="0">
            <a:noFill/>
          </a:ln>
        </p:spPr>
        <p:txBody>
          <a:bodyPr lIns="99000" rIns="99000" tIns="49680" bIns="4968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300" spc="-1" strike="noStrike"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FC4BE1B-3A65-4DD6-A177-6D9D47454136}" type="slidenum">
              <a:rPr b="0" lang="en-US" sz="1300" spc="-1" strike="noStrike">
                <a:latin typeface="Times New Roman"/>
              </a:rPr>
              <a:t>6</a:t>
            </a:fld>
            <a:endParaRPr b="0" lang="fr-FR" sz="13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sldImg"/>
          </p:nvPr>
        </p:nvSpPr>
        <p:spPr>
          <a:xfrm>
            <a:off x="993600" y="768240"/>
            <a:ext cx="5114520" cy="3836520"/>
          </a:xfrm>
          <a:prstGeom prst="rect">
            <a:avLst/>
          </a:prstGeom>
          <a:ln w="0">
            <a:noFill/>
          </a:ln>
        </p:spPr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710280" y="4861440"/>
            <a:ext cx="5681520" cy="4605120"/>
          </a:xfrm>
          <a:prstGeom prst="rect">
            <a:avLst/>
          </a:prstGeom>
          <a:noFill/>
          <a:ln w="0">
            <a:noFill/>
          </a:ln>
        </p:spPr>
        <p:txBody>
          <a:bodyPr lIns="99000" rIns="99000" tIns="49680" bIns="4968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fr-FR" sz="2000" spc="-1" strike="noStrike">
                <a:latin typeface="Arial"/>
              </a:rPr>
              <a:t>-E : extended regular expression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20"/>
          </p:nvPr>
        </p:nvSpPr>
        <p:spPr>
          <a:xfrm>
            <a:off x="4023000" y="9721080"/>
            <a:ext cx="3077280" cy="511200"/>
          </a:xfrm>
          <a:prstGeom prst="rect">
            <a:avLst/>
          </a:prstGeom>
          <a:noFill/>
          <a:ln w="0">
            <a:noFill/>
          </a:ln>
        </p:spPr>
        <p:txBody>
          <a:bodyPr lIns="99000" rIns="99000" tIns="49680" bIns="4968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300" spc="-1" strike="noStrike"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4D7C8C3-52D0-440C-8C61-8888BD9BB9A9}" type="slidenum">
              <a:rPr b="0" lang="en-US" sz="1300" spc="-1" strike="noStrike">
                <a:latin typeface="Times New Roman"/>
              </a:rPr>
              <a:t>&lt;numéro&gt;</a:t>
            </a:fld>
            <a:endParaRPr b="0" lang="fr-FR" sz="1300" spc="-1" strike="noStrike"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sldImg"/>
          </p:nvPr>
        </p:nvSpPr>
        <p:spPr>
          <a:xfrm>
            <a:off x="993600" y="768240"/>
            <a:ext cx="5114520" cy="3836520"/>
          </a:xfrm>
          <a:prstGeom prst="rect">
            <a:avLst/>
          </a:prstGeom>
          <a:ln w="0">
            <a:noFill/>
          </a:ln>
        </p:spPr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710280" y="4861440"/>
            <a:ext cx="5681520" cy="4605120"/>
          </a:xfrm>
          <a:prstGeom prst="rect">
            <a:avLst/>
          </a:prstGeom>
          <a:noFill/>
          <a:ln w="0">
            <a:noFill/>
          </a:ln>
        </p:spPr>
        <p:txBody>
          <a:bodyPr lIns="99000" rIns="99000" tIns="49680" bIns="4968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Last : show listing of last logged in users</a:t>
            </a:r>
            <a:endParaRPr b="0" lang="fr-FR" sz="2000" spc="-1" strike="noStrike"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fr-FR" sz="2000" spc="-1" strike="noStrike"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sldNum" idx="21"/>
          </p:nvPr>
        </p:nvSpPr>
        <p:spPr>
          <a:xfrm>
            <a:off x="4023000" y="9721080"/>
            <a:ext cx="3077280" cy="511200"/>
          </a:xfrm>
          <a:prstGeom prst="rect">
            <a:avLst/>
          </a:prstGeom>
          <a:noFill/>
          <a:ln w="0">
            <a:noFill/>
          </a:ln>
        </p:spPr>
        <p:txBody>
          <a:bodyPr lIns="99000" rIns="99000" tIns="49680" bIns="4968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300" spc="-1" strike="noStrike"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152553F-9176-435F-B7A9-74631DA30BA0}" type="slidenum">
              <a:rPr b="0" lang="en-US" sz="1300" spc="-1" strike="noStrike">
                <a:latin typeface="Times New Roman"/>
              </a:rPr>
              <a:t>&lt;numéro&gt;</a:t>
            </a:fld>
            <a:endParaRPr b="0" lang="fr-FR" sz="1300" spc="-1" strike="noStrike"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sldImg"/>
          </p:nvPr>
        </p:nvSpPr>
        <p:spPr>
          <a:xfrm>
            <a:off x="993600" y="768240"/>
            <a:ext cx="5114520" cy="3836520"/>
          </a:xfrm>
          <a:prstGeom prst="rect">
            <a:avLst/>
          </a:prstGeom>
          <a:ln w="0">
            <a:noFill/>
          </a:ln>
        </p:spPr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710280" y="4861440"/>
            <a:ext cx="5681520" cy="4605120"/>
          </a:xfrm>
          <a:prstGeom prst="rect">
            <a:avLst/>
          </a:prstGeom>
          <a:noFill/>
          <a:ln w="0">
            <a:noFill/>
          </a:ln>
        </p:spPr>
        <p:txBody>
          <a:bodyPr lIns="99000" rIns="99000" tIns="49680" bIns="4968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-c, --count            only print number of found entries</a:t>
            </a:r>
            <a:endParaRPr b="0" lang="fr-FR" sz="2000" spc="-1" strike="noStrike"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fr-FR" sz="2000" spc="-1" strike="noStrike"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sldNum" idx="22"/>
          </p:nvPr>
        </p:nvSpPr>
        <p:spPr>
          <a:xfrm>
            <a:off x="4023000" y="9721080"/>
            <a:ext cx="3077280" cy="511200"/>
          </a:xfrm>
          <a:prstGeom prst="rect">
            <a:avLst/>
          </a:prstGeom>
          <a:noFill/>
          <a:ln w="0">
            <a:noFill/>
          </a:ln>
        </p:spPr>
        <p:txBody>
          <a:bodyPr lIns="99000" rIns="99000" tIns="49680" bIns="4968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300" spc="-1" strike="noStrike"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52D386E-E883-4720-B63B-07170A967593}" type="slidenum">
              <a:rPr b="0" lang="en-US" sz="1300" spc="-1" strike="noStrike">
                <a:latin typeface="Times New Roman"/>
              </a:rPr>
              <a:t>&lt;numéro&gt;</a:t>
            </a:fld>
            <a:endParaRPr b="0" lang="fr-FR" sz="13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98600" y="484200"/>
            <a:ext cx="7556040" cy="11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98600" y="1981080"/>
            <a:ext cx="7556040" cy="414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98600" y="484200"/>
            <a:ext cx="7556040" cy="11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98600" y="1981080"/>
            <a:ext cx="7556040" cy="414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98600" y="484200"/>
            <a:ext cx="7556040" cy="11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98600" y="1981080"/>
            <a:ext cx="3687120" cy="414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370400" y="1981080"/>
            <a:ext cx="3687120" cy="414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98600" y="484200"/>
            <a:ext cx="7556040" cy="11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98600" y="484200"/>
            <a:ext cx="7556040" cy="517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98600" y="484200"/>
            <a:ext cx="7556040" cy="11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98600" y="1981080"/>
            <a:ext cx="3687120" cy="197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370400" y="1981080"/>
            <a:ext cx="3687120" cy="414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98600" y="4146120"/>
            <a:ext cx="3687120" cy="197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98600" y="484200"/>
            <a:ext cx="7556040" cy="11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98600" y="1981080"/>
            <a:ext cx="3687120" cy="414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370400" y="1981080"/>
            <a:ext cx="3687120" cy="197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370400" y="4146120"/>
            <a:ext cx="3687120" cy="197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98600" y="484200"/>
            <a:ext cx="7556040" cy="11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98600" y="1981080"/>
            <a:ext cx="3687120" cy="197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370400" y="1981080"/>
            <a:ext cx="3687120" cy="197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98600" y="4146120"/>
            <a:ext cx="7556040" cy="197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98600" y="484200"/>
            <a:ext cx="7556040" cy="11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98600" y="1981080"/>
            <a:ext cx="7556040" cy="197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98600" y="4146120"/>
            <a:ext cx="7556040" cy="197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98600" y="484200"/>
            <a:ext cx="7556040" cy="11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98600" y="1981080"/>
            <a:ext cx="3687120" cy="197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70400" y="1981080"/>
            <a:ext cx="3687120" cy="197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98600" y="4146120"/>
            <a:ext cx="3687120" cy="197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370400" y="4146120"/>
            <a:ext cx="3687120" cy="197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98600" y="484200"/>
            <a:ext cx="7556040" cy="11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98600" y="1981080"/>
            <a:ext cx="2432880" cy="197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053520" y="1981080"/>
            <a:ext cx="2432880" cy="197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5608440" y="1981080"/>
            <a:ext cx="2432880" cy="197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98600" y="4146120"/>
            <a:ext cx="2432880" cy="197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053520" y="4146120"/>
            <a:ext cx="2432880" cy="197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5608440" y="4146120"/>
            <a:ext cx="2432880" cy="197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387510B-6124-4F13-8DC4-A4F1926E157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98600" y="484200"/>
            <a:ext cx="7556040" cy="11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ubTitle"/>
          </p:nvPr>
        </p:nvSpPr>
        <p:spPr>
          <a:xfrm>
            <a:off x="498600" y="1981080"/>
            <a:ext cx="7556040" cy="414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F8E7CA8-DC7B-4725-9006-302851397AD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98600" y="484200"/>
            <a:ext cx="7556040" cy="11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498600" y="1981080"/>
            <a:ext cx="7556040" cy="414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2694A3B-D561-4A64-9A13-42E23C01A14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98600" y="484200"/>
            <a:ext cx="7556040" cy="11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498600" y="1981080"/>
            <a:ext cx="3687120" cy="414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4370400" y="1981080"/>
            <a:ext cx="3687120" cy="414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E425771-3D75-4EC5-B8DA-9C85AA08C80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98600" y="484200"/>
            <a:ext cx="7556040" cy="11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78B437A-1EDF-4DE8-BB2A-9B92C4B3417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ubTitle"/>
          </p:nvPr>
        </p:nvSpPr>
        <p:spPr>
          <a:xfrm>
            <a:off x="498600" y="484200"/>
            <a:ext cx="7556040" cy="517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2D4F54A-FB47-42A2-9041-1DEB48E1419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98600" y="484200"/>
            <a:ext cx="7556040" cy="11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98600" y="1981080"/>
            <a:ext cx="3687120" cy="197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370400" y="1981080"/>
            <a:ext cx="3687120" cy="414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98600" y="4146120"/>
            <a:ext cx="3687120" cy="197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858AA5B-01DD-4A40-94E5-5AC16ABFB1E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98600" y="484200"/>
            <a:ext cx="7556040" cy="11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98600" y="1981080"/>
            <a:ext cx="3687120" cy="414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370400" y="1981080"/>
            <a:ext cx="3687120" cy="197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370400" y="4146120"/>
            <a:ext cx="3687120" cy="197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4594587-468C-4977-B693-0EAB9E04F4C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98600" y="484200"/>
            <a:ext cx="7556040" cy="11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98600" y="1981080"/>
            <a:ext cx="3687120" cy="197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370400" y="1981080"/>
            <a:ext cx="3687120" cy="197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98600" y="4146120"/>
            <a:ext cx="7556040" cy="197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29AEB1D-2694-480B-89FB-102E1B6F68F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98600" y="484200"/>
            <a:ext cx="7556040" cy="11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98600" y="1981080"/>
            <a:ext cx="7556040" cy="197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98600" y="4146120"/>
            <a:ext cx="7556040" cy="197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2EB1D6D-8E5E-492E-8E87-7B6A0EA7E49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98600" y="484200"/>
            <a:ext cx="7556040" cy="11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498600" y="1981080"/>
            <a:ext cx="3687120" cy="197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4370400" y="1981080"/>
            <a:ext cx="3687120" cy="197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/>
          </p:nvPr>
        </p:nvSpPr>
        <p:spPr>
          <a:xfrm>
            <a:off x="498600" y="4146120"/>
            <a:ext cx="3687120" cy="197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/>
          </p:nvPr>
        </p:nvSpPr>
        <p:spPr>
          <a:xfrm>
            <a:off x="4370400" y="4146120"/>
            <a:ext cx="3687120" cy="197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5A24BA0-A3D0-4426-A37B-828C702BC10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98600" y="484200"/>
            <a:ext cx="7556040" cy="11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498600" y="1981080"/>
            <a:ext cx="2432880" cy="197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3053520" y="1981080"/>
            <a:ext cx="2432880" cy="197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/>
          </p:nvPr>
        </p:nvSpPr>
        <p:spPr>
          <a:xfrm>
            <a:off x="5608440" y="1981080"/>
            <a:ext cx="2432880" cy="197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/>
          </p:nvPr>
        </p:nvSpPr>
        <p:spPr>
          <a:xfrm>
            <a:off x="498600" y="4146120"/>
            <a:ext cx="2432880" cy="197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88" name="PlaceHolder 6"/>
          <p:cNvSpPr>
            <a:spLocks noGrp="1"/>
          </p:cNvSpPr>
          <p:nvPr>
            <p:ph/>
          </p:nvPr>
        </p:nvSpPr>
        <p:spPr>
          <a:xfrm>
            <a:off x="3053520" y="4146120"/>
            <a:ext cx="2432880" cy="197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89" name="PlaceHolder 7"/>
          <p:cNvSpPr>
            <a:spLocks noGrp="1"/>
          </p:cNvSpPr>
          <p:nvPr>
            <p:ph/>
          </p:nvPr>
        </p:nvSpPr>
        <p:spPr>
          <a:xfrm>
            <a:off x="5608440" y="4146120"/>
            <a:ext cx="2432880" cy="197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67882FA-013C-438C-929F-EA41126469B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800600" y="4624560"/>
            <a:ext cx="4038120" cy="933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000"/>
          </a:bodyPr>
          <a:p>
            <a:pPr indent="0">
              <a:lnSpc>
                <a:spcPct val="100000"/>
              </a:lnSpc>
              <a:buNone/>
            </a:pPr>
            <a:r>
              <a:rPr b="0" lang="fr-FR" sz="2800" spc="-1" strike="noStrike">
                <a:solidFill>
                  <a:schemeClr val="accent1"/>
                </a:solidFill>
                <a:latin typeface="Rockwell"/>
              </a:rPr>
              <a:t>Click to edit Master title style</a:t>
            </a:r>
            <a:endParaRPr b="0" lang="en-US" sz="28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800600" y="6425640"/>
            <a:ext cx="123228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fr-FR" sz="1100" spc="-1" strike="noStrike">
                <a:solidFill>
                  <a:srgbClr val="595959"/>
                </a:solidFill>
                <a:latin typeface="Rockwel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fr-FR" sz="1100" spc="-1" strike="noStrike">
                <a:solidFill>
                  <a:srgbClr val="595959"/>
                </a:solidFill>
                <a:latin typeface="Rockwell"/>
              </a:rPr>
              <a:t>&lt;date/heure&gt;</a:t>
            </a:r>
            <a:endParaRPr b="0" lang="fr-FR" sz="11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6311160" y="6425640"/>
            <a:ext cx="261720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100" spc="-1" strike="noStrike">
                <a:solidFill>
                  <a:srgbClr val="595959"/>
                </a:solidFill>
                <a:latin typeface="Rockwel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595959"/>
                </a:solidFill>
                <a:latin typeface="Rockwell"/>
              </a:rPr>
              <a:t>&lt;pied de page&gt;</a:t>
            </a:r>
            <a:endParaRPr b="0" lang="fr-FR" sz="1100" spc="-1" strike="noStrike">
              <a:latin typeface="Times New Roman"/>
            </a:endParaRPr>
          </a:p>
        </p:txBody>
      </p:sp>
      <p:sp>
        <p:nvSpPr>
          <p:cNvPr id="3" name="Rectangle 6"/>
          <p:cNvSpPr/>
          <p:nvPr/>
        </p:nvSpPr>
        <p:spPr>
          <a:xfrm>
            <a:off x="282600" y="228600"/>
            <a:ext cx="4235040" cy="4187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" name="Rectangle 7"/>
          <p:cNvSpPr/>
          <p:nvPr/>
        </p:nvSpPr>
        <p:spPr>
          <a:xfrm>
            <a:off x="6802560" y="228600"/>
            <a:ext cx="2057040" cy="20386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" name="Rectangle 9"/>
          <p:cNvSpPr/>
          <p:nvPr/>
        </p:nvSpPr>
        <p:spPr>
          <a:xfrm>
            <a:off x="4624560" y="2377440"/>
            <a:ext cx="2057040" cy="20386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" name="TextBox 14"/>
          <p:cNvSpPr/>
          <p:nvPr/>
        </p:nvSpPr>
        <p:spPr>
          <a:xfrm>
            <a:off x="424800" y="174960"/>
            <a:ext cx="412920" cy="82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5400" spc="-1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Rockwell"/>
              </a:rPr>
              <a:t>+</a:t>
            </a:r>
            <a:endParaRPr b="0" lang="fr-FR" sz="5400" spc="-1" strike="noStrike">
              <a:latin typeface="Arial"/>
            </a:endParaRPr>
          </a:p>
        </p:txBody>
      </p:sp>
      <p:sp>
        <p:nvSpPr>
          <p:cNvPr id="7" name="Rectangle 10"/>
          <p:cNvSpPr/>
          <p:nvPr/>
        </p:nvSpPr>
        <p:spPr>
          <a:xfrm>
            <a:off x="4624560" y="228600"/>
            <a:ext cx="2057040" cy="203868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" name="Rectangle 11"/>
          <p:cNvSpPr/>
          <p:nvPr/>
        </p:nvSpPr>
        <p:spPr>
          <a:xfrm>
            <a:off x="6802560" y="2377440"/>
            <a:ext cx="2057040" cy="20386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" name="PlaceHolder 4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595959"/>
                </a:solidFill>
                <a:latin typeface="Rockwell"/>
              </a:rPr>
              <a:t>Cliquez pour éditer le format du plan de texte</a:t>
            </a: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595959"/>
                </a:solidFill>
                <a:latin typeface="Rockwell"/>
              </a:rPr>
              <a:t>Second niveau de plan</a:t>
            </a:r>
            <a:endParaRPr b="0" lang="en-US" sz="1800" spc="-1" strike="noStrike">
              <a:solidFill>
                <a:srgbClr val="595959"/>
              </a:solidFill>
              <a:latin typeface="Rockwel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595959"/>
                </a:solidFill>
                <a:latin typeface="Rockwell"/>
              </a:rPr>
              <a:t>Troisième niveau de plan</a:t>
            </a:r>
            <a:endParaRPr b="0" lang="en-US" sz="1800" spc="-1" strike="noStrike">
              <a:solidFill>
                <a:srgbClr val="595959"/>
              </a:solidFill>
              <a:latin typeface="Rockwel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595959"/>
                </a:solidFill>
                <a:latin typeface="Rockwell"/>
              </a:rPr>
              <a:t>Quatrième niveau de plan</a:t>
            </a:r>
            <a:endParaRPr b="0" lang="en-US" sz="1800" spc="-1" strike="noStrike">
              <a:solidFill>
                <a:srgbClr val="595959"/>
              </a:solidFill>
              <a:latin typeface="Rockwel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595959"/>
                </a:solidFill>
                <a:latin typeface="Rockwell"/>
              </a:rPr>
              <a:t>Cinquième niveau de plan</a:t>
            </a: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595959"/>
                </a:solidFill>
                <a:latin typeface="Rockwell"/>
              </a:rPr>
              <a:t>Sixième niveau de plan</a:t>
            </a: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595959"/>
                </a:solidFill>
                <a:latin typeface="Rockwell"/>
              </a:rPr>
              <a:t>Septième niveau de plan</a:t>
            </a: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6"/>
          <p:cNvSpPr/>
          <p:nvPr/>
        </p:nvSpPr>
        <p:spPr>
          <a:xfrm>
            <a:off x="8210520" y="282600"/>
            <a:ext cx="641880" cy="15998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98600" y="484200"/>
            <a:ext cx="7556040" cy="1115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3600" spc="-1" strike="noStrike">
                <a:solidFill>
                  <a:schemeClr val="accent1"/>
                </a:solidFill>
                <a:latin typeface="Rockwell"/>
              </a:rPr>
              <a:t>Click to edit Master title style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98600" y="1981080"/>
            <a:ext cx="7556040" cy="41446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100000"/>
              </a:lnSpc>
              <a:spcBef>
                <a:spcPts val="2001"/>
              </a:spcBef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2000" spc="-1" strike="noStrike">
                <a:solidFill>
                  <a:srgbClr val="595959"/>
                </a:solidFill>
                <a:latin typeface="Rockwell"/>
              </a:rPr>
              <a:t>Click to edit Master text styles</a:t>
            </a: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  <a:p>
            <a:pPr lvl="1" marL="457200" indent="-228600">
              <a:lnSpc>
                <a:spcPct val="100000"/>
              </a:lnSpc>
              <a:spcBef>
                <a:spcPts val="601"/>
              </a:spcBef>
              <a:buClr>
                <a:srgbClr val="b870b8"/>
              </a:buClr>
              <a:buSzPct val="75000"/>
              <a:buFont typeface="Wingdings" charset="2"/>
              <a:buChar char=""/>
            </a:pPr>
            <a:r>
              <a:rPr b="0" lang="fr-FR" sz="1800" spc="-1" strike="noStrike">
                <a:solidFill>
                  <a:srgbClr val="595959"/>
                </a:solidFill>
                <a:latin typeface="Rockwell"/>
              </a:rPr>
              <a:t>Second level</a:t>
            </a:r>
            <a:endParaRPr b="0" lang="en-US" sz="1800" spc="-1" strike="noStrike">
              <a:solidFill>
                <a:srgbClr val="595959"/>
              </a:solidFill>
              <a:latin typeface="Rockwell"/>
            </a:endParaRPr>
          </a:p>
          <a:p>
            <a:pPr lvl="2" marL="685800" indent="-228600">
              <a:lnSpc>
                <a:spcPct val="100000"/>
              </a:lnSpc>
              <a:spcBef>
                <a:spcPts val="601"/>
              </a:spcBef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1800" spc="-1" strike="noStrike">
                <a:solidFill>
                  <a:srgbClr val="595959"/>
                </a:solidFill>
                <a:latin typeface="Rockwell"/>
              </a:rPr>
              <a:t>Third level</a:t>
            </a:r>
            <a:endParaRPr b="0" lang="en-US" sz="1800" spc="-1" strike="noStrike">
              <a:solidFill>
                <a:srgbClr val="595959"/>
              </a:solidFill>
              <a:latin typeface="Rockwell"/>
            </a:endParaRPr>
          </a:p>
          <a:p>
            <a:pPr lvl="3" marL="914400" indent="-228600">
              <a:lnSpc>
                <a:spcPct val="100000"/>
              </a:lnSpc>
              <a:spcBef>
                <a:spcPts val="601"/>
              </a:spcBef>
              <a:buClr>
                <a:srgbClr val="b870b8"/>
              </a:buClr>
              <a:buSzPct val="75000"/>
              <a:buFont typeface="Wingdings" charset="2"/>
              <a:buChar char=""/>
            </a:pPr>
            <a:r>
              <a:rPr b="0" lang="fr-FR" sz="1800" spc="-1" strike="noStrike">
                <a:solidFill>
                  <a:srgbClr val="595959"/>
                </a:solidFill>
                <a:latin typeface="Rockwell"/>
              </a:rPr>
              <a:t>Fourth level</a:t>
            </a:r>
            <a:endParaRPr b="0" lang="en-US" sz="1800" spc="-1" strike="noStrike">
              <a:solidFill>
                <a:srgbClr val="595959"/>
              </a:solidFill>
              <a:latin typeface="Rockwell"/>
            </a:endParaRPr>
          </a:p>
          <a:p>
            <a:pPr lvl="4" marL="1143000" indent="-228600">
              <a:lnSpc>
                <a:spcPct val="100000"/>
              </a:lnSpc>
              <a:spcBef>
                <a:spcPts val="601"/>
              </a:spcBef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1800" spc="-1" strike="noStrike">
                <a:solidFill>
                  <a:srgbClr val="595959"/>
                </a:solidFill>
                <a:latin typeface="Rockwell"/>
              </a:rPr>
              <a:t>Fifth level</a:t>
            </a:r>
            <a:endParaRPr b="0" lang="en-US" sz="18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"/>
          </p:nvPr>
        </p:nvSpPr>
        <p:spPr>
          <a:xfrm>
            <a:off x="6795360" y="642348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fr-FR" sz="1100" spc="-1" strike="noStrike">
                <a:solidFill>
                  <a:srgbClr val="595959"/>
                </a:solidFill>
                <a:latin typeface="Rockwel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fr-FR" sz="1100" spc="-1" strike="noStrike">
                <a:solidFill>
                  <a:srgbClr val="595959"/>
                </a:solidFill>
                <a:latin typeface="Rockwell"/>
              </a:rPr>
              <a:t>&lt;date/heure&gt;</a:t>
            </a:r>
            <a:endParaRPr b="0" lang="fr-FR" sz="11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ftr" idx="4"/>
          </p:nvPr>
        </p:nvSpPr>
        <p:spPr>
          <a:xfrm>
            <a:off x="201600" y="6423480"/>
            <a:ext cx="61225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100" spc="-1" strike="noStrike">
                <a:solidFill>
                  <a:srgbClr val="595959"/>
                </a:solidFill>
                <a:latin typeface="Rockwel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595959"/>
                </a:solidFill>
                <a:latin typeface="Rockwell"/>
              </a:rPr>
              <a:t>&lt;pied de page&gt;</a:t>
            </a:r>
            <a:endParaRPr b="0" lang="fr-FR" sz="1100" spc="-1" strike="noStrike"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sldNum" idx="5"/>
          </p:nvPr>
        </p:nvSpPr>
        <p:spPr>
          <a:xfrm>
            <a:off x="8305920" y="242280"/>
            <a:ext cx="55368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pc="-1" strike="noStrike">
                <a:solidFill>
                  <a:srgbClr val="ffffff"/>
                </a:solidFill>
                <a:latin typeface="Rockwel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EE49C3A-B110-4228-9181-CDD77BF17729}" type="slidenum">
              <a:rPr b="0" lang="en-US" sz="1400" spc="-1" strike="noStrike">
                <a:solidFill>
                  <a:srgbClr val="ffffff"/>
                </a:solidFill>
                <a:latin typeface="Rockwell"/>
              </a:rPr>
              <a:t>&lt;numéro&gt;</a:t>
            </a:fld>
            <a:endParaRPr b="0" lang="fr-FR" sz="1400" spc="-1" strike="noStrike">
              <a:latin typeface="Times New Roman"/>
            </a:endParaRPr>
          </a:p>
        </p:txBody>
      </p:sp>
      <p:sp>
        <p:nvSpPr>
          <p:cNvPr id="52" name="TextBox 8"/>
          <p:cNvSpPr/>
          <p:nvPr/>
        </p:nvSpPr>
        <p:spPr>
          <a:xfrm>
            <a:off x="223200" y="228600"/>
            <a:ext cx="26064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Rockwell"/>
              </a:rPr>
              <a:t>+</a:t>
            </a:r>
            <a:endParaRPr b="0" lang="fr-FR" sz="3600" spc="-1" strike="noStrike">
              <a:latin typeface="Arial"/>
            </a:endParaRPr>
          </a:p>
        </p:txBody>
      </p:sp>
      <p:sp>
        <p:nvSpPr>
          <p:cNvPr id="53" name="Rectangle 9"/>
          <p:cNvSpPr/>
          <p:nvPr/>
        </p:nvSpPr>
        <p:spPr>
          <a:xfrm>
            <a:off x="8068320" y="282600"/>
            <a:ext cx="91080" cy="15998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762120" y="1122480"/>
            <a:ext cx="3571200" cy="2097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0000"/>
          </a:bodyPr>
          <a:p>
            <a:pPr indent="0">
              <a:lnSpc>
                <a:spcPct val="100000"/>
              </a:lnSpc>
              <a:buNone/>
            </a:pPr>
            <a:r>
              <a:rPr b="0" lang="fr-FR" sz="2800" spc="-1" strike="noStrike">
                <a:solidFill>
                  <a:srgbClr val="ffffff"/>
                </a:solidFill>
                <a:latin typeface="Rockwell"/>
              </a:rPr>
              <a:t>Equipe Pédagogique</a:t>
            </a:r>
            <a:br>
              <a:rPr sz="2800"/>
            </a:br>
            <a:r>
              <a:rPr b="0" lang="en-US" sz="2800" spc="-1" strike="noStrike">
                <a:solidFill>
                  <a:srgbClr val="ffffff"/>
                </a:solidFill>
                <a:latin typeface="Rockwell"/>
              </a:rPr>
              <a:t>          </a:t>
            </a:r>
            <a:r>
              <a:rPr b="0" lang="en-US" sz="2200" spc="-1" strike="noStrike">
                <a:solidFill>
                  <a:srgbClr val="ffffff"/>
                </a:solidFill>
                <a:latin typeface="Rockwell"/>
              </a:rPr>
              <a:t>S. BEN YAALA</a:t>
            </a:r>
            <a:br>
              <a:rPr sz="2200"/>
            </a:br>
            <a:r>
              <a:rPr b="0" lang="en-US" sz="2200" spc="-1" strike="noStrike">
                <a:solidFill>
                  <a:srgbClr val="ffffff"/>
                </a:solidFill>
                <a:latin typeface="Rockwell"/>
              </a:rPr>
              <a:t>            H. SLIMANI</a:t>
            </a:r>
            <a:br>
              <a:rPr sz="2200"/>
            </a:br>
            <a:br>
              <a:rPr sz="2200"/>
            </a:br>
            <a:r>
              <a:rPr b="0" lang="en-US" sz="2200" spc="-1" strike="noStrike">
                <a:solidFill>
                  <a:srgbClr val="ffffff"/>
                </a:solidFill>
                <a:latin typeface="Rockwell"/>
              </a:rPr>
              <a:t>            </a:t>
            </a:r>
            <a:br>
              <a:rPr sz="2200"/>
            </a:br>
            <a:r>
              <a:rPr b="0" lang="en-US" sz="2200" spc="-1" strike="noStrike">
                <a:solidFill>
                  <a:srgbClr val="ffffff"/>
                </a:solidFill>
                <a:latin typeface="Rockwell"/>
              </a:rPr>
              <a:t> </a:t>
            </a:r>
            <a:br>
              <a:rPr sz="2200"/>
            </a:br>
            <a:br>
              <a:rPr sz="2200"/>
            </a:br>
            <a:endParaRPr b="0" lang="en-US" sz="22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subTitle"/>
          </p:nvPr>
        </p:nvSpPr>
        <p:spPr>
          <a:xfrm>
            <a:off x="4800600" y="5076360"/>
            <a:ext cx="4343040" cy="748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16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8b8b8b"/>
                </a:solidFill>
                <a:latin typeface="Rockwell"/>
              </a:rPr>
              <a:t>Redirections, Tubes et filtres</a:t>
            </a:r>
            <a:endParaRPr b="0" lang="fr-FR" sz="2200" spc="-1" strike="noStrike">
              <a:latin typeface="Arial"/>
            </a:endParaRPr>
          </a:p>
        </p:txBody>
      </p:sp>
      <p:pic>
        <p:nvPicPr>
          <p:cNvPr id="98" name="Picture 2" descr="RÃ©sultat de recherche d'images pour &quot;Linux&quot;"/>
          <p:cNvPicPr/>
          <p:nvPr/>
        </p:nvPicPr>
        <p:blipFill>
          <a:blip r:embed="rId1"/>
          <a:stretch/>
        </p:blipFill>
        <p:spPr>
          <a:xfrm>
            <a:off x="4564800" y="2365200"/>
            <a:ext cx="2187360" cy="2259000"/>
          </a:xfrm>
          <a:prstGeom prst="rect">
            <a:avLst/>
          </a:prstGeom>
          <a:ln w="0">
            <a:noFill/>
          </a:ln>
        </p:spPr>
      </p:pic>
      <p:sp>
        <p:nvSpPr>
          <p:cNvPr id="99" name="Rectangle 3"/>
          <p:cNvSpPr/>
          <p:nvPr/>
        </p:nvSpPr>
        <p:spPr>
          <a:xfrm>
            <a:off x="860040" y="360720"/>
            <a:ext cx="2211120" cy="4564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-FR" sz="2400" spc="-1" strike="noStrike">
                <a:solidFill>
                  <a:srgbClr val="ffffff"/>
                </a:solidFill>
                <a:latin typeface="&amp;quot"/>
                <a:ea typeface="Times New Roman"/>
              </a:rPr>
              <a:t>Module Linux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100" name="Espace réservé du pied de page 25"/>
          <p:cNvSpPr txBox="1"/>
          <p:nvPr/>
        </p:nvSpPr>
        <p:spPr>
          <a:xfrm>
            <a:off x="7920000" y="6300000"/>
            <a:ext cx="1080000" cy="364680"/>
          </a:xfrm>
          <a:prstGeom prst="rect">
            <a:avLst/>
          </a:prstGeom>
          <a:solidFill>
            <a:srgbClr val="81d41a"/>
          </a:solidFill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595959"/>
                </a:solidFill>
                <a:latin typeface="Rockwell"/>
              </a:rPr>
              <a:t>2025-20206</a:t>
            </a:r>
            <a:endParaRPr b="0" lang="fr-FR" sz="1100" spc="-1" strike="noStrike"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2019-2020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98600" y="162000"/>
            <a:ext cx="7556040" cy="1115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Rockwell"/>
              </a:rPr>
              <a:t>Plan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02" name="Rectangle 3"/>
          <p:cNvSpPr/>
          <p:nvPr/>
        </p:nvSpPr>
        <p:spPr>
          <a:xfrm>
            <a:off x="698400" y="1803960"/>
            <a:ext cx="7992720" cy="46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228600" indent="-228600">
              <a:lnSpc>
                <a:spcPct val="160000"/>
              </a:lnSpc>
              <a:spcBef>
                <a:spcPts val="2001"/>
              </a:spcBef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2400" spc="-1" strike="noStrike">
                <a:solidFill>
                  <a:srgbClr val="595959"/>
                </a:solidFill>
                <a:latin typeface="Rockwell"/>
              </a:rPr>
              <a:t>Redirections</a:t>
            </a:r>
            <a:endParaRPr b="0" lang="fr-FR" sz="2400" spc="-1" strike="noStrike">
              <a:latin typeface="Arial"/>
            </a:endParaRPr>
          </a:p>
          <a:p>
            <a:pPr marL="228600" indent="-228600">
              <a:lnSpc>
                <a:spcPct val="160000"/>
              </a:lnSpc>
              <a:spcBef>
                <a:spcPts val="2001"/>
              </a:spcBef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2400" spc="-1" strike="noStrike">
                <a:solidFill>
                  <a:srgbClr val="595959"/>
                </a:solidFill>
                <a:latin typeface="Rockwell"/>
              </a:rPr>
              <a:t>Tubes de communications</a:t>
            </a:r>
            <a:endParaRPr b="0" lang="fr-FR" sz="2400" spc="-1" strike="noStrike">
              <a:latin typeface="Arial"/>
            </a:endParaRPr>
          </a:p>
          <a:p>
            <a:pPr marL="228600" indent="-228600">
              <a:lnSpc>
                <a:spcPct val="160000"/>
              </a:lnSpc>
              <a:spcBef>
                <a:spcPts val="2001"/>
              </a:spcBef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2400" spc="-1" strike="noStrike">
                <a:solidFill>
                  <a:srgbClr val="595959"/>
                </a:solidFill>
                <a:latin typeface="Rockwell"/>
              </a:rPr>
              <a:t>Filtres</a:t>
            </a:r>
            <a:endParaRPr b="0" lang="fr-FR" sz="2400" spc="-1" strike="noStrike">
              <a:latin typeface="Arial"/>
            </a:endParaRPr>
          </a:p>
          <a:p>
            <a:pPr>
              <a:lnSpc>
                <a:spcPct val="160000"/>
              </a:lnSpc>
              <a:spcBef>
                <a:spcPts val="2001"/>
              </a:spcBef>
            </a:pPr>
            <a:endParaRPr b="0" lang="fr-FR" sz="2000" spc="-1" strike="noStrike">
              <a:latin typeface="Arial"/>
            </a:endParaRPr>
          </a:p>
          <a:p>
            <a:pPr>
              <a:lnSpc>
                <a:spcPct val="160000"/>
              </a:lnSpc>
              <a:spcBef>
                <a:spcPts val="2001"/>
              </a:spcBef>
            </a:pPr>
            <a:endParaRPr b="0" lang="fr-FR" sz="2400" spc="-1" strike="noStrike">
              <a:latin typeface="Arial"/>
            </a:endParaRPr>
          </a:p>
        </p:txBody>
      </p:sp>
      <p:sp>
        <p:nvSpPr>
          <p:cNvPr id="103" name="Espace réservé du pied de page 24"/>
          <p:cNvSpPr txBox="1"/>
          <p:nvPr/>
        </p:nvSpPr>
        <p:spPr>
          <a:xfrm>
            <a:off x="180000" y="6423120"/>
            <a:ext cx="1080000" cy="364680"/>
          </a:xfrm>
          <a:prstGeom prst="rect">
            <a:avLst/>
          </a:prstGeom>
          <a:solidFill>
            <a:srgbClr val="81d41a"/>
          </a:solidFill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595959"/>
                </a:solidFill>
                <a:latin typeface="Rockwell"/>
              </a:rPr>
              <a:t>2025-20206</a:t>
            </a:r>
            <a:endParaRPr b="0" lang="fr-FR" sz="1100" spc="-1" strike="noStrike"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2019-2020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39CDF16-09F4-4A25-9BB8-2059C1E738C0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98600" y="133560"/>
            <a:ext cx="7556040" cy="1115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3600" spc="-1" strike="noStrike">
                <a:solidFill>
                  <a:schemeClr val="accent1"/>
                </a:solidFill>
                <a:latin typeface="Rockwell"/>
              </a:rPr>
              <a:t>Commande Linux 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ftr" idx="9"/>
          </p:nvPr>
        </p:nvSpPr>
        <p:spPr>
          <a:xfrm>
            <a:off x="201600" y="6423480"/>
            <a:ext cx="61225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100" spc="-1" strike="noStrike">
                <a:solidFill>
                  <a:srgbClr val="595959"/>
                </a:solidFill>
                <a:latin typeface="Rockwel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595959"/>
                </a:solidFill>
                <a:latin typeface="Rockwell"/>
              </a:rPr>
              <a:t>2025-20206</a:t>
            </a:r>
            <a:endParaRPr b="0" lang="fr-FR" sz="1100" spc="-1" strike="noStrike">
              <a:latin typeface="Times New Roman"/>
            </a:endParaRPr>
          </a:p>
        </p:txBody>
      </p:sp>
      <p:sp>
        <p:nvSpPr>
          <p:cNvPr id="106" name="Rectangle 8"/>
          <p:cNvSpPr/>
          <p:nvPr/>
        </p:nvSpPr>
        <p:spPr>
          <a:xfrm>
            <a:off x="486360" y="1249920"/>
            <a:ext cx="7567920" cy="310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indent="-216000" algn="just">
              <a:lnSpc>
                <a:spcPct val="15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Une commande  : </a:t>
            </a:r>
            <a:endParaRPr b="0" lang="fr-FR" sz="2200" spc="-1" strike="noStrike">
              <a:latin typeface="Arial"/>
            </a:endParaRPr>
          </a:p>
          <a:p>
            <a:pPr algn="just">
              <a:lnSpc>
                <a:spcPct val="150000"/>
              </a:lnSpc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            </a:t>
            </a: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Entrée :        arguments en entrée standard.</a:t>
            </a:r>
            <a:endParaRPr b="0" lang="fr-FR" sz="2200" spc="-1" strike="noStrike">
              <a:latin typeface="Arial"/>
            </a:endParaRPr>
          </a:p>
          <a:p>
            <a:pPr algn="just">
              <a:lnSpc>
                <a:spcPct val="150000"/>
              </a:lnSpc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            </a:t>
            </a: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Sortie :         une réponse en sotie standard</a:t>
            </a:r>
            <a:endParaRPr b="0" lang="fr-FR" sz="2200" spc="-1" strike="noStrike">
              <a:latin typeface="Arial"/>
            </a:endParaRPr>
          </a:p>
          <a:p>
            <a:pPr algn="just">
              <a:lnSpc>
                <a:spcPct val="150000"/>
              </a:lnSpc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                                                           </a:t>
            </a: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+</a:t>
            </a:r>
            <a:endParaRPr b="0" lang="fr-FR" sz="2200" spc="-1" strike="noStrike">
              <a:latin typeface="Arial"/>
            </a:endParaRPr>
          </a:p>
          <a:p>
            <a:pPr algn="just">
              <a:lnSpc>
                <a:spcPct val="150000"/>
              </a:lnSpc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                            </a:t>
            </a: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une réponse en sortie erreur standard.</a:t>
            </a:r>
            <a:endParaRPr b="0" lang="fr-FR" sz="2200" spc="-1" strike="noStrike">
              <a:latin typeface="Arial"/>
            </a:endParaRPr>
          </a:p>
          <a:p>
            <a:pPr algn="just">
              <a:lnSpc>
                <a:spcPct val="150000"/>
              </a:lnSpc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                            </a:t>
            </a:r>
            <a:endParaRPr b="0" lang="fr-FR" sz="2200" spc="-1" strike="noStrike">
              <a:latin typeface="Arial"/>
            </a:endParaRPr>
          </a:p>
        </p:txBody>
      </p:sp>
      <p:pic>
        <p:nvPicPr>
          <p:cNvPr id="107" name="Picture 3" descr="C:\Users\asus\Desktop\1Capture.PNG"/>
          <p:cNvPicPr/>
          <p:nvPr/>
        </p:nvPicPr>
        <p:blipFill>
          <a:blip r:embed="rId1"/>
          <a:stretch/>
        </p:blipFill>
        <p:spPr>
          <a:xfrm>
            <a:off x="1863000" y="4070880"/>
            <a:ext cx="5612760" cy="167724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C9B71E0-A2F8-4B67-823D-7ADAC8138291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98600" y="133560"/>
            <a:ext cx="7556040" cy="1115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3600" spc="-1" strike="noStrike">
                <a:solidFill>
                  <a:schemeClr val="accent1"/>
                </a:solidFill>
                <a:latin typeface="Rockwell"/>
              </a:rPr>
              <a:t>Commande Linux 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ftr" idx="10"/>
          </p:nvPr>
        </p:nvSpPr>
        <p:spPr>
          <a:xfrm>
            <a:off x="201600" y="6423480"/>
            <a:ext cx="61225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100" spc="-1" strike="noStrike">
                <a:solidFill>
                  <a:srgbClr val="595959"/>
                </a:solidFill>
                <a:latin typeface="Rockwel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595959"/>
                </a:solidFill>
                <a:latin typeface="Rockwell"/>
              </a:rPr>
              <a:t>2025-20206</a:t>
            </a:r>
            <a:endParaRPr b="0" lang="fr-FR" sz="1100" spc="-1" strike="noStrike">
              <a:latin typeface="Times New Roman"/>
            </a:endParaRPr>
          </a:p>
        </p:txBody>
      </p:sp>
      <p:sp>
        <p:nvSpPr>
          <p:cNvPr id="110" name="Rectangle 8"/>
          <p:cNvSpPr/>
          <p:nvPr/>
        </p:nvSpPr>
        <p:spPr>
          <a:xfrm>
            <a:off x="486360" y="1249920"/>
            <a:ext cx="7567920" cy="260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indent="-216000" algn="just">
              <a:lnSpc>
                <a:spcPct val="15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Les redirections sont le détournement des 3 descripteurs de  fichiers standards :</a:t>
            </a:r>
            <a:endParaRPr b="0" lang="fr-FR" sz="2200" spc="-1" strike="noStrike">
              <a:latin typeface="Arial"/>
            </a:endParaRPr>
          </a:p>
          <a:p>
            <a:pPr indent="-216000" algn="just">
              <a:lnSpc>
                <a:spcPct val="15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l'entrée standard (notée 0) : le clavier ;</a:t>
            </a:r>
            <a:endParaRPr b="0" lang="fr-FR" sz="2200" spc="-1" strike="noStrike">
              <a:latin typeface="Arial"/>
            </a:endParaRPr>
          </a:p>
          <a:p>
            <a:pPr indent="-216000" algn="just">
              <a:lnSpc>
                <a:spcPct val="15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la sortie standard (notée 1) : la console courante ;</a:t>
            </a:r>
            <a:endParaRPr b="0" lang="fr-FR" sz="2200" spc="-1" strike="noStrike">
              <a:latin typeface="Arial"/>
            </a:endParaRPr>
          </a:p>
          <a:p>
            <a:pPr indent="-216000" algn="just">
              <a:lnSpc>
                <a:spcPct val="15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la sortie des erreurs (notée 2) : la console courante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6FB6D9A-E88D-4457-B206-94856E668A02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98600" y="174600"/>
            <a:ext cx="7556040" cy="1115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3600" spc="-1" strike="noStrike">
                <a:solidFill>
                  <a:schemeClr val="accent1"/>
                </a:solidFill>
                <a:latin typeface="Rockwell"/>
              </a:rPr>
              <a:t>Redirections des entrées-sorties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201600" y="1290600"/>
            <a:ext cx="8657640" cy="52786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5000"/>
          </a:bodyPr>
          <a:p>
            <a:pPr marL="228600" indent="-228600">
              <a:lnSpc>
                <a:spcPct val="100000"/>
              </a:lnSpc>
              <a:spcBef>
                <a:spcPts val="2001"/>
              </a:spcBef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3600" spc="-1" strike="noStrike">
                <a:solidFill>
                  <a:schemeClr val="accent1"/>
                </a:solidFill>
                <a:latin typeface="Rockwell"/>
              </a:rPr>
              <a:t> </a:t>
            </a:r>
            <a:r>
              <a:rPr b="0" lang="fr-FR" sz="3600" spc="-1" strike="noStrike">
                <a:solidFill>
                  <a:schemeClr val="accent1"/>
                </a:solidFill>
                <a:latin typeface="Rockwell"/>
              </a:rPr>
              <a:t>Principe  </a:t>
            </a:r>
            <a:endParaRPr b="0" lang="en-US" sz="36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endParaRPr b="0" lang="en-US" sz="3600" spc="-1" strike="noStrike">
              <a:solidFill>
                <a:srgbClr val="595959"/>
              </a:solidFill>
              <a:latin typeface="Rockwell"/>
            </a:endParaRPr>
          </a:p>
          <a:p>
            <a:pPr marL="228600" indent="-228600">
              <a:lnSpc>
                <a:spcPct val="160000"/>
              </a:lnSpc>
              <a:buClr>
                <a:srgbClr val="663366"/>
              </a:buClr>
              <a:buSzPct val="120000"/>
              <a:buFont typeface="Arial"/>
              <a:buChar char="•"/>
              <a:tabLst>
                <a:tab algn="l" pos="0"/>
              </a:tabLst>
            </a:pPr>
            <a:r>
              <a:rPr b="0" lang="fr-FR" sz="2500" spc="-1" strike="noStrike">
                <a:solidFill>
                  <a:srgbClr val="000000"/>
                </a:solidFill>
                <a:latin typeface="Times New Roman"/>
              </a:rPr>
              <a:t>  </a:t>
            </a:r>
            <a:r>
              <a:rPr b="0" lang="fr-FR" sz="2500" spc="-1" strike="noStrike">
                <a:solidFill>
                  <a:srgbClr val="000000"/>
                </a:solidFill>
                <a:latin typeface="Times New Roman"/>
              </a:rPr>
              <a:t>Il s’agit de renvoyer le résultat d’une commande vers une sortie différente de la sortie normale .</a:t>
            </a:r>
            <a:endParaRPr b="0" lang="en-US" sz="25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>
              <a:lnSpc>
                <a:spcPct val="160000"/>
              </a:lnSpc>
              <a:buNone/>
              <a:tabLst>
                <a:tab algn="l" pos="0"/>
              </a:tabLst>
            </a:pPr>
            <a:endParaRPr b="0" lang="en-US" sz="2500" spc="-1" strike="noStrike">
              <a:solidFill>
                <a:srgbClr val="595959"/>
              </a:solidFill>
              <a:latin typeface="Rockwell"/>
            </a:endParaRPr>
          </a:p>
          <a:p>
            <a:pPr marL="228600" indent="-228600">
              <a:lnSpc>
                <a:spcPct val="160000"/>
              </a:lnSpc>
              <a:buClr>
                <a:srgbClr val="663366"/>
              </a:buClr>
              <a:buSzPct val="120000"/>
              <a:buFont typeface="Arial"/>
              <a:buChar char="•"/>
              <a:tabLst>
                <a:tab algn="l" pos="0"/>
              </a:tabLst>
            </a:pPr>
            <a:r>
              <a:rPr b="0" lang="fr-FR" sz="2500" spc="-1" strike="noStrike">
                <a:solidFill>
                  <a:srgbClr val="000000"/>
                </a:solidFill>
                <a:latin typeface="Times New Roman"/>
              </a:rPr>
              <a:t>Valide pour une entrée ou une sortie</a:t>
            </a:r>
            <a:endParaRPr b="0" lang="en-US" sz="2500" spc="-1" strike="noStrike">
              <a:solidFill>
                <a:srgbClr val="595959"/>
              </a:solidFill>
              <a:latin typeface="Rockwell"/>
            </a:endParaRPr>
          </a:p>
          <a:p>
            <a:pPr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endParaRPr b="0" lang="en-US" sz="25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br>
              <a:rPr sz="2500"/>
            </a:br>
            <a:endParaRPr b="0" lang="en-US" sz="25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endParaRPr b="0" lang="en-US" sz="25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endParaRPr b="0" lang="en-US" sz="25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ftr" idx="11"/>
          </p:nvPr>
        </p:nvSpPr>
        <p:spPr>
          <a:xfrm>
            <a:off x="201600" y="6423480"/>
            <a:ext cx="61225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100" spc="-1" strike="noStrike">
                <a:solidFill>
                  <a:srgbClr val="595959"/>
                </a:solidFill>
                <a:latin typeface="Rockwel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595959"/>
                </a:solidFill>
                <a:latin typeface="Rockwell"/>
              </a:rPr>
              <a:t>2025-2026</a:t>
            </a:r>
            <a:endParaRPr b="0" lang="fr-FR" sz="1100" spc="-1" strike="noStrike">
              <a:latin typeface="Times New Roman"/>
            </a:endParaRPr>
          </a:p>
          <a:p>
            <a:pPr indent="0">
              <a:lnSpc>
                <a:spcPct val="100000"/>
              </a:lnSpc>
              <a:buNone/>
            </a:pPr>
            <a:endParaRPr b="0" lang="fr-FR" sz="1100" spc="-1" strike="noStrike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0BDA5A0-F3F3-4B99-A8B1-A04CA61195AF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98600" y="105480"/>
            <a:ext cx="7556040" cy="1115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3600" spc="-1" strike="noStrike">
                <a:solidFill>
                  <a:schemeClr val="accent1"/>
                </a:solidFill>
                <a:latin typeface="Rockwell"/>
              </a:rPr>
              <a:t>Redirection des entrées-sorties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pic>
        <p:nvPicPr>
          <p:cNvPr id="115" name="Picture 2" descr="C:\Users\asus\Desktop\1Capture.PNG"/>
          <p:cNvPicPr/>
          <p:nvPr/>
        </p:nvPicPr>
        <p:blipFill>
          <a:blip r:embed="rId1"/>
          <a:stretch/>
        </p:blipFill>
        <p:spPr>
          <a:xfrm>
            <a:off x="498600" y="2222640"/>
            <a:ext cx="3840120" cy="3268800"/>
          </a:xfrm>
          <a:prstGeom prst="rect">
            <a:avLst/>
          </a:prstGeom>
          <a:ln w="0">
            <a:solidFill>
              <a:srgbClr val="663366"/>
            </a:solidFill>
          </a:ln>
        </p:spPr>
      </p:pic>
      <p:sp>
        <p:nvSpPr>
          <p:cNvPr id="116" name="Rectangle 7"/>
          <p:cNvSpPr/>
          <p:nvPr/>
        </p:nvSpPr>
        <p:spPr>
          <a:xfrm>
            <a:off x="450000" y="1149840"/>
            <a:ext cx="19000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indent="-216000">
              <a:lnSpc>
                <a:spcPct val="100000"/>
              </a:lnSpc>
              <a:buClr>
                <a:srgbClr val="663366"/>
              </a:buClr>
              <a:buFont typeface="Wingdings" charset="2"/>
              <a:buChar char=""/>
            </a:pPr>
            <a:r>
              <a:rPr b="0" lang="fr-FR" sz="2200" spc="-1" strike="noStrike">
                <a:solidFill>
                  <a:schemeClr val="accent1"/>
                </a:solidFill>
                <a:latin typeface="Rockwell"/>
              </a:rPr>
              <a:t> </a:t>
            </a:r>
            <a:r>
              <a:rPr b="0" lang="fr-FR" sz="2200" spc="-1" strike="noStrike">
                <a:solidFill>
                  <a:schemeClr val="accent1"/>
                </a:solidFill>
                <a:latin typeface="Rockwell"/>
              </a:rPr>
              <a:t>Principe : </a:t>
            </a:r>
            <a:endParaRPr b="0" lang="fr-FR" sz="2200" spc="-1" strike="noStrike">
              <a:latin typeface="Arial"/>
            </a:endParaRPr>
          </a:p>
        </p:txBody>
      </p:sp>
      <p:pic>
        <p:nvPicPr>
          <p:cNvPr id="117" name="Picture 3" descr="C:\Users\asus\Desktop\1Capture.PNG"/>
          <p:cNvPicPr/>
          <p:nvPr/>
        </p:nvPicPr>
        <p:blipFill>
          <a:blip r:embed="rId2"/>
          <a:stretch/>
        </p:blipFill>
        <p:spPr>
          <a:xfrm>
            <a:off x="4670640" y="2180520"/>
            <a:ext cx="4188960" cy="3268800"/>
          </a:xfrm>
          <a:prstGeom prst="rect">
            <a:avLst/>
          </a:prstGeom>
          <a:ln w="0">
            <a:solidFill>
              <a:srgbClr val="663366"/>
            </a:solidFill>
          </a:ln>
        </p:spPr>
      </p:pic>
      <p:sp>
        <p:nvSpPr>
          <p:cNvPr id="118" name="Rectangle 9"/>
          <p:cNvSpPr/>
          <p:nvPr/>
        </p:nvSpPr>
        <p:spPr>
          <a:xfrm>
            <a:off x="5210280" y="5538600"/>
            <a:ext cx="32695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Rockwell"/>
              </a:rPr>
              <a:t>Redirection vers des fichiers 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119" name="Rectangle 10"/>
          <p:cNvSpPr/>
          <p:nvPr/>
        </p:nvSpPr>
        <p:spPr>
          <a:xfrm>
            <a:off x="976680" y="5474520"/>
            <a:ext cx="5064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Rockwell"/>
              </a:rPr>
              <a:t>Redirection vers un fichier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ftr" idx="12"/>
          </p:nvPr>
        </p:nvSpPr>
        <p:spPr>
          <a:xfrm>
            <a:off x="201600" y="6423480"/>
            <a:ext cx="61225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100" spc="-1" strike="noStrike">
                <a:solidFill>
                  <a:srgbClr val="595959"/>
                </a:solidFill>
                <a:latin typeface="Rockwel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595959"/>
                </a:solidFill>
                <a:latin typeface="Rockwell"/>
              </a:rPr>
              <a:t>2025-2026</a:t>
            </a:r>
            <a:endParaRPr b="0" lang="fr-FR" sz="1100" spc="-1" strike="noStrike">
              <a:latin typeface="Times New Roman"/>
            </a:endParaRPr>
          </a:p>
          <a:p>
            <a:pPr indent="0">
              <a:lnSpc>
                <a:spcPct val="100000"/>
              </a:lnSpc>
              <a:buNone/>
            </a:pPr>
            <a:endParaRPr b="0" lang="fr-FR" sz="1100" spc="-1" strike="noStrike"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010392B-FDF3-4BBF-833C-2C84EECE55CC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498600" y="174600"/>
            <a:ext cx="7556040" cy="1115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3600" spc="-1" strike="noStrike">
                <a:solidFill>
                  <a:schemeClr val="accent1"/>
                </a:solidFill>
                <a:latin typeface="Rockwell"/>
              </a:rPr>
              <a:t>Flux de redirection</a:t>
            </a:r>
            <a:br>
              <a:rPr sz="3600"/>
            </a:b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57960" y="2001240"/>
            <a:ext cx="8801640" cy="2825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3000"/>
          </a:bodyPr>
          <a:p>
            <a:pPr marL="228600" indent="-228600">
              <a:lnSpc>
                <a:spcPct val="100000"/>
              </a:lnSpc>
              <a:spcBef>
                <a:spcPts val="2001"/>
              </a:spcBef>
              <a:buClr>
                <a:srgbClr val="663366"/>
              </a:buClr>
              <a:buSzPct val="75000"/>
              <a:buFont typeface="Wingdings" charset="2"/>
              <a:buChar char=""/>
            </a:pPr>
            <a:r>
              <a:rPr b="0" lang="fr-FR" sz="24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2400" spc="-1" strike="noStrike">
                <a:solidFill>
                  <a:srgbClr val="000000"/>
                </a:solidFill>
                <a:latin typeface="Times New Roman"/>
              </a:rPr>
              <a:t>&gt; :  rediriger dans un nouveau fichier</a:t>
            </a:r>
            <a:endParaRPr b="0" lang="en-US" sz="2400" spc="-1" strike="noStrike">
              <a:solidFill>
                <a:srgbClr val="595959"/>
              </a:solidFill>
              <a:latin typeface="Rockwell"/>
            </a:endParaRPr>
          </a:p>
          <a:p>
            <a:pPr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Times New Roman"/>
              </a:rPr>
              <a:t>           </a:t>
            </a:r>
            <a:r>
              <a:rPr b="0" lang="fr-FR" sz="2400" spc="-7" strike="noStrike">
                <a:solidFill>
                  <a:srgbClr val="595959"/>
                </a:solidFill>
                <a:latin typeface="Segoe UI Symbol"/>
              </a:rPr>
              <a:t>#ls </a:t>
            </a:r>
            <a:r>
              <a:rPr b="0" lang="fr-FR" sz="2400" spc="-1" strike="noStrike">
                <a:solidFill>
                  <a:srgbClr val="595959"/>
                </a:solidFill>
                <a:latin typeface="Segoe UI Symbol"/>
              </a:rPr>
              <a:t>&gt;</a:t>
            </a:r>
            <a:r>
              <a:rPr b="0" lang="fr-FR" sz="2400" spc="4" strike="noStrike">
                <a:solidFill>
                  <a:srgbClr val="595959"/>
                </a:solidFill>
                <a:latin typeface="Segoe UI Symbol"/>
              </a:rPr>
              <a:t> </a:t>
            </a:r>
            <a:r>
              <a:rPr b="0" lang="fr-FR" sz="2400" spc="-7" strike="noStrike">
                <a:solidFill>
                  <a:srgbClr val="595959"/>
                </a:solidFill>
                <a:latin typeface="Segoe UI Symbol"/>
              </a:rPr>
              <a:t>file1</a:t>
            </a:r>
            <a:endParaRPr b="0" lang="en-US" sz="2400" spc="-1" strike="noStrike">
              <a:solidFill>
                <a:srgbClr val="595959"/>
              </a:solidFill>
              <a:latin typeface="Rockwell"/>
            </a:endParaRPr>
          </a:p>
          <a:p>
            <a:pPr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Times New Roman"/>
              </a:rPr>
              <a:t>Le contenu de fichier sera supprimé automatiquement si le fichier existe déjà. </a:t>
            </a:r>
            <a:endParaRPr b="0" lang="en-US" sz="2400" spc="-1" strike="noStrike">
              <a:solidFill>
                <a:srgbClr val="595959"/>
              </a:solidFill>
              <a:latin typeface="Rockwell"/>
            </a:endParaRPr>
          </a:p>
          <a:p>
            <a:pPr marL="228600" indent="-228600">
              <a:lnSpc>
                <a:spcPct val="150000"/>
              </a:lnSpc>
              <a:buClr>
                <a:srgbClr val="663366"/>
              </a:buClr>
              <a:buSzPct val="75000"/>
              <a:buFont typeface="Wingdings" charset="2"/>
              <a:buChar char=""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Times New Roman"/>
              </a:rPr>
              <a:t>&gt;&gt; : rediriger à la fin d’un fichier</a:t>
            </a:r>
            <a:endParaRPr b="0" lang="en-US" sz="2400" spc="-1" strike="noStrike">
              <a:solidFill>
                <a:srgbClr val="595959"/>
              </a:solidFill>
              <a:latin typeface="Rockwel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fr-FR" sz="2400" spc="-7" strike="noStrike">
                <a:solidFill>
                  <a:srgbClr val="595959"/>
                </a:solidFill>
                <a:latin typeface="Segoe UI Symbol"/>
              </a:rPr>
              <a:t>          </a:t>
            </a:r>
            <a:r>
              <a:rPr b="0" lang="fr-FR" sz="2400" spc="-7" strike="noStrike">
                <a:solidFill>
                  <a:srgbClr val="595959"/>
                </a:solidFill>
                <a:latin typeface="Segoe UI Symbol"/>
              </a:rPr>
              <a:t>#ls </a:t>
            </a:r>
            <a:r>
              <a:rPr b="0" lang="fr-FR" sz="2400" spc="-1" strike="noStrike">
                <a:solidFill>
                  <a:srgbClr val="595959"/>
                </a:solidFill>
                <a:latin typeface="Segoe UI Symbol"/>
              </a:rPr>
              <a:t>&gt;&gt;</a:t>
            </a:r>
            <a:r>
              <a:rPr b="0" lang="fr-FR" sz="2400" spc="4" strike="noStrike">
                <a:solidFill>
                  <a:srgbClr val="595959"/>
                </a:solidFill>
                <a:latin typeface="Segoe UI Symbol"/>
              </a:rPr>
              <a:t> </a:t>
            </a:r>
            <a:r>
              <a:rPr b="0" lang="fr-FR" sz="2400" spc="-7" strike="noStrike">
                <a:solidFill>
                  <a:srgbClr val="595959"/>
                </a:solidFill>
                <a:latin typeface="Segoe UI Symbol"/>
              </a:rPr>
              <a:t>file1</a:t>
            </a:r>
            <a:endParaRPr b="0" lang="en-US" sz="2400" spc="-1" strike="noStrike">
              <a:solidFill>
                <a:srgbClr val="595959"/>
              </a:solidFill>
              <a:latin typeface="Rockwel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595959"/>
                </a:solidFill>
                <a:latin typeface="Rockwell"/>
              </a:rPr>
              <a:t>  </a:t>
            </a:r>
            <a:r>
              <a:rPr b="0" lang="fr-FR" sz="2400" spc="-1" strike="noStrike">
                <a:solidFill>
                  <a:srgbClr val="000000"/>
                </a:solidFill>
                <a:latin typeface="Times New Roman"/>
              </a:rPr>
              <a:t>Si le fichier n’existe pas, il sera créé. Sinon, les données seront ajoutées à la fin.</a:t>
            </a:r>
            <a:endParaRPr b="0" lang="en-US" sz="24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123" name="Rectangle 5"/>
          <p:cNvSpPr/>
          <p:nvPr/>
        </p:nvSpPr>
        <p:spPr>
          <a:xfrm>
            <a:off x="57960" y="1197360"/>
            <a:ext cx="68857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150000"/>
              </a:lnSpc>
              <a:buClr>
                <a:srgbClr val="663366"/>
              </a:buClr>
              <a:buSzPct val="75000"/>
              <a:buFont typeface="Wingdings" charset="2"/>
              <a:buChar char=""/>
            </a:pPr>
            <a:r>
              <a:rPr b="0" lang="fr-FR" sz="2400" spc="-1" strike="noStrike">
                <a:solidFill>
                  <a:schemeClr val="accent1"/>
                </a:solidFill>
                <a:latin typeface="Times New Roman"/>
              </a:rPr>
              <a:t>   </a:t>
            </a:r>
            <a:r>
              <a:rPr b="0" lang="fr-FR" sz="2400" spc="-1" strike="noStrike">
                <a:solidFill>
                  <a:schemeClr val="accent1"/>
                </a:solidFill>
                <a:latin typeface="Times New Roman"/>
              </a:rPr>
              <a:t>&gt; et &gt;&gt;   : renvoient le résultat vers un fichier.</a:t>
            </a:r>
            <a:endParaRPr b="0" lang="fr-FR" sz="2400" spc="-1" strike="noStrike"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ftr" idx="13"/>
          </p:nvPr>
        </p:nvSpPr>
        <p:spPr>
          <a:xfrm>
            <a:off x="7394760" y="6423480"/>
            <a:ext cx="16329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100" spc="-1" strike="noStrike">
                <a:solidFill>
                  <a:srgbClr val="595959"/>
                </a:solidFill>
                <a:latin typeface="Rockwel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595959"/>
                </a:solidFill>
                <a:latin typeface="Rockwell"/>
              </a:rPr>
              <a:t>2025-2026</a:t>
            </a:r>
            <a:endParaRPr b="0" lang="fr-FR" sz="1100" spc="-1" strike="noStrike">
              <a:latin typeface="Times New Roman"/>
            </a:endParaRPr>
          </a:p>
          <a:p>
            <a:pPr indent="0" algn="r">
              <a:lnSpc>
                <a:spcPct val="100000"/>
              </a:lnSpc>
              <a:buNone/>
            </a:pPr>
            <a:endParaRPr b="0" lang="fr-FR" sz="1100" spc="-1" strike="noStrike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E002390-0D29-486E-A603-072406283520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98600" y="174600"/>
            <a:ext cx="7556040" cy="1115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3600" spc="-1" strike="noStrike">
                <a:solidFill>
                  <a:schemeClr val="accent1"/>
                </a:solidFill>
                <a:latin typeface="Rockwell"/>
              </a:rPr>
              <a:t>Flux de redirection</a:t>
            </a:r>
            <a:br>
              <a:rPr sz="3600"/>
            </a:b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26" name="Titre 1"/>
          <p:cNvSpPr/>
          <p:nvPr/>
        </p:nvSpPr>
        <p:spPr>
          <a:xfrm>
            <a:off x="-11880" y="1307160"/>
            <a:ext cx="7556040" cy="68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indent="-216000">
              <a:lnSpc>
                <a:spcPct val="150000"/>
              </a:lnSpc>
              <a:buClr>
                <a:srgbClr val="663366"/>
              </a:buClr>
              <a:buFont typeface="Wingdings" charset="2"/>
              <a:buChar char=""/>
            </a:pPr>
            <a:r>
              <a:rPr b="0" lang="fr-FR" sz="2000" spc="-1" strike="noStrike">
                <a:solidFill>
                  <a:schemeClr val="accent1"/>
                </a:solidFill>
                <a:latin typeface="Times New Roman"/>
              </a:rPr>
              <a:t> </a:t>
            </a:r>
            <a:r>
              <a:rPr b="0" lang="fr-FR" sz="2000" spc="-1" strike="noStrike">
                <a:solidFill>
                  <a:schemeClr val="accent1"/>
                </a:solidFill>
                <a:latin typeface="Times New Roman"/>
              </a:rPr>
              <a:t>&lt; et &lt;&lt; : lire depuis un fichier ou le clavier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27" name="Rectangle 7"/>
          <p:cNvSpPr/>
          <p:nvPr/>
        </p:nvSpPr>
        <p:spPr>
          <a:xfrm>
            <a:off x="203760" y="1990080"/>
            <a:ext cx="8613360" cy="40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2000" spc="-1" strike="noStrike">
                <a:solidFill>
                  <a:srgbClr val="000000"/>
                </a:solidFill>
                <a:latin typeface="Times New Roman"/>
              </a:rPr>
              <a:t>&lt;  : permet d’indiquer d’où vient l’entrée qu’on envoie à la commande.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2000" spc="-1" strike="noStrike">
                <a:solidFill>
                  <a:srgbClr val="000000"/>
                </a:solidFill>
                <a:latin typeface="Times New Roman"/>
              </a:rPr>
              <a:t>    </a:t>
            </a:r>
            <a:r>
              <a:rPr b="0" lang="fr-FR" sz="2000" spc="-1" strike="noStrike">
                <a:solidFill>
                  <a:srgbClr val="000000"/>
                </a:solidFill>
                <a:latin typeface="Times New Roman"/>
              </a:rPr>
              <a:t>Exemple : Le fichier est lu par la commande cat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2000" spc="-1" strike="noStrike">
                <a:solidFill>
                  <a:srgbClr val="000000"/>
                </a:solidFill>
                <a:latin typeface="Segoe UI Symbol"/>
              </a:rPr>
              <a:t>                         </a:t>
            </a:r>
            <a:r>
              <a:rPr b="1" lang="fr-FR" sz="2000" spc="-1" strike="noStrike">
                <a:solidFill>
                  <a:srgbClr val="0070c0"/>
                </a:solidFill>
                <a:latin typeface="Segoe UI Symbol"/>
              </a:rPr>
              <a:t>#cat &lt;</a:t>
            </a:r>
            <a:r>
              <a:rPr b="1" lang="fr-FR" sz="2000" spc="364" strike="noStrike">
                <a:solidFill>
                  <a:srgbClr val="0070c0"/>
                </a:solidFill>
                <a:latin typeface="Segoe UI Symbol"/>
              </a:rPr>
              <a:t> </a:t>
            </a:r>
            <a:r>
              <a:rPr b="1" lang="fr-FR" sz="2000" spc="-7" strike="noStrike">
                <a:solidFill>
                  <a:srgbClr val="0070c0"/>
                </a:solidFill>
                <a:latin typeface="Segoe UI Symbol"/>
              </a:rPr>
              <a:t>fichier1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2000" spc="-1" strike="noStrike">
                <a:solidFill>
                  <a:srgbClr val="000000"/>
                </a:solidFill>
                <a:latin typeface="Times New Roman"/>
              </a:rPr>
              <a:t>&lt;&lt; : lire depuis le clavier progressivement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20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2000" spc="-1" strike="noStrike">
                <a:solidFill>
                  <a:srgbClr val="000000"/>
                </a:solidFill>
                <a:latin typeface="Times New Roman"/>
              </a:rPr>
              <a:t>Exemple : la commande cat lit du clavier jusqu’à ce qu’elle rencontre la chaine END et redirige le résultat dans le fichier fin 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fr-FR" sz="2000" spc="-1" strike="noStrike">
                <a:solidFill>
                  <a:srgbClr val="0070c0"/>
                </a:solidFill>
                <a:latin typeface="Times New Roman"/>
              </a:rPr>
              <a:t>                       </a:t>
            </a:r>
            <a:r>
              <a:rPr b="1" lang="fr-FR" sz="2000" spc="-1" strike="noStrike">
                <a:solidFill>
                  <a:srgbClr val="0070c0"/>
                </a:solidFill>
                <a:latin typeface="Times New Roman"/>
              </a:rPr>
              <a:t>#cat &gt; fin &lt;&lt;END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2000" spc="-1" strike="noStrike">
                <a:solidFill>
                  <a:srgbClr val="000000"/>
                </a:solidFill>
                <a:latin typeface="Times New Roman"/>
              </a:rPr>
              <a:t>&gt;je suis dans le fichier fin, l'édition est stoppée lors de la rencontre du mot clé END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2000" spc="-1" strike="noStrike">
                <a:solidFill>
                  <a:srgbClr val="000000"/>
                </a:solidFill>
                <a:latin typeface="Times New Roman"/>
              </a:rPr>
              <a:t>             </a:t>
            </a:r>
            <a:r>
              <a:rPr b="1" lang="fr-FR" sz="2000" spc="-1" strike="noStrike">
                <a:solidFill>
                  <a:srgbClr val="0070c0"/>
                </a:solidFill>
                <a:latin typeface="Times New Roman"/>
              </a:rPr>
              <a:t>#cat fin</a:t>
            </a:r>
            <a:endParaRPr b="0" lang="fr-F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2000" spc="-1" strike="noStrike">
                <a:solidFill>
                  <a:srgbClr val="000000"/>
                </a:solidFill>
                <a:latin typeface="Times New Roman"/>
              </a:rPr>
              <a:t>je suis dans le fichier fin, l'édition est stoppée lors de la rencontre du mot clé END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ftr" idx="14"/>
          </p:nvPr>
        </p:nvSpPr>
        <p:spPr>
          <a:xfrm>
            <a:off x="7394760" y="6423480"/>
            <a:ext cx="16329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100" spc="-1" strike="noStrike">
                <a:solidFill>
                  <a:srgbClr val="595959"/>
                </a:solidFill>
                <a:latin typeface="Rockwel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595959"/>
                </a:solidFill>
                <a:latin typeface="Rockwell"/>
              </a:rPr>
              <a:t>2025-2026</a:t>
            </a:r>
            <a:endParaRPr b="0" lang="fr-FR" sz="1100" spc="-1" strike="noStrike">
              <a:latin typeface="Times New Roman"/>
            </a:endParaRPr>
          </a:p>
          <a:p>
            <a:pPr indent="0" algn="r">
              <a:lnSpc>
                <a:spcPct val="100000"/>
              </a:lnSpc>
              <a:buNone/>
            </a:pPr>
            <a:endParaRPr b="0" lang="fr-FR" sz="1100" spc="-1" strike="noStrike"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330A916-2B79-406E-B139-B948627CA699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189000" y="815760"/>
            <a:ext cx="7556040" cy="645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50000"/>
              </a:lnSpc>
              <a:buClr>
                <a:srgbClr val="663366"/>
              </a:buClr>
              <a:buFont typeface="Wingdings" charset="2"/>
              <a:buChar char=""/>
            </a:pPr>
            <a:r>
              <a:rPr b="0" lang="fr-FR" sz="2400" spc="-1" strike="noStrike">
                <a:solidFill>
                  <a:schemeClr val="accent1"/>
                </a:solidFill>
                <a:latin typeface="Times New Roman"/>
              </a:rPr>
              <a:t>Redirection des erreurs : (2&gt;, 2&gt;&gt; et 2&gt;&amp;1) </a:t>
            </a:r>
            <a:endParaRPr b="0" lang="en-US" sz="24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189000" y="1488960"/>
            <a:ext cx="8670600" cy="5010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000"/>
          </a:bodyPr>
          <a:p>
            <a:pPr marL="228600"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Pour chaque commande exécutée, il existe deux possibilités :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-228600">
              <a:lnSpc>
                <a:spcPct val="100000"/>
              </a:lnSpc>
              <a:spcBef>
                <a:spcPts val="2001"/>
              </a:spcBef>
              <a:buClr>
                <a:srgbClr val="663366"/>
              </a:buClr>
              <a:buSzPct val="75000"/>
              <a:buFont typeface="Wingdings" charset="2"/>
              <a:buChar char=""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    </a:t>
            </a: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Cas 1 : Tout va bien :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    </a:t>
            </a: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Le résultat de la commande sera affiché sur la sortie standard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-228600">
              <a:lnSpc>
                <a:spcPct val="100000"/>
              </a:lnSpc>
              <a:spcBef>
                <a:spcPts val="2001"/>
              </a:spcBef>
              <a:buClr>
                <a:srgbClr val="663366"/>
              </a:buClr>
              <a:buSzPct val="75000"/>
              <a:buFont typeface="Wingdings" charset="2"/>
              <a:buChar char=""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    </a:t>
            </a: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Cas 2 : Une erreur se produit 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    </a:t>
            </a: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Le résultat de la commande s’affiche dans la sortie d’erreurs.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-228600">
              <a:lnSpc>
                <a:spcPct val="150000"/>
              </a:lnSpc>
              <a:buClr>
                <a:srgbClr val="663366"/>
              </a:buClr>
              <a:buSzPct val="75000"/>
              <a:buFont typeface="Wingdings" charset="2"/>
              <a:buChar char=""/>
              <a:tabLst>
                <a:tab algn="l" pos="0"/>
              </a:tabLst>
            </a:pPr>
            <a:r>
              <a:rPr b="0" lang="fr-FR" sz="2400" spc="-1" strike="noStrike">
                <a:solidFill>
                  <a:schemeClr val="accent1"/>
                </a:solidFill>
                <a:latin typeface="Times New Roman"/>
              </a:rPr>
              <a:t>Syntaxe</a:t>
            </a:r>
            <a:endParaRPr b="0" lang="en-US" sz="24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2&gt; : Rediriger les erreurs dans un fichier à part 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2&gt;&gt;  : pour ajouter les erreurs à la fin du fichier.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2&gt;&amp;1 : Fusionner les sorties : Cela a pour effet de rediriger toute la sortie d’erreurs dans la sortie standard.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131" name="Rectangle 5"/>
          <p:cNvSpPr/>
          <p:nvPr/>
        </p:nvSpPr>
        <p:spPr>
          <a:xfrm>
            <a:off x="569880" y="199800"/>
            <a:ext cx="45716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3600" spc="-1" strike="noStrike">
                <a:solidFill>
                  <a:schemeClr val="accent1"/>
                </a:solidFill>
                <a:latin typeface="Rockwell"/>
              </a:rPr>
              <a:t>Flux de redirection</a:t>
            </a:r>
            <a:endParaRPr b="0" lang="fr-FR" sz="3600" spc="-1" strike="noStrike">
              <a:latin typeface="Arial"/>
            </a:endParaRPr>
          </a:p>
        </p:txBody>
      </p:sp>
      <p:sp>
        <p:nvSpPr>
          <p:cNvPr id="132" name="Espace réservé du pied de page 1"/>
          <p:cNvSpPr txBox="1"/>
          <p:nvPr/>
        </p:nvSpPr>
        <p:spPr>
          <a:xfrm>
            <a:off x="7394760" y="6423840"/>
            <a:ext cx="16329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r>
              <a:rPr b="0" lang="en-US" sz="1100" spc="-1" strike="noStrike">
                <a:solidFill>
                  <a:srgbClr val="595959"/>
                </a:solidFill>
                <a:latin typeface="Rockwell"/>
              </a:rPr>
              <a:t>2025-2026</a:t>
            </a:r>
            <a:endParaRPr b="0" lang="fr-FR" sz="1100" spc="-1" strike="noStrike">
              <a:latin typeface="Times New Roman"/>
            </a:endParaRPr>
          </a:p>
          <a:p>
            <a:pPr algn="r">
              <a:lnSpc>
                <a:spcPct val="100000"/>
              </a:lnSpc>
            </a:pPr>
            <a:endParaRPr b="0" lang="fr-FR" sz="1100" spc="-1" strike="noStrike"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C6AD610-C679-4646-B50A-43B31C83C6B5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498600" y="188640"/>
            <a:ext cx="7556040" cy="1115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3600" spc="-1" strike="noStrike">
                <a:solidFill>
                  <a:schemeClr val="accent1"/>
                </a:solidFill>
                <a:latin typeface="Rockwell"/>
              </a:rPr>
              <a:t>Tubes de communication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0" y="849960"/>
            <a:ext cx="8054280" cy="3624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28600" indent="-228600" algn="just">
              <a:lnSpc>
                <a:spcPct val="150000"/>
              </a:lnSpc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Le symbole |, qui s’appelle ”tube” ou ”pipe”,  permet de relier deux commandes entre elles.  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-228600" algn="just">
              <a:lnSpc>
                <a:spcPct val="150000"/>
              </a:lnSpc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Il s’agit d’utiliser le premier paramètre à gauche comme entrée de deuxième paramètre 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 algn="just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                          </a:t>
            </a: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commande1 | commande2 | commande3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-228600" algn="just">
              <a:lnSpc>
                <a:spcPct val="150000"/>
              </a:lnSpc>
              <a:buClr>
                <a:srgbClr val="66336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Redirections = assure la communication entre (fichier, processus ).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-228600" algn="just">
              <a:lnSpc>
                <a:spcPct val="150000"/>
              </a:lnSpc>
              <a:buClr>
                <a:srgbClr val="66336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Tube = assure la communication entre deux processus.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</p:txBody>
      </p:sp>
      <p:pic>
        <p:nvPicPr>
          <p:cNvPr id="135" name="Picture 2" descr="C:\Users\asus\Desktop\1Capture.PNG"/>
          <p:cNvPicPr/>
          <p:nvPr/>
        </p:nvPicPr>
        <p:blipFill>
          <a:blip r:embed="rId1"/>
          <a:srcRect l="0" t="0" r="4616" b="0"/>
          <a:stretch/>
        </p:blipFill>
        <p:spPr>
          <a:xfrm>
            <a:off x="2058120" y="4540320"/>
            <a:ext cx="7141680" cy="2313720"/>
          </a:xfrm>
          <a:prstGeom prst="rect">
            <a:avLst/>
          </a:prstGeom>
          <a:ln w="0">
            <a:noFill/>
          </a:ln>
        </p:spPr>
      </p:pic>
      <p:sp>
        <p:nvSpPr>
          <p:cNvPr id="136" name="Rectangle 6"/>
          <p:cNvSpPr/>
          <p:nvPr/>
        </p:nvSpPr>
        <p:spPr>
          <a:xfrm>
            <a:off x="122760" y="5328000"/>
            <a:ext cx="2828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Rockwell"/>
              </a:rPr>
              <a:t>Exemple : P1 | P2 | P3. 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137" name="Espace réservé du pied de page 2"/>
          <p:cNvSpPr txBox="1"/>
          <p:nvPr/>
        </p:nvSpPr>
        <p:spPr>
          <a:xfrm>
            <a:off x="72000" y="6408000"/>
            <a:ext cx="16329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r>
              <a:rPr b="0" lang="en-US" sz="1100" spc="-1" strike="noStrike">
                <a:solidFill>
                  <a:srgbClr val="595959"/>
                </a:solidFill>
                <a:latin typeface="Rockwell"/>
              </a:rPr>
              <a:t>2025-2026</a:t>
            </a:r>
            <a:endParaRPr b="0" lang="fr-FR" sz="1100" spc="-1" strike="noStrike">
              <a:latin typeface="Times New Roman"/>
            </a:endParaRPr>
          </a:p>
          <a:p>
            <a:pPr algn="r">
              <a:lnSpc>
                <a:spcPct val="100000"/>
              </a:lnSpc>
            </a:pPr>
            <a:endParaRPr b="0" lang="fr-FR" sz="1100" spc="-1" strike="noStrike"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A8EB543-7471-498B-9230-C8998B532FB5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498600" y="160560"/>
            <a:ext cx="7556040" cy="1115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3600" spc="-1" strike="noStrike">
                <a:solidFill>
                  <a:schemeClr val="accent1"/>
                </a:solidFill>
                <a:latin typeface="Rockwell"/>
              </a:rPr>
              <a:t>Filtres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498600" y="1981080"/>
            <a:ext cx="7556040" cy="41446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28600" indent="-228600" algn="just">
              <a:lnSpc>
                <a:spcPct val="150000"/>
              </a:lnSpc>
              <a:spcBef>
                <a:spcPts val="2001"/>
              </a:spcBef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Ce sont des programmes traitant des données qui proviennent de l’entrée standard. 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-228600" algn="just">
              <a:lnSpc>
                <a:spcPct val="150000"/>
              </a:lnSpc>
              <a:spcBef>
                <a:spcPts val="2001"/>
              </a:spcBef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Très utiles en les combinant avec des filtres.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140" name="Espace réservé du pied de page 4"/>
          <p:cNvSpPr txBox="1"/>
          <p:nvPr/>
        </p:nvSpPr>
        <p:spPr>
          <a:xfrm>
            <a:off x="144000" y="6480360"/>
            <a:ext cx="9849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r>
              <a:rPr b="0" lang="en-US" sz="1100" spc="-1" strike="noStrike">
                <a:solidFill>
                  <a:srgbClr val="595959"/>
                </a:solidFill>
                <a:latin typeface="Rockwell"/>
              </a:rPr>
              <a:t>2025-2026</a:t>
            </a:r>
            <a:endParaRPr b="0" lang="fr-FR" sz="1100" spc="-1" strike="noStrike">
              <a:latin typeface="Times New Roman"/>
            </a:endParaRPr>
          </a:p>
          <a:p>
            <a:pPr algn="r">
              <a:lnSpc>
                <a:spcPct val="100000"/>
              </a:lnSpc>
            </a:pPr>
            <a:endParaRPr b="0" lang="fr-FR" sz="1100" spc="-1" strike="noStrike"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CE13FA7-601E-48B0-BCA9-62C42B89F5FB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543960" y="-35640"/>
            <a:ext cx="8816040" cy="1115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3600" spc="-1" strike="noStrike">
                <a:solidFill>
                  <a:schemeClr val="accent1"/>
                </a:solidFill>
                <a:latin typeface="Rockwell"/>
              </a:rPr>
              <a:t>les commandes filtres courantes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489600" y="537120"/>
            <a:ext cx="8103600" cy="5084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000"/>
          </a:bodyPr>
          <a:p>
            <a:pPr marL="228600" indent="-228600">
              <a:lnSpc>
                <a:spcPct val="100000"/>
              </a:lnSpc>
              <a:spcBef>
                <a:spcPts val="2001"/>
              </a:spcBef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2400" spc="-1" strike="noStrike">
                <a:solidFill>
                  <a:srgbClr val="000000"/>
                </a:solidFill>
                <a:latin typeface="Rockwell"/>
              </a:rPr>
              <a:t>La commande </a:t>
            </a:r>
            <a:r>
              <a:rPr b="0" lang="fr-FR" sz="2400" spc="-1" strike="noStrike">
                <a:solidFill>
                  <a:srgbClr val="0070c0"/>
                </a:solidFill>
                <a:latin typeface="Rockwell"/>
              </a:rPr>
              <a:t>sort</a:t>
            </a:r>
            <a:endParaRPr b="0" lang="en-US" sz="24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595959"/>
                </a:solidFill>
                <a:latin typeface="Rockwell"/>
              </a:rPr>
              <a:t>   </a:t>
            </a:r>
            <a:r>
              <a:rPr b="0" lang="fr-FR" sz="2400" spc="-1" strike="noStrike">
                <a:solidFill>
                  <a:srgbClr val="000000"/>
                </a:solidFill>
                <a:latin typeface="Times New Roman"/>
              </a:rPr>
              <a:t>Tri sur des lignes de texte :</a:t>
            </a:r>
            <a:endParaRPr b="0" lang="en-US" sz="2400" spc="-1" strike="noStrike">
              <a:solidFill>
                <a:srgbClr val="595959"/>
              </a:solidFill>
              <a:latin typeface="Rockwell"/>
            </a:endParaRPr>
          </a:p>
          <a:p>
            <a:pPr marL="228600" indent="-228600">
              <a:lnSpc>
                <a:spcPct val="150000"/>
              </a:lnSpc>
              <a:buClr>
                <a:srgbClr val="663366"/>
              </a:buClr>
              <a:buSzPct val="75000"/>
              <a:buFont typeface="Wingdings" charset="2"/>
              <a:buChar char=""/>
              <a:tabLst>
                <a:tab algn="l" pos="0"/>
              </a:tabLst>
            </a:pPr>
            <a:r>
              <a:rPr b="1" lang="fr-FR" sz="2400" spc="-1" strike="noStrike">
                <a:solidFill>
                  <a:schemeClr val="accent1"/>
                </a:solidFill>
                <a:latin typeface="Times New Roman"/>
              </a:rPr>
              <a:t>Options</a:t>
            </a:r>
            <a:endParaRPr b="0" lang="en-US" sz="24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Times New Roman"/>
              </a:rPr>
              <a:t>  </a:t>
            </a:r>
            <a:r>
              <a:rPr b="0" lang="fr-FR" sz="2400" spc="-1" strike="noStrike">
                <a:solidFill>
                  <a:srgbClr val="0070c0"/>
                </a:solidFill>
                <a:latin typeface="Times New Roman"/>
              </a:rPr>
              <a:t>- n</a:t>
            </a:r>
            <a:r>
              <a:rPr b="0" lang="fr-FR" sz="2400" spc="-1" strike="noStrike">
                <a:solidFill>
                  <a:srgbClr val="000000"/>
                </a:solidFill>
                <a:latin typeface="Times New Roman"/>
              </a:rPr>
              <a:t>:   ordre numérique </a:t>
            </a:r>
            <a:endParaRPr b="0" lang="en-US" sz="24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Times New Roman"/>
              </a:rPr>
              <a:t>  </a:t>
            </a:r>
            <a:r>
              <a:rPr b="0" lang="fr-FR" sz="2400" spc="-1" strike="noStrike">
                <a:solidFill>
                  <a:srgbClr val="0070c0"/>
                </a:solidFill>
                <a:latin typeface="Times New Roman"/>
              </a:rPr>
              <a:t>- s</a:t>
            </a:r>
            <a:r>
              <a:rPr b="0" lang="fr-FR" sz="2400" spc="-1" strike="noStrike">
                <a:solidFill>
                  <a:srgbClr val="000000"/>
                </a:solidFill>
                <a:latin typeface="Times New Roman"/>
              </a:rPr>
              <a:t>  :  lexicographique (par défaut)  </a:t>
            </a:r>
            <a:endParaRPr b="0" lang="en-US" sz="24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Times New Roman"/>
              </a:rPr>
              <a:t>  </a:t>
            </a:r>
            <a:r>
              <a:rPr b="0" lang="fr-FR" sz="2400" spc="-1" strike="noStrike">
                <a:solidFill>
                  <a:srgbClr val="0070c0"/>
                </a:solidFill>
                <a:latin typeface="Times New Roman"/>
              </a:rPr>
              <a:t>- d</a:t>
            </a:r>
            <a:r>
              <a:rPr b="0" lang="fr-FR" sz="2400" spc="-1" strike="noStrike">
                <a:solidFill>
                  <a:srgbClr val="000000"/>
                </a:solidFill>
                <a:latin typeface="Times New Roman"/>
              </a:rPr>
              <a:t>  :  selon le dictionnaire </a:t>
            </a:r>
            <a:endParaRPr b="0" lang="en-US" sz="24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Times New Roman"/>
              </a:rPr>
              <a:t>  </a:t>
            </a:r>
            <a:r>
              <a:rPr b="0" lang="fr-FR" sz="2400" spc="-1" strike="noStrike">
                <a:solidFill>
                  <a:srgbClr val="0070c0"/>
                </a:solidFill>
                <a:latin typeface="Times New Roman"/>
              </a:rPr>
              <a:t>- k</a:t>
            </a:r>
            <a:r>
              <a:rPr b="0" lang="fr-FR" sz="2400" spc="-1" strike="noStrike">
                <a:solidFill>
                  <a:srgbClr val="000000"/>
                </a:solidFill>
                <a:latin typeface="Times New Roman"/>
              </a:rPr>
              <a:t> : Tri d’un champ particulier</a:t>
            </a:r>
            <a:endParaRPr b="0" lang="en-US" sz="24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Times New Roman"/>
              </a:rPr>
              <a:t>  </a:t>
            </a:r>
            <a:r>
              <a:rPr b="0" lang="fr-FR" sz="2400" spc="-1" strike="noStrike">
                <a:solidFill>
                  <a:srgbClr val="0070c0"/>
                </a:solidFill>
                <a:latin typeface="Times New Roman"/>
              </a:rPr>
              <a:t>- r</a:t>
            </a:r>
            <a:r>
              <a:rPr b="0" lang="fr-FR" sz="2400" spc="-1" strike="noStrike">
                <a:solidFill>
                  <a:srgbClr val="000000"/>
                </a:solidFill>
                <a:latin typeface="Times New Roman"/>
              </a:rPr>
              <a:t> : Tri en ordre inverse</a:t>
            </a:r>
            <a:endParaRPr b="0" lang="en-US" sz="24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 algn="just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595959"/>
                </a:solidFill>
                <a:latin typeface="Rockwell"/>
              </a:rPr>
              <a:t> </a:t>
            </a:r>
            <a:r>
              <a:rPr b="0" lang="fr-FR" sz="24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2400" spc="-1" strike="noStrike">
                <a:solidFill>
                  <a:srgbClr val="c00000"/>
                </a:solidFill>
                <a:latin typeface="Times New Roman"/>
              </a:rPr>
              <a:t>Req:  </a:t>
            </a:r>
            <a:r>
              <a:rPr b="0" lang="fr-FR" sz="2400" spc="-1" strike="noStrike">
                <a:solidFill>
                  <a:srgbClr val="000000"/>
                </a:solidFill>
                <a:latin typeface="Times New Roman"/>
              </a:rPr>
              <a:t>Les champs sont délimités par défaut par le caractère de tabulation mais il est possible de spécifier un autre caractère avec l’option ”-t”.</a:t>
            </a:r>
            <a:endParaRPr b="0" lang="en-US" sz="2400" spc="-1" strike="noStrike">
              <a:solidFill>
                <a:srgbClr val="595959"/>
              </a:solidFill>
              <a:latin typeface="Rockwell"/>
            </a:endParaRPr>
          </a:p>
          <a:p>
            <a:pPr marL="228600" indent="-228600" algn="just">
              <a:lnSpc>
                <a:spcPct val="150000"/>
              </a:lnSpc>
              <a:buClr>
                <a:srgbClr val="663366"/>
              </a:buClr>
              <a:buSzPct val="120000"/>
              <a:buFont typeface="Wingdings" charset="2"/>
              <a:buChar char=""/>
              <a:tabLst>
                <a:tab algn="l" pos="0"/>
              </a:tabLst>
            </a:pPr>
            <a:r>
              <a:rPr b="1" lang="fr-FR" sz="2400" spc="-1" strike="noStrike">
                <a:solidFill>
                  <a:schemeClr val="accent1"/>
                </a:solidFill>
                <a:latin typeface="Times New Roman"/>
              </a:rPr>
              <a:t>Exemples</a:t>
            </a:r>
            <a:endParaRPr b="0" lang="en-US" sz="2400" spc="-1" strike="noStrike">
              <a:solidFill>
                <a:srgbClr val="595959"/>
              </a:solidFill>
              <a:latin typeface="Rockwell"/>
            </a:endParaRPr>
          </a:p>
        </p:txBody>
      </p:sp>
      <p:pic>
        <p:nvPicPr>
          <p:cNvPr id="143" name="Picture 2" descr="C:\Users\asus\Desktop\1Capture.PNG"/>
          <p:cNvPicPr/>
          <p:nvPr/>
        </p:nvPicPr>
        <p:blipFill>
          <a:blip r:embed="rId1"/>
          <a:stretch/>
        </p:blipFill>
        <p:spPr>
          <a:xfrm>
            <a:off x="2245680" y="5110920"/>
            <a:ext cx="5734440" cy="1674720"/>
          </a:xfrm>
          <a:prstGeom prst="rect">
            <a:avLst/>
          </a:prstGeom>
          <a:ln w="0">
            <a:noFill/>
          </a:ln>
        </p:spPr>
      </p:pic>
      <p:sp>
        <p:nvSpPr>
          <p:cNvPr id="144" name="Espace réservé du pied de page 5"/>
          <p:cNvSpPr txBox="1"/>
          <p:nvPr/>
        </p:nvSpPr>
        <p:spPr>
          <a:xfrm>
            <a:off x="720000" y="6300000"/>
            <a:ext cx="984960" cy="360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r>
              <a:rPr b="0" lang="en-US" sz="1100" spc="-1" strike="noStrike">
                <a:solidFill>
                  <a:srgbClr val="595959"/>
                </a:solidFill>
                <a:latin typeface="Rockwell"/>
              </a:rPr>
              <a:t>2025-2026</a:t>
            </a:r>
            <a:endParaRPr b="0" lang="fr-FR" sz="1100" spc="-1" strike="noStrike">
              <a:latin typeface="Times New Roman"/>
            </a:endParaRPr>
          </a:p>
          <a:p>
            <a:pPr algn="r">
              <a:lnSpc>
                <a:spcPct val="100000"/>
              </a:lnSpc>
            </a:pPr>
            <a:endParaRPr b="0" lang="fr-FR" sz="1100" spc="-1" strike="noStrike"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A408180-52A9-47DF-9BB9-31D1950366E0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498600" y="133560"/>
            <a:ext cx="7556040" cy="1115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3600" spc="-1" strike="noStrike">
                <a:solidFill>
                  <a:schemeClr val="accent1"/>
                </a:solidFill>
                <a:latin typeface="Rockwell"/>
              </a:rPr>
              <a:t>La commande grep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498600" y="956520"/>
            <a:ext cx="8645040" cy="5466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000"/>
          </a:bodyPr>
          <a:p>
            <a:pPr marL="228600" indent="-228600">
              <a:lnSpc>
                <a:spcPct val="150000"/>
              </a:lnSpc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La commande </a:t>
            </a:r>
            <a:r>
              <a:rPr b="0" lang="fr-FR" sz="2200" spc="-1" strike="noStrike">
                <a:solidFill>
                  <a:srgbClr val="0070c0"/>
                </a:solidFill>
                <a:latin typeface="Times New Roman"/>
              </a:rPr>
              <a:t>grep</a:t>
            </a: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 permet la recherche dans des fichiers d’une expression particulière. 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-228600">
              <a:lnSpc>
                <a:spcPct val="150000"/>
              </a:lnSpc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Les options basiques sont: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   </a:t>
            </a:r>
            <a:r>
              <a:rPr b="0" lang="fr-FR" sz="2200" spc="-1" strike="noStrike">
                <a:solidFill>
                  <a:srgbClr val="0070c0"/>
                </a:solidFill>
                <a:latin typeface="Times New Roman"/>
              </a:rPr>
              <a:t>-n </a:t>
            </a: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:  numéro de ligne.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   </a:t>
            </a:r>
            <a:r>
              <a:rPr b="0" lang="fr-FR" sz="2200" spc="-1" strike="noStrike">
                <a:solidFill>
                  <a:srgbClr val="0070c0"/>
                </a:solidFill>
                <a:latin typeface="Times New Roman"/>
              </a:rPr>
              <a:t>-i</a:t>
            </a: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  : ignorer majuscules et minuscules 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   </a:t>
            </a:r>
            <a:r>
              <a:rPr b="0" lang="fr-FR" sz="2200" spc="-1" strike="noStrike">
                <a:solidFill>
                  <a:srgbClr val="0070c0"/>
                </a:solidFill>
                <a:latin typeface="Times New Roman"/>
              </a:rPr>
              <a:t>-v</a:t>
            </a: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 :  rechercher tout sauf la chaine de caractères dans un fichier.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  </a:t>
            </a:r>
            <a:r>
              <a:rPr b="0" lang="fr-FR" sz="1800" spc="-1" strike="noStrike">
                <a:solidFill>
                  <a:srgbClr val="000000"/>
                </a:solidFill>
                <a:latin typeface="Times New Roman"/>
              </a:rPr>
              <a:t>- Rechercher la chaine de caractères dans une arborescence /etc/  (r : recursive)</a:t>
            </a:r>
            <a:endParaRPr b="0" lang="en-US" sz="18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1" lang="fr-FR" sz="1800" spc="-1" strike="noStrike">
                <a:solidFill>
                  <a:srgbClr val="0070c0"/>
                </a:solidFill>
                <a:latin typeface="Times New Roman"/>
              </a:rPr>
              <a:t>           </a:t>
            </a:r>
            <a:r>
              <a:rPr b="1" lang="fr-FR" sz="1800" spc="-1" strike="noStrike">
                <a:solidFill>
                  <a:srgbClr val="0070c0"/>
                </a:solidFill>
                <a:latin typeface="Times New Roman"/>
              </a:rPr>
              <a:t>grep –r  « chaine »  /etc/</a:t>
            </a:r>
            <a:endParaRPr b="0" lang="en-US" sz="1800" spc="-1" strike="noStrike">
              <a:solidFill>
                <a:srgbClr val="595959"/>
              </a:solidFill>
              <a:latin typeface="Rockwell"/>
            </a:endParaRPr>
          </a:p>
          <a:p>
            <a:pPr marL="228600" indent="-228600">
              <a:lnSpc>
                <a:spcPct val="150000"/>
              </a:lnSpc>
              <a:buClr>
                <a:srgbClr val="663366"/>
              </a:buClr>
              <a:buSzPct val="75000"/>
              <a:buFont typeface="Wingdings" charset="2"/>
              <a:buChar char="-"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Times New Roman"/>
              </a:rPr>
              <a:t>Afficher la ligne contenant home sans tenir compte des majuscules et minuscules :</a:t>
            </a:r>
            <a:endParaRPr b="0" lang="en-US" sz="1800" spc="-1" strike="noStrike">
              <a:solidFill>
                <a:srgbClr val="595959"/>
              </a:solidFill>
              <a:latin typeface="Rockwel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Times New Roman"/>
              </a:rPr>
              <a:t>          </a:t>
            </a:r>
            <a:r>
              <a:rPr b="1" lang="fr-FR" sz="1800" spc="-1" strike="noStrike">
                <a:solidFill>
                  <a:srgbClr val="0070c0"/>
                </a:solidFill>
                <a:latin typeface="Times New Roman"/>
              </a:rPr>
              <a:t>grep  -i « home » &lt; /etc/passwd</a:t>
            </a:r>
            <a:endParaRPr b="0" lang="en-US" sz="1800" spc="-1" strike="noStrike">
              <a:solidFill>
                <a:srgbClr val="595959"/>
              </a:solidFill>
              <a:latin typeface="Rockwell"/>
            </a:endParaRPr>
          </a:p>
          <a:p>
            <a:pPr marL="228600" indent="-228600">
              <a:lnSpc>
                <a:spcPct val="150000"/>
              </a:lnSpc>
              <a:buClr>
                <a:srgbClr val="663366"/>
              </a:buClr>
              <a:buSzPct val="75000"/>
              <a:buFont typeface="Wingdings" charset="2"/>
              <a:buChar char="-"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Times New Roman"/>
              </a:rPr>
              <a:t>Afficher les lignes ne contenant pas home :</a:t>
            </a:r>
            <a:endParaRPr b="0" lang="en-US" sz="1800" spc="-1" strike="noStrike">
              <a:solidFill>
                <a:srgbClr val="595959"/>
              </a:solidFill>
              <a:latin typeface="Rockwel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Times New Roman"/>
              </a:rPr>
              <a:t>          </a:t>
            </a:r>
            <a:r>
              <a:rPr b="1" lang="fr-FR" sz="1800" spc="-1" strike="noStrike">
                <a:solidFill>
                  <a:srgbClr val="0070c0"/>
                </a:solidFill>
                <a:latin typeface="Times New Roman"/>
              </a:rPr>
              <a:t>grep –v « home » &lt; /etc/passwd </a:t>
            </a:r>
            <a:endParaRPr b="0" lang="en-US" sz="18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147" name="Rectangle 6"/>
          <p:cNvSpPr/>
          <p:nvPr/>
        </p:nvSpPr>
        <p:spPr>
          <a:xfrm>
            <a:off x="505440" y="3628080"/>
            <a:ext cx="124596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indent="-216000" algn="just">
              <a:lnSpc>
                <a:spcPct val="150000"/>
              </a:lnSpc>
              <a:buClr>
                <a:srgbClr val="663366"/>
              </a:buClr>
              <a:buSzPct val="120000"/>
              <a:buFont typeface="Wingdings" charset="2"/>
              <a:buChar char=""/>
            </a:pPr>
            <a:r>
              <a:rPr b="1" lang="fr-FR" sz="1800" spc="-1" strike="noStrike">
                <a:solidFill>
                  <a:schemeClr val="accent1"/>
                </a:solidFill>
                <a:latin typeface="Times New Roman"/>
              </a:rPr>
              <a:t>Exemples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148" name="Espace réservé du pied de page 6"/>
          <p:cNvSpPr txBox="1"/>
          <p:nvPr/>
        </p:nvSpPr>
        <p:spPr>
          <a:xfrm>
            <a:off x="-36000" y="6624000"/>
            <a:ext cx="984960" cy="360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r>
              <a:rPr b="0" lang="en-US" sz="1100" spc="-1" strike="noStrike">
                <a:solidFill>
                  <a:srgbClr val="595959"/>
                </a:solidFill>
                <a:latin typeface="Rockwell"/>
              </a:rPr>
              <a:t>2025-2026</a:t>
            </a:r>
            <a:endParaRPr b="0" lang="fr-FR" sz="1100" spc="-1" strike="noStrike">
              <a:latin typeface="Times New Roman"/>
            </a:endParaRPr>
          </a:p>
          <a:p>
            <a:pPr algn="r">
              <a:lnSpc>
                <a:spcPct val="100000"/>
              </a:lnSpc>
            </a:pPr>
            <a:endParaRPr b="0" lang="fr-FR" sz="1100" spc="-1" strike="noStrike"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FFA7E67-D47E-4EC2-A45C-57027D46C742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498600" y="133560"/>
            <a:ext cx="7556040" cy="1115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3600" spc="-1" strike="noStrike">
                <a:solidFill>
                  <a:schemeClr val="accent1"/>
                </a:solidFill>
                <a:latin typeface="Rockwell"/>
              </a:rPr>
              <a:t>La commande grep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498600" y="956520"/>
            <a:ext cx="8645040" cy="5466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28600" indent="-228600">
              <a:lnSpc>
                <a:spcPct val="150000"/>
              </a:lnSpc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Recherche avec des expressions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595959"/>
              </a:solidFill>
              <a:latin typeface="Rockwell"/>
            </a:endParaRPr>
          </a:p>
        </p:txBody>
      </p:sp>
      <p:graphicFrame>
        <p:nvGraphicFramePr>
          <p:cNvPr id="151" name="object 7"/>
          <p:cNvGraphicFramePr/>
          <p:nvPr/>
        </p:nvGraphicFramePr>
        <p:xfrm>
          <a:off x="578520" y="1915920"/>
          <a:ext cx="7341480" cy="4564080"/>
        </p:xfrm>
        <a:graphic>
          <a:graphicData uri="http://schemas.openxmlformats.org/drawingml/2006/table">
            <a:tbl>
              <a:tblPr/>
              <a:tblGrid>
                <a:gridCol w="2247840"/>
                <a:gridCol w="5093640"/>
              </a:tblGrid>
              <a:tr h="350640">
                <a:tc gridSpan="2">
                  <a:txBody>
                    <a:bodyPr lIns="0" rIns="0" tIns="31680" bIns="0" anchor="t">
                      <a:noAutofit/>
                    </a:bodyPr>
                    <a:p>
                      <a:pPr marL="61560">
                        <a:lnSpc>
                          <a:spcPct val="100000"/>
                        </a:lnSpc>
                        <a:spcBef>
                          <a:spcPts val="249"/>
                        </a:spcBef>
                        <a:tabLst>
                          <a:tab algn="l" pos="1814040"/>
                        </a:tabLst>
                      </a:pPr>
                      <a:r>
                        <a:rPr b="0" lang="fr-FR" sz="1200" spc="-7" strike="noStrike">
                          <a:solidFill>
                            <a:srgbClr val="000000"/>
                          </a:solidFill>
                          <a:latin typeface="Verdana"/>
                        </a:rPr>
                        <a:t>Caractère</a:t>
                      </a:r>
                      <a:r>
                        <a:rPr b="0" lang="fr-FR" sz="1200" spc="-12" strike="noStrike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b="0" lang="fr-FR" sz="1200" spc="-7" strike="noStrike">
                          <a:solidFill>
                            <a:srgbClr val="000000"/>
                          </a:solidFill>
                          <a:latin typeface="Verdana"/>
                        </a:rPr>
                        <a:t>spécial</a:t>
                      </a:r>
                      <a:r>
                        <a:rPr b="0" lang="fr-FR" sz="1200" spc="-7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	</a:t>
                      </a:r>
                      <a:r>
                        <a:rPr b="0" lang="fr-FR" sz="1200" spc="-12" strike="noStrike">
                          <a:solidFill>
                            <a:srgbClr val="000000"/>
                          </a:solidFill>
                          <a:latin typeface="Verdana"/>
                        </a:rPr>
                        <a:t>Signification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t">
                    <a:lnL w="18720">
                      <a:solidFill>
                        <a:srgbClr val="000000"/>
                      </a:solidFill>
                    </a:lnL>
                    <a:lnR w="1872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7900"/>
                    </a:solidFill>
                  </a:tcPr>
                </a:tc>
                <a:tc h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50640">
                <a:tc>
                  <a:txBody>
                    <a:bodyPr lIns="0" rIns="0" tIns="31680" bIns="0" anchor="t">
                      <a:noAutofit/>
                    </a:bodyPr>
                    <a:p>
                      <a:pPr marL="61560">
                        <a:lnSpc>
                          <a:spcPct val="100000"/>
                        </a:lnSpc>
                        <a:spcBef>
                          <a:spcPts val="249"/>
                        </a:spcBef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Verdana"/>
                        </a:rPr>
                        <a:t>.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t">
                    <a:lnL w="18720">
                      <a:solidFill>
                        <a:srgbClr val="000000"/>
                      </a:solidFill>
                    </a:lnL>
                    <a:lnR>
                      <a:noFill/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18bb4"/>
                    </a:solidFill>
                  </a:tcPr>
                </a:tc>
                <a:tc>
                  <a:txBody>
                    <a:bodyPr lIns="0" rIns="0" tIns="31680" bIns="0" anchor="t">
                      <a:noAutofit/>
                    </a:bodyPr>
                    <a:p>
                      <a:pPr marL="62280">
                        <a:lnSpc>
                          <a:spcPct val="100000"/>
                        </a:lnSpc>
                        <a:spcBef>
                          <a:spcPts val="249"/>
                        </a:spcBef>
                      </a:pPr>
                      <a:r>
                        <a:rPr b="0" lang="fr-FR" sz="1200" spc="-7" strike="noStrike">
                          <a:solidFill>
                            <a:srgbClr val="000000"/>
                          </a:solidFill>
                          <a:latin typeface="Verdana"/>
                        </a:rPr>
                        <a:t>Caractère</a:t>
                      </a:r>
                      <a:r>
                        <a:rPr b="0" lang="fr-FR" sz="1200" spc="-15" strike="noStrike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b="0" lang="fr-FR" sz="1200" spc="-7" strike="noStrike">
                          <a:solidFill>
                            <a:srgbClr val="000000"/>
                          </a:solidFill>
                          <a:latin typeface="Verdana"/>
                        </a:rPr>
                        <a:t>quelconque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 w="1872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afef"/>
                    </a:solidFill>
                  </a:tcPr>
                </a:tc>
              </a:tr>
              <a:tr h="350640">
                <a:tc>
                  <a:txBody>
                    <a:bodyPr lIns="0" rIns="0" tIns="31680" bIns="0" anchor="t">
                      <a:noAutofit/>
                    </a:bodyPr>
                    <a:p>
                      <a:pPr marL="61560">
                        <a:lnSpc>
                          <a:spcPct val="100000"/>
                        </a:lnSpc>
                        <a:spcBef>
                          <a:spcPts val="249"/>
                        </a:spcBef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Verdana"/>
                        </a:rPr>
                        <a:t>^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t">
                    <a:lnL w="18720">
                      <a:solidFill>
                        <a:srgbClr val="000000"/>
                      </a:solidFill>
                    </a:lnL>
                    <a:lnR>
                      <a:noFill/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18bb4"/>
                    </a:solidFill>
                  </a:tcPr>
                </a:tc>
                <a:tc>
                  <a:txBody>
                    <a:bodyPr lIns="0" rIns="0" tIns="31680" bIns="0" anchor="t">
                      <a:noAutofit/>
                    </a:bodyPr>
                    <a:p>
                      <a:pPr marL="62280">
                        <a:lnSpc>
                          <a:spcPct val="100000"/>
                        </a:lnSpc>
                        <a:spcBef>
                          <a:spcPts val="249"/>
                        </a:spcBef>
                      </a:pPr>
                      <a:r>
                        <a:rPr b="0" lang="fr-FR" sz="1200" spc="-7" strike="noStrike">
                          <a:solidFill>
                            <a:srgbClr val="000000"/>
                          </a:solidFill>
                          <a:latin typeface="Verdana"/>
                        </a:rPr>
                        <a:t>Début de</a:t>
                      </a:r>
                      <a:r>
                        <a:rPr b="0" lang="fr-FR" sz="1200" spc="4" strike="noStrike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b="0" lang="fr-FR" sz="1200" spc="-12" strike="noStrike">
                          <a:solidFill>
                            <a:srgbClr val="000000"/>
                          </a:solidFill>
                          <a:latin typeface="Verdana"/>
                        </a:rPr>
                        <a:t>ligne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 w="1872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afef"/>
                    </a:solidFill>
                  </a:tcPr>
                </a:tc>
              </a:tr>
              <a:tr h="350640">
                <a:tc>
                  <a:txBody>
                    <a:bodyPr lIns="0" rIns="0" tIns="31680" bIns="0" anchor="t">
                      <a:noAutofit/>
                    </a:bodyPr>
                    <a:p>
                      <a:pPr marL="61560">
                        <a:lnSpc>
                          <a:spcPct val="100000"/>
                        </a:lnSpc>
                        <a:spcBef>
                          <a:spcPts val="249"/>
                        </a:spcBef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Verdana"/>
                        </a:rPr>
                        <a:t>$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t">
                    <a:lnL w="18720">
                      <a:solidFill>
                        <a:srgbClr val="000000"/>
                      </a:solidFill>
                    </a:lnL>
                    <a:lnR>
                      <a:noFill/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18bb4"/>
                    </a:solidFill>
                  </a:tcPr>
                </a:tc>
                <a:tc>
                  <a:txBody>
                    <a:bodyPr lIns="0" rIns="0" tIns="31680" bIns="0" anchor="t">
                      <a:noAutofit/>
                    </a:bodyPr>
                    <a:p>
                      <a:pPr marL="62280">
                        <a:lnSpc>
                          <a:spcPct val="100000"/>
                        </a:lnSpc>
                        <a:spcBef>
                          <a:spcPts val="249"/>
                        </a:spcBef>
                      </a:pPr>
                      <a:r>
                        <a:rPr b="0" lang="fr-FR" sz="1200" spc="-12" strike="noStrike">
                          <a:solidFill>
                            <a:srgbClr val="000000"/>
                          </a:solidFill>
                          <a:latin typeface="Verdana"/>
                        </a:rPr>
                        <a:t>Fin </a:t>
                      </a:r>
                      <a:r>
                        <a:rPr b="0" lang="fr-FR" sz="1200" spc="-7" strike="noStrike">
                          <a:solidFill>
                            <a:srgbClr val="000000"/>
                          </a:solidFill>
                          <a:latin typeface="Verdana"/>
                        </a:rPr>
                        <a:t>de</a:t>
                      </a:r>
                      <a:r>
                        <a:rPr b="0" lang="fr-FR" sz="1200" spc="9" strike="noStrike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b="0" lang="fr-FR" sz="1200" spc="-12" strike="noStrike">
                          <a:solidFill>
                            <a:srgbClr val="000000"/>
                          </a:solidFill>
                          <a:latin typeface="Verdana"/>
                        </a:rPr>
                        <a:t>ligne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 w="1872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afef"/>
                    </a:solidFill>
                  </a:tcPr>
                </a:tc>
              </a:tr>
              <a:tr h="414000">
                <a:tc>
                  <a:txBody>
                    <a:bodyPr lIns="0" rIns="0" tIns="127440" bIns="0" anchor="t">
                      <a:noAutofit/>
                    </a:bodyPr>
                    <a:p>
                      <a:pPr marL="61560">
                        <a:lnSpc>
                          <a:spcPts val="1244"/>
                        </a:lnSpc>
                        <a:spcBef>
                          <a:spcPts val="1006"/>
                        </a:spcBef>
                      </a:pPr>
                      <a:r>
                        <a:rPr b="0" lang="fr-FR" sz="1200" spc="-7" strike="noStrike">
                          <a:solidFill>
                            <a:srgbClr val="000000"/>
                          </a:solidFill>
                          <a:latin typeface="Verdana"/>
                        </a:rPr>
                        <a:t>[]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t">
                    <a:lnL w="18720">
                      <a:solidFill>
                        <a:srgbClr val="000000"/>
                      </a:solidFill>
                    </a:lnL>
                    <a:lnR>
                      <a:noFill/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18bb4"/>
                    </a:solidFill>
                  </a:tcPr>
                </a:tc>
                <a:tc>
                  <a:txBody>
                    <a:bodyPr lIns="0" rIns="0" tIns="127440" bIns="0" anchor="t">
                      <a:noAutofit/>
                    </a:bodyPr>
                    <a:p>
                      <a:pPr marL="62280">
                        <a:lnSpc>
                          <a:spcPts val="1244"/>
                        </a:lnSpc>
                        <a:spcBef>
                          <a:spcPts val="1006"/>
                        </a:spcBef>
                      </a:pPr>
                      <a:r>
                        <a:rPr b="0" lang="fr-FR" sz="1200" spc="-7" strike="noStrike">
                          <a:solidFill>
                            <a:srgbClr val="000000"/>
                          </a:solidFill>
                          <a:latin typeface="Verdana"/>
                        </a:rPr>
                        <a:t>Un </a:t>
                      </a: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Verdana"/>
                        </a:rPr>
                        <a:t>des </a:t>
                      </a:r>
                      <a:r>
                        <a:rPr b="0" lang="fr-FR" sz="1200" spc="-7" strike="noStrike">
                          <a:solidFill>
                            <a:srgbClr val="000000"/>
                          </a:solidFill>
                          <a:latin typeface="Verdana"/>
                        </a:rPr>
                        <a:t>caractères entre les crochets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 w="1872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afef"/>
                    </a:solidFill>
                  </a:tcPr>
                </a:tc>
              </a:tr>
              <a:tr h="198720">
                <a:tc>
                  <a:tcPr anchor="t">
                    <a:lnL w="18720">
                      <a:solidFill>
                        <a:srgbClr val="000000"/>
                      </a:solidFill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18bb4"/>
                    </a:solidFill>
                  </a:tcPr>
                </a:tc>
                <a:tc>
                  <a:tcPr anchor="t">
                    <a:lnL>
                      <a:noFill/>
                    </a:lnL>
                    <a:lnR w="18720">
                      <a:solidFill>
                        <a:srgbClr val="000000"/>
                      </a:solidFill>
                    </a:lnR>
                    <a:lnT>
                      <a:noFill/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afef"/>
                    </a:solidFill>
                  </a:tcPr>
                </a:tc>
              </a:tr>
              <a:tr h="614880">
                <a:tc>
                  <a:txBody>
                    <a:bodyPr lIns="0" rIns="0" tIns="127440" bIns="0" anchor="t">
                      <a:noAutofit/>
                    </a:bodyPr>
                    <a:p>
                      <a:pPr marL="61560">
                        <a:lnSpc>
                          <a:spcPct val="100000"/>
                        </a:lnSpc>
                        <a:spcBef>
                          <a:spcPts val="1006"/>
                        </a:spcBef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Verdana"/>
                        </a:rPr>
                        <a:t>?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t">
                    <a:lnL w="18720">
                      <a:solidFill>
                        <a:srgbClr val="000000"/>
                      </a:solidFill>
                    </a:lnL>
                    <a:lnR>
                      <a:noFill/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18bb4"/>
                    </a:solidFill>
                  </a:tcPr>
                </a:tc>
                <a:tc>
                  <a:txBody>
                    <a:bodyPr lIns="0" rIns="0" tIns="36000" bIns="0" anchor="t">
                      <a:noAutofit/>
                    </a:bodyPr>
                    <a:p>
                      <a:pPr marL="62280">
                        <a:lnSpc>
                          <a:spcPct val="100000"/>
                        </a:lnSpc>
                        <a:spcBef>
                          <a:spcPts val="286"/>
                        </a:spcBef>
                      </a:pPr>
                      <a:r>
                        <a:rPr b="0" lang="fr-FR" sz="1200" spc="-12" strike="noStrike">
                          <a:solidFill>
                            <a:srgbClr val="000000"/>
                          </a:solidFill>
                          <a:latin typeface="Verdana"/>
                        </a:rPr>
                        <a:t>L'élément </a:t>
                      </a:r>
                      <a:r>
                        <a:rPr b="0" lang="fr-FR" sz="1200" spc="-7" strike="noStrike">
                          <a:solidFill>
                            <a:srgbClr val="000000"/>
                          </a:solidFill>
                          <a:latin typeface="Verdana"/>
                        </a:rPr>
                        <a:t>précédent </a:t>
                      </a: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Verdana"/>
                        </a:rPr>
                        <a:t>est </a:t>
                      </a:r>
                      <a:r>
                        <a:rPr b="0" lang="fr-FR" sz="1200" spc="-7" strike="noStrike">
                          <a:solidFill>
                            <a:srgbClr val="000000"/>
                          </a:solidFill>
                          <a:latin typeface="Verdana"/>
                        </a:rPr>
                        <a:t>optionnel (peut </a:t>
                      </a: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Verdana"/>
                        </a:rPr>
                        <a:t>être  </a:t>
                      </a:r>
                      <a:r>
                        <a:rPr b="0" lang="fr-FR" sz="1200" spc="-7" strike="noStrike">
                          <a:solidFill>
                            <a:srgbClr val="000000"/>
                          </a:solidFill>
                          <a:latin typeface="Verdana"/>
                        </a:rPr>
                        <a:t>présent </a:t>
                      </a: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Verdana"/>
                        </a:rPr>
                        <a:t>0 ou 1</a:t>
                      </a:r>
                      <a:r>
                        <a:rPr b="0" lang="fr-FR" sz="1200" spc="-12" strike="noStrike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b="0" lang="fr-FR" sz="1200" spc="-7" strike="noStrike">
                          <a:solidFill>
                            <a:srgbClr val="000000"/>
                          </a:solidFill>
                          <a:latin typeface="Verdana"/>
                        </a:rPr>
                        <a:t>fois)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 w="1872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afef"/>
                    </a:solidFill>
                  </a:tcPr>
                </a:tc>
              </a:tr>
              <a:tr h="614160">
                <a:tc>
                  <a:txBody>
                    <a:bodyPr lIns="0" rIns="0" tIns="127440" bIns="0" anchor="t">
                      <a:noAutofit/>
                    </a:bodyPr>
                    <a:p>
                      <a:pPr marL="61560">
                        <a:lnSpc>
                          <a:spcPct val="100000"/>
                        </a:lnSpc>
                        <a:spcBef>
                          <a:spcPts val="1006"/>
                        </a:spcBef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Verdana"/>
                        </a:rPr>
                        <a:t>*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t">
                    <a:lnL w="18720">
                      <a:solidFill>
                        <a:srgbClr val="000000"/>
                      </a:solidFill>
                    </a:lnL>
                    <a:lnR>
                      <a:noFill/>
                    </a:lnR>
                    <a:lnT w="12240">
                      <a:solidFill>
                        <a:srgbClr val="000000"/>
                      </a:solidFill>
                    </a:lnT>
                    <a:lnB w="18720">
                      <a:solidFill>
                        <a:srgbClr val="000000"/>
                      </a:solidFill>
                    </a:lnB>
                    <a:solidFill>
                      <a:srgbClr val="018bb4"/>
                    </a:solidFill>
                  </a:tcPr>
                </a:tc>
                <a:tc>
                  <a:txBody>
                    <a:bodyPr lIns="0" rIns="0" tIns="36000" bIns="0" anchor="t">
                      <a:noAutofit/>
                    </a:bodyPr>
                    <a:p>
                      <a:pPr marL="62280">
                        <a:lnSpc>
                          <a:spcPct val="100000"/>
                        </a:lnSpc>
                        <a:spcBef>
                          <a:spcPts val="286"/>
                        </a:spcBef>
                      </a:pPr>
                      <a:r>
                        <a:rPr b="0" lang="fr-FR" sz="1200" spc="-12" strike="noStrike">
                          <a:solidFill>
                            <a:srgbClr val="000000"/>
                          </a:solidFill>
                          <a:latin typeface="Verdana"/>
                        </a:rPr>
                        <a:t>L'élément </a:t>
                      </a:r>
                      <a:r>
                        <a:rPr b="0" lang="fr-FR" sz="1200" spc="-7" strike="noStrike">
                          <a:solidFill>
                            <a:srgbClr val="000000"/>
                          </a:solidFill>
                          <a:latin typeface="Verdana"/>
                        </a:rPr>
                        <a:t>précédent peut </a:t>
                      </a: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Verdana"/>
                        </a:rPr>
                        <a:t>être </a:t>
                      </a:r>
                      <a:r>
                        <a:rPr b="0" lang="fr-FR" sz="1200" spc="-7" strike="noStrike">
                          <a:solidFill>
                            <a:srgbClr val="000000"/>
                          </a:solidFill>
                          <a:latin typeface="Verdana"/>
                        </a:rPr>
                        <a:t>présent </a:t>
                      </a: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Verdana"/>
                        </a:rPr>
                        <a:t>0, 1 ou  </a:t>
                      </a:r>
                      <a:r>
                        <a:rPr b="0" lang="fr-FR" sz="1200" spc="-7" strike="noStrike">
                          <a:solidFill>
                            <a:srgbClr val="000000"/>
                          </a:solidFill>
                          <a:latin typeface="Verdana"/>
                        </a:rPr>
                        <a:t>plusieurs</a:t>
                      </a:r>
                      <a:r>
                        <a:rPr b="0" lang="fr-FR" sz="1200" spc="-12" strike="noStrike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b="0" lang="fr-FR" sz="1200" spc="-7" strike="noStrike">
                          <a:solidFill>
                            <a:srgbClr val="000000"/>
                          </a:solidFill>
                          <a:latin typeface="Verdana"/>
                        </a:rPr>
                        <a:t>fois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 w="1872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8720">
                      <a:solidFill>
                        <a:srgbClr val="000000"/>
                      </a:solidFill>
                    </a:lnB>
                    <a:solidFill>
                      <a:srgbClr val="00afef"/>
                    </a:solidFill>
                  </a:tcPr>
                </a:tc>
              </a:tr>
              <a:tr h="614160">
                <a:tc>
                  <a:txBody>
                    <a:bodyPr lIns="0" rIns="0" tIns="126720" bIns="0" anchor="t">
                      <a:noAutofit/>
                    </a:bodyPr>
                    <a:p>
                      <a:pPr marL="61560">
                        <a:lnSpc>
                          <a:spcPct val="100000"/>
                        </a:lnSpc>
                        <a:spcBef>
                          <a:spcPts val="1001"/>
                        </a:spcBef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Verdana"/>
                        </a:rPr>
                        <a:t>+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t">
                    <a:lnL w="18720">
                      <a:solidFill>
                        <a:srgbClr val="000000"/>
                      </a:solidFill>
                    </a:lnL>
                    <a:lnR>
                      <a:noFill/>
                    </a:lnR>
                    <a:lnT w="1872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18bb4"/>
                    </a:solidFill>
                  </a:tcPr>
                </a:tc>
                <a:tc>
                  <a:txBody>
                    <a:bodyPr lIns="0" rIns="0" tIns="35280" bIns="0" anchor="t">
                      <a:noAutofit/>
                    </a:bodyPr>
                    <a:p>
                      <a:pPr marL="62280">
                        <a:lnSpc>
                          <a:spcPct val="100000"/>
                        </a:lnSpc>
                        <a:spcBef>
                          <a:spcPts val="281"/>
                        </a:spcBef>
                      </a:pPr>
                      <a:r>
                        <a:rPr b="0" lang="fr-FR" sz="1200" spc="-12" strike="noStrike">
                          <a:solidFill>
                            <a:srgbClr val="000000"/>
                          </a:solidFill>
                          <a:latin typeface="Verdana"/>
                        </a:rPr>
                        <a:t>L'élément </a:t>
                      </a:r>
                      <a:r>
                        <a:rPr b="0" lang="fr-FR" sz="1200" spc="-7" strike="noStrike">
                          <a:solidFill>
                            <a:srgbClr val="000000"/>
                          </a:solidFill>
                          <a:latin typeface="Verdana"/>
                        </a:rPr>
                        <a:t>précédent doit </a:t>
                      </a: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Verdana"/>
                        </a:rPr>
                        <a:t>être </a:t>
                      </a:r>
                      <a:r>
                        <a:rPr b="0" lang="fr-FR" sz="1200" spc="-7" strike="noStrike">
                          <a:solidFill>
                            <a:srgbClr val="000000"/>
                          </a:solidFill>
                          <a:latin typeface="Verdana"/>
                        </a:rPr>
                        <a:t>présent </a:t>
                      </a: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Verdana"/>
                        </a:rPr>
                        <a:t>1 ou  </a:t>
                      </a:r>
                      <a:r>
                        <a:rPr b="0" lang="fr-FR" sz="1200" spc="-7" strike="noStrike">
                          <a:solidFill>
                            <a:srgbClr val="000000"/>
                          </a:solidFill>
                          <a:latin typeface="Verdana"/>
                        </a:rPr>
                        <a:t>plusieurs</a:t>
                      </a:r>
                      <a:r>
                        <a:rPr b="0" lang="fr-FR" sz="1200" spc="-12" strike="noStrike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b="0" lang="fr-FR" sz="1200" spc="-7" strike="noStrike">
                          <a:solidFill>
                            <a:srgbClr val="000000"/>
                          </a:solidFill>
                          <a:latin typeface="Verdana"/>
                        </a:rPr>
                        <a:t>fois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 w="18720">
                      <a:solidFill>
                        <a:srgbClr val="000000"/>
                      </a:solidFill>
                    </a:lnR>
                    <a:lnT w="1872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afef"/>
                    </a:solidFill>
                  </a:tcPr>
                </a:tc>
              </a:tr>
              <a:tr h="350640">
                <a:tc>
                  <a:txBody>
                    <a:bodyPr lIns="0" rIns="0" tIns="32760" bIns="0" anchor="t">
                      <a:noAutofit/>
                    </a:bodyPr>
                    <a:p>
                      <a:pPr marL="61560">
                        <a:lnSpc>
                          <a:spcPct val="100000"/>
                        </a:lnSpc>
                        <a:spcBef>
                          <a:spcPts val="261"/>
                        </a:spcBef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Verdana"/>
                        </a:rPr>
                        <a:t>|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t">
                    <a:lnL w="18720">
                      <a:solidFill>
                        <a:srgbClr val="000000"/>
                      </a:solidFill>
                    </a:lnL>
                    <a:lnR>
                      <a:noFill/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18bb4"/>
                    </a:solidFill>
                  </a:tcPr>
                </a:tc>
                <a:tc>
                  <a:txBody>
                    <a:bodyPr lIns="0" rIns="0" tIns="32760" bIns="0" anchor="t">
                      <a:noAutofit/>
                    </a:bodyPr>
                    <a:p>
                      <a:pPr marL="62280">
                        <a:lnSpc>
                          <a:spcPct val="100000"/>
                        </a:lnSpc>
                        <a:spcBef>
                          <a:spcPts val="261"/>
                        </a:spcBef>
                      </a:pPr>
                      <a:r>
                        <a:rPr b="0" lang="fr-FR" sz="1200" spc="-1" strike="noStrike">
                          <a:solidFill>
                            <a:srgbClr val="000000"/>
                          </a:solidFill>
                          <a:latin typeface="Verdana"/>
                        </a:rPr>
                        <a:t>Ou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 w="1872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afef"/>
                    </a:solidFill>
                  </a:tcPr>
                </a:tc>
              </a:tr>
              <a:tr h="354960">
                <a:tc>
                  <a:txBody>
                    <a:bodyPr lIns="0" rIns="0" tIns="32760" bIns="0" anchor="t">
                      <a:noAutofit/>
                    </a:bodyPr>
                    <a:p>
                      <a:pPr marL="61560">
                        <a:lnSpc>
                          <a:spcPct val="100000"/>
                        </a:lnSpc>
                        <a:spcBef>
                          <a:spcPts val="261"/>
                        </a:spcBef>
                      </a:pPr>
                      <a:r>
                        <a:rPr b="0" lang="fr-FR" sz="1200" spc="-7" strike="noStrike">
                          <a:solidFill>
                            <a:srgbClr val="000000"/>
                          </a:solidFill>
                          <a:latin typeface="Verdana"/>
                        </a:rPr>
                        <a:t>()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t">
                    <a:lnL w="18720">
                      <a:solidFill>
                        <a:srgbClr val="000000"/>
                      </a:solidFill>
                    </a:lnL>
                    <a:lnR>
                      <a:noFill/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18bb4"/>
                    </a:solidFill>
                  </a:tcPr>
                </a:tc>
                <a:tc>
                  <a:txBody>
                    <a:bodyPr lIns="0" rIns="0" tIns="32760" bIns="0" anchor="t">
                      <a:noAutofit/>
                    </a:bodyPr>
                    <a:p>
                      <a:pPr marL="62280">
                        <a:lnSpc>
                          <a:spcPct val="100000"/>
                        </a:lnSpc>
                        <a:spcBef>
                          <a:spcPts val="261"/>
                        </a:spcBef>
                      </a:pPr>
                      <a:r>
                        <a:rPr b="0" lang="fr-FR" sz="1200" spc="-7" strike="noStrike">
                          <a:solidFill>
                            <a:srgbClr val="000000"/>
                          </a:solidFill>
                          <a:latin typeface="Verdana"/>
                        </a:rPr>
                        <a:t>Groupement</a:t>
                      </a:r>
                      <a:r>
                        <a:rPr b="0" lang="fr-FR" sz="1200" spc="-35" strike="noStrike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b="0" lang="fr-FR" sz="1200" spc="-7" strike="noStrike">
                          <a:solidFill>
                            <a:srgbClr val="000000"/>
                          </a:solidFill>
                          <a:latin typeface="Verdana"/>
                        </a:rPr>
                        <a:t>d'expressions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 w="1872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afef"/>
                    </a:solidFill>
                  </a:tcPr>
                </a:tc>
              </a:tr>
            </a:tbl>
          </a:graphicData>
        </a:graphic>
      </p:graphicFrame>
      <p:sp>
        <p:nvSpPr>
          <p:cNvPr id="152" name="Espace réservé du pied de page 7"/>
          <p:cNvSpPr txBox="1"/>
          <p:nvPr/>
        </p:nvSpPr>
        <p:spPr>
          <a:xfrm>
            <a:off x="0" y="6588000"/>
            <a:ext cx="984960" cy="360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r>
              <a:rPr b="0" lang="en-US" sz="1100" spc="-1" strike="noStrike">
                <a:solidFill>
                  <a:srgbClr val="595959"/>
                </a:solidFill>
                <a:latin typeface="Rockwell"/>
              </a:rPr>
              <a:t>2025-2026</a:t>
            </a:r>
            <a:endParaRPr b="0" lang="fr-FR" sz="1100" spc="-1" strike="noStrike">
              <a:latin typeface="Times New Roman"/>
            </a:endParaRPr>
          </a:p>
          <a:p>
            <a:pPr algn="r">
              <a:lnSpc>
                <a:spcPct val="100000"/>
              </a:lnSpc>
            </a:pPr>
            <a:endParaRPr b="0" lang="fr-FR" sz="1100" spc="-1" strike="noStrike"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EA5190B-0B59-4CDF-93E1-0D6F8DB61A8B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498600" y="133560"/>
            <a:ext cx="7556040" cy="1115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3600" spc="-1" strike="noStrike">
                <a:solidFill>
                  <a:schemeClr val="accent1"/>
                </a:solidFill>
                <a:latin typeface="Rockwell"/>
              </a:rPr>
              <a:t>La commande grep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318600" y="2072520"/>
            <a:ext cx="8645040" cy="5466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00240" indent="-300240">
              <a:lnSpc>
                <a:spcPct val="100000"/>
              </a:lnSpc>
              <a:spcBef>
                <a:spcPts val="105"/>
              </a:spcBef>
              <a:buClr>
                <a:srgbClr val="663366"/>
              </a:buClr>
              <a:buSzPct val="75000"/>
              <a:buFont typeface="Arial"/>
              <a:buChar char="•"/>
              <a:tabLst>
                <a:tab algn="l" pos="300240"/>
                <a:tab algn="l" pos="300960"/>
              </a:tabLst>
            </a:pPr>
            <a:r>
              <a:rPr b="0" lang="fr-FR" sz="1800" spc="-7" strike="noStrike">
                <a:solidFill>
                  <a:srgbClr val="595959"/>
                </a:solidFill>
                <a:latin typeface="Segoe UI Symbol"/>
              </a:rPr>
              <a:t>Rechercher </a:t>
            </a:r>
            <a:r>
              <a:rPr b="0" lang="fr-FR" sz="1800" spc="4" strike="noStrike">
                <a:solidFill>
                  <a:srgbClr val="595959"/>
                </a:solidFill>
                <a:latin typeface="Segoe UI Symbol"/>
              </a:rPr>
              <a:t>une chaîne de </a:t>
            </a:r>
            <a:r>
              <a:rPr b="0" lang="fr-FR" sz="1800" spc="-1" strike="noStrike">
                <a:solidFill>
                  <a:srgbClr val="595959"/>
                </a:solidFill>
                <a:latin typeface="Segoe UI Symbol"/>
              </a:rPr>
              <a:t>caractères ‘</a:t>
            </a:r>
            <a:r>
              <a:rPr b="0" lang="fr-FR" sz="1800" spc="4" strike="noStrike">
                <a:solidFill>
                  <a:srgbClr val="595959"/>
                </a:solidFill>
                <a:latin typeface="Segoe UI Symbol"/>
              </a:rPr>
              <a:t>chaine’ </a:t>
            </a:r>
            <a:r>
              <a:rPr b="0" lang="fr-FR" sz="1800" spc="-1" strike="noStrike">
                <a:solidFill>
                  <a:srgbClr val="595959"/>
                </a:solidFill>
                <a:latin typeface="Segoe UI Symbol"/>
              </a:rPr>
              <a:t>en </a:t>
            </a:r>
            <a:r>
              <a:rPr b="0" lang="fr-FR" sz="1800" spc="4" strike="noStrike">
                <a:solidFill>
                  <a:srgbClr val="595959"/>
                </a:solidFill>
                <a:latin typeface="Segoe UI Symbol"/>
              </a:rPr>
              <a:t>début de </a:t>
            </a:r>
            <a:r>
              <a:rPr b="0" lang="fr-FR" sz="1800" spc="-1" strike="noStrike">
                <a:solidFill>
                  <a:srgbClr val="595959"/>
                </a:solidFill>
                <a:latin typeface="Segoe UI Symbol"/>
              </a:rPr>
              <a:t>ligne </a:t>
            </a:r>
            <a:r>
              <a:rPr b="0" lang="fr-FR" sz="1800" spc="4" strike="noStrike">
                <a:solidFill>
                  <a:srgbClr val="595959"/>
                </a:solidFill>
                <a:latin typeface="Segoe UI Symbol"/>
              </a:rPr>
              <a:t>dans </a:t>
            </a:r>
            <a:r>
              <a:rPr b="0" lang="fr-FR" sz="1800" spc="-1" strike="noStrike">
                <a:solidFill>
                  <a:srgbClr val="595959"/>
                </a:solidFill>
                <a:latin typeface="Segoe UI Symbol"/>
              </a:rPr>
              <a:t>un</a:t>
            </a:r>
            <a:r>
              <a:rPr b="0" lang="fr-FR" sz="1800" spc="24" strike="noStrike">
                <a:solidFill>
                  <a:srgbClr val="595959"/>
                </a:solidFill>
                <a:latin typeface="Segoe UI Symbol"/>
              </a:rPr>
              <a:t> </a:t>
            </a:r>
            <a:r>
              <a:rPr b="0" lang="fr-FR" sz="1800" spc="-1" strike="noStrike">
                <a:solidFill>
                  <a:srgbClr val="595959"/>
                </a:solidFill>
                <a:latin typeface="Segoe UI Symbol"/>
              </a:rPr>
              <a:t>fichier</a:t>
            </a:r>
            <a:endParaRPr b="0" lang="en-US" sz="1800" spc="-1" strike="noStrike">
              <a:solidFill>
                <a:srgbClr val="595959"/>
              </a:solidFill>
              <a:latin typeface="Rockwell"/>
            </a:endParaRPr>
          </a:p>
          <a:p>
            <a:pPr indent="0">
              <a:lnSpc>
                <a:spcPct val="100000"/>
              </a:lnSpc>
              <a:spcBef>
                <a:spcPts val="105"/>
              </a:spcBef>
              <a:buNone/>
              <a:tabLst>
                <a:tab algn="l" pos="0"/>
              </a:tabLst>
            </a:pPr>
            <a:r>
              <a:rPr b="0" lang="fr-FR" sz="1800" spc="-7" strike="noStrike">
                <a:solidFill>
                  <a:srgbClr val="595959"/>
                </a:solidFill>
                <a:latin typeface="Segoe UI Symbol"/>
              </a:rPr>
              <a:t>      </a:t>
            </a:r>
            <a:endParaRPr b="0" lang="en-US" sz="1800" spc="-1" strike="noStrike">
              <a:solidFill>
                <a:srgbClr val="595959"/>
              </a:solidFill>
              <a:latin typeface="Rockwell"/>
            </a:endParaRPr>
          </a:p>
          <a:p>
            <a:pPr indent="0">
              <a:lnSpc>
                <a:spcPct val="100000"/>
              </a:lnSpc>
              <a:spcBef>
                <a:spcPts val="105"/>
              </a:spcBef>
              <a:buNone/>
              <a:tabLst>
                <a:tab algn="l" pos="0"/>
              </a:tabLst>
            </a:pPr>
            <a:r>
              <a:rPr b="1" lang="fr-FR" sz="1800" spc="-7" strike="noStrike">
                <a:solidFill>
                  <a:srgbClr val="0070c0"/>
                </a:solidFill>
                <a:latin typeface="Segoe UI Symbol"/>
              </a:rPr>
              <a:t>       </a:t>
            </a:r>
            <a:r>
              <a:rPr b="1" lang="fr-FR" sz="1800" spc="-7" strike="noStrike">
                <a:solidFill>
                  <a:srgbClr val="0070c0"/>
                </a:solidFill>
                <a:latin typeface="Segoe UI Symbol"/>
              </a:rPr>
              <a:t>#grep </a:t>
            </a:r>
            <a:r>
              <a:rPr b="1" lang="fr-FR" sz="1800" spc="-1" strike="noStrike">
                <a:solidFill>
                  <a:srgbClr val="0070c0"/>
                </a:solidFill>
                <a:latin typeface="Segoe UI Symbol"/>
              </a:rPr>
              <a:t> -E </a:t>
            </a:r>
            <a:r>
              <a:rPr b="1" lang="fr-FR" sz="1800" spc="18" strike="noStrike">
                <a:solidFill>
                  <a:srgbClr val="0070c0"/>
                </a:solidFill>
                <a:latin typeface="Segoe UI Symbol"/>
              </a:rPr>
              <a:t> </a:t>
            </a:r>
            <a:r>
              <a:rPr b="1" lang="fr-FR" sz="1800" spc="-7" strike="noStrike">
                <a:solidFill>
                  <a:srgbClr val="0070c0"/>
                </a:solidFill>
                <a:latin typeface="Segoe UI Symbol"/>
              </a:rPr>
              <a:t>^chaine</a:t>
            </a:r>
            <a:r>
              <a:rPr b="1" lang="fr-FR" sz="1800" spc="-7" strike="noStrike">
                <a:solidFill>
                  <a:srgbClr val="0070c0"/>
                </a:solidFill>
                <a:latin typeface="Times New Roman"/>
              </a:rPr>
              <a:t>	</a:t>
            </a:r>
            <a:r>
              <a:rPr b="1" lang="fr-FR" sz="1800" spc="-7" strike="noStrike">
                <a:solidFill>
                  <a:srgbClr val="0070c0"/>
                </a:solidFill>
                <a:latin typeface="Segoe UI Symbol"/>
              </a:rPr>
              <a:t>fichier1</a:t>
            </a:r>
            <a:endParaRPr b="0" lang="en-US" sz="1800" spc="-1" strike="noStrike">
              <a:solidFill>
                <a:srgbClr val="595959"/>
              </a:solidFill>
              <a:latin typeface="Rockwell"/>
            </a:endParaRPr>
          </a:p>
          <a:p>
            <a:pPr marL="300240" indent="-300240">
              <a:lnSpc>
                <a:spcPct val="199000"/>
              </a:lnSpc>
              <a:spcBef>
                <a:spcPts val="26"/>
              </a:spcBef>
              <a:buClr>
                <a:srgbClr val="663366"/>
              </a:buClr>
              <a:buSzPct val="75000"/>
              <a:buFont typeface="Arial"/>
              <a:buChar char="•"/>
              <a:tabLst>
                <a:tab algn="l" pos="300240"/>
                <a:tab algn="l" pos="300960"/>
              </a:tabLst>
            </a:pPr>
            <a:r>
              <a:rPr b="0" lang="fr-FR" sz="1800" spc="-7" strike="noStrike">
                <a:solidFill>
                  <a:srgbClr val="595959"/>
                </a:solidFill>
                <a:latin typeface="Segoe UI Symbol"/>
              </a:rPr>
              <a:t>Rechercher </a:t>
            </a:r>
            <a:r>
              <a:rPr b="0" lang="fr-FR" sz="1800" spc="-1" strike="noStrike">
                <a:solidFill>
                  <a:srgbClr val="595959"/>
                </a:solidFill>
                <a:latin typeface="Segoe UI Symbol"/>
              </a:rPr>
              <a:t>une chaîne de caractères ‘chaine’ en fin de </a:t>
            </a:r>
            <a:r>
              <a:rPr b="0" lang="fr-FR" sz="1800" spc="-7" strike="noStrike">
                <a:solidFill>
                  <a:srgbClr val="595959"/>
                </a:solidFill>
                <a:latin typeface="Segoe UI Symbol"/>
              </a:rPr>
              <a:t>ligne </a:t>
            </a:r>
            <a:r>
              <a:rPr b="0" lang="fr-FR" sz="1800" spc="-1" strike="noStrike">
                <a:solidFill>
                  <a:srgbClr val="595959"/>
                </a:solidFill>
                <a:latin typeface="Segoe UI Symbol"/>
              </a:rPr>
              <a:t>dans un fichier                      </a:t>
            </a:r>
            <a:r>
              <a:rPr b="1" lang="fr-FR" sz="1800" spc="-7" strike="noStrike">
                <a:solidFill>
                  <a:srgbClr val="0070c0"/>
                </a:solidFill>
                <a:latin typeface="Segoe UI Symbol"/>
              </a:rPr>
              <a:t>#grep </a:t>
            </a:r>
            <a:r>
              <a:rPr b="1" lang="fr-FR" sz="1800" spc="-1" strike="noStrike">
                <a:solidFill>
                  <a:srgbClr val="0070c0"/>
                </a:solidFill>
                <a:latin typeface="Segoe UI Symbol"/>
              </a:rPr>
              <a:t>-E chaine$</a:t>
            </a:r>
            <a:r>
              <a:rPr b="1" lang="fr-FR" sz="1800" spc="-12" strike="noStrike">
                <a:solidFill>
                  <a:srgbClr val="0070c0"/>
                </a:solidFill>
                <a:latin typeface="Segoe UI Symbol"/>
              </a:rPr>
              <a:t>     </a:t>
            </a:r>
            <a:r>
              <a:rPr b="1" lang="fr-FR" sz="1800" spc="-7" strike="noStrike">
                <a:solidFill>
                  <a:srgbClr val="0070c0"/>
                </a:solidFill>
                <a:latin typeface="Segoe UI Symbol"/>
              </a:rPr>
              <a:t>fichier1</a:t>
            </a:r>
            <a:endParaRPr b="0" lang="en-US" sz="1800" spc="-1" strike="noStrike">
              <a:solidFill>
                <a:srgbClr val="595959"/>
              </a:solidFill>
              <a:latin typeface="Rockwell"/>
            </a:endParaRPr>
          </a:p>
          <a:p>
            <a:pPr marL="300240" indent="-300240">
              <a:lnSpc>
                <a:spcPct val="199000"/>
              </a:lnSpc>
              <a:spcBef>
                <a:spcPts val="26"/>
              </a:spcBef>
              <a:buClr>
                <a:srgbClr val="663366"/>
              </a:buClr>
              <a:buSzPct val="75000"/>
              <a:buFont typeface="Arial"/>
              <a:buChar char="•"/>
              <a:tabLst>
                <a:tab algn="l" pos="300240"/>
                <a:tab algn="l" pos="300960"/>
                <a:tab algn="l" pos="2626200"/>
              </a:tabLst>
            </a:pPr>
            <a:r>
              <a:rPr b="0" lang="fr-FR" sz="1800" spc="-7" strike="noStrike">
                <a:solidFill>
                  <a:srgbClr val="595959"/>
                </a:solidFill>
                <a:latin typeface="Segoe UI Symbol"/>
              </a:rPr>
              <a:t>Rechercher </a:t>
            </a:r>
            <a:r>
              <a:rPr b="0" lang="fr-FR" sz="1800" spc="4" strike="noStrike">
                <a:solidFill>
                  <a:srgbClr val="595959"/>
                </a:solidFill>
                <a:latin typeface="Segoe UI Symbol"/>
              </a:rPr>
              <a:t>une chaîne de </a:t>
            </a:r>
            <a:r>
              <a:rPr b="0" lang="fr-FR" sz="1800" spc="-1" strike="noStrike">
                <a:solidFill>
                  <a:srgbClr val="595959"/>
                </a:solidFill>
                <a:latin typeface="Segoe UI Symbol"/>
              </a:rPr>
              <a:t>caractères ‘</a:t>
            </a:r>
            <a:r>
              <a:rPr b="0" lang="fr-FR" sz="1800" spc="4" strike="noStrike">
                <a:solidFill>
                  <a:srgbClr val="595959"/>
                </a:solidFill>
                <a:latin typeface="Segoe UI Symbol"/>
              </a:rPr>
              <a:t>chaine’ ou ‘</a:t>
            </a:r>
            <a:r>
              <a:rPr b="0" lang="fr-FR" sz="1800" spc="-1" strike="noStrike">
                <a:solidFill>
                  <a:srgbClr val="595959"/>
                </a:solidFill>
                <a:latin typeface="Segoe UI Symbol"/>
              </a:rPr>
              <a:t>Chaine’ </a:t>
            </a:r>
            <a:r>
              <a:rPr b="0" lang="fr-FR" sz="1800" spc="4" strike="noStrike">
                <a:solidFill>
                  <a:srgbClr val="595959"/>
                </a:solidFill>
                <a:latin typeface="Segoe UI Symbol"/>
              </a:rPr>
              <a:t>dans </a:t>
            </a:r>
            <a:r>
              <a:rPr b="0" lang="fr-FR" sz="1800" spc="-1" strike="noStrike">
                <a:solidFill>
                  <a:srgbClr val="595959"/>
                </a:solidFill>
                <a:latin typeface="Segoe UI Symbol"/>
              </a:rPr>
              <a:t>un </a:t>
            </a:r>
            <a:r>
              <a:rPr b="0" lang="fr-FR" sz="1800" spc="4" strike="noStrike">
                <a:solidFill>
                  <a:srgbClr val="595959"/>
                </a:solidFill>
                <a:latin typeface="Segoe UI Symbol"/>
              </a:rPr>
              <a:t>fichier   </a:t>
            </a:r>
            <a:r>
              <a:rPr b="1" lang="fr-FR" sz="1800" spc="-7" strike="noStrike">
                <a:solidFill>
                  <a:srgbClr val="0070c0"/>
                </a:solidFill>
                <a:latin typeface="Segoe UI Symbol"/>
              </a:rPr>
              <a:t>#grep </a:t>
            </a:r>
            <a:r>
              <a:rPr b="1" lang="fr-FR" sz="1800" spc="-1" strike="noStrike">
                <a:solidFill>
                  <a:srgbClr val="0070c0"/>
                </a:solidFill>
                <a:latin typeface="Segoe UI Symbol"/>
              </a:rPr>
              <a:t> -E </a:t>
            </a:r>
            <a:r>
              <a:rPr b="1" lang="fr-FR" sz="1800" spc="18" strike="noStrike">
                <a:solidFill>
                  <a:srgbClr val="0070c0"/>
                </a:solidFill>
                <a:latin typeface="Segoe UI Symbol"/>
              </a:rPr>
              <a:t> </a:t>
            </a:r>
            <a:r>
              <a:rPr b="1" lang="fr-FR" sz="1800" spc="-7" strike="noStrike">
                <a:solidFill>
                  <a:srgbClr val="0070c0"/>
                </a:solidFill>
                <a:latin typeface="Segoe UI Symbol"/>
              </a:rPr>
              <a:t>[Cc]haine</a:t>
            </a:r>
            <a:r>
              <a:rPr b="1" lang="fr-FR" sz="1800" spc="-7" strike="noStrike">
                <a:solidFill>
                  <a:srgbClr val="0070c0"/>
                </a:solidFill>
                <a:latin typeface="Times New Roman"/>
              </a:rPr>
              <a:t>	</a:t>
            </a:r>
            <a:r>
              <a:rPr b="1" lang="fr-FR" sz="1800" spc="-7" strike="noStrike">
                <a:solidFill>
                  <a:srgbClr val="0070c0"/>
                </a:solidFill>
                <a:latin typeface="Segoe UI Symbol"/>
              </a:rPr>
              <a:t>fichier1</a:t>
            </a:r>
            <a:endParaRPr b="0" lang="en-US" sz="1800" spc="-1" strike="noStrike">
              <a:solidFill>
                <a:srgbClr val="595959"/>
              </a:solidFill>
              <a:latin typeface="Rockwell"/>
            </a:endParaRPr>
          </a:p>
          <a:p>
            <a:pPr indent="0">
              <a:lnSpc>
                <a:spcPct val="100000"/>
              </a:lnSpc>
              <a:spcBef>
                <a:spcPts val="20"/>
              </a:spcBef>
              <a:buNone/>
              <a:tabLst>
                <a:tab algn="l" pos="300240"/>
                <a:tab algn="l" pos="300960"/>
                <a:tab algn="l" pos="2626200"/>
              </a:tabLst>
            </a:pP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155" name="Espace réservé du pied de page 8"/>
          <p:cNvSpPr txBox="1"/>
          <p:nvPr/>
        </p:nvSpPr>
        <p:spPr>
          <a:xfrm>
            <a:off x="36000" y="6624000"/>
            <a:ext cx="984960" cy="360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r>
              <a:rPr b="0" lang="en-US" sz="1100" spc="-1" strike="noStrike">
                <a:solidFill>
                  <a:srgbClr val="595959"/>
                </a:solidFill>
                <a:latin typeface="Rockwell"/>
              </a:rPr>
              <a:t>2025-2026</a:t>
            </a:r>
            <a:endParaRPr b="0" lang="fr-FR" sz="1100" spc="-1" strike="noStrike">
              <a:latin typeface="Times New Roman"/>
            </a:endParaRPr>
          </a:p>
          <a:p>
            <a:pPr algn="r">
              <a:lnSpc>
                <a:spcPct val="100000"/>
              </a:lnSpc>
            </a:pPr>
            <a:endParaRPr b="0" lang="fr-FR" sz="1100" spc="-1" strike="noStrike"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80B3561-2647-4EDC-8159-FF64A2219773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498600" y="147960"/>
            <a:ext cx="7556040" cy="1115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3600" spc="-1" strike="noStrike">
                <a:solidFill>
                  <a:schemeClr val="accent1"/>
                </a:solidFill>
                <a:latin typeface="Rockwell"/>
              </a:rPr>
              <a:t>La commande wc 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329760" y="1263960"/>
            <a:ext cx="7556040" cy="41446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100000"/>
              </a:lnSpc>
              <a:spcBef>
                <a:spcPts val="2001"/>
              </a:spcBef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2000" spc="-1" strike="noStrike">
                <a:solidFill>
                  <a:srgbClr val="595959"/>
                </a:solidFill>
                <a:latin typeface="Rockwell"/>
              </a:rPr>
              <a:t>Cette commande </a:t>
            </a: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permet de compter le nombre de lignes, de mots et de caractères dans un fichier. 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-228600">
              <a:lnSpc>
                <a:spcPct val="100000"/>
              </a:lnSpc>
              <a:spcBef>
                <a:spcPts val="2001"/>
              </a:spcBef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Options : 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   </a:t>
            </a: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-l  :   nombre de lignes, 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   </a:t>
            </a: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-w :  nombre de mots 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   </a:t>
            </a: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-c  :   nombre de caractères. 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</p:txBody>
      </p:sp>
      <p:pic>
        <p:nvPicPr>
          <p:cNvPr id="158" name="Picture 2" descr="C:\Users\asus\Desktop\1Capture.PNG"/>
          <p:cNvPicPr/>
          <p:nvPr/>
        </p:nvPicPr>
        <p:blipFill>
          <a:blip r:embed="rId1"/>
          <a:stretch/>
        </p:blipFill>
        <p:spPr>
          <a:xfrm>
            <a:off x="1013040" y="5019840"/>
            <a:ext cx="6872760" cy="1472400"/>
          </a:xfrm>
          <a:prstGeom prst="rect">
            <a:avLst/>
          </a:prstGeom>
          <a:ln w="0">
            <a:noFill/>
          </a:ln>
        </p:spPr>
      </p:pic>
      <p:sp>
        <p:nvSpPr>
          <p:cNvPr id="159" name="Rectangle 6"/>
          <p:cNvSpPr/>
          <p:nvPr/>
        </p:nvSpPr>
        <p:spPr>
          <a:xfrm>
            <a:off x="434880" y="4402800"/>
            <a:ext cx="124596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indent="-216000" algn="just">
              <a:lnSpc>
                <a:spcPct val="150000"/>
              </a:lnSpc>
              <a:buClr>
                <a:srgbClr val="663366"/>
              </a:buClr>
              <a:buSzPct val="120000"/>
              <a:buFont typeface="Wingdings" charset="2"/>
              <a:buChar char=""/>
            </a:pPr>
            <a:r>
              <a:rPr b="1" lang="fr-FR" sz="1800" spc="-1" strike="noStrike">
                <a:solidFill>
                  <a:schemeClr val="accent1"/>
                </a:solidFill>
                <a:latin typeface="Times New Roman"/>
              </a:rPr>
              <a:t>Exemples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160" name="Espace réservé du pied de page 9"/>
          <p:cNvSpPr txBox="1"/>
          <p:nvPr/>
        </p:nvSpPr>
        <p:spPr>
          <a:xfrm>
            <a:off x="72000" y="6588000"/>
            <a:ext cx="984960" cy="360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r>
              <a:rPr b="0" lang="en-US" sz="1100" spc="-1" strike="noStrike">
                <a:solidFill>
                  <a:srgbClr val="595959"/>
                </a:solidFill>
                <a:latin typeface="Rockwell"/>
              </a:rPr>
              <a:t>2025-2026</a:t>
            </a:r>
            <a:endParaRPr b="0" lang="fr-FR" sz="1100" spc="-1" strike="noStrike">
              <a:latin typeface="Times New Roman"/>
            </a:endParaRPr>
          </a:p>
          <a:p>
            <a:pPr algn="r">
              <a:lnSpc>
                <a:spcPct val="100000"/>
              </a:lnSpc>
            </a:pPr>
            <a:endParaRPr b="0" lang="fr-FR" sz="1100" spc="-1" strike="noStrike"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A00A364-61C4-4A8A-9397-36A1E95D992D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498600" y="242280"/>
            <a:ext cx="7556040" cy="1115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3600" spc="-1" strike="noStrike">
                <a:solidFill>
                  <a:schemeClr val="accent1"/>
                </a:solidFill>
                <a:latin typeface="Rockwell"/>
              </a:rPr>
              <a:t>La commande cut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498600" y="1674000"/>
            <a:ext cx="7556040" cy="41446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28600" indent="-228600" algn="just">
              <a:lnSpc>
                <a:spcPct val="150000"/>
              </a:lnSpc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Options :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 algn="just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   </a:t>
            </a: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- c  : extraire des colonnes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 algn="just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   </a:t>
            </a: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- f : extraire des champs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 algn="just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   </a:t>
            </a: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-  d : spécifier délimiteur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-228600" algn="just">
              <a:lnSpc>
                <a:spcPct val="150000"/>
              </a:lnSpc>
              <a:buClr>
                <a:srgbClr val="66336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Exemples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</p:txBody>
      </p:sp>
      <p:pic>
        <p:nvPicPr>
          <p:cNvPr id="163" name="Picture 2" descr="C:\Users\asus\Desktop\1Capture.PNG"/>
          <p:cNvPicPr/>
          <p:nvPr/>
        </p:nvPicPr>
        <p:blipFill>
          <a:blip r:embed="rId1"/>
          <a:stretch/>
        </p:blipFill>
        <p:spPr>
          <a:xfrm>
            <a:off x="1378800" y="4825080"/>
            <a:ext cx="6675840" cy="1181160"/>
          </a:xfrm>
          <a:prstGeom prst="rect">
            <a:avLst/>
          </a:prstGeom>
          <a:ln w="0">
            <a:noFill/>
          </a:ln>
        </p:spPr>
      </p:pic>
      <p:sp>
        <p:nvSpPr>
          <p:cNvPr id="164" name="Espace réservé du pied de page 10"/>
          <p:cNvSpPr txBox="1"/>
          <p:nvPr/>
        </p:nvSpPr>
        <p:spPr>
          <a:xfrm>
            <a:off x="-36000" y="6624000"/>
            <a:ext cx="984960" cy="360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r>
              <a:rPr b="0" lang="en-US" sz="1100" spc="-1" strike="noStrike">
                <a:solidFill>
                  <a:srgbClr val="595959"/>
                </a:solidFill>
                <a:latin typeface="Rockwell"/>
              </a:rPr>
              <a:t>2025-2026</a:t>
            </a:r>
            <a:endParaRPr b="0" lang="fr-FR" sz="1100" spc="-1" strike="noStrike">
              <a:latin typeface="Times New Roman"/>
            </a:endParaRPr>
          </a:p>
          <a:p>
            <a:pPr algn="r">
              <a:lnSpc>
                <a:spcPct val="100000"/>
              </a:lnSpc>
            </a:pPr>
            <a:endParaRPr b="0" lang="fr-FR" sz="1100" spc="-1" strike="noStrike"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0B90AD5-4901-4305-83AB-EAE0384C895E}" type="slidenum">
              <a:t>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498600" y="188640"/>
            <a:ext cx="7556040" cy="1115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3600" spc="-1" strike="noStrike">
                <a:solidFill>
                  <a:schemeClr val="accent1"/>
                </a:solidFill>
                <a:latin typeface="Rockwell"/>
              </a:rPr>
              <a:t>La commande head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498600" y="1304640"/>
            <a:ext cx="7556040" cy="41446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28600" indent="-228600">
              <a:lnSpc>
                <a:spcPct val="150000"/>
              </a:lnSpc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Identifie le début d’un fichier (ou de l’entrée standard).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-228600">
              <a:lnSpc>
                <a:spcPct val="150000"/>
              </a:lnSpc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Options :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        </a:t>
            </a: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- n : nombre de lignes 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        </a:t>
            </a: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- c : nombre de caractères.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-228600">
              <a:lnSpc>
                <a:spcPct val="150000"/>
              </a:lnSpc>
              <a:buClr>
                <a:srgbClr val="66336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Exemples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</p:txBody>
      </p:sp>
      <p:pic>
        <p:nvPicPr>
          <p:cNvPr id="167" name="Picture 2" descr="C:\Users\asus\Desktop\1Capture.PNG"/>
          <p:cNvPicPr/>
          <p:nvPr/>
        </p:nvPicPr>
        <p:blipFill>
          <a:blip r:embed="rId1"/>
          <a:stretch/>
        </p:blipFill>
        <p:spPr>
          <a:xfrm>
            <a:off x="849960" y="4327920"/>
            <a:ext cx="7455600" cy="1567800"/>
          </a:xfrm>
          <a:prstGeom prst="rect">
            <a:avLst/>
          </a:prstGeom>
          <a:ln w="0">
            <a:noFill/>
          </a:ln>
        </p:spPr>
      </p:pic>
      <p:sp>
        <p:nvSpPr>
          <p:cNvPr id="168" name="Espace réservé du pied de page 11"/>
          <p:cNvSpPr txBox="1"/>
          <p:nvPr/>
        </p:nvSpPr>
        <p:spPr>
          <a:xfrm>
            <a:off x="0" y="6624000"/>
            <a:ext cx="984960" cy="360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r>
              <a:rPr b="0" lang="en-US" sz="1100" spc="-1" strike="noStrike">
                <a:solidFill>
                  <a:srgbClr val="595959"/>
                </a:solidFill>
                <a:latin typeface="Rockwell"/>
              </a:rPr>
              <a:t>2025-2026</a:t>
            </a:r>
            <a:endParaRPr b="0" lang="fr-FR" sz="1100" spc="-1" strike="noStrike">
              <a:latin typeface="Times New Roman"/>
            </a:endParaRPr>
          </a:p>
          <a:p>
            <a:pPr algn="r">
              <a:lnSpc>
                <a:spcPct val="100000"/>
              </a:lnSpc>
            </a:pPr>
            <a:endParaRPr b="0" lang="fr-FR" sz="1100" spc="-1" strike="noStrike"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A8EE73D-D211-48D4-AB43-402C49A20A7D}" type="slidenum">
              <a:t>18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498600" y="123120"/>
            <a:ext cx="7556040" cy="1115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3600" spc="-1" strike="noStrike">
                <a:solidFill>
                  <a:schemeClr val="accent1"/>
                </a:solidFill>
                <a:latin typeface="Rockwell"/>
              </a:rPr>
              <a:t>La commande tail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/>
          </p:nvPr>
        </p:nvSpPr>
        <p:spPr>
          <a:xfrm>
            <a:off x="498600" y="605880"/>
            <a:ext cx="7556040" cy="4886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28600" indent="-228600" algn="just">
              <a:lnSpc>
                <a:spcPct val="150000"/>
              </a:lnSpc>
              <a:spcBef>
                <a:spcPts val="2001"/>
              </a:spcBef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Identifie la fin d’un fichier ou de l’entrée standard. 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-228600" algn="just">
              <a:lnSpc>
                <a:spcPct val="150000"/>
              </a:lnSpc>
              <a:spcBef>
                <a:spcPts val="2001"/>
              </a:spcBef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Options : 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 algn="just">
              <a:lnSpc>
                <a:spcPct val="15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   </a:t>
            </a: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- c   : nbre. de caractères  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 algn="just">
              <a:lnSpc>
                <a:spcPct val="15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   </a:t>
            </a: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- n : nbre. de lignes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 algn="just">
              <a:lnSpc>
                <a:spcPct val="15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   </a:t>
            </a: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- b : nbre. de blocs (exemple 512 octets) 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 algn="just">
              <a:lnSpc>
                <a:spcPct val="15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Exemples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 algn="just">
              <a:lnSpc>
                <a:spcPct val="150000"/>
              </a:lnSpc>
              <a:spcBef>
                <a:spcPts val="2001"/>
              </a:spcBef>
              <a:buNone/>
              <a:tabLst>
                <a:tab algn="l" pos="0"/>
              </a:tabLst>
            </a:pP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</p:txBody>
      </p:sp>
      <p:pic>
        <p:nvPicPr>
          <p:cNvPr id="171" name="Picture 2" descr="C:\Users\asus\Desktop\1Capture.PNG"/>
          <p:cNvPicPr/>
          <p:nvPr/>
        </p:nvPicPr>
        <p:blipFill>
          <a:blip r:embed="rId1"/>
          <a:srcRect l="0" t="0" r="0" b="31028"/>
          <a:stretch/>
        </p:blipFill>
        <p:spPr>
          <a:xfrm>
            <a:off x="1252080" y="5041800"/>
            <a:ext cx="6802560" cy="1058400"/>
          </a:xfrm>
          <a:prstGeom prst="rect">
            <a:avLst/>
          </a:prstGeom>
          <a:ln w="0">
            <a:noFill/>
          </a:ln>
        </p:spPr>
      </p:pic>
      <p:sp>
        <p:nvSpPr>
          <p:cNvPr id="172" name="Espace réservé du pied de page 12"/>
          <p:cNvSpPr txBox="1"/>
          <p:nvPr/>
        </p:nvSpPr>
        <p:spPr>
          <a:xfrm>
            <a:off x="0" y="6624000"/>
            <a:ext cx="984960" cy="360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r>
              <a:rPr b="0" lang="en-US" sz="1100" spc="-1" strike="noStrike">
                <a:solidFill>
                  <a:srgbClr val="595959"/>
                </a:solidFill>
                <a:latin typeface="Rockwell"/>
              </a:rPr>
              <a:t>2025-2026</a:t>
            </a:r>
            <a:endParaRPr b="0" lang="fr-FR" sz="1100" spc="-1" strike="noStrike">
              <a:latin typeface="Times New Roman"/>
            </a:endParaRPr>
          </a:p>
          <a:p>
            <a:pPr algn="r">
              <a:lnSpc>
                <a:spcPct val="100000"/>
              </a:lnSpc>
            </a:pPr>
            <a:endParaRPr b="0" lang="fr-FR" sz="1100" spc="-1" strike="noStrike"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5A44DE1-19A0-4729-89D9-3800CFA43E08}" type="slidenum">
              <a:t>19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498600" y="171720"/>
            <a:ext cx="7556040" cy="1115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3600" spc="-1" strike="noStrike">
                <a:solidFill>
                  <a:schemeClr val="accent1"/>
                </a:solidFill>
                <a:latin typeface="Rockwell"/>
              </a:rPr>
              <a:t>La commande tr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/>
          </p:nvPr>
        </p:nvSpPr>
        <p:spPr>
          <a:xfrm>
            <a:off x="281520" y="950400"/>
            <a:ext cx="7773120" cy="48376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28600" indent="-228600" algn="just">
              <a:lnSpc>
                <a:spcPct val="100000"/>
              </a:lnSpc>
              <a:spcBef>
                <a:spcPts val="2001"/>
              </a:spcBef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Fonction : substituer ou  supprimer des arguments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-228600" algn="just">
              <a:lnSpc>
                <a:spcPct val="100000"/>
              </a:lnSpc>
              <a:spcBef>
                <a:spcPts val="2001"/>
              </a:spcBef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Arguments : -  Deux chaines de caractères 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 algn="just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                         </a:t>
            </a: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- La 1ère chaine représente les caractères recherchés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 algn="just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                         </a:t>
            </a: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- La 2</a:t>
            </a:r>
            <a:r>
              <a:rPr b="0" lang="fr-FR" sz="2200" spc="-1" strike="noStrike" baseline="30000">
                <a:solidFill>
                  <a:srgbClr val="000000"/>
                </a:solidFill>
                <a:latin typeface="Times New Roman"/>
              </a:rPr>
              <a:t>ème</a:t>
            </a: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  représente le remplacement 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-228600" algn="just">
              <a:lnSpc>
                <a:spcPct val="100000"/>
              </a:lnSpc>
              <a:spcBef>
                <a:spcPts val="2001"/>
              </a:spcBef>
              <a:buClr>
                <a:srgbClr val="66336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Options : 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 algn="just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-c : inverse la recherche 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 algn="just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-s  :  Traitement d’une seule occurrence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 algn="just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-d :  suppression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indent="0" algn="just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</p:txBody>
      </p:sp>
      <p:pic>
        <p:nvPicPr>
          <p:cNvPr id="175" name="Picture 2" descr="C:\Users\asus\Desktop\1Capture.PNG"/>
          <p:cNvPicPr/>
          <p:nvPr/>
        </p:nvPicPr>
        <p:blipFill>
          <a:blip r:embed="rId1"/>
          <a:stretch/>
        </p:blipFill>
        <p:spPr>
          <a:xfrm>
            <a:off x="1167480" y="5472360"/>
            <a:ext cx="6886800" cy="1385280"/>
          </a:xfrm>
          <a:prstGeom prst="rect">
            <a:avLst/>
          </a:prstGeom>
          <a:ln w="0">
            <a:noFill/>
          </a:ln>
        </p:spPr>
      </p:pic>
      <p:sp>
        <p:nvSpPr>
          <p:cNvPr id="176" name="Espace réservé du pied de page 13"/>
          <p:cNvSpPr txBox="1"/>
          <p:nvPr/>
        </p:nvSpPr>
        <p:spPr>
          <a:xfrm>
            <a:off x="-36000" y="6624000"/>
            <a:ext cx="984960" cy="360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r>
              <a:rPr b="0" lang="en-US" sz="1100" spc="-1" strike="noStrike">
                <a:solidFill>
                  <a:srgbClr val="595959"/>
                </a:solidFill>
                <a:latin typeface="Rockwell"/>
              </a:rPr>
              <a:t>2025-2026</a:t>
            </a:r>
            <a:endParaRPr b="0" lang="fr-FR" sz="1100" spc="-1" strike="noStrike">
              <a:latin typeface="Times New Roman"/>
            </a:endParaRPr>
          </a:p>
          <a:p>
            <a:pPr algn="r">
              <a:lnSpc>
                <a:spcPct val="100000"/>
              </a:lnSpc>
            </a:pPr>
            <a:endParaRPr b="0" lang="fr-FR" sz="1100" spc="-1" strike="noStrike"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84D4906-4991-4FC0-823D-FF3314B87B85}" type="slidenum">
              <a:t>20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498600" y="115560"/>
            <a:ext cx="7556040" cy="1115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3600" spc="-1" strike="noStrike">
                <a:solidFill>
                  <a:schemeClr val="accent1"/>
                </a:solidFill>
                <a:latin typeface="Rockwell"/>
              </a:rPr>
              <a:t>Sed 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/>
          </p:nvPr>
        </p:nvSpPr>
        <p:spPr>
          <a:xfrm>
            <a:off x="174960" y="801720"/>
            <a:ext cx="8645040" cy="5732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 algn="just">
              <a:lnSpc>
                <a:spcPct val="100000"/>
              </a:lnSpc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sed est éditeur ligne non interactif, il lit les lignes d’un fichier une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à une (ou provenant de l’entrée standard) leur applique un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certain nombre de commandes d’édition et renvoie les lignes 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résultantes sur la sortie standard.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-228600">
              <a:lnSpc>
                <a:spcPct val="100000"/>
              </a:lnSpc>
              <a:spcBef>
                <a:spcPts val="2001"/>
              </a:spcBef>
              <a:buClr>
                <a:srgbClr val="66336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Syntaxe :  </a:t>
            </a:r>
            <a:r>
              <a:rPr b="1" lang="fr-FR" sz="2200" spc="-1" strike="noStrike">
                <a:solidFill>
                  <a:srgbClr val="0070c0"/>
                </a:solidFill>
                <a:latin typeface="Times New Roman"/>
              </a:rPr>
              <a:t>sed [-n] [-e commande] [-f fichier de commandes] [fichier]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595959"/>
                </a:solidFill>
                <a:latin typeface="Times New Roman"/>
              </a:rPr>
              <a:t>  </a:t>
            </a:r>
            <a:r>
              <a:rPr b="0" lang="fr-FR" sz="2200" spc="-1" strike="noStrike">
                <a:solidFill>
                  <a:srgbClr val="0070c0"/>
                </a:solidFill>
                <a:latin typeface="Times New Roman"/>
              </a:rPr>
              <a:t>-n</a:t>
            </a: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 : écrit seulement les lignes spécifiées (par l'option /p) sur la sortie standard 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 algn="just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70c0"/>
                </a:solidFill>
                <a:latin typeface="Times New Roman"/>
              </a:rPr>
              <a:t>  </a:t>
            </a:r>
            <a:r>
              <a:rPr b="0" lang="fr-FR" sz="2200" spc="-1" strike="noStrike">
                <a:solidFill>
                  <a:srgbClr val="0070c0"/>
                </a:solidFill>
                <a:latin typeface="Times New Roman"/>
              </a:rPr>
              <a:t>-e</a:t>
            </a: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 : permet de spécifier les commandes à appliquer sur le fichier. Cette option est utile lorsque vous appliquez plusieurs commandes. Afin d’éviter que le shell interprète certains caractères, il faut mieux encadrer la commande avec des ' ou des " .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 algn="just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70c0"/>
                </a:solidFill>
                <a:latin typeface="Times New Roman"/>
              </a:rPr>
              <a:t>  </a:t>
            </a:r>
            <a:r>
              <a:rPr b="0" lang="fr-FR" sz="2200" spc="-1" strike="noStrike">
                <a:solidFill>
                  <a:srgbClr val="0070c0"/>
                </a:solidFill>
                <a:latin typeface="Times New Roman"/>
              </a:rPr>
              <a:t>-f</a:t>
            </a: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 : les commandes sont lu à partir d'un fichier.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179" name="Espace réservé du pied de page 14"/>
          <p:cNvSpPr txBox="1"/>
          <p:nvPr/>
        </p:nvSpPr>
        <p:spPr>
          <a:xfrm>
            <a:off x="-72000" y="6660000"/>
            <a:ext cx="984960" cy="360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r>
              <a:rPr b="0" lang="en-US" sz="1100" spc="-1" strike="noStrike">
                <a:solidFill>
                  <a:srgbClr val="595959"/>
                </a:solidFill>
                <a:latin typeface="Rockwell"/>
              </a:rPr>
              <a:t>2025-2026</a:t>
            </a:r>
            <a:endParaRPr b="0" lang="fr-FR" sz="1100" spc="-1" strike="noStrike">
              <a:latin typeface="Times New Roman"/>
            </a:endParaRPr>
          </a:p>
          <a:p>
            <a:pPr algn="r">
              <a:lnSpc>
                <a:spcPct val="100000"/>
              </a:lnSpc>
            </a:pPr>
            <a:endParaRPr b="0" lang="fr-FR" sz="1100" spc="-1" strike="noStrike"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2428B6F-839A-4E08-BA05-F49ED15361DC}" type="slidenum">
              <a:t>21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498600" y="0"/>
            <a:ext cx="7556040" cy="1115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3600" spc="-1" strike="noStrike">
                <a:solidFill>
                  <a:schemeClr val="accent1"/>
                </a:solidFill>
                <a:latin typeface="Rockwell"/>
              </a:rPr>
              <a:t>Sed : fonction de substitution : s</a:t>
            </a:r>
            <a:br>
              <a:rPr sz="3600"/>
            </a:b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/>
          </p:nvPr>
        </p:nvSpPr>
        <p:spPr>
          <a:xfrm>
            <a:off x="231120" y="607320"/>
            <a:ext cx="8912520" cy="6250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49000"/>
          </a:bodyPr>
          <a:p>
            <a:pPr marL="228600" indent="-228600" algn="just">
              <a:lnSpc>
                <a:spcPct val="150000"/>
              </a:lnSpc>
              <a:spcBef>
                <a:spcPts val="2001"/>
              </a:spcBef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3800" spc="-1" strike="noStrike">
                <a:solidFill>
                  <a:srgbClr val="ff0000"/>
                </a:solidFill>
                <a:latin typeface="Times New Roman"/>
              </a:rPr>
              <a:t>s</a:t>
            </a:r>
            <a:r>
              <a:rPr b="0" lang="fr-FR" sz="3800" spc="-1" strike="noStrike">
                <a:solidFill>
                  <a:srgbClr val="000000"/>
                </a:solidFill>
                <a:latin typeface="Times New Roman"/>
              </a:rPr>
              <a:t> permet de changer la 1ère  ou toutes les occurrences d’une chaîne par une autre. </a:t>
            </a:r>
            <a:endParaRPr b="0" lang="en-US" sz="3800" spc="-1" strike="noStrike">
              <a:solidFill>
                <a:srgbClr val="595959"/>
              </a:solidFill>
              <a:latin typeface="Rockwell"/>
            </a:endParaRPr>
          </a:p>
          <a:p>
            <a:pPr marL="228600" indent="-228600" algn="just">
              <a:lnSpc>
                <a:spcPct val="150000"/>
              </a:lnSpc>
              <a:spcBef>
                <a:spcPts val="2001"/>
              </a:spcBef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3800" spc="-1" strike="noStrike">
                <a:solidFill>
                  <a:srgbClr val="000000"/>
                </a:solidFill>
                <a:latin typeface="Times New Roman"/>
              </a:rPr>
              <a:t>Syntaxe :</a:t>
            </a:r>
            <a:endParaRPr b="0" lang="en-US" sz="38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 algn="just">
              <a:lnSpc>
                <a:spcPct val="15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fr-FR" sz="3800" spc="-1" strike="noStrike">
                <a:solidFill>
                  <a:srgbClr val="000000"/>
                </a:solidFill>
                <a:latin typeface="Times New Roman"/>
              </a:rPr>
              <a:t>  </a:t>
            </a:r>
            <a:r>
              <a:rPr b="0" lang="fr-FR" sz="3800" spc="-1" strike="noStrike">
                <a:solidFill>
                  <a:srgbClr val="000000"/>
                </a:solidFill>
                <a:latin typeface="Times New Roman"/>
              </a:rPr>
              <a:t>- sed "</a:t>
            </a:r>
            <a:r>
              <a:rPr b="0" lang="fr-FR" sz="3800" spc="-1" strike="noStrike">
                <a:solidFill>
                  <a:srgbClr val="ff0000"/>
                </a:solidFill>
                <a:latin typeface="Times New Roman"/>
              </a:rPr>
              <a:t>s</a:t>
            </a:r>
            <a:r>
              <a:rPr b="0" lang="fr-FR" sz="3800" spc="-1" strike="noStrike">
                <a:solidFill>
                  <a:srgbClr val="000000"/>
                </a:solidFill>
                <a:latin typeface="Times New Roman"/>
              </a:rPr>
              <a:t>/toto/TOTO/" fichier : va changer la 1ère occurence de la chaîne toto par TOTO </a:t>
            </a:r>
            <a:endParaRPr b="0" lang="en-US" sz="38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 algn="just">
              <a:lnSpc>
                <a:spcPct val="15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fr-FR" sz="3800" spc="-1" strike="noStrike">
                <a:solidFill>
                  <a:srgbClr val="000000"/>
                </a:solidFill>
                <a:latin typeface="Times New Roman"/>
              </a:rPr>
              <a:t>   </a:t>
            </a:r>
            <a:r>
              <a:rPr b="0" lang="fr-FR" sz="3800" spc="-1" strike="noStrike">
                <a:solidFill>
                  <a:srgbClr val="000000"/>
                </a:solidFill>
                <a:latin typeface="Times New Roman"/>
              </a:rPr>
              <a:t>- sed "</a:t>
            </a:r>
            <a:r>
              <a:rPr b="0" lang="fr-FR" sz="3800" spc="-1" strike="noStrike">
                <a:solidFill>
                  <a:srgbClr val="ff0000"/>
                </a:solidFill>
                <a:latin typeface="Times New Roman"/>
              </a:rPr>
              <a:t>s</a:t>
            </a:r>
            <a:r>
              <a:rPr b="0" lang="fr-FR" sz="3800" spc="-1" strike="noStrike">
                <a:solidFill>
                  <a:srgbClr val="000000"/>
                </a:solidFill>
                <a:latin typeface="Times New Roman"/>
              </a:rPr>
              <a:t>/toto/TOTO/</a:t>
            </a:r>
            <a:r>
              <a:rPr b="0" lang="fr-FR" sz="3800" spc="-1" strike="noStrike">
                <a:solidFill>
                  <a:srgbClr val="ff0000"/>
                </a:solidFill>
                <a:latin typeface="Times New Roman"/>
              </a:rPr>
              <a:t>g</a:t>
            </a:r>
            <a:r>
              <a:rPr b="0" lang="fr-FR" sz="3800" spc="-1" strike="noStrike">
                <a:solidFill>
                  <a:srgbClr val="000000"/>
                </a:solidFill>
                <a:latin typeface="Times New Roman"/>
              </a:rPr>
              <a:t>" fichier : va changer toutes les occurrences de la chaîne toto par TOTO </a:t>
            </a:r>
            <a:endParaRPr b="0" lang="en-US" sz="38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 algn="just">
              <a:lnSpc>
                <a:spcPct val="15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fr-FR" sz="3800" spc="-1" strike="noStrike">
                <a:solidFill>
                  <a:srgbClr val="000000"/>
                </a:solidFill>
                <a:latin typeface="Times New Roman"/>
              </a:rPr>
              <a:t>    </a:t>
            </a:r>
            <a:r>
              <a:rPr b="0" lang="fr-FR" sz="3800" spc="-1" strike="noStrike">
                <a:solidFill>
                  <a:srgbClr val="000000"/>
                </a:solidFill>
                <a:latin typeface="Times New Roman"/>
              </a:rPr>
              <a:t>-sed "</a:t>
            </a:r>
            <a:r>
              <a:rPr b="0" lang="fr-FR" sz="3800" spc="-1" strike="noStrike">
                <a:solidFill>
                  <a:srgbClr val="ff0000"/>
                </a:solidFill>
                <a:latin typeface="Times New Roman"/>
              </a:rPr>
              <a:t>s</a:t>
            </a:r>
            <a:r>
              <a:rPr b="0" lang="fr-FR" sz="3800" spc="-1" strike="noStrike">
                <a:solidFill>
                  <a:srgbClr val="000000"/>
                </a:solidFill>
                <a:latin typeface="Times New Roman"/>
              </a:rPr>
              <a:t>/toto/TOTO/</a:t>
            </a:r>
            <a:r>
              <a:rPr b="0" lang="fr-FR" sz="3800" spc="-1" strike="noStrike">
                <a:solidFill>
                  <a:srgbClr val="ff0000"/>
                </a:solidFill>
                <a:latin typeface="Times New Roman"/>
              </a:rPr>
              <a:t>p</a:t>
            </a:r>
            <a:r>
              <a:rPr b="0" lang="fr-FR" sz="3800" spc="-1" strike="noStrike">
                <a:solidFill>
                  <a:srgbClr val="000000"/>
                </a:solidFill>
                <a:latin typeface="Times New Roman"/>
              </a:rPr>
              <a:t>" fichier : en cas de remplacement (1ere occurrence dans chaque ligne) imprime les lignes concernées</a:t>
            </a:r>
            <a:endParaRPr b="0" lang="en-US" sz="38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 algn="just">
              <a:lnSpc>
                <a:spcPct val="15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fr-FR" sz="3800" spc="-1" strike="noStrike">
                <a:solidFill>
                  <a:srgbClr val="000000"/>
                </a:solidFill>
                <a:latin typeface="Times New Roman"/>
              </a:rPr>
              <a:t>   </a:t>
            </a:r>
            <a:r>
              <a:rPr b="0" lang="fr-FR" sz="3800" spc="-1" strike="noStrike">
                <a:solidFill>
                  <a:srgbClr val="000000"/>
                </a:solidFill>
                <a:latin typeface="Times New Roman"/>
              </a:rPr>
              <a:t>- sed "</a:t>
            </a:r>
            <a:r>
              <a:rPr b="0" lang="fr-FR" sz="3800" spc="-1" strike="noStrike">
                <a:solidFill>
                  <a:srgbClr val="ff0000"/>
                </a:solidFill>
                <a:latin typeface="Times New Roman"/>
              </a:rPr>
              <a:t>s</a:t>
            </a:r>
            <a:r>
              <a:rPr b="0" lang="fr-FR" sz="3800" spc="-1" strike="noStrike">
                <a:solidFill>
                  <a:srgbClr val="000000"/>
                </a:solidFill>
                <a:latin typeface="Times New Roman"/>
              </a:rPr>
              <a:t>/toto/TOTO/</a:t>
            </a:r>
            <a:r>
              <a:rPr b="0" lang="fr-FR" sz="3800" spc="-1" strike="noStrike">
                <a:solidFill>
                  <a:srgbClr val="ff0000"/>
                </a:solidFill>
                <a:latin typeface="Times New Roman"/>
              </a:rPr>
              <a:t>w</a:t>
            </a:r>
            <a:r>
              <a:rPr b="0" lang="fr-FR" sz="3800" spc="-1" strike="noStrike">
                <a:solidFill>
                  <a:srgbClr val="000000"/>
                </a:solidFill>
                <a:latin typeface="Times New Roman"/>
              </a:rPr>
              <a:t> resultat" fichier : en cas de substitution la ligne en entrée est inscrite dans un fichier résultat</a:t>
            </a:r>
            <a:endParaRPr b="0" lang="en-US" sz="3800" spc="-1" strike="noStrike">
              <a:solidFill>
                <a:srgbClr val="595959"/>
              </a:solidFill>
              <a:latin typeface="Rockwell"/>
            </a:endParaRPr>
          </a:p>
          <a:p>
            <a:pPr marL="228600" indent="-228600">
              <a:lnSpc>
                <a:spcPct val="150000"/>
              </a:lnSpc>
              <a:spcBef>
                <a:spcPts val="2001"/>
              </a:spcBef>
              <a:buClr>
                <a:srgbClr val="66336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fr-FR" sz="3800" spc="-1" strike="noStrike">
                <a:solidFill>
                  <a:srgbClr val="000000"/>
                </a:solidFill>
                <a:latin typeface="Times New Roman"/>
              </a:rPr>
              <a:t>La fonction de substitution peut être utilisée avec une expression régulière. </a:t>
            </a:r>
            <a:endParaRPr b="0" lang="en-US" sz="38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>
              <a:lnSpc>
                <a:spcPct val="15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fr-FR" sz="3800" spc="-1" strike="noStrike">
                <a:solidFill>
                  <a:srgbClr val="000000"/>
                </a:solidFill>
                <a:latin typeface="Times New Roman"/>
              </a:rPr>
              <a:t>   </a:t>
            </a:r>
            <a:r>
              <a:rPr b="0" lang="fr-FR" sz="3800" spc="-1" strike="noStrike">
                <a:solidFill>
                  <a:srgbClr val="c00000"/>
                </a:solidFill>
                <a:latin typeface="Times New Roman"/>
              </a:rPr>
              <a:t>sed -e </a:t>
            </a:r>
            <a:r>
              <a:rPr b="0" lang="fr-FR" sz="3800" spc="-1" strike="noStrike">
                <a:solidFill>
                  <a:srgbClr val="000000"/>
                </a:solidFill>
                <a:latin typeface="Times New Roman"/>
              </a:rPr>
              <a:t>"s/[Ff]raise/FRAISE/g" fichier substitue toutes les chaînes Fraise ou fraise par FRAISE</a:t>
            </a:r>
            <a:endParaRPr b="0" lang="en-US" sz="38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 algn="just">
              <a:lnSpc>
                <a:spcPct val="150000"/>
              </a:lnSpc>
              <a:spcBef>
                <a:spcPts val="2001"/>
              </a:spcBef>
              <a:buNone/>
              <a:tabLst>
                <a:tab algn="l" pos="0"/>
              </a:tabLst>
            </a:pPr>
            <a:endParaRPr b="0" lang="en-US" sz="3500" spc="-1" strike="noStrike">
              <a:solidFill>
                <a:srgbClr val="595959"/>
              </a:solidFill>
              <a:latin typeface="Rockwell"/>
            </a:endParaRPr>
          </a:p>
          <a:p>
            <a:pPr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182" name="Espace réservé du pied de page 15"/>
          <p:cNvSpPr txBox="1"/>
          <p:nvPr/>
        </p:nvSpPr>
        <p:spPr>
          <a:xfrm>
            <a:off x="8208000" y="6624000"/>
            <a:ext cx="984960" cy="360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r>
              <a:rPr b="0" lang="en-US" sz="1100" spc="-1" strike="noStrike">
                <a:solidFill>
                  <a:srgbClr val="595959"/>
                </a:solidFill>
                <a:latin typeface="Rockwell"/>
              </a:rPr>
              <a:t>2025-2026</a:t>
            </a:r>
            <a:endParaRPr b="0" lang="fr-FR" sz="1100" spc="-1" strike="noStrike">
              <a:latin typeface="Times New Roman"/>
            </a:endParaRPr>
          </a:p>
          <a:p>
            <a:pPr algn="r">
              <a:lnSpc>
                <a:spcPct val="100000"/>
              </a:lnSpc>
            </a:pPr>
            <a:endParaRPr b="0" lang="fr-FR" sz="1100" spc="-1" strike="noStrike"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F72C415-A5C8-4EA7-9FDA-FDBC30BF7290}" type="slidenum">
              <a:t>22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498600" y="49320"/>
            <a:ext cx="7556040" cy="1115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3600" spc="-1" strike="noStrike">
                <a:solidFill>
                  <a:schemeClr val="accent1"/>
                </a:solidFill>
                <a:latin typeface="Rockwell"/>
              </a:rPr>
              <a:t>Sed : La fonction de suppression : d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/>
          </p:nvPr>
        </p:nvSpPr>
        <p:spPr>
          <a:xfrm>
            <a:off x="498600" y="858240"/>
            <a:ext cx="8361000" cy="5767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000"/>
          </a:bodyPr>
          <a:p>
            <a:pPr marL="228600" indent="-228600">
              <a:lnSpc>
                <a:spcPct val="150000"/>
              </a:lnSpc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La fonction de suppression d supprime les lignes comprises dans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    </a:t>
            </a: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un intervalle donné. 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-228600">
              <a:lnSpc>
                <a:spcPct val="150000"/>
              </a:lnSpc>
              <a:buClr>
                <a:srgbClr val="66336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Syntaxe :       </a:t>
            </a:r>
            <a:r>
              <a:rPr b="1" lang="fr-FR" sz="2200" spc="-1" strike="noStrike">
                <a:solidFill>
                  <a:srgbClr val="0070c0"/>
                </a:solidFill>
                <a:latin typeface="Times New Roman"/>
              </a:rPr>
              <a:t>sed "20,30d" fichier1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Cette commande va supprimer les lignes 20 à 30 du fichier ‘fichier1’. 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-228600">
              <a:lnSpc>
                <a:spcPct val="150000"/>
              </a:lnSpc>
              <a:buClr>
                <a:srgbClr val="663366"/>
              </a:buClr>
              <a:buSzPct val="120000"/>
              <a:buFont typeface="Wingdings" charset="2"/>
              <a:buChar char=""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On peut utiliser les expressions régulières :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    </a:t>
            </a: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- </a:t>
            </a:r>
            <a:r>
              <a:rPr b="0" lang="fr-FR" sz="2200" spc="-1" strike="noStrike">
                <a:solidFill>
                  <a:srgbClr val="ff0000"/>
                </a:solidFill>
                <a:latin typeface="Times New Roman"/>
              </a:rPr>
              <a:t>sed "/toto/d" fichier1 </a:t>
            </a: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: supprime les lignes contenant la chaîne toto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   </a:t>
            </a: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-  </a:t>
            </a:r>
            <a:r>
              <a:rPr b="0" lang="fr-FR" sz="2200" spc="-1" strike="noStrike">
                <a:solidFill>
                  <a:srgbClr val="ff0000"/>
                </a:solidFill>
                <a:latin typeface="Times New Roman"/>
              </a:rPr>
              <a:t>sed "/toto/!d" fichier1 </a:t>
            </a: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: supprime toutes les lignes ne contenant pas la chaîne toto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1" lang="fr-FR" sz="3200" spc="-1" strike="noStrike">
                <a:solidFill>
                  <a:srgbClr val="0070c0"/>
                </a:solidFill>
                <a:latin typeface="Times New Roman"/>
              </a:rPr>
              <a:t>  </a:t>
            </a:r>
            <a:r>
              <a:rPr b="1" lang="fr-FR" sz="3200" spc="-1" strike="noStrike">
                <a:solidFill>
                  <a:srgbClr val="0070c0"/>
                </a:solidFill>
                <a:latin typeface="Times New Roman"/>
              </a:rPr>
              <a:t>- </a:t>
            </a:r>
            <a:r>
              <a:rPr b="0" lang="fr-FR" sz="2200" spc="-1" strike="noStrike">
                <a:solidFill>
                  <a:srgbClr val="ff0000"/>
                </a:solidFill>
                <a:latin typeface="Times New Roman"/>
              </a:rPr>
              <a:t>sed ‘4d; 7d’ fichier1 </a:t>
            </a:r>
            <a:r>
              <a:rPr b="0" lang="fr-FR" sz="2400" spc="-1" strike="noStrike">
                <a:solidFill>
                  <a:srgbClr val="0070c0"/>
                </a:solidFill>
                <a:latin typeface="Times New Roman"/>
                <a:ea typeface="Courier New"/>
              </a:rPr>
              <a:t>: </a:t>
            </a:r>
            <a:r>
              <a:rPr b="0" lang="fr-FR" sz="2400" spc="-1" strike="noStrike">
                <a:solidFill>
                  <a:srgbClr val="000000"/>
                </a:solidFill>
                <a:latin typeface="Times New Roman"/>
                <a:ea typeface="Courier New"/>
              </a:rPr>
              <a:t>supprime les lignes 4 et 7</a:t>
            </a:r>
            <a:endParaRPr b="0" lang="en-US" sz="24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  <a:ea typeface="Courier New"/>
              </a:rPr>
              <a:t>   </a:t>
            </a:r>
            <a:r>
              <a:rPr b="0" lang="fr-FR" sz="2200" spc="-1" strike="noStrike">
                <a:solidFill>
                  <a:srgbClr val="000000"/>
                </a:solidFill>
                <a:latin typeface="Times New Roman"/>
                <a:ea typeface="Courier New"/>
              </a:rPr>
              <a:t>En fait les lignes du fichier d’entrée ne sont pas supprimées, elles le sont au niveau de la sortie standard. 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185" name="Espace réservé du pied de page 16"/>
          <p:cNvSpPr txBox="1"/>
          <p:nvPr/>
        </p:nvSpPr>
        <p:spPr>
          <a:xfrm>
            <a:off x="-72000" y="6660000"/>
            <a:ext cx="984960" cy="360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r>
              <a:rPr b="0" lang="en-US" sz="1100" spc="-1" strike="noStrike">
                <a:solidFill>
                  <a:srgbClr val="595959"/>
                </a:solidFill>
                <a:latin typeface="Rockwell"/>
              </a:rPr>
              <a:t>2025-2026</a:t>
            </a:r>
            <a:endParaRPr b="0" lang="fr-FR" sz="1100" spc="-1" strike="noStrike">
              <a:latin typeface="Times New Roman"/>
            </a:endParaRPr>
          </a:p>
          <a:p>
            <a:pPr algn="r">
              <a:lnSpc>
                <a:spcPct val="100000"/>
              </a:lnSpc>
            </a:pPr>
            <a:endParaRPr b="0" lang="fr-FR" sz="1100" spc="-1" strike="noStrike"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18DD9AF-DE34-4AB5-8BB5-15D9C85B3243}" type="slidenum">
              <a:t>23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498600" y="188640"/>
            <a:ext cx="7556040" cy="1115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3600" spc="-1" strike="noStrike">
                <a:solidFill>
                  <a:schemeClr val="accent1"/>
                </a:solidFill>
                <a:latin typeface="Rockwell"/>
              </a:rPr>
              <a:t>Uniq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498600" y="858240"/>
            <a:ext cx="8361000" cy="5682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28600" indent="-228600">
              <a:lnSpc>
                <a:spcPct val="150000"/>
              </a:lnSpc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Prend en paramètre un fichier trié. 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-228600">
              <a:lnSpc>
                <a:spcPct val="150000"/>
              </a:lnSpc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Elle identifie uniquement les lignes différents qui sont successives.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                                       </a:t>
            </a: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uniq doubl.txt 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-228600">
              <a:lnSpc>
                <a:spcPct val="150000"/>
              </a:lnSpc>
              <a:buClr>
                <a:srgbClr val="663366"/>
              </a:buClr>
              <a:buSzPct val="75000"/>
              <a:buFont typeface="Wingdings" charset="2"/>
              <a:buChar char=""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Options : 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- d : afficher les lignes en double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2200" spc="-1" strike="noStrike">
                <a:solidFill>
                  <a:srgbClr val="000000"/>
                </a:solidFill>
                <a:latin typeface="Times New Roman"/>
              </a:rPr>
              <a:t>- c : nombre d’occurences</a:t>
            </a:r>
            <a:endParaRPr b="0" lang="en-US" sz="22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188" name="Espace réservé du pied de page 17"/>
          <p:cNvSpPr txBox="1"/>
          <p:nvPr/>
        </p:nvSpPr>
        <p:spPr>
          <a:xfrm>
            <a:off x="0" y="6624000"/>
            <a:ext cx="984960" cy="360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r>
              <a:rPr b="0" lang="en-US" sz="1100" spc="-1" strike="noStrike">
                <a:solidFill>
                  <a:srgbClr val="595959"/>
                </a:solidFill>
                <a:latin typeface="Rockwell"/>
              </a:rPr>
              <a:t>2025-2026</a:t>
            </a:r>
            <a:endParaRPr b="0" lang="fr-FR" sz="1100" spc="-1" strike="noStrike">
              <a:latin typeface="Times New Roman"/>
            </a:endParaRPr>
          </a:p>
          <a:p>
            <a:pPr algn="r">
              <a:lnSpc>
                <a:spcPct val="100000"/>
              </a:lnSpc>
            </a:pPr>
            <a:endParaRPr b="0" lang="fr-FR" sz="1100" spc="-1" strike="noStrike"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E1A849D-566F-4098-93D1-2AE0E963F6BB}" type="slidenum">
              <a:t>24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498600" y="242280"/>
            <a:ext cx="7556040" cy="1115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3600" spc="-1" strike="noStrike">
                <a:solidFill>
                  <a:schemeClr val="accent1"/>
                </a:solidFill>
                <a:latin typeface="Rockwell"/>
              </a:rPr>
              <a:t>Find 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/>
          </p:nvPr>
        </p:nvSpPr>
        <p:spPr>
          <a:xfrm>
            <a:off x="256320" y="929520"/>
            <a:ext cx="8834040" cy="5685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100000"/>
              </a:lnSpc>
              <a:spcBef>
                <a:spcPts val="2001"/>
              </a:spcBef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2000" spc="-1" strike="noStrike">
                <a:solidFill>
                  <a:srgbClr val="000000"/>
                </a:solidFill>
                <a:latin typeface="Times New Roman"/>
              </a:rPr>
              <a:t>La commande find permet de retrouver des fichiers à partir de certains critères.</a:t>
            </a: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  <a:p>
            <a:pPr marL="228600" indent="-228600">
              <a:lnSpc>
                <a:spcPct val="100000"/>
              </a:lnSpc>
              <a:spcBef>
                <a:spcPts val="2001"/>
              </a:spcBef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2000" spc="-1" strike="noStrike">
                <a:solidFill>
                  <a:srgbClr val="595959"/>
                </a:solidFill>
                <a:latin typeface="Times New Roman"/>
              </a:rPr>
              <a:t> </a:t>
            </a:r>
            <a:r>
              <a:rPr b="0" lang="fr-FR" sz="2000" spc="-1" strike="noStrike">
                <a:solidFill>
                  <a:srgbClr val="000000"/>
                </a:solidFill>
                <a:latin typeface="Times New Roman"/>
              </a:rPr>
              <a:t>Syntaxe </a:t>
            </a:r>
            <a:r>
              <a:rPr b="0" lang="fr-FR" sz="2000" spc="-1" strike="noStrike">
                <a:solidFill>
                  <a:srgbClr val="0070c0"/>
                </a:solidFill>
                <a:latin typeface="Times New Roman"/>
              </a:rPr>
              <a:t>:         </a:t>
            </a:r>
            <a:r>
              <a:rPr b="1" lang="fr-FR" sz="2000" spc="-1" strike="noStrike">
                <a:solidFill>
                  <a:srgbClr val="0070c0"/>
                </a:solidFill>
                <a:latin typeface="Times New Roman"/>
              </a:rPr>
              <a:t>find  repertoire-de-recherche  critère-de-recherche</a:t>
            </a: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  <a:p>
            <a:pPr marL="228600" indent="-228600">
              <a:lnSpc>
                <a:spcPct val="100000"/>
              </a:lnSpc>
              <a:spcBef>
                <a:spcPts val="2001"/>
              </a:spcBef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2000" spc="-1" strike="noStrike">
                <a:solidFill>
                  <a:srgbClr val="595959"/>
                </a:solidFill>
                <a:latin typeface="Times New Roman"/>
              </a:rPr>
              <a:t> </a:t>
            </a:r>
            <a:r>
              <a:rPr b="0" lang="fr-FR" sz="2000" spc="-1" strike="noStrike">
                <a:solidFill>
                  <a:srgbClr val="000000"/>
                </a:solidFill>
                <a:latin typeface="Times New Roman"/>
              </a:rPr>
              <a:t>Options: </a:t>
            </a: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>
              <a:lnSpc>
                <a:spcPct val="11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595959"/>
                </a:solidFill>
                <a:latin typeface="Times New Roman"/>
              </a:rPr>
              <a:t>   </a:t>
            </a:r>
            <a:r>
              <a:rPr b="0" lang="fr-FR" sz="2000" spc="-1" strike="noStrike">
                <a:solidFill>
                  <a:srgbClr val="595959"/>
                </a:solidFill>
                <a:latin typeface="Times New Roman"/>
              </a:rPr>
              <a:t>-</a:t>
            </a:r>
            <a:r>
              <a:rPr b="0" lang="fr-FR" sz="2000" spc="-1" strike="noStrike">
                <a:solidFill>
                  <a:srgbClr val="000000"/>
                </a:solidFill>
                <a:latin typeface="Times New Roman"/>
              </a:rPr>
              <a:t>name  :  nom du fichier                   ,         -perm : droits d’accès </a:t>
            </a: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>
              <a:lnSpc>
                <a:spcPct val="11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Times New Roman"/>
              </a:rPr>
              <a:t>   </a:t>
            </a:r>
            <a:r>
              <a:rPr b="0" lang="fr-FR" sz="2000" spc="-1" strike="noStrike">
                <a:solidFill>
                  <a:srgbClr val="000000"/>
                </a:solidFill>
                <a:latin typeface="Times New Roman"/>
              </a:rPr>
              <a:t>-link : nombre de liens                      ,          -user  : propriétaire </a:t>
            </a: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>
              <a:lnSpc>
                <a:spcPct val="11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Times New Roman"/>
              </a:rPr>
              <a:t>  </a:t>
            </a:r>
            <a:r>
              <a:rPr b="0" lang="fr-FR" sz="2000" spc="-1" strike="noStrike">
                <a:solidFill>
                  <a:srgbClr val="000000"/>
                </a:solidFill>
                <a:latin typeface="Times New Roman"/>
              </a:rPr>
              <a:t>-group : recherche suivant le groupe    ,          -type  :  recherche suivant le type </a:t>
            </a: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>
              <a:lnSpc>
                <a:spcPct val="11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Times New Roman"/>
              </a:rPr>
              <a:t>  </a:t>
            </a:r>
            <a:r>
              <a:rPr b="0" lang="fr-FR" sz="2000" spc="-1" strike="noStrike">
                <a:solidFill>
                  <a:srgbClr val="000000"/>
                </a:solidFill>
                <a:latin typeface="Times New Roman"/>
              </a:rPr>
              <a:t>-size : recherche suivant  la taille         ,          -atime : date de dernier accès en  </a:t>
            </a: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>
              <a:lnSpc>
                <a:spcPct val="11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Times New Roman"/>
              </a:rPr>
              <a:t>                                                                                         </a:t>
            </a:r>
            <a:r>
              <a:rPr b="0" lang="fr-FR" sz="2000" spc="-1" strike="noStrike">
                <a:solidFill>
                  <a:srgbClr val="000000"/>
                </a:solidFill>
                <a:latin typeface="Times New Roman"/>
              </a:rPr>
              <a:t>lecture</a:t>
            </a: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>
              <a:lnSpc>
                <a:spcPct val="11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Times New Roman"/>
              </a:rPr>
              <a:t>  </a:t>
            </a:r>
            <a:r>
              <a:rPr b="0" lang="fr-FR" sz="2000" spc="-1" strike="noStrike">
                <a:solidFill>
                  <a:srgbClr val="000000"/>
                </a:solidFill>
                <a:latin typeface="Times New Roman"/>
              </a:rPr>
              <a:t>-mtime : date de dernière modification du fichier </a:t>
            </a: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  <a:p>
            <a:pPr marL="228600" indent="0">
              <a:lnSpc>
                <a:spcPct val="11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Times New Roman"/>
              </a:rPr>
              <a:t>   </a:t>
            </a:r>
            <a:r>
              <a:rPr b="0" lang="fr-FR" sz="2000" spc="-1" strike="noStrike">
                <a:solidFill>
                  <a:srgbClr val="000000"/>
                </a:solidFill>
                <a:latin typeface="Times New Roman"/>
              </a:rPr>
              <a:t>-ctime : recherche sur la date de création du fichier </a:t>
            </a: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191" name="Espace réservé du pied de page 18"/>
          <p:cNvSpPr txBox="1"/>
          <p:nvPr/>
        </p:nvSpPr>
        <p:spPr>
          <a:xfrm>
            <a:off x="-36000" y="6660000"/>
            <a:ext cx="984960" cy="360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r>
              <a:rPr b="0" lang="en-US" sz="1100" spc="-1" strike="noStrike">
                <a:solidFill>
                  <a:srgbClr val="595959"/>
                </a:solidFill>
                <a:latin typeface="Rockwell"/>
              </a:rPr>
              <a:t>2025-2026</a:t>
            </a:r>
            <a:endParaRPr b="0" lang="fr-FR" sz="1100" spc="-1" strike="noStrike">
              <a:latin typeface="Times New Roman"/>
            </a:endParaRPr>
          </a:p>
          <a:p>
            <a:pPr algn="r">
              <a:lnSpc>
                <a:spcPct val="100000"/>
              </a:lnSpc>
            </a:pPr>
            <a:endParaRPr b="0" lang="fr-FR" sz="1100" spc="-1" strike="noStrike"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302CAC0-C94D-44C1-9ED6-CEFF2D542140}" type="slidenum">
              <a:t>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498600" y="242280"/>
            <a:ext cx="7556040" cy="1115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3600" spc="-1" strike="noStrike">
                <a:solidFill>
                  <a:schemeClr val="accent1"/>
                </a:solidFill>
                <a:latin typeface="Rockwell"/>
              </a:rPr>
              <a:t>Find 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/>
          </p:nvPr>
        </p:nvSpPr>
        <p:spPr>
          <a:xfrm>
            <a:off x="256320" y="929520"/>
            <a:ext cx="7797960" cy="494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14040" indent="-228600">
              <a:lnSpc>
                <a:spcPct val="100000"/>
              </a:lnSpc>
              <a:spcBef>
                <a:spcPts val="105"/>
              </a:spcBef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1800" spc="-1" strike="noStrike">
                <a:solidFill>
                  <a:srgbClr val="000000"/>
                </a:solidFill>
                <a:latin typeface="Times New Roman"/>
              </a:rPr>
              <a:t>Utilisation </a:t>
            </a:r>
            <a:r>
              <a:rPr b="0" lang="fr-FR" sz="1800" spc="4" strike="noStrike">
                <a:solidFill>
                  <a:srgbClr val="000000"/>
                </a:solidFill>
                <a:latin typeface="Times New Roman"/>
              </a:rPr>
              <a:t>de </a:t>
            </a:r>
            <a:r>
              <a:rPr b="0" lang="fr-FR" sz="1800" spc="-1" strike="noStrike">
                <a:solidFill>
                  <a:srgbClr val="000000"/>
                </a:solidFill>
                <a:latin typeface="Times New Roman"/>
              </a:rPr>
              <a:t>la </a:t>
            </a:r>
            <a:r>
              <a:rPr b="0" lang="fr-FR" sz="1800" spc="4" strike="noStrike">
                <a:solidFill>
                  <a:srgbClr val="000000"/>
                </a:solidFill>
                <a:latin typeface="Times New Roman"/>
              </a:rPr>
              <a:t>commande</a:t>
            </a:r>
            <a:r>
              <a:rPr b="0" lang="fr-FR" sz="1800" spc="-137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1800" spc="9" strike="noStrike">
                <a:solidFill>
                  <a:srgbClr val="000000"/>
                </a:solidFill>
                <a:latin typeface="Times New Roman"/>
              </a:rPr>
              <a:t>find</a:t>
            </a:r>
            <a:endParaRPr b="0" lang="en-US" sz="1800" spc="-1" strike="noStrike">
              <a:solidFill>
                <a:srgbClr val="595959"/>
              </a:solidFill>
              <a:latin typeface="Rockwell"/>
            </a:endParaRPr>
          </a:p>
          <a:p>
            <a:pPr marL="12600" indent="-228600">
              <a:lnSpc>
                <a:spcPct val="100000"/>
              </a:lnSpc>
              <a:spcBef>
                <a:spcPts val="2001"/>
              </a:spcBef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1800" spc="-7" strike="noStrike">
                <a:solidFill>
                  <a:srgbClr val="000000"/>
                </a:solidFill>
                <a:latin typeface="Times New Roman"/>
              </a:rPr>
              <a:t>La</a:t>
            </a:r>
            <a:r>
              <a:rPr b="0" lang="fr-FR" sz="1800" spc="-12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1800" spc="-1" strike="noStrike">
                <a:solidFill>
                  <a:srgbClr val="000000"/>
                </a:solidFill>
                <a:latin typeface="Times New Roman"/>
              </a:rPr>
              <a:t>commande</a:t>
            </a:r>
            <a:r>
              <a:rPr b="0" lang="fr-FR" sz="1800" spc="-4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1800" spc="9" strike="noStrike">
                <a:solidFill>
                  <a:srgbClr val="000000"/>
                </a:solidFill>
                <a:latin typeface="Times New Roman"/>
              </a:rPr>
              <a:t>find</a:t>
            </a:r>
            <a:r>
              <a:rPr b="0" lang="fr-FR" sz="1800" spc="-60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1800" spc="-1" strike="noStrike">
                <a:solidFill>
                  <a:srgbClr val="000000"/>
                </a:solidFill>
                <a:latin typeface="Times New Roman"/>
              </a:rPr>
              <a:t>permet</a:t>
            </a:r>
            <a:r>
              <a:rPr b="0" lang="fr-FR" sz="1800" spc="-4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1800" spc="-1" strike="noStrike">
                <a:solidFill>
                  <a:srgbClr val="000000"/>
                </a:solidFill>
                <a:latin typeface="Times New Roman"/>
              </a:rPr>
              <a:t>de</a:t>
            </a:r>
            <a:r>
              <a:rPr b="0" lang="fr-FR" sz="1800" spc="-15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1800" spc="-1" strike="noStrike">
                <a:solidFill>
                  <a:srgbClr val="000000"/>
                </a:solidFill>
                <a:latin typeface="Times New Roman"/>
              </a:rPr>
              <a:t>chercher</a:t>
            </a:r>
            <a:r>
              <a:rPr b="0" lang="fr-FR" sz="1800" spc="-35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1800" spc="-1" strike="noStrike">
                <a:solidFill>
                  <a:srgbClr val="000000"/>
                </a:solidFill>
                <a:latin typeface="Times New Roman"/>
              </a:rPr>
              <a:t>des</a:t>
            </a:r>
            <a:r>
              <a:rPr b="0" lang="fr-FR" sz="1800" spc="-15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1800" spc="-1" strike="noStrike">
                <a:solidFill>
                  <a:srgbClr val="000000"/>
                </a:solidFill>
                <a:latin typeface="Times New Roman"/>
              </a:rPr>
              <a:t>fichiers,</a:t>
            </a:r>
            <a:r>
              <a:rPr b="0" lang="fr-FR" sz="1800" spc="-2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1800" spc="-1" strike="noStrike">
                <a:solidFill>
                  <a:srgbClr val="000000"/>
                </a:solidFill>
                <a:latin typeface="Times New Roman"/>
              </a:rPr>
              <a:t>et</a:t>
            </a:r>
            <a:r>
              <a:rPr b="0" lang="fr-FR" sz="1800" spc="-12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1800" spc="-1" strike="noStrike">
                <a:solidFill>
                  <a:srgbClr val="000000"/>
                </a:solidFill>
                <a:latin typeface="Times New Roman"/>
              </a:rPr>
              <a:t>éventuellement</a:t>
            </a:r>
            <a:r>
              <a:rPr b="0" lang="fr-FR" sz="1800" spc="-4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1800" spc="-1" strike="noStrike">
                <a:solidFill>
                  <a:srgbClr val="000000"/>
                </a:solidFill>
                <a:latin typeface="Times New Roman"/>
              </a:rPr>
              <a:t>d‘exécuter</a:t>
            </a:r>
            <a:r>
              <a:rPr b="0" lang="fr-FR" sz="1800" spc="-46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800" spc="-1" strike="noStrike">
              <a:solidFill>
                <a:srgbClr val="595959"/>
              </a:solidFill>
              <a:latin typeface="Rockwell"/>
            </a:endParaRPr>
          </a:p>
          <a:p>
            <a:pPr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Times New Roman"/>
              </a:rPr>
              <a:t>une action</a:t>
            </a:r>
            <a:r>
              <a:rPr b="0" lang="fr-FR" sz="1800" spc="-2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1800" spc="-1" strike="noStrike">
                <a:solidFill>
                  <a:srgbClr val="000000"/>
                </a:solidFill>
                <a:latin typeface="Times New Roman"/>
              </a:rPr>
              <a:t>dessus</a:t>
            </a:r>
            <a:r>
              <a:rPr b="0" lang="fr-FR" sz="1800" spc="-7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1800" spc="-1" strike="noStrike">
                <a:solidFill>
                  <a:srgbClr val="000000"/>
                </a:solidFill>
                <a:latin typeface="Times New Roman"/>
              </a:rPr>
              <a:t>:</a:t>
            </a:r>
            <a:endParaRPr b="0" lang="en-US" sz="1800" spc="-1" strike="noStrike">
              <a:solidFill>
                <a:srgbClr val="595959"/>
              </a:solidFill>
              <a:latin typeface="Rockwell"/>
            </a:endParaRPr>
          </a:p>
          <a:p>
            <a:pPr marL="300240" indent="-300240">
              <a:lnSpc>
                <a:spcPct val="199000"/>
              </a:lnSpc>
              <a:spcBef>
                <a:spcPts val="11"/>
              </a:spcBef>
              <a:buClr>
                <a:srgbClr val="663366"/>
              </a:buClr>
              <a:buSzPct val="75000"/>
              <a:buFont typeface="Arial"/>
              <a:buChar char="•"/>
              <a:tabLst>
                <a:tab algn="l" pos="300240"/>
                <a:tab algn="l" pos="30096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Times New Roman"/>
              </a:rPr>
              <a:t>Rechercher</a:t>
            </a:r>
            <a:r>
              <a:rPr b="0" lang="fr-FR" sz="1800" spc="-52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1800" spc="4" strike="noStrike">
                <a:solidFill>
                  <a:srgbClr val="000000"/>
                </a:solidFill>
                <a:latin typeface="Times New Roman"/>
              </a:rPr>
              <a:t>un</a:t>
            </a:r>
            <a:r>
              <a:rPr b="0" lang="fr-FR" sz="1800" spc="-1" strike="noStrike">
                <a:solidFill>
                  <a:srgbClr val="000000"/>
                </a:solidFill>
                <a:latin typeface="Times New Roman"/>
              </a:rPr>
              <a:t> fichier</a:t>
            </a:r>
            <a:r>
              <a:rPr b="0" lang="fr-FR" sz="1800" spc="-35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1800" spc="4" strike="noStrike">
                <a:solidFill>
                  <a:srgbClr val="000000"/>
                </a:solidFill>
                <a:latin typeface="Times New Roman"/>
              </a:rPr>
              <a:t>nommé</a:t>
            </a:r>
            <a:r>
              <a:rPr b="0" lang="fr-FR" sz="1800" spc="-52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1800" spc="-1" strike="noStrike">
                <a:solidFill>
                  <a:srgbClr val="000000"/>
                </a:solidFill>
                <a:latin typeface="Times New Roman"/>
              </a:rPr>
              <a:t>fichier1</a:t>
            </a:r>
            <a:r>
              <a:rPr b="0" lang="fr-FR" sz="1800" spc="-4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1800" spc="9" strike="noStrike">
                <a:solidFill>
                  <a:srgbClr val="000000"/>
                </a:solidFill>
                <a:latin typeface="Times New Roman"/>
              </a:rPr>
              <a:t>dans</a:t>
            </a:r>
            <a:r>
              <a:rPr b="0" lang="fr-FR" sz="1800" spc="-32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1800" spc="-1" strike="noStrike">
                <a:solidFill>
                  <a:srgbClr val="000000"/>
                </a:solidFill>
                <a:latin typeface="Times New Roman"/>
              </a:rPr>
              <a:t>le répertoire  /home/ludo    </a:t>
            </a:r>
            <a:endParaRPr b="0" lang="en-US" sz="1800" spc="-1" strike="noStrike">
              <a:solidFill>
                <a:srgbClr val="595959"/>
              </a:solidFill>
              <a:latin typeface="Rockwell"/>
            </a:endParaRPr>
          </a:p>
          <a:p>
            <a:pPr indent="0">
              <a:lnSpc>
                <a:spcPct val="199000"/>
              </a:lnSpc>
              <a:spcBef>
                <a:spcPts val="11"/>
              </a:spcBef>
              <a:buNone/>
              <a:tabLst>
                <a:tab algn="l" pos="0"/>
              </a:tabLst>
            </a:pPr>
            <a:r>
              <a:rPr b="1" lang="fr-FR" sz="1800" spc="-1" strike="noStrike">
                <a:solidFill>
                  <a:srgbClr val="000000"/>
                </a:solidFill>
                <a:latin typeface="Times New Roman"/>
              </a:rPr>
              <a:t>    </a:t>
            </a:r>
            <a:r>
              <a:rPr b="1" lang="fr-FR" sz="1800" spc="-1" strike="noStrike">
                <a:solidFill>
                  <a:srgbClr val="0070c0"/>
                </a:solidFill>
                <a:latin typeface="Times New Roman"/>
              </a:rPr>
              <a:t>#find     /home/ludo    –name  fichier1  </a:t>
            </a:r>
            <a:r>
              <a:rPr b="1" lang="fr-FR" sz="1800" spc="-137" strike="noStrike">
                <a:solidFill>
                  <a:srgbClr val="0070c0"/>
                </a:solidFill>
                <a:latin typeface="Times New Roman"/>
              </a:rPr>
              <a:t> </a:t>
            </a:r>
            <a:r>
              <a:rPr b="1" lang="fr-FR" sz="1800" spc="-1" strike="noStrike">
                <a:solidFill>
                  <a:srgbClr val="0070c0"/>
                </a:solidFill>
                <a:latin typeface="Times New Roman"/>
              </a:rPr>
              <a:t>–print</a:t>
            </a:r>
            <a:endParaRPr b="0" lang="en-US" sz="18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194" name="Espace réservé du pied de page 19"/>
          <p:cNvSpPr txBox="1"/>
          <p:nvPr/>
        </p:nvSpPr>
        <p:spPr>
          <a:xfrm>
            <a:off x="0" y="6624000"/>
            <a:ext cx="984960" cy="360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r>
              <a:rPr b="0" lang="en-US" sz="1100" spc="-1" strike="noStrike">
                <a:solidFill>
                  <a:srgbClr val="595959"/>
                </a:solidFill>
                <a:latin typeface="Rockwell"/>
              </a:rPr>
              <a:t>2025-2026</a:t>
            </a:r>
            <a:endParaRPr b="0" lang="fr-FR" sz="1100" spc="-1" strike="noStrike">
              <a:latin typeface="Times New Roman"/>
            </a:endParaRPr>
          </a:p>
          <a:p>
            <a:pPr algn="r">
              <a:lnSpc>
                <a:spcPct val="100000"/>
              </a:lnSpc>
            </a:pPr>
            <a:endParaRPr b="0" lang="fr-FR" sz="1100" spc="-1" strike="noStrike"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E79136D-61C6-4027-8FC0-1D3C075C48B3}" type="slidenum">
              <a:t>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498600" y="242280"/>
            <a:ext cx="7556040" cy="1115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3600" spc="-1" strike="noStrike">
                <a:solidFill>
                  <a:schemeClr val="accent1"/>
                </a:solidFill>
                <a:latin typeface="Rockwell"/>
              </a:rPr>
              <a:t>Find 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256320" y="929520"/>
            <a:ext cx="8388720" cy="4822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00240" indent="-300240">
              <a:lnSpc>
                <a:spcPct val="199000"/>
              </a:lnSpc>
              <a:spcBef>
                <a:spcPts val="20"/>
              </a:spcBef>
              <a:buClr>
                <a:srgbClr val="663366"/>
              </a:buClr>
              <a:buSzPct val="75000"/>
              <a:buFont typeface="Arial"/>
              <a:buChar char="•"/>
              <a:tabLst>
                <a:tab algn="l" pos="300240"/>
                <a:tab algn="l" pos="30096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Times New Roman"/>
              </a:rPr>
              <a:t>Rechercher</a:t>
            </a:r>
            <a:r>
              <a:rPr b="0" lang="fr-FR" sz="2000" spc="-4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2000" spc="9" strike="noStrike">
                <a:solidFill>
                  <a:srgbClr val="000000"/>
                </a:solidFill>
                <a:latin typeface="Times New Roman"/>
              </a:rPr>
              <a:t>tous</a:t>
            </a:r>
            <a:r>
              <a:rPr b="0" lang="fr-FR" sz="2000" spc="-32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2000" spc="4" strike="noStrike">
                <a:solidFill>
                  <a:srgbClr val="000000"/>
                </a:solidFill>
                <a:latin typeface="Times New Roman"/>
              </a:rPr>
              <a:t>les</a:t>
            </a:r>
            <a:r>
              <a:rPr b="0" lang="fr-FR" sz="2000" spc="-2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2000" spc="-1" strike="noStrike">
                <a:solidFill>
                  <a:srgbClr val="000000"/>
                </a:solidFill>
                <a:latin typeface="Times New Roman"/>
              </a:rPr>
              <a:t>fichiers</a:t>
            </a:r>
            <a:r>
              <a:rPr b="0" lang="fr-FR" sz="2000" spc="-32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2000" spc="-1" strike="noStrike">
                <a:solidFill>
                  <a:srgbClr val="000000"/>
                </a:solidFill>
                <a:latin typeface="Times New Roman"/>
              </a:rPr>
              <a:t>appartenant</a:t>
            </a:r>
            <a:r>
              <a:rPr b="0" lang="fr-FR" sz="2000" spc="-4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2000" spc="-1" strike="noStrike">
                <a:solidFill>
                  <a:srgbClr val="000000"/>
                </a:solidFill>
                <a:latin typeface="Times New Roman"/>
              </a:rPr>
              <a:t>a</a:t>
            </a:r>
            <a:r>
              <a:rPr b="0" lang="fr-FR" sz="2000" spc="9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2000" spc="-1" strike="noStrike">
                <a:solidFill>
                  <a:srgbClr val="000000"/>
                </a:solidFill>
                <a:latin typeface="Times New Roman"/>
              </a:rPr>
              <a:t>l’utilisateur</a:t>
            </a:r>
            <a:r>
              <a:rPr b="0" lang="fr-FR" sz="2000" spc="-52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2000" spc="4" strike="noStrike">
                <a:solidFill>
                  <a:srgbClr val="000000"/>
                </a:solidFill>
                <a:latin typeface="Times New Roman"/>
              </a:rPr>
              <a:t>tekup</a:t>
            </a:r>
            <a:r>
              <a:rPr b="0" lang="fr-FR" sz="2000" spc="-35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2000" spc="4" strike="noStrike">
                <a:solidFill>
                  <a:srgbClr val="000000"/>
                </a:solidFill>
                <a:latin typeface="Times New Roman"/>
              </a:rPr>
              <a:t>et les</a:t>
            </a:r>
            <a:r>
              <a:rPr b="0" lang="fr-FR" sz="2000" spc="-2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2000" spc="-1" strike="noStrike">
                <a:solidFill>
                  <a:srgbClr val="000000"/>
                </a:solidFill>
                <a:latin typeface="Times New Roman"/>
              </a:rPr>
              <a:t>deplacer</a:t>
            </a:r>
            <a:r>
              <a:rPr b="0" lang="fr-FR" sz="2000" spc="-35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2000" spc="9" strike="noStrike">
                <a:solidFill>
                  <a:srgbClr val="000000"/>
                </a:solidFill>
                <a:latin typeface="Times New Roman"/>
              </a:rPr>
              <a:t>dans</a:t>
            </a:r>
            <a:r>
              <a:rPr b="0" lang="fr-FR" sz="2000" spc="-32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2000" spc="4" strike="noStrike">
                <a:solidFill>
                  <a:srgbClr val="000000"/>
                </a:solidFill>
                <a:latin typeface="Times New Roman"/>
              </a:rPr>
              <a:t>son</a:t>
            </a:r>
            <a:r>
              <a:rPr b="0" lang="fr-FR" sz="2000" spc="-2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2000" spc="-1" strike="noStrike">
                <a:solidFill>
                  <a:srgbClr val="000000"/>
                </a:solidFill>
                <a:latin typeface="Times New Roman"/>
              </a:rPr>
              <a:t>répertoire</a:t>
            </a:r>
            <a:r>
              <a:rPr b="0" lang="fr-FR" sz="2000" spc="-4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2000" spc="9" strike="noStrike">
                <a:solidFill>
                  <a:srgbClr val="000000"/>
                </a:solidFill>
                <a:latin typeface="Times New Roman"/>
              </a:rPr>
              <a:t>home </a:t>
            </a: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  <a:p>
            <a:pPr indent="0">
              <a:lnSpc>
                <a:spcPct val="199000"/>
              </a:lnSpc>
              <a:spcBef>
                <a:spcPts val="20"/>
              </a:spcBef>
              <a:buNone/>
              <a:tabLst>
                <a:tab algn="l" pos="0"/>
              </a:tabLst>
            </a:pPr>
            <a:r>
              <a:rPr b="1" lang="fr-FR" sz="2000" spc="9" strike="noStrike">
                <a:solidFill>
                  <a:srgbClr val="0070c0"/>
                </a:solidFill>
                <a:latin typeface="Times New Roman"/>
              </a:rPr>
              <a:t>     </a:t>
            </a:r>
            <a:r>
              <a:rPr b="1" lang="fr-FR" sz="2000" spc="-1" strike="noStrike">
                <a:solidFill>
                  <a:srgbClr val="0070c0"/>
                </a:solidFill>
                <a:latin typeface="Times New Roman"/>
              </a:rPr>
              <a:t># find  / -user tekup</a:t>
            </a: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  <a:p>
            <a:pPr indent="0">
              <a:lnSpc>
                <a:spcPct val="199000"/>
              </a:lnSpc>
              <a:spcBef>
                <a:spcPts val="20"/>
              </a:spcBef>
              <a:buNone/>
              <a:tabLst>
                <a:tab algn="l" pos="0"/>
              </a:tabLst>
            </a:pPr>
            <a:r>
              <a:rPr b="1" lang="fr-FR" sz="2000" spc="-7" strike="noStrike">
                <a:solidFill>
                  <a:srgbClr val="0070c0"/>
                </a:solidFill>
                <a:latin typeface="Times New Roman"/>
              </a:rPr>
              <a:t>     </a:t>
            </a:r>
            <a:r>
              <a:rPr b="1" lang="fr-FR" sz="2000" spc="-1" strike="noStrike">
                <a:solidFill>
                  <a:srgbClr val="0070c0"/>
                </a:solidFill>
                <a:latin typeface="Times New Roman"/>
              </a:rPr>
              <a:t># find / -user tekup -exec mv {} /home/tekup/ </a:t>
            </a:r>
            <a:r>
              <a:rPr b="1" lang="fr-FR" sz="2000" spc="-7" strike="noStrike">
                <a:solidFill>
                  <a:srgbClr val="0070c0"/>
                </a:solidFill>
                <a:latin typeface="Times New Roman"/>
              </a:rPr>
              <a:t>\;</a:t>
            </a:r>
            <a:r>
              <a:rPr b="1" lang="fr-FR" sz="2000" spc="-140" strike="noStrike">
                <a:solidFill>
                  <a:srgbClr val="0070c0"/>
                </a:solidFill>
                <a:latin typeface="Times New Roman"/>
              </a:rPr>
              <a:t> </a:t>
            </a: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  <a:p>
            <a:pPr indent="0">
              <a:lnSpc>
                <a:spcPct val="100000"/>
              </a:lnSpc>
              <a:spcBef>
                <a:spcPts val="11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  <a:p>
            <a:pPr marL="300240" indent="-287640">
              <a:lnSpc>
                <a:spcPct val="100000"/>
              </a:lnSpc>
              <a:spcBef>
                <a:spcPts val="2001"/>
              </a:spcBef>
              <a:buClr>
                <a:srgbClr val="663366"/>
              </a:buClr>
              <a:buSzPct val="75000"/>
              <a:buFont typeface="Arial"/>
              <a:buChar char="•"/>
              <a:tabLst>
                <a:tab algn="l" pos="300240"/>
                <a:tab algn="l" pos="30096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Times New Roman"/>
              </a:rPr>
              <a:t>Rechercher</a:t>
            </a:r>
            <a:r>
              <a:rPr b="0" lang="fr-FR" sz="2000" spc="-52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2000" spc="9" strike="noStrike">
                <a:solidFill>
                  <a:srgbClr val="000000"/>
                </a:solidFill>
                <a:latin typeface="Times New Roman"/>
              </a:rPr>
              <a:t>tous</a:t>
            </a:r>
            <a:r>
              <a:rPr b="0" lang="fr-FR" sz="2000" spc="-32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2000" spc="4" strike="noStrike">
                <a:solidFill>
                  <a:srgbClr val="000000"/>
                </a:solidFill>
                <a:latin typeface="Times New Roman"/>
              </a:rPr>
              <a:t>les</a:t>
            </a:r>
            <a:r>
              <a:rPr b="0" lang="fr-FR" sz="2000" spc="-2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2000" spc="-1" strike="noStrike">
                <a:solidFill>
                  <a:srgbClr val="000000"/>
                </a:solidFill>
                <a:latin typeface="Times New Roman"/>
              </a:rPr>
              <a:t>fichiers</a:t>
            </a:r>
            <a:r>
              <a:rPr b="0" lang="fr-FR" sz="2000" spc="-32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2000" spc="-1" strike="noStrike">
                <a:solidFill>
                  <a:srgbClr val="000000"/>
                </a:solidFill>
                <a:latin typeface="Times New Roman"/>
              </a:rPr>
              <a:t>commençant</a:t>
            </a:r>
            <a:r>
              <a:rPr b="0" lang="fr-FR" sz="2000" spc="-4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2000" spc="9" strike="noStrike">
                <a:solidFill>
                  <a:srgbClr val="000000"/>
                </a:solidFill>
                <a:latin typeface="Times New Roman"/>
              </a:rPr>
              <a:t>par</a:t>
            </a:r>
            <a:r>
              <a:rPr b="0" lang="fr-FR" sz="2000" spc="-35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2000" spc="-1" strike="noStrike">
                <a:solidFill>
                  <a:srgbClr val="000000"/>
                </a:solidFill>
                <a:latin typeface="Times New Roman"/>
              </a:rPr>
              <a:t>fichier</a:t>
            </a:r>
            <a:r>
              <a:rPr b="0" lang="fr-FR" sz="2000" spc="-4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2000" spc="9" strike="noStrike">
                <a:solidFill>
                  <a:srgbClr val="000000"/>
                </a:solidFill>
                <a:latin typeface="Times New Roman"/>
              </a:rPr>
              <a:t>ET</a:t>
            </a:r>
            <a:r>
              <a:rPr b="0" lang="fr-FR" sz="2000" spc="-7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2000" spc="-1" strike="noStrike">
                <a:solidFill>
                  <a:srgbClr val="000000"/>
                </a:solidFill>
                <a:latin typeface="Times New Roman"/>
              </a:rPr>
              <a:t>appartenant</a:t>
            </a:r>
            <a:r>
              <a:rPr b="0" lang="fr-FR" sz="2000" spc="-4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2000" spc="-1" strike="noStrike">
                <a:solidFill>
                  <a:srgbClr val="000000"/>
                </a:solidFill>
                <a:latin typeface="Times New Roman"/>
              </a:rPr>
              <a:t>a</a:t>
            </a:r>
            <a:r>
              <a:rPr b="0" lang="fr-FR" sz="2000" spc="9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2000" spc="-1" strike="noStrike">
                <a:solidFill>
                  <a:srgbClr val="000000"/>
                </a:solidFill>
                <a:latin typeface="Times New Roman"/>
              </a:rPr>
              <a:t>l’utilisateur</a:t>
            </a:r>
            <a:r>
              <a:rPr b="0" lang="fr-FR" sz="2000" spc="-4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2000" spc="4" strike="noStrike">
                <a:solidFill>
                  <a:srgbClr val="000000"/>
                </a:solidFill>
                <a:latin typeface="Times New Roman"/>
              </a:rPr>
              <a:t>tekup</a:t>
            </a:r>
            <a:r>
              <a:rPr b="0" lang="fr-FR" sz="2000" spc="-35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2000" spc="4" strike="noStrike">
                <a:solidFill>
                  <a:srgbClr val="000000"/>
                </a:solidFill>
                <a:latin typeface="Times New Roman"/>
              </a:rPr>
              <a:t>et</a:t>
            </a:r>
            <a:r>
              <a:rPr b="0" lang="fr-FR" sz="20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2000" spc="4" strike="noStrike">
                <a:solidFill>
                  <a:srgbClr val="000000"/>
                </a:solidFill>
                <a:latin typeface="Times New Roman"/>
              </a:rPr>
              <a:t>les</a:t>
            </a:r>
            <a:r>
              <a:rPr b="0" lang="fr-FR" sz="2000" spc="-2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2000" spc="4" strike="noStrike">
                <a:solidFill>
                  <a:srgbClr val="000000"/>
                </a:solidFill>
                <a:latin typeface="Times New Roman"/>
              </a:rPr>
              <a:t>copier</a:t>
            </a:r>
            <a:r>
              <a:rPr b="0" lang="fr-FR" sz="2000" spc="-4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2000" spc="9" strike="noStrike">
                <a:solidFill>
                  <a:srgbClr val="000000"/>
                </a:solidFill>
                <a:latin typeface="Times New Roman"/>
              </a:rPr>
              <a:t>dans</a:t>
            </a:r>
            <a:r>
              <a:rPr b="0" lang="fr-FR" sz="2000" spc="-32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2000" spc="-1" strike="noStrike">
                <a:solidFill>
                  <a:srgbClr val="000000"/>
                </a:solidFill>
                <a:latin typeface="Times New Roman"/>
              </a:rPr>
              <a:t>le</a:t>
            </a:r>
            <a:r>
              <a:rPr b="0" lang="fr-FR" sz="2000" spc="-7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2000" spc="-1" strike="noStrike">
                <a:solidFill>
                  <a:srgbClr val="000000"/>
                </a:solidFill>
                <a:latin typeface="Times New Roman"/>
              </a:rPr>
              <a:t>répertoire </a:t>
            </a:r>
            <a:r>
              <a:rPr b="0" lang="fr-FR" sz="2000" spc="4" strike="noStrike">
                <a:solidFill>
                  <a:srgbClr val="000000"/>
                </a:solidFill>
                <a:latin typeface="Times New Roman"/>
              </a:rPr>
              <a:t>/root</a:t>
            </a: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  <a:p>
            <a:pPr marL="12600"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1" lang="fr-FR" sz="2000" spc="4" strike="noStrike">
                <a:solidFill>
                  <a:srgbClr val="0070c0"/>
                </a:solidFill>
                <a:latin typeface="Times New Roman"/>
              </a:rPr>
              <a:t>     </a:t>
            </a:r>
            <a:r>
              <a:rPr b="1" lang="fr-FR" sz="2000" spc="-1" strike="noStrike">
                <a:solidFill>
                  <a:srgbClr val="0070c0"/>
                </a:solidFill>
                <a:latin typeface="Times New Roman"/>
              </a:rPr>
              <a:t>#find / -name "fichier*" -a -user tekup -exec cp {} /root/* </a:t>
            </a:r>
            <a:r>
              <a:rPr b="1" lang="fr-FR" sz="2000" spc="-7" strike="noStrike">
                <a:solidFill>
                  <a:srgbClr val="0070c0"/>
                </a:solidFill>
                <a:latin typeface="Times New Roman"/>
              </a:rPr>
              <a:t>\;</a:t>
            </a:r>
            <a:r>
              <a:rPr b="1" lang="fr-FR" sz="2000" spc="-177" strike="noStrike">
                <a:solidFill>
                  <a:srgbClr val="0070c0"/>
                </a:solidFill>
                <a:latin typeface="Times New Roman"/>
              </a:rPr>
              <a:t> </a:t>
            </a: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197" name="Espace réservé du pied de page 20"/>
          <p:cNvSpPr txBox="1"/>
          <p:nvPr/>
        </p:nvSpPr>
        <p:spPr>
          <a:xfrm>
            <a:off x="-72000" y="6624000"/>
            <a:ext cx="984960" cy="360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r>
              <a:rPr b="0" lang="en-US" sz="1100" spc="-1" strike="noStrike">
                <a:solidFill>
                  <a:srgbClr val="595959"/>
                </a:solidFill>
                <a:latin typeface="Rockwell"/>
              </a:rPr>
              <a:t>2025-2026</a:t>
            </a:r>
            <a:endParaRPr b="0" lang="fr-FR" sz="1100" spc="-1" strike="noStrike">
              <a:latin typeface="Times New Roman"/>
            </a:endParaRPr>
          </a:p>
          <a:p>
            <a:pPr algn="r">
              <a:lnSpc>
                <a:spcPct val="100000"/>
              </a:lnSpc>
            </a:pPr>
            <a:endParaRPr b="0" lang="fr-FR" sz="1100" spc="-1" strike="noStrike"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0F375D0-49BA-42E1-A31C-9FA0F028EBE7}" type="slidenum">
              <a:t>27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498600" y="242280"/>
            <a:ext cx="7556040" cy="1115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3600" spc="-1" strike="noStrike">
                <a:solidFill>
                  <a:schemeClr val="accent1"/>
                </a:solidFill>
                <a:latin typeface="Rockwell"/>
              </a:rPr>
              <a:t>Find 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/>
          </p:nvPr>
        </p:nvSpPr>
        <p:spPr>
          <a:xfrm>
            <a:off x="4438800" y="1099800"/>
            <a:ext cx="3615480" cy="551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12600" indent="-228600">
              <a:lnSpc>
                <a:spcPct val="100000"/>
              </a:lnSpc>
              <a:spcBef>
                <a:spcPts val="105"/>
              </a:spcBef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1800" spc="-12" strike="noStrike">
                <a:solidFill>
                  <a:srgbClr val="000000"/>
                </a:solidFill>
                <a:latin typeface="Times New Roman"/>
              </a:rPr>
              <a:t>Pour </a:t>
            </a:r>
            <a:r>
              <a:rPr b="0" lang="fr-FR" sz="1800" spc="-7" strike="noStrike">
                <a:solidFill>
                  <a:srgbClr val="000000"/>
                </a:solidFill>
                <a:latin typeface="Times New Roman"/>
              </a:rPr>
              <a:t>les </a:t>
            </a:r>
            <a:r>
              <a:rPr b="0" lang="fr-FR" sz="1800" spc="-1" strike="noStrike">
                <a:solidFill>
                  <a:srgbClr val="000000"/>
                </a:solidFill>
                <a:latin typeface="Times New Roman"/>
              </a:rPr>
              <a:t>options </a:t>
            </a:r>
            <a:r>
              <a:rPr b="0" lang="fr-FR" sz="1800" spc="4" strike="noStrike">
                <a:solidFill>
                  <a:srgbClr val="000000"/>
                </a:solidFill>
                <a:latin typeface="Times New Roman"/>
              </a:rPr>
              <a:t>-size, -atime, -mtime, </a:t>
            </a:r>
            <a:r>
              <a:rPr b="0" lang="fr-FR" sz="1800" spc="9" strike="noStrike">
                <a:solidFill>
                  <a:srgbClr val="000000"/>
                </a:solidFill>
                <a:latin typeface="Times New Roman"/>
              </a:rPr>
              <a:t>-ctime </a:t>
            </a:r>
            <a:r>
              <a:rPr b="0" lang="fr-FR" sz="1800" spc="-7" strike="noStrike">
                <a:solidFill>
                  <a:srgbClr val="000000"/>
                </a:solidFill>
                <a:latin typeface="Times New Roman"/>
              </a:rPr>
              <a:t>et</a:t>
            </a:r>
            <a:r>
              <a:rPr b="0" lang="fr-FR" sz="1800" spc="-25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1800" spc="4" strike="noStrike">
                <a:solidFill>
                  <a:srgbClr val="000000"/>
                </a:solidFill>
                <a:latin typeface="Times New Roman"/>
              </a:rPr>
              <a:t>-links,</a:t>
            </a:r>
            <a:r>
              <a:rPr b="0" lang="fr-FR" sz="18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1800" spc="-7" strike="noStrike">
                <a:solidFill>
                  <a:srgbClr val="000000"/>
                </a:solidFill>
                <a:latin typeface="Times New Roman"/>
              </a:rPr>
              <a:t>Il </a:t>
            </a:r>
            <a:r>
              <a:rPr b="0" lang="fr-FR" sz="1800" spc="-1" strike="noStrike">
                <a:solidFill>
                  <a:srgbClr val="000000"/>
                </a:solidFill>
                <a:latin typeface="Times New Roman"/>
              </a:rPr>
              <a:t>faut </a:t>
            </a:r>
            <a:r>
              <a:rPr b="0" lang="fr-FR" sz="1800" spc="-7" strike="noStrike">
                <a:solidFill>
                  <a:srgbClr val="000000"/>
                </a:solidFill>
                <a:latin typeface="Times New Roman"/>
              </a:rPr>
              <a:t>spécifier une </a:t>
            </a:r>
            <a:r>
              <a:rPr b="0" lang="fr-FR" sz="1800" spc="-21" strike="noStrike">
                <a:solidFill>
                  <a:srgbClr val="000000"/>
                </a:solidFill>
                <a:latin typeface="Times New Roman"/>
              </a:rPr>
              <a:t>valeur, </a:t>
            </a:r>
            <a:r>
              <a:rPr b="0" lang="fr-FR" sz="1800" spc="-7" strike="noStrike">
                <a:solidFill>
                  <a:srgbClr val="000000"/>
                </a:solidFill>
                <a:latin typeface="Times New Roman"/>
              </a:rPr>
              <a:t>précédée par le signe ``+''</a:t>
            </a:r>
            <a:r>
              <a:rPr b="0" lang="fr-FR" sz="1800" spc="94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1800" spc="-1" strike="noStrike">
                <a:solidFill>
                  <a:srgbClr val="000000"/>
                </a:solidFill>
                <a:latin typeface="Times New Roman"/>
              </a:rPr>
              <a:t>pour </a:t>
            </a:r>
            <a:r>
              <a:rPr b="0" lang="fr-FR" sz="1800" spc="-7" strike="noStrike">
                <a:solidFill>
                  <a:srgbClr val="000000"/>
                </a:solidFill>
                <a:latin typeface="Times New Roman"/>
              </a:rPr>
              <a:t>``supérieur </a:t>
            </a:r>
            <a:r>
              <a:rPr b="0" lang="fr-FR" sz="1800" spc="-1" strike="noStrike">
                <a:solidFill>
                  <a:srgbClr val="000000"/>
                </a:solidFill>
                <a:latin typeface="Times New Roman"/>
              </a:rPr>
              <a:t>à'', ``-'' pour </a:t>
            </a:r>
            <a:r>
              <a:rPr b="0" lang="fr-FR" sz="1800" spc="-7" strike="noStrike">
                <a:solidFill>
                  <a:srgbClr val="000000"/>
                </a:solidFill>
                <a:latin typeface="Times New Roman"/>
              </a:rPr>
              <a:t>``inférieur </a:t>
            </a:r>
            <a:r>
              <a:rPr b="0" lang="fr-FR" sz="1800" spc="-1" strike="noStrike">
                <a:solidFill>
                  <a:srgbClr val="000000"/>
                </a:solidFill>
                <a:latin typeface="Times New Roman"/>
              </a:rPr>
              <a:t>à'', ou </a:t>
            </a:r>
            <a:r>
              <a:rPr b="0" lang="fr-FR" sz="1800" spc="-7" strike="noStrike">
                <a:solidFill>
                  <a:srgbClr val="000000"/>
                </a:solidFill>
                <a:latin typeface="Times New Roman"/>
              </a:rPr>
              <a:t>rien </a:t>
            </a:r>
            <a:r>
              <a:rPr b="0" lang="fr-FR" sz="1800" spc="-1" strike="noStrike">
                <a:solidFill>
                  <a:srgbClr val="000000"/>
                </a:solidFill>
                <a:latin typeface="Times New Roman"/>
              </a:rPr>
              <a:t>pour </a:t>
            </a:r>
            <a:r>
              <a:rPr b="0" lang="fr-FR" sz="1800" spc="-7" strike="noStrike">
                <a:solidFill>
                  <a:srgbClr val="000000"/>
                </a:solidFill>
                <a:latin typeface="Times New Roman"/>
              </a:rPr>
              <a:t>``égal </a:t>
            </a:r>
            <a:r>
              <a:rPr b="0" lang="fr-FR" sz="1800" spc="-1" strike="noStrike">
                <a:solidFill>
                  <a:srgbClr val="000000"/>
                </a:solidFill>
                <a:latin typeface="Times New Roman"/>
              </a:rPr>
              <a:t>à''.  </a:t>
            </a:r>
            <a:r>
              <a:rPr b="0" lang="fr-FR" sz="1800" spc="-7" strike="noStrike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Par </a:t>
            </a:r>
            <a:r>
              <a:rPr b="0" lang="fr-FR" sz="1800" spc="-1" strike="noStrike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exemple</a:t>
            </a:r>
            <a:r>
              <a:rPr b="0" lang="fr-FR" sz="1800" spc="-100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1800" spc="-1" strike="noStrike">
                <a:solidFill>
                  <a:srgbClr val="000000"/>
                </a:solidFill>
                <a:latin typeface="Times New Roman"/>
              </a:rPr>
              <a:t>:</a:t>
            </a:r>
            <a:endParaRPr b="0" lang="en-US" sz="1800" spc="-1" strike="noStrike">
              <a:solidFill>
                <a:srgbClr val="595959"/>
              </a:solidFill>
              <a:latin typeface="Rockwell"/>
            </a:endParaRPr>
          </a:p>
          <a:p>
            <a:pPr indent="0">
              <a:lnSpc>
                <a:spcPct val="100000"/>
              </a:lnSpc>
              <a:spcBef>
                <a:spcPts val="1670"/>
              </a:spcBef>
              <a:buNone/>
              <a:tabLst>
                <a:tab algn="l" pos="0"/>
              </a:tabLst>
            </a:pPr>
            <a:r>
              <a:rPr b="1" lang="fr-FR" sz="1800" spc="-1" strike="noStrike">
                <a:solidFill>
                  <a:srgbClr val="000000"/>
                </a:solidFill>
                <a:latin typeface="Times New Roman"/>
              </a:rPr>
              <a:t>     </a:t>
            </a:r>
            <a:r>
              <a:rPr b="1" lang="fr-FR" sz="1800" spc="-1" strike="noStrike">
                <a:solidFill>
                  <a:srgbClr val="000000"/>
                </a:solidFill>
                <a:latin typeface="Times New Roman"/>
              </a:rPr>
              <a:t>find </a:t>
            </a:r>
            <a:r>
              <a:rPr b="1" lang="fr-FR" sz="1800" spc="-7" strike="noStrike">
                <a:solidFill>
                  <a:srgbClr val="000000"/>
                </a:solidFill>
                <a:latin typeface="Times New Roman"/>
              </a:rPr>
              <a:t>/ </a:t>
            </a:r>
            <a:r>
              <a:rPr b="1" lang="fr-FR" sz="1800" spc="-1" strike="noStrike">
                <a:solidFill>
                  <a:srgbClr val="000000"/>
                </a:solidFill>
                <a:latin typeface="Times New Roman"/>
              </a:rPr>
              <a:t>-mtime -3</a:t>
            </a:r>
            <a:r>
              <a:rPr b="1" lang="fr-FR" sz="1800" spc="-120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1" lang="fr-FR" sz="1800" spc="-1" strike="noStrike">
                <a:solidFill>
                  <a:srgbClr val="000000"/>
                </a:solidFill>
                <a:latin typeface="Times New Roman"/>
              </a:rPr>
              <a:t>-print</a:t>
            </a:r>
            <a:endParaRPr b="0" lang="en-US" sz="1800" spc="-1" strike="noStrike">
              <a:solidFill>
                <a:srgbClr val="595959"/>
              </a:solidFill>
              <a:latin typeface="Rockwell"/>
            </a:endParaRPr>
          </a:p>
          <a:p>
            <a:pPr marL="12600" indent="-228600">
              <a:lnSpc>
                <a:spcPct val="100000"/>
              </a:lnSpc>
              <a:spcBef>
                <a:spcPts val="1675"/>
              </a:spcBef>
              <a:buClr>
                <a:srgbClr val="66336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fr-FR" sz="1800" spc="-7" strike="noStrike">
                <a:solidFill>
                  <a:srgbClr val="000000"/>
                </a:solidFill>
                <a:latin typeface="Times New Roman"/>
              </a:rPr>
              <a:t>Cette </a:t>
            </a:r>
            <a:r>
              <a:rPr b="0" lang="fr-FR" sz="1800" spc="-1" strike="noStrike">
                <a:solidFill>
                  <a:srgbClr val="000000"/>
                </a:solidFill>
                <a:latin typeface="Times New Roman"/>
              </a:rPr>
              <a:t>commande affiche </a:t>
            </a:r>
            <a:r>
              <a:rPr b="0" lang="fr-FR" sz="1800" spc="-7" strike="noStrike">
                <a:solidFill>
                  <a:srgbClr val="000000"/>
                </a:solidFill>
                <a:latin typeface="Times New Roman"/>
              </a:rPr>
              <a:t>les </a:t>
            </a:r>
            <a:r>
              <a:rPr b="0" lang="fr-FR" sz="1800" spc="-1" strike="noStrike">
                <a:solidFill>
                  <a:srgbClr val="000000"/>
                </a:solidFill>
                <a:latin typeface="Times New Roman"/>
              </a:rPr>
              <a:t>fichiers dont </a:t>
            </a:r>
            <a:r>
              <a:rPr b="0" lang="fr-FR" sz="1800" spc="-7" strike="noStrike">
                <a:solidFill>
                  <a:srgbClr val="000000"/>
                </a:solidFill>
                <a:latin typeface="Times New Roman"/>
              </a:rPr>
              <a:t>les dernières  </a:t>
            </a:r>
            <a:r>
              <a:rPr b="0" lang="fr-FR" sz="1800" spc="-1" strike="noStrike">
                <a:solidFill>
                  <a:srgbClr val="000000"/>
                </a:solidFill>
                <a:latin typeface="Times New Roman"/>
              </a:rPr>
              <a:t>modifications </a:t>
            </a:r>
            <a:r>
              <a:rPr b="0" lang="fr-FR" sz="1800" spc="-7" strike="noStrike">
                <a:solidFill>
                  <a:srgbClr val="000000"/>
                </a:solidFill>
                <a:latin typeface="Times New Roman"/>
              </a:rPr>
              <a:t>remontent </a:t>
            </a:r>
            <a:r>
              <a:rPr b="0" lang="fr-FR" sz="1800" spc="-1" strike="noStrike">
                <a:solidFill>
                  <a:srgbClr val="000000"/>
                </a:solidFill>
                <a:latin typeface="Times New Roman"/>
              </a:rPr>
              <a:t>à moins de 3 jours (donc </a:t>
            </a:r>
            <a:r>
              <a:rPr b="0" lang="fr-FR" sz="1800" spc="-7" strike="noStrike">
                <a:solidFill>
                  <a:srgbClr val="000000"/>
                </a:solidFill>
                <a:latin typeface="Times New Roman"/>
              </a:rPr>
              <a:t>tous les  </a:t>
            </a:r>
            <a:r>
              <a:rPr b="0" lang="fr-FR" sz="1800" spc="-1" strike="noStrike">
                <a:solidFill>
                  <a:srgbClr val="000000"/>
                </a:solidFill>
                <a:latin typeface="Times New Roman"/>
              </a:rPr>
              <a:t>fichiers modifiés </a:t>
            </a:r>
            <a:r>
              <a:rPr b="0" lang="fr-FR" sz="1800" spc="-12" strike="noStrike">
                <a:solidFill>
                  <a:srgbClr val="000000"/>
                </a:solidFill>
                <a:latin typeface="Times New Roman"/>
              </a:rPr>
              <a:t>entre </a:t>
            </a:r>
            <a:r>
              <a:rPr b="0" lang="fr-FR" sz="1800" spc="-7" strike="noStrike">
                <a:solidFill>
                  <a:srgbClr val="000000"/>
                </a:solidFill>
                <a:latin typeface="Times New Roman"/>
              </a:rPr>
              <a:t>aujourd'hui et il </a:t>
            </a:r>
            <a:r>
              <a:rPr b="0" lang="fr-FR" sz="1800" spc="-1" strike="noStrike">
                <a:solidFill>
                  <a:srgbClr val="000000"/>
                </a:solidFill>
                <a:latin typeface="Times New Roman"/>
              </a:rPr>
              <a:t>y a </a:t>
            </a:r>
            <a:r>
              <a:rPr b="0" lang="fr-FR" sz="1800" spc="-7" strike="noStrike">
                <a:solidFill>
                  <a:srgbClr val="000000"/>
                </a:solidFill>
                <a:latin typeface="Times New Roman"/>
              </a:rPr>
              <a:t>trois </a:t>
            </a:r>
            <a:r>
              <a:rPr b="0" lang="fr-FR" sz="1800" spc="-1" strike="noStrike">
                <a:solidFill>
                  <a:srgbClr val="000000"/>
                </a:solidFill>
                <a:latin typeface="Times New Roman"/>
              </a:rPr>
              <a:t>jours  </a:t>
            </a:r>
            <a:r>
              <a:rPr b="0" lang="fr-FR" sz="1800" spc="-7" strike="noStrike">
                <a:solidFill>
                  <a:srgbClr val="000000"/>
                </a:solidFill>
                <a:latin typeface="Times New Roman"/>
              </a:rPr>
              <a:t>seront</a:t>
            </a:r>
            <a:r>
              <a:rPr b="0" lang="fr-FR" sz="1800" spc="-12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1800" spc="-1" strike="noStrike">
                <a:solidFill>
                  <a:srgbClr val="000000"/>
                </a:solidFill>
                <a:latin typeface="Times New Roman"/>
              </a:rPr>
              <a:t>affichés).</a:t>
            </a:r>
            <a:endParaRPr b="0" lang="en-US" sz="1800" spc="-1" strike="noStrike">
              <a:solidFill>
                <a:srgbClr val="595959"/>
              </a:solidFill>
              <a:latin typeface="Rockwell"/>
            </a:endParaRPr>
          </a:p>
          <a:p>
            <a:pPr marL="12600" indent="-228600">
              <a:lnSpc>
                <a:spcPct val="100000"/>
              </a:lnSpc>
              <a:spcBef>
                <a:spcPts val="2001"/>
              </a:spcBef>
              <a:buClr>
                <a:srgbClr val="66336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Times New Roman"/>
              </a:rPr>
              <a:t>De même, </a:t>
            </a:r>
            <a:r>
              <a:rPr b="0" lang="fr-FR" sz="1800" spc="4" strike="noStrike">
                <a:solidFill>
                  <a:srgbClr val="000000"/>
                </a:solidFill>
                <a:latin typeface="Times New Roman"/>
              </a:rPr>
              <a:t>+5 </a:t>
            </a:r>
            <a:r>
              <a:rPr b="0" lang="fr-FR" sz="1800" spc="-1" strike="noStrike">
                <a:solidFill>
                  <a:srgbClr val="000000"/>
                </a:solidFill>
                <a:latin typeface="Times New Roman"/>
              </a:rPr>
              <a:t>afficherait </a:t>
            </a:r>
            <a:r>
              <a:rPr b="0" lang="fr-FR" sz="1800" spc="-7" strike="noStrike">
                <a:solidFill>
                  <a:srgbClr val="000000"/>
                </a:solidFill>
                <a:latin typeface="Times New Roman"/>
              </a:rPr>
              <a:t>les </a:t>
            </a:r>
            <a:r>
              <a:rPr b="0" lang="fr-FR" sz="1800" spc="-1" strike="noStrike">
                <a:solidFill>
                  <a:srgbClr val="000000"/>
                </a:solidFill>
                <a:latin typeface="Times New Roman"/>
              </a:rPr>
              <a:t>fichiers dont </a:t>
            </a:r>
            <a:r>
              <a:rPr b="0" lang="fr-FR" sz="1800" spc="-7" strike="noStrike">
                <a:solidFill>
                  <a:srgbClr val="000000"/>
                </a:solidFill>
                <a:latin typeface="Times New Roman"/>
              </a:rPr>
              <a:t>les dernières  </a:t>
            </a:r>
            <a:r>
              <a:rPr b="0" lang="fr-FR" sz="1800" spc="-1" strike="noStrike">
                <a:solidFill>
                  <a:srgbClr val="000000"/>
                </a:solidFill>
                <a:latin typeface="Times New Roman"/>
              </a:rPr>
              <a:t>modifications </a:t>
            </a:r>
            <a:r>
              <a:rPr b="0" lang="fr-FR" sz="1800" spc="-7" strike="noStrike">
                <a:solidFill>
                  <a:srgbClr val="000000"/>
                </a:solidFill>
                <a:latin typeface="Times New Roman"/>
              </a:rPr>
              <a:t>remontent </a:t>
            </a:r>
            <a:r>
              <a:rPr b="0" lang="fr-FR" sz="1800" spc="-1" strike="noStrike">
                <a:solidFill>
                  <a:srgbClr val="000000"/>
                </a:solidFill>
                <a:latin typeface="Times New Roman"/>
              </a:rPr>
              <a:t>à </a:t>
            </a:r>
            <a:r>
              <a:rPr b="0" lang="fr-FR" sz="1800" spc="-7" strike="noStrike">
                <a:solidFill>
                  <a:srgbClr val="000000"/>
                </a:solidFill>
                <a:latin typeface="Times New Roman"/>
              </a:rPr>
              <a:t>plus </a:t>
            </a:r>
            <a:r>
              <a:rPr b="0" lang="fr-FR" sz="1800" spc="-1" strike="noStrike">
                <a:solidFill>
                  <a:srgbClr val="000000"/>
                </a:solidFill>
                <a:latin typeface="Times New Roman"/>
              </a:rPr>
              <a:t>de 5</a:t>
            </a:r>
            <a:r>
              <a:rPr b="0" lang="fr-FR" sz="1800" spc="-72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fr-FR" sz="1800" spc="-1" strike="noStrike">
                <a:solidFill>
                  <a:srgbClr val="000000"/>
                </a:solidFill>
                <a:latin typeface="Times New Roman"/>
              </a:rPr>
              <a:t>jours.</a:t>
            </a:r>
            <a:endParaRPr b="0" lang="en-US" sz="1800" spc="-1" strike="noStrike">
              <a:solidFill>
                <a:srgbClr val="595959"/>
              </a:solidFill>
              <a:latin typeface="Rockwell"/>
            </a:endParaRPr>
          </a:p>
          <a:p>
            <a:pPr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</p:txBody>
      </p:sp>
      <p:graphicFrame>
        <p:nvGraphicFramePr>
          <p:cNvPr id="200" name="object 6"/>
          <p:cNvGraphicFramePr/>
          <p:nvPr/>
        </p:nvGraphicFramePr>
        <p:xfrm>
          <a:off x="353160" y="1099800"/>
          <a:ext cx="3940200" cy="4333320"/>
        </p:xfrm>
        <a:graphic>
          <a:graphicData uri="http://schemas.openxmlformats.org/drawingml/2006/table">
            <a:tbl>
              <a:tblPr/>
              <a:tblGrid>
                <a:gridCol w="809280"/>
                <a:gridCol w="3130920"/>
              </a:tblGrid>
              <a:tr h="603720">
                <a:tc>
                  <a:txBody>
                    <a:bodyPr lIns="0" rIns="0" tIns="288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</a:pPr>
                      <a:endParaRPr b="0" lang="fr-FR" sz="1150" spc="-1" strike="noStrike">
                        <a:latin typeface="Arial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fr-FR" sz="1100" spc="4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O</a:t>
                      </a:r>
                      <a:r>
                        <a:rPr b="0" lang="fr-FR" sz="1100" spc="9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p</a:t>
                      </a:r>
                      <a:r>
                        <a:rPr b="0" lang="fr-FR" sz="1100" spc="4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t</a:t>
                      </a:r>
                      <a:r>
                        <a:rPr b="0" lang="fr-FR" sz="1100" spc="-7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i</a:t>
                      </a:r>
                      <a:r>
                        <a:rPr b="0" lang="fr-FR" sz="1100" spc="-1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on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8dabd0"/>
                    </a:solidFill>
                  </a:tcPr>
                </a:tc>
                <a:tc>
                  <a:txBody>
                    <a:bodyPr lIns="0" rIns="0" tIns="288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</a:pPr>
                      <a:endParaRPr b="0" lang="fr-FR" sz="1150" spc="-1" strike="noStrike">
                        <a:latin typeface="Arial"/>
                      </a:endParaRPr>
                    </a:p>
                    <a:p>
                      <a:pPr marL="4248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Signification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000000"/>
                      </a:solidFill>
                    </a:lnL>
                    <a:lnR w="1872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8dabd0"/>
                    </a:solidFill>
                  </a:tcPr>
                </a:tc>
              </a:tr>
              <a:tr h="373320">
                <a:tc>
                  <a:txBody>
                    <a:bodyPr lIns="0" rIns="0" tIns="7164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564"/>
                        </a:spcBef>
                      </a:pPr>
                      <a:r>
                        <a:rPr b="0" lang="fr-FR" sz="1100" spc="9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-n</a:t>
                      </a:r>
                      <a:r>
                        <a:rPr b="0" lang="fr-FR" sz="1100" spc="-1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a</a:t>
                      </a:r>
                      <a:r>
                        <a:rPr b="0" lang="fr-FR" sz="1100" spc="-7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m</a:t>
                      </a:r>
                      <a:r>
                        <a:rPr b="0" lang="fr-FR" sz="1100" spc="-1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e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0" rIns="0" tIns="1800" bIns="0" anchor="t">
                      <a:noAutofit/>
                    </a:bodyPr>
                    <a:p>
                      <a:pPr marL="4320">
                        <a:lnSpc>
                          <a:spcPct val="100000"/>
                        </a:lnSpc>
                        <a:spcBef>
                          <a:spcPts val="14"/>
                        </a:spcBef>
                      </a:pPr>
                      <a:r>
                        <a:rPr b="0" lang="fr-FR" sz="1100" spc="-7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Recherche </a:t>
                      </a:r>
                      <a:r>
                        <a:rPr b="0" lang="fr-FR" sz="1100" spc="-1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par </a:t>
                      </a:r>
                      <a:r>
                        <a:rPr b="0" lang="fr-FR" sz="1100" spc="4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nom </a:t>
                      </a:r>
                      <a:r>
                        <a:rPr b="0" lang="fr-FR" sz="1100" spc="-7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de</a:t>
                      </a:r>
                      <a:r>
                        <a:rPr b="0" lang="fr-FR" sz="1100" spc="-26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 </a:t>
                      </a:r>
                      <a:r>
                        <a:rPr b="0" lang="fr-FR" sz="1100" spc="-7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fichier.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000000"/>
                      </a:solidFill>
                    </a:lnL>
                    <a:lnR w="1872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72240">
                <a:tc>
                  <a:txBody>
                    <a:bodyPr lIns="0" rIns="0" tIns="7164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564"/>
                        </a:spcBef>
                      </a:pPr>
                      <a:r>
                        <a:rPr b="0" lang="fr-FR" sz="1100" spc="9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-</a:t>
                      </a:r>
                      <a:r>
                        <a:rPr b="0" lang="fr-FR" sz="1100" spc="4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ty</a:t>
                      </a:r>
                      <a:r>
                        <a:rPr b="0" lang="fr-FR" sz="1100" spc="9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p</a:t>
                      </a:r>
                      <a:r>
                        <a:rPr b="0" lang="fr-FR" sz="1100" spc="-1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e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87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0" rIns="0" tIns="1800" bIns="0" anchor="t">
                      <a:noAutofit/>
                    </a:bodyPr>
                    <a:p>
                      <a:pPr marL="4320">
                        <a:lnSpc>
                          <a:spcPct val="100000"/>
                        </a:lnSpc>
                        <a:spcBef>
                          <a:spcPts val="14"/>
                        </a:spcBef>
                      </a:pPr>
                      <a:r>
                        <a:rPr b="0" lang="fr-FR" sz="1100" spc="-7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Recherche </a:t>
                      </a:r>
                      <a:r>
                        <a:rPr b="0" lang="fr-FR" sz="1100" spc="-1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par </a:t>
                      </a:r>
                      <a:r>
                        <a:rPr b="0" lang="fr-FR" sz="1100" spc="4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type </a:t>
                      </a:r>
                      <a:r>
                        <a:rPr b="0" lang="fr-FR" sz="1100" spc="-7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de</a:t>
                      </a:r>
                      <a:r>
                        <a:rPr b="0" lang="fr-FR" sz="1100" spc="-46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 </a:t>
                      </a:r>
                      <a:r>
                        <a:rPr b="0" lang="fr-FR" sz="1100" spc="-7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fichier.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000000"/>
                      </a:solidFill>
                    </a:lnL>
                    <a:lnR w="1872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872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73320">
                <a:tc>
                  <a:txBody>
                    <a:bodyPr lIns="0" rIns="0" tIns="7236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b="0" lang="fr-FR" sz="1100" spc="9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-u</a:t>
                      </a:r>
                      <a:r>
                        <a:rPr b="0" lang="fr-FR" sz="1100" spc="-7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se</a:t>
                      </a:r>
                      <a:r>
                        <a:rPr b="0" lang="fr-FR" sz="1100" spc="-1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r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8720">
                      <a:solidFill>
                        <a:srgbClr val="000000"/>
                      </a:solidFill>
                    </a:lnT>
                    <a:lnB w="187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432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b="0" lang="fr-FR" sz="1100" spc="-7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Recherche </a:t>
                      </a:r>
                      <a:r>
                        <a:rPr b="0" lang="fr-FR" sz="1100" spc="-1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par</a:t>
                      </a:r>
                      <a:r>
                        <a:rPr b="0" lang="fr-FR" sz="1100" spc="12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 </a:t>
                      </a:r>
                      <a:r>
                        <a:rPr b="0" lang="fr-FR" sz="1100" spc="-1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propriétaire.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000000"/>
                      </a:solidFill>
                    </a:lnL>
                    <a:lnR w="18720">
                      <a:solidFill>
                        <a:srgbClr val="000000"/>
                      </a:solidFill>
                    </a:lnR>
                    <a:lnT w="18720">
                      <a:solidFill>
                        <a:srgbClr val="000000"/>
                      </a:solidFill>
                    </a:lnT>
                    <a:lnB w="1872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44600">
                <a:tc>
                  <a:txBody>
                    <a:bodyPr lIns="0" rIns="0" tIns="10260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811"/>
                        </a:spcBef>
                      </a:pPr>
                      <a:r>
                        <a:rPr b="0" lang="fr-FR" sz="1100" spc="9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-</a:t>
                      </a:r>
                      <a:r>
                        <a:rPr b="0" lang="fr-FR" sz="1100" spc="4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g</a:t>
                      </a:r>
                      <a:r>
                        <a:rPr b="0" lang="fr-FR" sz="1100" spc="9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r</a:t>
                      </a:r>
                      <a:r>
                        <a:rPr b="0" lang="fr-FR" sz="1100" spc="-1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o</a:t>
                      </a:r>
                      <a:r>
                        <a:rPr b="0" lang="fr-FR" sz="1100" spc="-7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u</a:t>
                      </a:r>
                      <a:r>
                        <a:rPr b="0" lang="fr-FR" sz="1100" spc="-1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p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8720">
                      <a:solidFill>
                        <a:srgbClr val="000000"/>
                      </a:solidFill>
                    </a:lnT>
                    <a:lnB w="187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0" rIns="0" tIns="104040" bIns="0" anchor="t">
                      <a:noAutofit/>
                    </a:bodyPr>
                    <a:p>
                      <a:pPr marL="4320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b="0" lang="fr-FR" sz="1100" spc="-7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Recherche </a:t>
                      </a:r>
                      <a:r>
                        <a:rPr b="0" lang="fr-FR" sz="1100" spc="-1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par </a:t>
                      </a:r>
                      <a:r>
                        <a:rPr b="0" lang="fr-FR" sz="1100" spc="-7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appartenance </a:t>
                      </a:r>
                      <a:r>
                        <a:rPr b="0" lang="fr-FR" sz="1100" spc="-1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à</a:t>
                      </a:r>
                      <a:r>
                        <a:rPr b="0" lang="fr-FR" sz="1100" spc="12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 </a:t>
                      </a:r>
                      <a:r>
                        <a:rPr b="0" lang="fr-FR" sz="1100" spc="4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un</a:t>
                      </a:r>
                      <a:r>
                        <a:rPr b="0" lang="fr-FR" sz="1100" spc="4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 groupe.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000000"/>
                      </a:solidFill>
                    </a:lnL>
                    <a:lnR w="18720">
                      <a:solidFill>
                        <a:srgbClr val="000000"/>
                      </a:solidFill>
                    </a:lnR>
                    <a:lnT w="18720">
                      <a:solidFill>
                        <a:srgbClr val="000000"/>
                      </a:solidFill>
                    </a:lnT>
                    <a:lnB w="1872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00960">
                <a:tc>
                  <a:txBody>
                    <a:bodyPr lIns="0" rIns="0" tIns="40320" bIns="0" anchor="t">
                      <a:noAutofit/>
                    </a:bodyPr>
                    <a:p>
                      <a:pPr marL="2408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b="0" lang="fr-FR" sz="1100" spc="-1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-size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872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432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b="0" lang="fr-FR" sz="1100" spc="-7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Recherche </a:t>
                      </a:r>
                      <a:r>
                        <a:rPr b="0" lang="fr-FR" sz="1100" spc="-1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par taille </a:t>
                      </a:r>
                      <a:r>
                        <a:rPr b="0" lang="fr-FR" sz="1100" spc="-7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de</a:t>
                      </a:r>
                      <a:r>
                        <a:rPr b="0" lang="fr-FR" sz="1100" spc="-55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 </a:t>
                      </a:r>
                      <a:r>
                        <a:rPr b="0" lang="fr-FR" sz="1100" spc="-7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fichier.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000000"/>
                      </a:solidFill>
                    </a:lnL>
                    <a:lnR w="18720">
                      <a:solidFill>
                        <a:srgbClr val="000000"/>
                      </a:solidFill>
                    </a:lnR>
                    <a:lnT w="1872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73320">
                <a:tc>
                  <a:txBody>
                    <a:bodyPr lIns="0" rIns="0" tIns="7164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564"/>
                        </a:spcBef>
                      </a:pPr>
                      <a:r>
                        <a:rPr b="0" lang="fr-FR" sz="1100" spc="9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-a</a:t>
                      </a:r>
                      <a:r>
                        <a:rPr b="0" lang="fr-FR" sz="1100" spc="-7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ti</a:t>
                      </a:r>
                      <a:r>
                        <a:rPr b="0" lang="fr-FR" sz="1100" spc="4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m</a:t>
                      </a:r>
                      <a:r>
                        <a:rPr b="0" lang="fr-FR" sz="1100" spc="-1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e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0" rIns="0" tIns="2880" bIns="0" anchor="t">
                      <a:noAutofit/>
                    </a:bodyPr>
                    <a:p>
                      <a:pPr marL="4320">
                        <a:lnSpc>
                          <a:spcPct val="100000"/>
                        </a:lnSpc>
                        <a:spcBef>
                          <a:spcPts val="26"/>
                        </a:spcBef>
                      </a:pPr>
                      <a:r>
                        <a:rPr b="0" lang="fr-FR" sz="1100" spc="-7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Recherche </a:t>
                      </a:r>
                      <a:r>
                        <a:rPr b="0" lang="fr-FR" sz="1100" spc="-1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par </a:t>
                      </a:r>
                      <a:r>
                        <a:rPr b="0" lang="fr-FR" sz="1100" spc="-7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date de </a:t>
                      </a:r>
                      <a:r>
                        <a:rPr b="0" lang="fr-FR" sz="1100" spc="4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dernier</a:t>
                      </a:r>
                      <a:r>
                        <a:rPr b="0" lang="fr-FR" sz="1100" spc="-41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 </a:t>
                      </a:r>
                      <a:r>
                        <a:rPr b="0" lang="fr-FR" sz="1100" spc="4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accès.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000000"/>
                      </a:solidFill>
                    </a:lnL>
                    <a:lnR w="1872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73320">
                <a:tc>
                  <a:txBody>
                    <a:bodyPr lIns="0" rIns="0" tIns="7164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564"/>
                        </a:spcBef>
                      </a:pPr>
                      <a:r>
                        <a:rPr b="0" lang="fr-FR" sz="1100" spc="9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-</a:t>
                      </a:r>
                      <a:r>
                        <a:rPr b="0" lang="fr-FR" sz="1100" spc="4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mt</a:t>
                      </a:r>
                      <a:r>
                        <a:rPr b="0" lang="fr-FR" sz="1100" spc="-7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im</a:t>
                      </a:r>
                      <a:r>
                        <a:rPr b="0" lang="fr-FR" sz="1100" spc="-1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e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0" rIns="0" tIns="1800" bIns="0" anchor="t">
                      <a:noAutofit/>
                    </a:bodyPr>
                    <a:p>
                      <a:pPr marL="4320">
                        <a:lnSpc>
                          <a:spcPct val="100000"/>
                        </a:lnSpc>
                        <a:spcBef>
                          <a:spcPts val="14"/>
                        </a:spcBef>
                      </a:pPr>
                      <a:r>
                        <a:rPr b="0" lang="fr-FR" sz="1100" spc="-7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Recherche </a:t>
                      </a:r>
                      <a:r>
                        <a:rPr b="0" lang="fr-FR" sz="1100" spc="-1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par </a:t>
                      </a:r>
                      <a:r>
                        <a:rPr b="0" lang="fr-FR" sz="1100" spc="-7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date de </a:t>
                      </a:r>
                      <a:r>
                        <a:rPr b="0" lang="fr-FR" sz="1100" spc="4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dernière</a:t>
                      </a:r>
                      <a:r>
                        <a:rPr b="0" lang="fr-FR" sz="1100" spc="-46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 </a:t>
                      </a:r>
                      <a:r>
                        <a:rPr b="0" lang="fr-FR" sz="1100" spc="-1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modification.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000000"/>
                      </a:solidFill>
                    </a:lnL>
                    <a:lnR w="1872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72240">
                <a:tc>
                  <a:txBody>
                    <a:bodyPr lIns="0" rIns="0" tIns="7164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564"/>
                        </a:spcBef>
                      </a:pPr>
                      <a:r>
                        <a:rPr b="0" lang="fr-FR" sz="1100" spc="9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-</a:t>
                      </a:r>
                      <a:r>
                        <a:rPr b="0" lang="fr-FR" sz="1100" spc="4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ct</a:t>
                      </a:r>
                      <a:r>
                        <a:rPr b="0" lang="fr-FR" sz="1100" spc="-7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im</a:t>
                      </a:r>
                      <a:r>
                        <a:rPr b="0" lang="fr-FR" sz="1100" spc="-1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e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87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0" rIns="0" tIns="1800" bIns="0" anchor="t">
                      <a:noAutofit/>
                    </a:bodyPr>
                    <a:p>
                      <a:pPr marL="4320">
                        <a:lnSpc>
                          <a:spcPct val="100000"/>
                        </a:lnSpc>
                        <a:spcBef>
                          <a:spcPts val="14"/>
                        </a:spcBef>
                      </a:pPr>
                      <a:r>
                        <a:rPr b="0" lang="fr-FR" sz="1100" spc="-7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Recherche </a:t>
                      </a:r>
                      <a:r>
                        <a:rPr b="0" lang="fr-FR" sz="1100" spc="-1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par </a:t>
                      </a:r>
                      <a:r>
                        <a:rPr b="0" lang="fr-FR" sz="1100" spc="-7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date de</a:t>
                      </a:r>
                      <a:r>
                        <a:rPr b="0" lang="fr-FR" sz="1100" spc="4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 création.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000000"/>
                      </a:solidFill>
                    </a:lnL>
                    <a:lnR w="1872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872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73320">
                <a:tc>
                  <a:txBody>
                    <a:bodyPr lIns="0" rIns="0" tIns="7236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b="0" lang="fr-FR" sz="1100" spc="9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-pe</a:t>
                      </a:r>
                      <a:r>
                        <a:rPr b="0" lang="fr-FR" sz="1100" spc="-1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rm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8720">
                      <a:solidFill>
                        <a:srgbClr val="000000"/>
                      </a:solidFill>
                    </a:lnT>
                    <a:lnB w="1872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432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b="0" lang="fr-FR" sz="1100" spc="-7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Recherche </a:t>
                      </a:r>
                      <a:r>
                        <a:rPr b="0" lang="fr-FR" sz="1100" spc="-1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par autorisations</a:t>
                      </a:r>
                      <a:r>
                        <a:rPr b="0" lang="fr-FR" sz="1100" spc="-35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 </a:t>
                      </a:r>
                      <a:r>
                        <a:rPr b="0" lang="fr-FR" sz="1100" spc="-1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d'accès.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000000"/>
                      </a:solidFill>
                    </a:lnL>
                    <a:lnR w="18720">
                      <a:solidFill>
                        <a:srgbClr val="000000"/>
                      </a:solidFill>
                    </a:lnR>
                    <a:lnT w="18720">
                      <a:solidFill>
                        <a:srgbClr val="000000"/>
                      </a:solidFill>
                    </a:lnT>
                    <a:lnB w="1872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72960">
                <a:tc>
                  <a:txBody>
                    <a:bodyPr lIns="0" rIns="0" tIns="7092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561"/>
                        </a:spcBef>
                      </a:pPr>
                      <a:r>
                        <a:rPr b="0" lang="fr-FR" sz="1100" spc="9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-</a:t>
                      </a:r>
                      <a:r>
                        <a:rPr b="0" lang="fr-FR" sz="1100" spc="4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l</a:t>
                      </a:r>
                      <a:r>
                        <a:rPr b="0" lang="fr-FR" sz="1100" spc="-7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in</a:t>
                      </a:r>
                      <a:r>
                        <a:rPr b="0" lang="fr-FR" sz="1100" spc="-1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ks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872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432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b="0" lang="fr-FR" sz="1100" spc="-7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Recherche </a:t>
                      </a:r>
                      <a:r>
                        <a:rPr b="0" lang="fr-FR" sz="1100" spc="-1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par </a:t>
                      </a:r>
                      <a:r>
                        <a:rPr b="0" lang="fr-FR" sz="1100" spc="4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nombre </a:t>
                      </a:r>
                      <a:r>
                        <a:rPr b="0" lang="fr-FR" sz="1100" spc="-1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de liens au</a:t>
                      </a:r>
                      <a:r>
                        <a:rPr b="0" lang="fr-FR" sz="1100" spc="-126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 </a:t>
                      </a:r>
                      <a:r>
                        <a:rPr b="0" lang="fr-FR" sz="1100" spc="-7" strike="noStrike">
                          <a:solidFill>
                            <a:srgbClr val="000000"/>
                          </a:solidFill>
                          <a:latin typeface="Segoe UI Symbol"/>
                        </a:rPr>
                        <a:t>fichier.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000000"/>
                      </a:solidFill>
                    </a:lnL>
                    <a:lnR w="18720">
                      <a:solidFill>
                        <a:srgbClr val="000000"/>
                      </a:solidFill>
                    </a:lnR>
                    <a:lnT w="1872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01" name="Espace réservé du pied de page 21"/>
          <p:cNvSpPr txBox="1"/>
          <p:nvPr/>
        </p:nvSpPr>
        <p:spPr>
          <a:xfrm>
            <a:off x="-36000" y="6624000"/>
            <a:ext cx="984960" cy="360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r>
              <a:rPr b="0" lang="en-US" sz="1100" spc="-1" strike="noStrike">
                <a:solidFill>
                  <a:srgbClr val="595959"/>
                </a:solidFill>
                <a:latin typeface="Rockwell"/>
              </a:rPr>
              <a:t>2025-2026</a:t>
            </a:r>
            <a:endParaRPr b="0" lang="fr-FR" sz="1100" spc="-1" strike="noStrike">
              <a:latin typeface="Times New Roman"/>
            </a:endParaRPr>
          </a:p>
          <a:p>
            <a:pPr algn="r">
              <a:lnSpc>
                <a:spcPct val="100000"/>
              </a:lnSpc>
            </a:pPr>
            <a:endParaRPr b="0" lang="fr-FR" sz="1100" spc="-1" strike="noStrike"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FAC18B3-50C6-4319-AAF5-B796FC9AF9A7}" type="slidenum">
              <a:t>28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498600" y="251640"/>
            <a:ext cx="7556040" cy="781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3600" spc="-1" strike="noStrike">
                <a:solidFill>
                  <a:schemeClr val="accent1"/>
                </a:solidFill>
                <a:latin typeface="Rockwell"/>
              </a:rPr>
              <a:t>Locate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/>
          </p:nvPr>
        </p:nvSpPr>
        <p:spPr>
          <a:xfrm>
            <a:off x="498600" y="1235520"/>
            <a:ext cx="7556040" cy="5009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indent="-228600" algn="just">
              <a:lnSpc>
                <a:spcPct val="150000"/>
              </a:lnSpc>
              <a:buClr>
                <a:srgbClr val="663366"/>
              </a:buClr>
              <a:buSzPct val="75000"/>
              <a:buFont typeface="Wingdings" charset="2"/>
              <a:buChar char=""/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la commande locate cherche les fichiers dans une base de données.</a:t>
            </a:r>
            <a:endParaRPr b="0" lang="en-US" sz="2400" spc="-1" strike="noStrike">
              <a:solidFill>
                <a:srgbClr val="595959"/>
              </a:solidFill>
              <a:latin typeface="Rockwell"/>
            </a:endParaRPr>
          </a:p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Syntaxe  : locate fichier</a:t>
            </a:r>
            <a:endParaRPr b="0" lang="en-US" sz="2400" spc="-1" strike="noStrike">
              <a:solidFill>
                <a:srgbClr val="595959"/>
              </a:solidFill>
              <a:latin typeface="Rockwell"/>
            </a:endParaRPr>
          </a:p>
          <a:p>
            <a:pPr indent="-228600" algn="just">
              <a:lnSpc>
                <a:spcPct val="150000"/>
              </a:lnSpc>
              <a:buClr>
                <a:srgbClr val="66336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Il faut mettre à jour la base de locate :</a:t>
            </a:r>
            <a:endParaRPr b="0" lang="en-US" sz="2400" spc="-1" strike="noStrike">
              <a:solidFill>
                <a:srgbClr val="595959"/>
              </a:solidFill>
              <a:latin typeface="Rockwell"/>
            </a:endParaRPr>
          </a:p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Syntaxe  :    updatedb</a:t>
            </a:r>
            <a:endParaRPr b="0" lang="en-US" sz="2400" spc="-1" strike="noStrike">
              <a:solidFill>
                <a:srgbClr val="595959"/>
              </a:solidFill>
              <a:latin typeface="Rockwell"/>
            </a:endParaRPr>
          </a:p>
          <a:p>
            <a:pPr indent="-228600" algn="just">
              <a:lnSpc>
                <a:spcPct val="150000"/>
              </a:lnSpc>
              <a:buClr>
                <a:srgbClr val="66336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Afficher le nombre de fichiers «fichier» dans la base:</a:t>
            </a:r>
            <a:endParaRPr b="0" lang="en-US" sz="2400" spc="-1" strike="noStrike">
              <a:solidFill>
                <a:srgbClr val="595959"/>
              </a:solidFill>
              <a:latin typeface="Rockwell"/>
            </a:endParaRPr>
          </a:p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Syntaxe  : locate –c fichier</a:t>
            </a:r>
            <a:endParaRPr b="0" lang="en-US" sz="2400" spc="-1" strike="noStrike">
              <a:solidFill>
                <a:srgbClr val="595959"/>
              </a:solidFill>
              <a:latin typeface="Rockwell"/>
            </a:endParaRPr>
          </a:p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204" name="Espace réservé du pied de page 22"/>
          <p:cNvSpPr txBox="1"/>
          <p:nvPr/>
        </p:nvSpPr>
        <p:spPr>
          <a:xfrm>
            <a:off x="0" y="6624000"/>
            <a:ext cx="984960" cy="360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r>
              <a:rPr b="0" lang="en-US" sz="1100" spc="-1" strike="noStrike">
                <a:solidFill>
                  <a:srgbClr val="595959"/>
                </a:solidFill>
                <a:latin typeface="Rockwell"/>
              </a:rPr>
              <a:t>2025-2026</a:t>
            </a:r>
            <a:endParaRPr b="0" lang="fr-FR" sz="1100" spc="-1" strike="noStrike">
              <a:latin typeface="Times New Roman"/>
            </a:endParaRPr>
          </a:p>
          <a:p>
            <a:pPr algn="r">
              <a:lnSpc>
                <a:spcPct val="100000"/>
              </a:lnSpc>
            </a:pPr>
            <a:endParaRPr b="0" lang="fr-FR" sz="1100" spc="-1" strike="noStrike"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EF8D934-3F2D-4B7C-A536-F896425AEE4E}" type="slidenum">
              <a:t>29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/>
          </p:nvPr>
        </p:nvSpPr>
        <p:spPr>
          <a:xfrm>
            <a:off x="498600" y="1981080"/>
            <a:ext cx="7556040" cy="41446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 algn="ctr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  <a:p>
            <a:pPr indent="0" algn="ctr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595959"/>
              </a:solidFill>
              <a:latin typeface="Rockwell"/>
            </a:endParaRPr>
          </a:p>
          <a:p>
            <a:pPr indent="0" algn="ctr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rgbClr val="595959"/>
                </a:solidFill>
                <a:latin typeface="Rockwell"/>
              </a:rPr>
              <a:t>Merci</a:t>
            </a:r>
            <a:endParaRPr b="0" lang="en-US" sz="5400" spc="-1" strike="noStrike">
              <a:solidFill>
                <a:srgbClr val="595959"/>
              </a:solidFill>
              <a:latin typeface="Rockwell"/>
            </a:endParaRPr>
          </a:p>
        </p:txBody>
      </p:sp>
      <p:sp>
        <p:nvSpPr>
          <p:cNvPr id="206" name="Espace réservé du pied de page 23"/>
          <p:cNvSpPr txBox="1"/>
          <p:nvPr/>
        </p:nvSpPr>
        <p:spPr>
          <a:xfrm>
            <a:off x="-72000" y="6624000"/>
            <a:ext cx="984960" cy="360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r>
              <a:rPr b="0" lang="en-US" sz="1100" spc="-1" strike="noStrike">
                <a:solidFill>
                  <a:srgbClr val="595959"/>
                </a:solidFill>
                <a:latin typeface="Rockwell"/>
              </a:rPr>
              <a:t>2025-2026</a:t>
            </a:r>
            <a:endParaRPr b="0" lang="fr-FR" sz="1100" spc="-1" strike="noStrike">
              <a:latin typeface="Times New Roman"/>
            </a:endParaRPr>
          </a:p>
          <a:p>
            <a:pPr algn="r">
              <a:lnSpc>
                <a:spcPct val="100000"/>
              </a:lnSpc>
            </a:pPr>
            <a:endParaRPr b="0" lang="fr-FR" sz="1100" spc="-1" strike="noStrike"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823E64D-8823-4D32-99C6-79F899B77591}" type="slidenum">
              <a:t>30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Advantage">
  <a:themeElements>
    <a:clrScheme name="Advantage">
      <a:dk1>
        <a:srgbClr val="000000"/>
      </a:dk1>
      <a:lt1>
        <a:srgbClr val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Advantage">
  <a:themeElements>
    <a:clrScheme name="Advantage">
      <a:dk1>
        <a:srgbClr val="000000"/>
      </a:dk1>
      <a:lt1>
        <a:srgbClr val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Advantage.thmx</Template>
  <TotalTime>7587</TotalTime>
  <Application>View_PPTX_PLUS/7.4.0.3$Windows_X86_64 LibreOffice_project/</Application>
  <AppVersion>15.0000</AppVersion>
  <Words>2405</Words>
  <Paragraphs>338</Paragraphs>
  <Company>supcom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2015-10-17T14:33:24Z</dcterms:created>
  <dc:creator>imen abidi</dc:creator>
  <dc:description/>
  <dc:language>fr-FR</dc:language>
  <cp:lastModifiedBy/>
  <dcterms:modified xsi:type="dcterms:W3CDTF">2025-10-12T23:04:52Z</dcterms:modified>
  <cp:revision>314</cp:revision>
  <dc:subject/>
  <dc:title>Imen Abidi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Affichage à l'écran (4:3)</vt:lpwstr>
  </property>
  <property fmtid="{D5CDD505-2E9C-101B-9397-08002B2CF9AE}" pid="4" name="Slides">
    <vt:i4>30</vt:i4>
  </property>
</Properties>
</file>