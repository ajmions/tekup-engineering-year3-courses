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media/image28.png" ContentType="image/png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9.png" ContentType="image/png"/>
  <Override PartName="/ppt/media/image30.png" ContentType="image/png"/>
  <Override PartName="/ppt/media/image31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latin typeface="Arial"/>
              </a:rPr>
              <a:t>Cliquez pour déplacer la diapo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fr-FR" sz="2000" spc="-1" strike="noStrike">
                <a:latin typeface="Arial"/>
              </a:rPr>
              <a:t>Cliquez pour modifier le format 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fld id="{4099FDDC-5652-4CC0-A2E1-0AF470C08A15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fr-FR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FE3FFC-35A3-488A-8218-130D59726DD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1 ére version par l’entreprise ATT par Ke thompson et Denis Ritchie. Denis invente en 1973 le langage C et refont le systéme UNIX en C. Plusieurs autres entreprises s’intéresse à ce marché et plusieurs d’autres versions apparaissent ( Dérivée d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9B88B4-1F74-4FE3-A1F9-3E4418FB79C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fr-FR" sz="20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73796F-6059-4338-A87F-2C196BF7DC5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6C87702-8F96-44D8-87E7-410B754FCB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F678FFB-8BFB-43E9-B54B-E4CFD170CD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8AF0CA2-9846-4393-9156-C8FF9A7274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C657919-23EE-4E55-AA95-F2C816D29A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C723421-0B95-42C7-B091-2530F9DC6C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F07DF61-BE88-48D5-B2D4-466EC1C79E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C94D468-2EBE-4068-BCB9-18A7E86BD0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0F4A02F-6B5F-4DB9-96A7-80E0BDE724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A93FB1E-66DC-4942-90C4-982BC8111F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DF5AB3D-16F7-4707-B39E-CA3434A475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73450AE-3CED-48DB-9640-3316794588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29ECFE4-389E-40BF-80DA-944CBFEED2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282600" y="228600"/>
            <a:ext cx="4233960" cy="4186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Rectangle 7"/>
          <p:cNvSpPr/>
          <p:nvPr/>
        </p:nvSpPr>
        <p:spPr>
          <a:xfrm>
            <a:off x="6802560" y="228600"/>
            <a:ext cx="2055960" cy="20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Rectangle 9"/>
          <p:cNvSpPr/>
          <p:nvPr/>
        </p:nvSpPr>
        <p:spPr>
          <a:xfrm>
            <a:off x="4624560" y="2377440"/>
            <a:ext cx="2055960" cy="203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TextBox 14"/>
          <p:cNvSpPr/>
          <p:nvPr/>
        </p:nvSpPr>
        <p:spPr>
          <a:xfrm>
            <a:off x="424800" y="174960"/>
            <a:ext cx="411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54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Rockwell"/>
                <a:ea typeface="DejaVu Sans"/>
              </a:rPr>
              <a:t>+</a:t>
            </a:r>
            <a:endParaRPr b="0" lang="fr-FR" sz="5400" spc="-1" strike="noStrike">
              <a:latin typeface="Arial"/>
            </a:endParaRPr>
          </a:p>
        </p:txBody>
      </p:sp>
      <p:sp>
        <p:nvSpPr>
          <p:cNvPr id="4" name="Rectangle 10"/>
          <p:cNvSpPr/>
          <p:nvPr/>
        </p:nvSpPr>
        <p:spPr>
          <a:xfrm>
            <a:off x="4624560" y="228600"/>
            <a:ext cx="2055960" cy="2037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Rectangle 11"/>
          <p:cNvSpPr/>
          <p:nvPr/>
        </p:nvSpPr>
        <p:spPr>
          <a:xfrm>
            <a:off x="6802560" y="2377440"/>
            <a:ext cx="2055960" cy="203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PlaceHolder 1"/>
          <p:cNvSpPr>
            <a:spLocks noGrp="1"/>
          </p:cNvSpPr>
          <p:nvPr>
            <p:ph type="ftr" idx="1"/>
          </p:nvPr>
        </p:nvSpPr>
        <p:spPr>
          <a:xfrm>
            <a:off x="6311160" y="6425640"/>
            <a:ext cx="26161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&lt;pied de page&gt;</a:t>
            </a:r>
            <a:endParaRPr b="0" lang="fr-FR" sz="1100" spc="-1" strike="noStrike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2"/>
          </p:nvPr>
        </p:nvSpPr>
        <p:spPr>
          <a:xfrm>
            <a:off x="4800600" y="6425640"/>
            <a:ext cx="12312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fr-FR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6"/>
          <p:cNvSpPr/>
          <p:nvPr/>
        </p:nvSpPr>
        <p:spPr>
          <a:xfrm>
            <a:off x="8210520" y="282600"/>
            <a:ext cx="640800" cy="1598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TextBox 8"/>
          <p:cNvSpPr/>
          <p:nvPr/>
        </p:nvSpPr>
        <p:spPr>
          <a:xfrm>
            <a:off x="223200" y="228600"/>
            <a:ext cx="25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Rockwell"/>
                <a:ea typeface="DejaVu Sans"/>
              </a:rPr>
              <a:t>+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48" name="Rectangle 9"/>
          <p:cNvSpPr/>
          <p:nvPr/>
        </p:nvSpPr>
        <p:spPr>
          <a:xfrm>
            <a:off x="8068320" y="282600"/>
            <a:ext cx="90000" cy="1598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PlaceHolder 1"/>
          <p:cNvSpPr>
            <a:spLocks noGrp="1"/>
          </p:cNvSpPr>
          <p:nvPr>
            <p:ph type="ftr" idx="3"/>
          </p:nvPr>
        </p:nvSpPr>
        <p:spPr>
          <a:xfrm>
            <a:off x="201600" y="6423480"/>
            <a:ext cx="61214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&lt;pied de page&gt;</a:t>
            </a:r>
            <a:endParaRPr b="0" lang="fr-FR" sz="1100" spc="-1" strike="noStrike"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4"/>
          </p:nvPr>
        </p:nvSpPr>
        <p:spPr>
          <a:xfrm>
            <a:off x="8305920" y="242280"/>
            <a:ext cx="5526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Rockwel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2388B4-5BB8-49E7-AEE8-37086CFD3B4D}" type="slidenum">
              <a:rPr b="0" lang="en-US" sz="1400" spc="-1" strike="noStrike">
                <a:solidFill>
                  <a:srgbClr val="ffffff"/>
                </a:solidFill>
                <a:latin typeface="Rockwell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5"/>
          </p:nvPr>
        </p:nvSpPr>
        <p:spPr>
          <a:xfrm>
            <a:off x="6795360" y="642348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fr-FR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62120" y="1122480"/>
            <a:ext cx="4037040" cy="93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ffffff"/>
                </a:solidFill>
                <a:latin typeface="Rockwell"/>
              </a:rPr>
              <a:t>Equipe Pédagogique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Rockwell"/>
              </a:rPr>
              <a:t>          </a:t>
            </a:r>
            <a:r>
              <a:rPr b="0" lang="en-US" sz="2200" spc="-1" strike="noStrike">
                <a:solidFill>
                  <a:srgbClr val="ffffff"/>
                </a:solidFill>
                <a:latin typeface="Rockwell"/>
              </a:rPr>
              <a:t>S. Ben yaala</a:t>
            </a:r>
            <a:br>
              <a:rPr sz="2200"/>
            </a:br>
            <a:r>
              <a:rPr b="0" lang="en-US" sz="2200" spc="-1" strike="noStrike">
                <a:solidFill>
                  <a:srgbClr val="ffffff"/>
                </a:solidFill>
                <a:latin typeface="Rockwell"/>
              </a:rPr>
              <a:t>            H. Slimani</a:t>
            </a:r>
            <a:br>
              <a:rPr sz="2200"/>
            </a:br>
            <a:r>
              <a:rPr b="0" lang="en-US" sz="2200" spc="-1" strike="noStrike">
                <a:solidFill>
                  <a:srgbClr val="ffffff"/>
                </a:solidFill>
                <a:latin typeface="Rockwell"/>
              </a:rPr>
              <a:t> </a:t>
            </a:r>
            <a:br>
              <a:rPr sz="2200"/>
            </a:br>
            <a:endParaRPr b="0" lang="fr-FR" sz="22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984960" y="5076360"/>
            <a:ext cx="7629840" cy="74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lnSpc>
                <a:spcPct val="16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2b142d"/>
                </a:solidFill>
                <a:latin typeface="Rockwell"/>
              </a:rPr>
              <a:t>Gestion des fichiers et répertoires sous linux</a:t>
            </a:r>
            <a:endParaRPr b="0" lang="fr-FR" sz="2800" spc="-1" strike="noStrike">
              <a:latin typeface="Arial"/>
            </a:endParaRPr>
          </a:p>
        </p:txBody>
      </p:sp>
      <p:pic>
        <p:nvPicPr>
          <p:cNvPr id="98" name="Picture 2" descr="RÃ©sultat de recherche d'images pour &quot;Linux&quot;"/>
          <p:cNvPicPr/>
          <p:nvPr/>
        </p:nvPicPr>
        <p:blipFill>
          <a:blip r:embed="rId1"/>
          <a:stretch/>
        </p:blipFill>
        <p:spPr>
          <a:xfrm>
            <a:off x="4564800" y="2365200"/>
            <a:ext cx="2186280" cy="2257920"/>
          </a:xfrm>
          <a:prstGeom prst="rect">
            <a:avLst/>
          </a:prstGeom>
          <a:ln w="0">
            <a:noFill/>
          </a:ln>
        </p:spPr>
      </p:pic>
      <p:sp>
        <p:nvSpPr>
          <p:cNvPr id="99" name="Rectangle 3"/>
          <p:cNvSpPr/>
          <p:nvPr/>
        </p:nvSpPr>
        <p:spPr>
          <a:xfrm>
            <a:off x="860400" y="361440"/>
            <a:ext cx="2208960" cy="455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2400" spc="-1" strike="noStrike">
                <a:solidFill>
                  <a:srgbClr val="ffffff"/>
                </a:solidFill>
                <a:latin typeface="&amp;quot"/>
                <a:ea typeface="Times New Roman"/>
              </a:rPr>
              <a:t>Module Linux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2019-2020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98600" y="24228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accent1"/>
                </a:solidFill>
                <a:latin typeface="Rockwell"/>
              </a:rPr>
              <a:t>Plan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01" name="Rectangle 3"/>
          <p:cNvSpPr/>
          <p:nvPr/>
        </p:nvSpPr>
        <p:spPr>
          <a:xfrm>
            <a:off x="698400" y="1358280"/>
            <a:ext cx="7991640" cy="46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>
              <a:lnSpc>
                <a:spcPct val="16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595959"/>
                </a:solidFill>
                <a:latin typeface="Rockwell"/>
                <a:ea typeface="DejaVu Sans"/>
              </a:rPr>
              <a:t>Répertoires sous Linux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6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595959"/>
                </a:solidFill>
                <a:latin typeface="Rockwell"/>
                <a:ea typeface="DejaVu Sans"/>
              </a:rPr>
              <a:t>Fichiers sous Linux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6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595959"/>
                </a:solidFill>
                <a:latin typeface="Rockwell"/>
                <a:ea typeface="DejaVu Sans"/>
              </a:rPr>
              <a:t>Commandes utilisées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6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595959"/>
                </a:solidFill>
                <a:latin typeface="Rockwell"/>
                <a:ea typeface="DejaVu Sans"/>
              </a:rPr>
              <a:t>Droits d’accès sur les fichiers et les répertoires.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6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595959"/>
                </a:solidFill>
                <a:latin typeface="Rockwell"/>
                <a:ea typeface="DejaVu Sans"/>
              </a:rPr>
              <a:t>Liens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60000"/>
              </a:lnSpc>
              <a:spcBef>
                <a:spcPts val="2001"/>
              </a:spcBef>
            </a:pPr>
            <a:endParaRPr b="0" lang="fr-FR" sz="2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AC290D4-324C-4469-9BE8-1087698855A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40720" y="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6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Répertoires sous Linux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03" name="Rectangle 5"/>
          <p:cNvSpPr/>
          <p:nvPr/>
        </p:nvSpPr>
        <p:spPr>
          <a:xfrm>
            <a:off x="100800" y="1412640"/>
            <a:ext cx="8398080" cy="45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</a:pPr>
            <a:endParaRPr b="0" lang="fr-FR" sz="2000" spc="-1" strike="noStrike">
              <a:latin typeface="Arial"/>
            </a:endParaRPr>
          </a:p>
          <a:p>
            <a:pPr algn="just">
              <a:lnSpc>
                <a:spcPct val="150000"/>
              </a:lnSpc>
            </a:pPr>
            <a:endParaRPr b="0" lang="fr-FR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75367a"/>
              </a:buClr>
              <a:buSzPct val="107000"/>
              <a:buFont typeface="Wingdings" charset="2"/>
              <a:buChar char="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Un répertoire : c’est une entité utilisée pour l’organisation des fichiers. </a:t>
            </a:r>
            <a:endParaRPr b="0" lang="fr-FR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75367a"/>
              </a:buClr>
              <a:buSzPct val="107000"/>
              <a:buFont typeface="Wingdings" charset="2"/>
              <a:buChar char="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Les répertoires permettent de structurer les différents fichiers. Ce qui garantit un accès rapide aux données. </a:t>
            </a:r>
            <a:endParaRPr b="0" lang="fr-FR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75367a"/>
              </a:buClr>
              <a:buSzPct val="107000"/>
              <a:buFont typeface="Wingdings" charset="2"/>
              <a:buChar char="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Un répertoire est considéré comme un fichier vu qu’il est stocké sur le disque et il contient des fichiers</a:t>
            </a:r>
            <a:endParaRPr b="0" lang="fr-FR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1B36B0A-BE48-455B-94B8-DF50B199913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40720" y="4932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6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Fichiers sous Linux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05" name="Rectangle 33"/>
          <p:cNvSpPr/>
          <p:nvPr/>
        </p:nvSpPr>
        <p:spPr>
          <a:xfrm>
            <a:off x="201600" y="1018080"/>
            <a:ext cx="894096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>
              <a:lnSpc>
                <a:spcPct val="150000"/>
              </a:lnSpc>
              <a:buClr>
                <a:srgbClr val="75367a"/>
              </a:buClr>
              <a:buSzPct val="107000"/>
              <a:buFont typeface="Wingdings" charset="2"/>
              <a:buChar char="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C’est l’unité de stockage exploitée par les utilisateurs pour </a:t>
            </a:r>
            <a:endParaRPr b="0" lang="fr-FR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le stockage de leurs données. </a:t>
            </a:r>
            <a:endParaRPr b="0" lang="fr-FR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75367a"/>
              </a:buClr>
              <a:buSzPct val="107000"/>
              <a:buFont typeface="Wingdings" charset="2"/>
              <a:buChar char="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Généralement, ce sont les utilisateurs qui créent les fichiers. Cependant, le système peut générer certains fichiers.</a:t>
            </a:r>
            <a:endParaRPr b="0" lang="fr-FR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75367a"/>
              </a:buClr>
              <a:buSzPct val="107000"/>
              <a:buFont typeface="Wingdings" charset="2"/>
              <a:buChar char="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Il existe plusieurs attributs qui caractérisent les fichiers : nom, extension,  date et heure (création ou modification) ,taille, protection. Certains  de ces paramètres sont spécifiés par l’utilisateur. Les autres sont définis par le SE.</a:t>
            </a:r>
            <a:endParaRPr b="0" lang="fr-FR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155D068-8FF0-46D6-9D8D-30EFD9D0BE4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98600" y="20844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Commandes utilisées</a:t>
            </a:r>
            <a:endParaRPr b="0" lang="fr-FR" sz="3600" spc="-1" strike="noStrike">
              <a:latin typeface="Arial"/>
            </a:endParaRPr>
          </a:p>
        </p:txBody>
      </p:sp>
      <p:graphicFrame>
        <p:nvGraphicFramePr>
          <p:cNvPr id="107" name="Espace réservé du contenu 5"/>
          <p:cNvGraphicFramePr/>
          <p:nvPr/>
        </p:nvGraphicFramePr>
        <p:xfrm>
          <a:off x="220320" y="1727640"/>
          <a:ext cx="7926480" cy="2725200"/>
        </p:xfrm>
        <a:graphic>
          <a:graphicData uri="http://schemas.openxmlformats.org/drawingml/2006/table">
            <a:tbl>
              <a:tblPr/>
              <a:tblGrid>
                <a:gridCol w="3972960"/>
                <a:gridCol w="3953880"/>
              </a:tblGrid>
              <a:tr h="6361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Fonctionalité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Syntaxe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</a:t>
                      </a: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Affichage de répertoire courant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pwd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97704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endParaRPr b="0" lang="fr-FR" sz="2000" spc="-1" strike="noStrike">
                        <a:latin typeface="Arial"/>
                      </a:endParaRPr>
                    </a:p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             </a:t>
                      </a: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Copie d’un fichier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cp fich-orig fich-dest </a:t>
                      </a:r>
                      <a:r>
                        <a:rPr b="0" lang="fr-FR" sz="2000" spc="-1" strike="noStrike" u="sng">
                          <a:solidFill>
                            <a:srgbClr val="000000"/>
                          </a:solidFill>
                          <a:uFillTx/>
                          <a:latin typeface="Rockwell"/>
                        </a:rPr>
                        <a:t>Ou</a:t>
                      </a:r>
                      <a:endParaRPr b="0" lang="fr-FR" sz="2000" spc="-1" strike="noStrike">
                        <a:latin typeface="Arial"/>
                      </a:endParaRPr>
                    </a:p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cp fichier répertoire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Copie des répertoires entiers(contenant des fichiers et sous repertoires)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cp –r  rep-origine rep-destination 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Renommer fichier1 en fichier2 (idem pour répertoire)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</a:t>
                      </a: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mv fichier1  fichier2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809AFB3-3AB1-44FF-8DF7-6F37201842E6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98600" y="20844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Commandes utilisées</a:t>
            </a:r>
            <a:endParaRPr b="0" lang="fr-FR" sz="3600" spc="-1" strike="noStrike">
              <a:latin typeface="Arial"/>
            </a:endParaRPr>
          </a:p>
        </p:txBody>
      </p:sp>
      <p:graphicFrame>
        <p:nvGraphicFramePr>
          <p:cNvPr id="109" name="Espace réservé du contenu 5"/>
          <p:cNvGraphicFramePr/>
          <p:nvPr/>
        </p:nvGraphicFramePr>
        <p:xfrm>
          <a:off x="212760" y="1099800"/>
          <a:ext cx="7841520" cy="3702240"/>
        </p:xfrm>
        <a:graphic>
          <a:graphicData uri="http://schemas.openxmlformats.org/drawingml/2006/table">
            <a:tbl>
              <a:tblPr/>
              <a:tblGrid>
                <a:gridCol w="3888000"/>
                <a:gridCol w="3953880"/>
              </a:tblGrid>
              <a:tr h="6361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Fonctionalité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Syntaxe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Déplace fichier1 dans le répertoire /tmp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mv fichier1 /tmp</a:t>
                      </a:r>
                      <a:endParaRPr b="0" lang="fr-FR" sz="2000" spc="-1" strike="noStrike">
                        <a:latin typeface="Arial"/>
                      </a:endParaRPr>
                    </a:p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97704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Déplace le répertoire TEST dans le répertoire /tmp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mv TEST /tmp</a:t>
                      </a:r>
                      <a:endParaRPr b="0" lang="fr-FR" sz="2000" spc="-1" strike="noStrike">
                        <a:latin typeface="Arial"/>
                      </a:endParaRPr>
                    </a:p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  <a:tr h="97704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Supprimer des fichiers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rm fichier1 fichier2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Supprimer un répértoire vide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</a:t>
                      </a: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rmdir rep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  <a:tr h="37080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8F01F8B-ED03-4E0C-9416-AE12A0EDFEA7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98600" y="20844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Commandes utilisées</a:t>
            </a:r>
            <a:endParaRPr b="0" lang="fr-FR" sz="3600" spc="-1" strike="noStrike">
              <a:latin typeface="Arial"/>
            </a:endParaRPr>
          </a:p>
        </p:txBody>
      </p:sp>
      <p:graphicFrame>
        <p:nvGraphicFramePr>
          <p:cNvPr id="111" name="Espace réservé du contenu 5"/>
          <p:cNvGraphicFramePr/>
          <p:nvPr/>
        </p:nvGraphicFramePr>
        <p:xfrm>
          <a:off x="201600" y="1055160"/>
          <a:ext cx="7907400" cy="5343480"/>
        </p:xfrm>
        <a:graphic>
          <a:graphicData uri="http://schemas.openxmlformats.org/drawingml/2006/table">
            <a:tbl>
              <a:tblPr/>
              <a:tblGrid>
                <a:gridCol w="3953880"/>
                <a:gridCol w="3953880"/>
              </a:tblGrid>
              <a:tr h="6361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Fonctionalité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Syntaxe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8292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Supprimer un répertoire non vide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</a:t>
                      </a: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rm –rf rep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660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Lister des fichiers du dossier courant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ls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Afficher une liste détaillée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ls -l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Lister tous les fichiers (cachés)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ls -a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Trier les fichiers par date (plus récents sont les premiers)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ls -t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Trier les fichiers par taille 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ls -S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Changer rep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cd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Créer un rep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mkdir rep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Crée une arborscence rep_parent: dans rep_parent , crée rep_enfant 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mkdir –p rep1/rep2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5B3B06E-D7AA-4183-BFD9-9E5A9E2476A5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98600" y="20844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Les méta-caractères ou wildcards</a:t>
            </a:r>
            <a:endParaRPr b="0" lang="fr-FR" sz="3600" spc="-1" strike="noStrike">
              <a:latin typeface="Arial"/>
            </a:endParaRPr>
          </a:p>
        </p:txBody>
      </p:sp>
      <p:graphicFrame>
        <p:nvGraphicFramePr>
          <p:cNvPr id="113" name="Espace réservé du contenu 5"/>
          <p:cNvGraphicFramePr/>
          <p:nvPr/>
        </p:nvGraphicFramePr>
        <p:xfrm>
          <a:off x="92880" y="1320120"/>
          <a:ext cx="7857720" cy="4111920"/>
        </p:xfrm>
        <a:graphic>
          <a:graphicData uri="http://schemas.openxmlformats.org/drawingml/2006/table">
            <a:tbl>
              <a:tblPr/>
              <a:tblGrid>
                <a:gridCol w="4525200"/>
                <a:gridCol w="3332880"/>
              </a:tblGrid>
              <a:tr h="6361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Fonctionalité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Syntaxe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8292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liste les fichiers dont le nom débute par fichier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</a:t>
                      </a:r>
                      <a:r>
                        <a:rPr b="0" lang="fr-FR" sz="20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ls fichier*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660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liste les fichiers dont le nom se termine par c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Ls *c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liste les fichiers contenant t dans leur nom 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ls *t*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liste les fichiers dont le nom débute par t avec un et un seul caractère après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#ls t?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liste les fichiers dont le nom débute par t avec deux caractères après 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20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#ls t??</a:t>
                      </a:r>
                      <a:endParaRPr b="0" lang="fr-FR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7FB915C-31CF-4C11-A800-A335497AE668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98600" y="208440"/>
            <a:ext cx="7780320" cy="87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accent1"/>
                </a:solidFill>
                <a:latin typeface="Rockwell"/>
              </a:rPr>
              <a:t>Les méta-caractères ou wildcards</a:t>
            </a:r>
            <a:endParaRPr b="0" lang="fr-FR" sz="3200" spc="-1" strike="noStrike">
              <a:latin typeface="Arial"/>
            </a:endParaRPr>
          </a:p>
        </p:txBody>
      </p:sp>
      <p:graphicFrame>
        <p:nvGraphicFramePr>
          <p:cNvPr id="115" name="Espace réservé du contenu 5"/>
          <p:cNvGraphicFramePr/>
          <p:nvPr/>
        </p:nvGraphicFramePr>
        <p:xfrm>
          <a:off x="129240" y="1406880"/>
          <a:ext cx="7925040" cy="5133600"/>
        </p:xfrm>
        <a:graphic>
          <a:graphicData uri="http://schemas.openxmlformats.org/drawingml/2006/table">
            <a:tbl>
              <a:tblPr/>
              <a:tblGrid>
                <a:gridCol w="3791520"/>
                <a:gridCol w="4133880"/>
              </a:tblGrid>
              <a:tr h="4399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Fonctionalité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Syntaxe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2214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Remplacement de caractères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[246]</a:t>
                      </a: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 choix possible entre le caractère 2, 4 ou 6  </a:t>
                      </a:r>
                      <a:endParaRPr b="0" lang="fr-FR" sz="18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[1-3]</a:t>
                      </a: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 choix parmi les caractères compris entre 1 et 3  </a:t>
                      </a:r>
                      <a:endParaRPr b="0" lang="fr-FR" sz="18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[a-z]</a:t>
                      </a: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 choix parmi les caractères compris entre a et z  </a:t>
                      </a:r>
                      <a:endParaRPr b="0" lang="fr-FR" sz="18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[!135]</a:t>
                      </a:r>
                      <a:r>
                        <a:rPr b="0" lang="fr-FR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 tous sauf les caractères 1, 3 et 5.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cdd3"/>
                    </a:solidFill>
                  </a:tcPr>
                </a:tc>
              </a:tr>
              <a:tr h="2479680">
                <a:tc>
                  <a:txBody>
                    <a:bodyPr anchor="t">
                      <a:noAutofit/>
                    </a:bodyPr>
                    <a:p>
                      <a:pPr marL="228600" indent="-228600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liste tous les fichiers commençant par un caractère a,b ou c suivi de r suivi de n'importe  quel caractère, suivi de la chaine bonjour suivi de n’importe quel caractère sauf A et se  terminant par n'importe quelle chaine y compris rien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endParaRPr b="0" lang="fr-FR" sz="1800" spc="-1" strike="noStrike">
                        <a:latin typeface="Arial"/>
                      </a:endParaRPr>
                    </a:p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endParaRPr b="0" lang="fr-FR" sz="1800" spc="-1" strike="noStrike">
                        <a:latin typeface="Arial"/>
                      </a:endParaRPr>
                    </a:p>
                    <a:p>
                      <a:pPr marL="228600" indent="-228600" algn="ctr">
                        <a:lnSpc>
                          <a:spcPct val="100000"/>
                        </a:lnSpc>
                        <a:spcBef>
                          <a:spcPts val="2001"/>
                        </a:spcBef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ls [a-c]r?bonjour[!A]*</a:t>
                      </a:r>
                      <a:endParaRPr b="0" lang="fr-F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8ea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E452B42-B5A1-423A-9B45-D2B6CFCE6849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98600" y="24228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Chemin relatif et absolu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201600" y="1162800"/>
            <a:ext cx="8940960" cy="56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2 méthodes de spécification  d’un chemin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 Chemin relatif : ce chemin dépend du répertoire courant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 Chemin absolu : il débute à la racine du système (« / »)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000" spc="-1" strike="noStrike">
                <a:solidFill>
                  <a:srgbClr val="595959"/>
                </a:solidFill>
                <a:latin typeface="Rockwell"/>
              </a:rPr>
              <a:t> </a:t>
            </a:r>
            <a:r>
              <a:rPr b="0" lang="fr-FR" sz="2000" spc="-1" strike="noStrike">
                <a:solidFill>
                  <a:srgbClr val="595959"/>
                </a:solidFill>
                <a:latin typeface="Rockwell"/>
              </a:rPr>
              <a:t>Exemples</a:t>
            </a:r>
            <a:endParaRPr b="0" lang="fr-FR" sz="2000" spc="-1" strike="noStrike"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</p:txBody>
      </p:sp>
      <p:pic>
        <p:nvPicPr>
          <p:cNvPr id="118" name="Picture 2" descr="C:\Users\asus\Desktop\120px-Eagle-layout-editor-icon.png"/>
          <p:cNvPicPr/>
          <p:nvPr/>
        </p:nvPicPr>
        <p:blipFill>
          <a:blip r:embed="rId1"/>
          <a:stretch/>
        </p:blipFill>
        <p:spPr>
          <a:xfrm>
            <a:off x="722520" y="4109760"/>
            <a:ext cx="7762680" cy="2491560"/>
          </a:xfrm>
          <a:prstGeom prst="rect">
            <a:avLst/>
          </a:prstGeom>
          <a:ln w="0">
            <a:noFill/>
          </a:ln>
        </p:spPr>
      </p:pic>
      <p:sp>
        <p:nvSpPr>
          <p:cNvPr id="119" name="ZoneTexte 9"/>
          <p:cNvSpPr/>
          <p:nvPr/>
        </p:nvSpPr>
        <p:spPr>
          <a:xfrm>
            <a:off x="1964160" y="3644280"/>
            <a:ext cx="182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Rockwell"/>
                <a:ea typeface="DejaVu Sans"/>
              </a:rPr>
              <a:t>Relatif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20" name="ZoneTexte 10"/>
          <p:cNvSpPr/>
          <p:nvPr/>
        </p:nvSpPr>
        <p:spPr>
          <a:xfrm>
            <a:off x="5796720" y="3641040"/>
            <a:ext cx="182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Rockwell"/>
                <a:ea typeface="DejaVu Sans"/>
              </a:rPr>
              <a:t>Absolu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1B3AA19-4F44-4BA3-BB0E-DE654FEB497E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98600" y="4932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La commande cd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98600" y="1619280"/>
            <a:ext cx="7554960" cy="30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Parmi les options de la commande cd :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« . » : il désigne le répertoire courant.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« .. » : désigne le répertoire parent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« ~ » : désigne le répertoire home de l’utilisateur courant (# cd $HOME)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AD7A960-F73A-4031-A83C-D4724CDC245E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54960" y="143280"/>
            <a:ext cx="1160244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Droits d’accès sur les fichiers et les </a:t>
            </a:r>
            <a:br>
              <a:rPr sz="3600"/>
            </a:b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répertoires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238680" y="1438560"/>
            <a:ext cx="8903880" cy="466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Linux est un système multi-utilisateurs</a:t>
            </a:r>
            <a:endParaRPr b="0" lang="fr-FR" sz="1800" spc="-1" strike="noStrike">
              <a:latin typeface="Arial"/>
            </a:endParaRPr>
          </a:p>
          <a:p>
            <a:pPr marL="228600" indent="-228600">
              <a:lnSpc>
                <a:spcPct val="170000"/>
              </a:lnSpc>
              <a:buClr>
                <a:srgbClr val="663366"/>
              </a:buClr>
              <a:buSzPct val="75000"/>
              <a:buFont typeface="Wingdings" charset="2"/>
              <a:buChar char="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L’espace disque est partagé par plusieurs utilisateurs.</a:t>
            </a:r>
            <a:endParaRPr b="0" lang="fr-FR" sz="1800" spc="-1" strike="noStrike">
              <a:latin typeface="Arial"/>
            </a:endParaRPr>
          </a:p>
          <a:p>
            <a:pPr marL="228600" indent="-228600">
              <a:lnSpc>
                <a:spcPct val="170000"/>
              </a:lnSpc>
              <a:buClr>
                <a:srgbClr val="663366"/>
              </a:buClr>
              <a:buSzPct val="75000"/>
              <a:buFont typeface="Wingdings" charset="2"/>
              <a:buChar char="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Les fichiers et répertoires d’un utilisateur ne sont accessibles que par cet utilisateur.</a:t>
            </a:r>
            <a:endParaRPr b="0" lang="fr-FR" sz="1800" spc="-1" strike="noStrike">
              <a:latin typeface="Arial"/>
            </a:endParaRPr>
          </a:p>
          <a:p>
            <a:pPr marL="228600" indent="-228600">
              <a:lnSpc>
                <a:spcPct val="170000"/>
              </a:lnSpc>
              <a:buClr>
                <a:srgbClr val="663366"/>
              </a:buClr>
              <a:buSzPct val="75000"/>
              <a:buFont typeface="Wingdings" charset="2"/>
              <a:buChar char="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Il faut protéger les fichiers de configuration.</a:t>
            </a:r>
            <a:endParaRPr b="0" lang="fr-FR" sz="18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Nécessité de spécifier des droits pour chaque fichier/répertoire </a:t>
            </a:r>
            <a:endParaRPr b="0" lang="fr-FR" sz="1800" spc="-1" strike="noStrike">
              <a:latin typeface="Arial"/>
            </a:endParaRPr>
          </a:p>
          <a:p>
            <a:pPr marL="228600" indent="-228600">
              <a:lnSpc>
                <a:spcPct val="170000"/>
              </a:lnSpc>
              <a:buClr>
                <a:srgbClr val="663366"/>
              </a:buClr>
              <a:buSzPct val="75000"/>
              <a:buFont typeface="Wingdings" charset="2"/>
              <a:buChar char="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 types de droits : Lecture (R), écriture (W), exécution (X)</a:t>
            </a:r>
            <a:endParaRPr b="0" lang="fr-FR" sz="1800" spc="-1" strike="noStrike">
              <a:latin typeface="Arial"/>
            </a:endParaRPr>
          </a:p>
          <a:p>
            <a:pPr marL="228600" indent="-228600">
              <a:lnSpc>
                <a:spcPct val="170000"/>
              </a:lnSpc>
              <a:buClr>
                <a:srgbClr val="663366"/>
              </a:buClr>
              <a:buSzPct val="75000"/>
              <a:buFont typeface="Wingdings" charset="2"/>
              <a:buChar char="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Groupes d’utilisateurs :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•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Le propriétaire (user) du fichier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•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Le groupe (group) propriétaire (Tous les utilisateurs membre du groupe) 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•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Les autres (others): Désigne tous les utilisateurs non membres des 2 précédents  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C127031-49E8-4A3D-B97D-E0AD7ABD9BBE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98600" y="4932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Droits : Différence entre fichiers et répertoires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98600" y="1165320"/>
            <a:ext cx="9028080" cy="41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17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Pour un fichier : 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- r : Lecture (afficher)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- w : Ecriture (modification)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-  x : Exécution (exécution d’un script)  </a:t>
            </a:r>
            <a:endParaRPr b="0" lang="fr-FR" sz="1800" spc="-1" strike="noStrike">
              <a:latin typeface="Arial"/>
            </a:endParaRPr>
          </a:p>
          <a:p>
            <a:pPr marL="228600" indent="-228600">
              <a:lnSpc>
                <a:spcPct val="170000"/>
              </a:lnSpc>
              <a:buClr>
                <a:srgbClr val="663366"/>
              </a:buClr>
              <a:buSzPct val="150000"/>
              <a:buFont typeface="Wingdings" charset="2"/>
              <a:buChar char="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Pour un répertoire 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-  r : Lire le contenu, lister les fichiers (avec ls par exemple)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- w : Modifier le contenu, créer et supprimer des fichiers (avec les commandes 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« cp », « mv », « rm ») 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- x : Permet d’accéder aux fichiers du répertoire. Mais aussi de naviguer dans les sous-répertoires (avec « cd ») </a:t>
            </a:r>
            <a:endParaRPr b="0" lang="fr-FR" sz="1800" spc="-1" strike="noStrike">
              <a:latin typeface="Arial"/>
            </a:endParaRPr>
          </a:p>
          <a:p>
            <a:pPr marL="228600" indent="0">
              <a:lnSpc>
                <a:spcPct val="17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- En général, le droit w est souvent associé au droit x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F4D5E38-A88C-4D8E-A783-E9E37B40F221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42080" y="124200"/>
            <a:ext cx="912960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Les droits sur fichiers et répertoires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93680" y="1240200"/>
            <a:ext cx="8416440" cy="571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595959"/>
                </a:solidFill>
                <a:latin typeface="Rockwell"/>
              </a:rPr>
              <a:t> </a:t>
            </a:r>
            <a:r>
              <a:rPr b="1" lang="fr-FR" sz="1900" spc="-1" strike="noStrike">
                <a:solidFill>
                  <a:srgbClr val="000000"/>
                </a:solidFill>
                <a:latin typeface="Arial"/>
              </a:rPr>
              <a:t>La commande « ls -l» permet d’afficher les droits qui s’appliquent</a:t>
            </a:r>
            <a:endParaRPr b="0" lang="fr-FR" sz="1900" spc="-1" strike="noStrike"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1900" spc="-1" strike="noStrike"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19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1" lang="fr-FR" sz="1900" spc="-1" strike="noStrike">
                <a:solidFill>
                  <a:srgbClr val="000000"/>
                </a:solidFill>
                <a:latin typeface="Arial"/>
              </a:rPr>
              <a:t>La première lettre désigne le type de fichier </a:t>
            </a:r>
            <a:r>
              <a:rPr b="0" lang="fr-FR" sz="1800" spc="-1" strike="noStrike">
                <a:solidFill>
                  <a:srgbClr val="000000"/>
                </a:solidFill>
                <a:latin typeface="Rockwell"/>
              </a:rPr>
              <a:t>:  </a:t>
            </a:r>
            <a:r>
              <a:rPr b="0" lang="fr-FR" sz="1800" spc="-1" strike="noStrike">
                <a:solidFill>
                  <a:srgbClr val="ff0000"/>
                </a:solidFill>
                <a:latin typeface="Rockwell"/>
              </a:rPr>
              <a:t>-</a:t>
            </a:r>
            <a:r>
              <a:rPr b="0" lang="fr-FR" sz="1800" spc="-1" strike="noStrike">
                <a:solidFill>
                  <a:srgbClr val="000000"/>
                </a:solidFill>
                <a:latin typeface="Rockwell"/>
              </a:rPr>
              <a:t> : fichier "classique", </a:t>
            </a:r>
            <a:r>
              <a:rPr b="0" lang="fr-FR" sz="1800" spc="-1" strike="noStrike">
                <a:solidFill>
                  <a:srgbClr val="ff0000"/>
                </a:solidFill>
                <a:latin typeface="Rockwell"/>
              </a:rPr>
              <a:t>d</a:t>
            </a:r>
            <a:r>
              <a:rPr b="0" lang="fr-FR" sz="1800" spc="-1" strike="noStrike">
                <a:solidFill>
                  <a:srgbClr val="000000"/>
                </a:solidFill>
                <a:latin typeface="Rockwell"/>
              </a:rPr>
              <a:t> : répertoire (directory), </a:t>
            </a:r>
            <a:r>
              <a:rPr b="0" lang="fr-FR" sz="1800" spc="-1" strike="noStrike">
                <a:solidFill>
                  <a:srgbClr val="ff0000"/>
                </a:solidFill>
                <a:latin typeface="Rockwell"/>
              </a:rPr>
              <a:t>l</a:t>
            </a:r>
            <a:r>
              <a:rPr b="0" lang="fr-FR" sz="1800" spc="-1" strike="noStrike">
                <a:solidFill>
                  <a:srgbClr val="000000"/>
                </a:solidFill>
                <a:latin typeface="Rockwell"/>
              </a:rPr>
              <a:t> : lien symbolique (link)</a:t>
            </a:r>
            <a:endParaRPr b="0" lang="fr-FR" sz="18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1" lang="fr-FR" sz="1900" spc="-1" strike="noStrike">
                <a:solidFill>
                  <a:srgbClr val="000000"/>
                </a:solidFill>
                <a:latin typeface="Arial"/>
              </a:rPr>
              <a:t>Signification des autres champs</a:t>
            </a:r>
            <a:endParaRPr b="0" lang="fr-FR" sz="19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1" lang="fr-FR" sz="19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900" spc="-1" strike="noStrike">
              <a:latin typeface="Arial"/>
            </a:endParaRPr>
          </a:p>
        </p:txBody>
      </p:sp>
      <p:pic>
        <p:nvPicPr>
          <p:cNvPr id="129" name="Picture 2" descr="C:\Users\asus\Desktop\choix1.PNG"/>
          <p:cNvPicPr/>
          <p:nvPr/>
        </p:nvPicPr>
        <p:blipFill>
          <a:blip r:embed="rId1"/>
          <a:stretch/>
        </p:blipFill>
        <p:spPr>
          <a:xfrm>
            <a:off x="442080" y="1641240"/>
            <a:ext cx="7862400" cy="130356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3" descr="C:\Users\asus\Desktop\choix1.PNG"/>
          <p:cNvPicPr/>
          <p:nvPr/>
        </p:nvPicPr>
        <p:blipFill>
          <a:blip r:embed="rId2"/>
          <a:stretch/>
        </p:blipFill>
        <p:spPr>
          <a:xfrm>
            <a:off x="533160" y="4086720"/>
            <a:ext cx="8076960" cy="1741680"/>
          </a:xfrm>
          <a:prstGeom prst="rect">
            <a:avLst/>
          </a:prstGeom>
          <a:ln w="0">
            <a:noFill/>
          </a:ln>
        </p:spPr>
      </p:pic>
      <p:sp>
        <p:nvSpPr>
          <p:cNvPr id="131" name="Rectangle 8"/>
          <p:cNvSpPr/>
          <p:nvPr/>
        </p:nvSpPr>
        <p:spPr>
          <a:xfrm>
            <a:off x="442080" y="5829480"/>
            <a:ext cx="45705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latin typeface="Rockwell"/>
                <a:ea typeface="DejaVu Sans"/>
              </a:rPr>
              <a:t>Propriétaire </a:t>
            </a:r>
            <a:r>
              <a:rPr b="0" lang="fr-FR" sz="1800" spc="-1" strike="noStrike">
                <a:solidFill>
                  <a:srgbClr val="000000"/>
                </a:solidFill>
                <a:latin typeface="Rockwell"/>
                <a:ea typeface="DejaVu Sans"/>
              </a:rPr>
              <a:t>: Lecture, écriture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Rockwell"/>
                <a:ea typeface="DejaVu Sans"/>
              </a:rPr>
              <a:t> </a:t>
            </a:r>
            <a:r>
              <a:rPr b="1" lang="fr-FR" sz="1800" spc="-1" strike="noStrike">
                <a:solidFill>
                  <a:srgbClr val="000000"/>
                </a:solidFill>
                <a:latin typeface="Rockwell"/>
                <a:ea typeface="DejaVu Sans"/>
              </a:rPr>
              <a:t>Groupe</a:t>
            </a:r>
            <a:r>
              <a:rPr b="0" lang="fr-FR" sz="1800" spc="-1" strike="noStrike">
                <a:solidFill>
                  <a:srgbClr val="000000"/>
                </a:solidFill>
                <a:latin typeface="Rockwell"/>
                <a:ea typeface="DejaVu Sans"/>
              </a:rPr>
              <a:t> : Lecture, écriture et exécution </a:t>
            </a:r>
            <a:r>
              <a:rPr b="1" lang="fr-FR" sz="1800" spc="-1" strike="noStrike">
                <a:solidFill>
                  <a:srgbClr val="000000"/>
                </a:solidFill>
                <a:latin typeface="Rockwell"/>
                <a:ea typeface="DejaVu Sans"/>
              </a:rPr>
              <a:t>Autres</a:t>
            </a:r>
            <a:r>
              <a:rPr b="0" lang="fr-FR" sz="1800" spc="-1" strike="noStrike">
                <a:solidFill>
                  <a:srgbClr val="000000"/>
                </a:solidFill>
                <a:latin typeface="Rockwell"/>
                <a:ea typeface="DejaVu Sans"/>
              </a:rPr>
              <a:t> : Lecture et exécution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CB34707-16D4-415B-BCDD-13D838937BB1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98600" y="24228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Modifier les droits avec chmod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58040" y="880560"/>
            <a:ext cx="9503640" cy="58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000"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La commande « chmod » permet de modifier les droits :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2 syntaxes différentes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"/>
            </a:pPr>
            <a:r>
              <a:rPr b="0" lang="fr-FR" sz="2000" spc="-1" strike="noStrike">
                <a:solidFill>
                  <a:srgbClr val="ff0000"/>
                </a:solidFill>
                <a:latin typeface="Rockwell"/>
              </a:rPr>
              <a:t> </a:t>
            </a:r>
            <a:r>
              <a:rPr b="0" lang="fr-FR" sz="2000" spc="-1" strike="noStrike">
                <a:solidFill>
                  <a:srgbClr val="ff0000"/>
                </a:solidFill>
                <a:latin typeface="Rockwell"/>
              </a:rPr>
              <a:t>Mode symbolique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: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*   Basé sur des symboles (ugoa) et des opérateurs (+,-,=)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*   u (user), g (group), o (others), a (all users)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*  + (Ajouter le droit), - (Retirer le droit), = (Ajouter le droit et retirer tous les autres)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*  Exemple (Ajoute le droit d’exécution au propriétaire) : 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"/>
              <a:tabLst>
                <a:tab algn="l" pos="0"/>
              </a:tabLst>
            </a:pPr>
            <a:r>
              <a:rPr b="0" lang="fr-FR" sz="2000" spc="-1" strike="noStrike">
                <a:solidFill>
                  <a:srgbClr val="ff0000"/>
                </a:solidFill>
                <a:latin typeface="Rockwell"/>
              </a:rPr>
              <a:t>Mode octal :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*   Basé sur des nombres de 0 à 7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*  A chaque bit de la traduction binaire correspond un droit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*  Exemple ( rw- rw- r-- ) : </a:t>
            </a:r>
            <a:endParaRPr b="0" lang="fr-FR" sz="2000" spc="-1" strike="noStrike">
              <a:latin typeface="Arial"/>
            </a:endParaRPr>
          </a:p>
        </p:txBody>
      </p:sp>
      <p:pic>
        <p:nvPicPr>
          <p:cNvPr id="134" name="Picture 2" descr="C:\Users\asus\Desktop\choix2.PNG"/>
          <p:cNvPicPr/>
          <p:nvPr/>
        </p:nvPicPr>
        <p:blipFill>
          <a:blip r:embed="rId1"/>
          <a:srcRect l="0" t="0" r="55206" b="0"/>
          <a:stretch/>
        </p:blipFill>
        <p:spPr>
          <a:xfrm>
            <a:off x="6764400" y="4071960"/>
            <a:ext cx="2378160" cy="63396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3" descr="C:\Users\asus\Desktop\aaure.PNG"/>
          <p:cNvPicPr/>
          <p:nvPr/>
        </p:nvPicPr>
        <p:blipFill>
          <a:blip r:embed="rId2"/>
          <a:stretch/>
        </p:blipFill>
        <p:spPr>
          <a:xfrm>
            <a:off x="3621240" y="6288480"/>
            <a:ext cx="2961360" cy="3985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BD12958-A9E3-4922-A4D5-61E6C52C27D1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98600" y="24228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Mode octal de chmod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201600" y="1038600"/>
            <a:ext cx="8940960" cy="58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Les droits sont représentés par un nombre octal (Base 8)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 De 1 à 7 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 La représentation binaire (base 2) donne le détail des droits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</p:txBody>
      </p:sp>
      <p:pic>
        <p:nvPicPr>
          <p:cNvPr id="138" name="Picture 2" descr="C:\Users\asus\Desktop\2Capture.PNG"/>
          <p:cNvPicPr/>
          <p:nvPr/>
        </p:nvPicPr>
        <p:blipFill>
          <a:blip r:embed="rId1"/>
          <a:stretch/>
        </p:blipFill>
        <p:spPr>
          <a:xfrm>
            <a:off x="1414080" y="3035880"/>
            <a:ext cx="6314400" cy="1484640"/>
          </a:xfrm>
          <a:prstGeom prst="rect">
            <a:avLst/>
          </a:prstGeom>
          <a:ln w="0">
            <a:noFill/>
          </a:ln>
        </p:spPr>
      </p:pic>
      <p:sp>
        <p:nvSpPr>
          <p:cNvPr id="139" name="Rectangle 6"/>
          <p:cNvSpPr/>
          <p:nvPr/>
        </p:nvSpPr>
        <p:spPr>
          <a:xfrm>
            <a:off x="361080" y="4521960"/>
            <a:ext cx="84970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50000"/>
              </a:lnSpc>
              <a:buClr>
                <a:srgbClr val="663366"/>
              </a:buClr>
              <a:buSzPct val="120000"/>
              <a:buFont typeface="Wingdings" charset="2"/>
              <a:buChar char="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  <a:ea typeface="DejaVu Sans"/>
              </a:rPr>
              <a:t>Ce mode permet de modifier tous les droits en même temps 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  <a:ea typeface="DejaVu Sans"/>
              </a:rPr>
              <a:t>   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ABEAD59-2A2E-47AE-95F5-1AFA4B7819F4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98600" y="160560"/>
            <a:ext cx="8247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3600" spc="-1" strike="noStrike">
                <a:solidFill>
                  <a:schemeClr val="accent1"/>
                </a:solidFill>
                <a:latin typeface="Rockwell"/>
              </a:rPr>
              <a:t>Exemples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41" name="Rectangle 7"/>
          <p:cNvSpPr/>
          <p:nvPr/>
        </p:nvSpPr>
        <p:spPr>
          <a:xfrm>
            <a:off x="192600" y="1531800"/>
            <a:ext cx="865728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algn="just">
              <a:lnSpc>
                <a:spcPct val="150000"/>
              </a:lnSpc>
              <a:buClr>
                <a:srgbClr val="75367a"/>
              </a:buClr>
              <a:buSzPct val="106000"/>
              <a:buFont typeface="Wingdings" charset="2"/>
              <a:buChar char=""/>
            </a:pPr>
            <a:r>
              <a:rPr b="1" lang="fr-FR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2400" spc="-1" strike="noStrike">
                <a:solidFill>
                  <a:srgbClr val="000000"/>
                </a:solidFill>
                <a:latin typeface="Arial"/>
                <a:ea typeface="DejaVu Sans"/>
              </a:rPr>
              <a:t>Droits en écriture pour le  propriétaire: 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150000"/>
              </a:lnSpc>
            </a:pPr>
            <a:endParaRPr b="0" lang="fr-FR" sz="2400" spc="-1" strike="noStrike">
              <a:latin typeface="Arial"/>
            </a:endParaRPr>
          </a:p>
          <a:p>
            <a:pPr marL="216000" indent="-216000" algn="just">
              <a:lnSpc>
                <a:spcPct val="150000"/>
              </a:lnSpc>
              <a:buClr>
                <a:srgbClr val="75367a"/>
              </a:buClr>
              <a:buSzPct val="106000"/>
              <a:buFont typeface="Wingdings" charset="2"/>
              <a:buChar char=""/>
            </a:pPr>
            <a:r>
              <a:rPr b="1" lang="fr-FR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2400" spc="-1" strike="noStrike">
                <a:solidFill>
                  <a:srgbClr val="000000"/>
                </a:solidFill>
                <a:latin typeface="Arial"/>
                <a:ea typeface="DejaVu Sans"/>
              </a:rPr>
              <a:t>Droits en lecture pour le groupe: 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150000"/>
              </a:lnSpc>
            </a:pPr>
            <a:endParaRPr b="0" lang="fr-FR" sz="2400" spc="-1" strike="noStrike">
              <a:latin typeface="Arial"/>
            </a:endParaRPr>
          </a:p>
          <a:p>
            <a:pPr marL="216000" indent="-216000" algn="just">
              <a:lnSpc>
                <a:spcPct val="150000"/>
              </a:lnSpc>
              <a:buClr>
                <a:srgbClr val="75367a"/>
              </a:buClr>
              <a:buSzPct val="106000"/>
              <a:buFont typeface="Wingdings" charset="2"/>
              <a:buChar char=""/>
            </a:pPr>
            <a:r>
              <a:rPr b="1" lang="fr-FR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2400" spc="-1" strike="noStrike">
                <a:solidFill>
                  <a:srgbClr val="000000"/>
                </a:solidFill>
                <a:latin typeface="Arial"/>
                <a:ea typeface="DejaVu Sans"/>
              </a:rPr>
              <a:t>Droits d’exécution pour les autres utilisateurs: 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150000"/>
              </a:lnSpc>
            </a:pPr>
            <a:endParaRPr b="0" lang="fr-FR" sz="2400" spc="-1" strike="noStrike">
              <a:latin typeface="Arial"/>
            </a:endParaRPr>
          </a:p>
          <a:p>
            <a:pPr marL="216000" indent="-216000" algn="just">
              <a:lnSpc>
                <a:spcPct val="150000"/>
              </a:lnSpc>
              <a:buClr>
                <a:srgbClr val="75367a"/>
              </a:buClr>
              <a:buSzPct val="106000"/>
              <a:buFont typeface="Wingdings" charset="2"/>
              <a:buChar char=""/>
            </a:pPr>
            <a:r>
              <a:rPr b="1" lang="fr-FR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2400" spc="-1" strike="noStrike">
                <a:solidFill>
                  <a:srgbClr val="000000"/>
                </a:solidFill>
                <a:latin typeface="Arial"/>
                <a:ea typeface="DejaVu Sans"/>
              </a:rPr>
              <a:t>Droits de lecture et écriture attribués à tout le monde: 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150000"/>
              </a:lnSpc>
            </a:pPr>
            <a:endParaRPr b="0" lang="fr-FR" sz="2400" spc="-1" strike="noStrike">
              <a:latin typeface="Arial"/>
            </a:endParaRPr>
          </a:p>
        </p:txBody>
      </p:sp>
      <p:pic>
        <p:nvPicPr>
          <p:cNvPr id="142" name="Image 6" descr=""/>
          <p:cNvPicPr/>
          <p:nvPr/>
        </p:nvPicPr>
        <p:blipFill>
          <a:blip r:embed="rId1"/>
          <a:stretch/>
        </p:blipFill>
        <p:spPr>
          <a:xfrm>
            <a:off x="2295000" y="2181960"/>
            <a:ext cx="2484720" cy="484200"/>
          </a:xfrm>
          <a:prstGeom prst="rect">
            <a:avLst/>
          </a:prstGeom>
          <a:ln w="0">
            <a:noFill/>
          </a:ln>
        </p:spPr>
      </p:pic>
      <p:pic>
        <p:nvPicPr>
          <p:cNvPr id="143" name="Image 8" descr=""/>
          <p:cNvPicPr/>
          <p:nvPr/>
        </p:nvPicPr>
        <p:blipFill>
          <a:blip r:embed="rId2"/>
          <a:stretch/>
        </p:blipFill>
        <p:spPr>
          <a:xfrm>
            <a:off x="2618280" y="3273120"/>
            <a:ext cx="2532240" cy="370080"/>
          </a:xfrm>
          <a:prstGeom prst="rect">
            <a:avLst/>
          </a:prstGeom>
          <a:ln w="0">
            <a:noFill/>
          </a:ln>
        </p:spPr>
      </p:pic>
      <p:pic>
        <p:nvPicPr>
          <p:cNvPr id="144" name="Image 9" descr=""/>
          <p:cNvPicPr/>
          <p:nvPr/>
        </p:nvPicPr>
        <p:blipFill>
          <a:blip r:embed="rId3"/>
          <a:stretch/>
        </p:blipFill>
        <p:spPr>
          <a:xfrm>
            <a:off x="3211200" y="4390920"/>
            <a:ext cx="2103480" cy="436680"/>
          </a:xfrm>
          <a:prstGeom prst="rect">
            <a:avLst/>
          </a:prstGeom>
          <a:ln w="0">
            <a:noFill/>
          </a:ln>
        </p:spPr>
      </p:pic>
      <p:pic>
        <p:nvPicPr>
          <p:cNvPr id="145" name="Image 10" descr=""/>
          <p:cNvPicPr/>
          <p:nvPr/>
        </p:nvPicPr>
        <p:blipFill>
          <a:blip r:embed="rId4"/>
          <a:stretch/>
        </p:blipFill>
        <p:spPr>
          <a:xfrm>
            <a:off x="2437560" y="5697720"/>
            <a:ext cx="2713320" cy="446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12C8BCD-2D8B-4CD9-A2E9-898AB757FB13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250200" y="242280"/>
            <a:ext cx="88923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Modifier l’appartenance avec chown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250200" y="903240"/>
            <a:ext cx="7803360" cy="522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000"/>
          </a:bodyPr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La commande « chown » (Change owner) permet de changer l’appartenance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 Pour le propriétaire ou le groupe propriétaire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120000"/>
              <a:buFont typeface="Wingdings" charset="2"/>
              <a:buChar char="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Syntaxe :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120000"/>
              <a:buFont typeface="Wingdings" charset="2"/>
              <a:buChar char="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Modification du propriétaire (paul)</a:t>
            </a:r>
            <a:endParaRPr b="0" lang="fr-FR" sz="2000" spc="-1" strike="noStrike"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120000"/>
              <a:buFont typeface="Wingdings" charset="2"/>
              <a:buChar char="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Modification du groupe propriétaire (compta)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120000"/>
              <a:buFont typeface="Wingdings" charset="2"/>
              <a:buChar char="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Modification du propriétaire (jean) et du groupe (direction)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•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Pour tout le contenu du répertoire (Option R - récursif)</a:t>
            </a:r>
            <a:endParaRPr b="0" lang="fr-FR" sz="2000" spc="-1" strike="noStrike">
              <a:latin typeface="Arial"/>
            </a:endParaRPr>
          </a:p>
        </p:txBody>
      </p:sp>
      <p:pic>
        <p:nvPicPr>
          <p:cNvPr id="148" name="Picture 2" descr="C:\Users\asus\Desktop\1Capture.PNG"/>
          <p:cNvPicPr/>
          <p:nvPr/>
        </p:nvPicPr>
        <p:blipFill>
          <a:blip r:embed="rId1"/>
          <a:stretch/>
        </p:blipFill>
        <p:spPr>
          <a:xfrm>
            <a:off x="605160" y="2771640"/>
            <a:ext cx="7448040" cy="436680"/>
          </a:xfrm>
          <a:prstGeom prst="rect">
            <a:avLst/>
          </a:prstGeom>
          <a:ln w="0">
            <a:noFill/>
          </a:ln>
        </p:spPr>
      </p:pic>
      <p:sp>
        <p:nvSpPr>
          <p:cNvPr id="149" name="Rectangle 6"/>
          <p:cNvSpPr/>
          <p:nvPr/>
        </p:nvSpPr>
        <p:spPr>
          <a:xfrm>
            <a:off x="145800" y="3228840"/>
            <a:ext cx="1873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  <a:ea typeface="DejaVu Sans"/>
              </a:rPr>
              <a:t>Exemples :</a:t>
            </a:r>
            <a:endParaRPr b="0" lang="fr-FR" sz="2000" spc="-1" strike="noStrike">
              <a:latin typeface="Arial"/>
            </a:endParaRPr>
          </a:p>
        </p:txBody>
      </p:sp>
      <p:pic>
        <p:nvPicPr>
          <p:cNvPr id="150" name="Picture 3" descr="C:\Users\asus\Desktop\1Capture.PNG"/>
          <p:cNvPicPr/>
          <p:nvPr/>
        </p:nvPicPr>
        <p:blipFill>
          <a:blip r:embed="rId2"/>
          <a:stretch/>
        </p:blipFill>
        <p:spPr>
          <a:xfrm>
            <a:off x="770040" y="3871800"/>
            <a:ext cx="6857640" cy="48456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4" descr="C:\Users\asus\Desktop\1Capture.PNG"/>
          <p:cNvPicPr/>
          <p:nvPr/>
        </p:nvPicPr>
        <p:blipFill>
          <a:blip r:embed="rId3"/>
          <a:stretch/>
        </p:blipFill>
        <p:spPr>
          <a:xfrm>
            <a:off x="605160" y="4803480"/>
            <a:ext cx="6771960" cy="455760"/>
          </a:xfrm>
          <a:prstGeom prst="rect">
            <a:avLst/>
          </a:prstGeom>
          <a:ln w="0">
            <a:noFill/>
          </a:ln>
        </p:spPr>
      </p:pic>
      <p:pic>
        <p:nvPicPr>
          <p:cNvPr id="152" name="Picture 5" descr="C:\Users\asus\Desktop\1Capture.PNG"/>
          <p:cNvPicPr/>
          <p:nvPr/>
        </p:nvPicPr>
        <p:blipFill>
          <a:blip r:embed="rId4"/>
          <a:stretch/>
        </p:blipFill>
        <p:spPr>
          <a:xfrm>
            <a:off x="770040" y="6126120"/>
            <a:ext cx="6781320" cy="4939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45F48E3-8994-4E69-8EB3-D3EDC3102D0E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98600" y="14076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Les inodes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54" name="Espace réservé du contenu 2"/>
          <p:cNvSpPr/>
          <p:nvPr/>
        </p:nvSpPr>
        <p:spPr>
          <a:xfrm>
            <a:off x="146160" y="607320"/>
            <a:ext cx="8712360" cy="55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Un « inode » est une structure de données concernant un fichier</a:t>
            </a:r>
            <a:endParaRPr b="0" lang="fr-FR" sz="2400" spc="-1" strike="noStrike">
              <a:latin typeface="Aria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 chaque fichier, correspond un « inode » </a:t>
            </a:r>
            <a:endParaRPr b="0" lang="fr-FR" sz="2400" spc="-1" strike="noStrike">
              <a:latin typeface="Aria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Elle contient des informations sur :</a:t>
            </a:r>
            <a:endParaRPr b="0" lang="fr-FR" sz="2400" spc="-1" strike="noStrike">
              <a:latin typeface="Arial"/>
            </a:endParaRPr>
          </a:p>
          <a:p>
            <a:pPr lvl="2" marL="6858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Les droits, le propriétaire et le groupe</a:t>
            </a:r>
            <a:endParaRPr b="0" lang="fr-FR" sz="2400" spc="-1" strike="noStrike">
              <a:latin typeface="Arial"/>
            </a:endParaRPr>
          </a:p>
          <a:p>
            <a:pPr lvl="2" marL="6858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Date d’accès,  de création et de modification</a:t>
            </a:r>
            <a:endParaRPr b="0" lang="fr-FR" sz="2400" spc="-1" strike="noStrike">
              <a:latin typeface="Arial"/>
            </a:endParaRPr>
          </a:p>
          <a:p>
            <a:pPr lvl="2" marL="6858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l’emplacement du fichier sur le support de stockage (bloc de données)</a:t>
            </a:r>
            <a:endParaRPr b="0" lang="fr-FR" sz="2400" spc="-1" strike="noStrike">
              <a:latin typeface="Aria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Pour connaître l’inode d’un fichier, la commande « ls » avec l’option « -i ». 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55" name="Rectangle 6"/>
          <p:cNvSpPr/>
          <p:nvPr/>
        </p:nvSpPr>
        <p:spPr>
          <a:xfrm>
            <a:off x="1287360" y="5500800"/>
            <a:ext cx="7570800" cy="1070280"/>
          </a:xfrm>
          <a:prstGeom prst="rect">
            <a:avLst/>
          </a:prstGeom>
          <a:solidFill>
            <a:srgbClr val="ffffff"/>
          </a:solidFill>
          <a:ln>
            <a:solidFill>
              <a:srgbClr val="ffc000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wrap="none" lIns="72000" rIns="72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Lucida Console"/>
                <a:ea typeface="DejaVu Sans"/>
              </a:rPr>
              <a:t>rout@fredon:~/Documents/essais$ </a:t>
            </a:r>
            <a:r>
              <a:rPr b="1" lang="fr-FR" sz="1200" spc="-1" strike="noStrike">
                <a:solidFill>
                  <a:srgbClr val="000000"/>
                </a:solidFill>
                <a:latin typeface="Lucida Console"/>
                <a:ea typeface="DejaVu Sans"/>
              </a:rPr>
              <a:t>ls -il /home/rout/Documents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Lucida Console"/>
                <a:ea typeface="DejaVu Sans"/>
              </a:rPr>
              <a:t>total 12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Lucida Console"/>
                <a:ea typeface="DejaVu Sans"/>
              </a:rPr>
              <a:t>  </a:t>
            </a:r>
            <a:r>
              <a:rPr b="1" lang="fr-FR" sz="1200" spc="-1" strike="noStrike">
                <a:solidFill>
                  <a:srgbClr val="000000"/>
                </a:solidFill>
                <a:latin typeface="Lucida Console"/>
                <a:ea typeface="DejaVu Sans"/>
              </a:rPr>
              <a:t>8246</a:t>
            </a:r>
            <a:r>
              <a:rPr b="0" lang="fr-FR" sz="1200" spc="-1" strike="noStrike">
                <a:solidFill>
                  <a:srgbClr val="000000"/>
                </a:solidFill>
                <a:latin typeface="Lucida Console"/>
                <a:ea typeface="DejaVu Sans"/>
              </a:rPr>
              <a:t> drwxr-xr-x 2 rout rout 4096 2008-08-25 15:08 essais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Lucida Console"/>
                <a:ea typeface="DejaVu Sans"/>
              </a:rPr>
              <a:t>467165</a:t>
            </a:r>
            <a:r>
              <a:rPr b="0" lang="fr-FR" sz="1200" spc="-1" strike="noStrike">
                <a:solidFill>
                  <a:srgbClr val="000000"/>
                </a:solidFill>
                <a:latin typeface="Lucida Console"/>
                <a:ea typeface="DejaVu Sans"/>
              </a:rPr>
              <a:t> drwxr-xr-x 3 rout rout 4096 2008-06-02 14:20 software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Lucida Console"/>
                <a:ea typeface="DejaVu Sans"/>
              </a:rPr>
              <a:t>475969</a:t>
            </a:r>
            <a:r>
              <a:rPr b="0" lang="fr-FR" sz="1200" spc="-1" strike="noStrike">
                <a:solidFill>
                  <a:srgbClr val="000000"/>
                </a:solidFill>
                <a:latin typeface="Lucida Console"/>
                <a:ea typeface="DejaVu Sans"/>
              </a:rPr>
              <a:t> drwxr-xr-x 3 rout rout 4096 2008-07-29 15:54 vmware-tools 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56" name="Rectangle 7"/>
          <p:cNvSpPr/>
          <p:nvPr/>
        </p:nvSpPr>
        <p:spPr>
          <a:xfrm>
            <a:off x="1287360" y="6572160"/>
            <a:ext cx="1641600" cy="284400"/>
          </a:xfrm>
          <a:prstGeom prst="wedgeRectCallout">
            <a:avLst>
              <a:gd name="adj1" fmla="val -29207"/>
              <a:gd name="adj2" fmla="val -110072"/>
            </a:avLst>
          </a:prstGeom>
          <a:gradFill rotWithShape="0">
            <a:gsLst>
              <a:gs pos="0">
                <a:srgbClr val="6d6c00"/>
              </a:gs>
              <a:gs pos="100000">
                <a:srgbClr val="dad880"/>
              </a:gs>
            </a:gsLst>
            <a:lin ang="6000000"/>
          </a:gradFill>
          <a:ln>
            <a:solidFill>
              <a:srgbClr val="9f9d00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inode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2A00C33-928E-441E-A709-3989E5A0D28C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98600" y="4932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Les liens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0" y="779040"/>
            <a:ext cx="9492480" cy="55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Un lien est un type spécial de fichier qui fait référence à un autre fichier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Axe central du fonctionnement de Linux, le lien permet :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 De créer des raccourcis vers des fichiers existants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     •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La compatibilité des logiciels entre les distributions Linux est  assurée par les liens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-D’éviter de stocker plusieurs fois le même fichier dans des répertoires différents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85A50D3-30C0-4C64-9640-E57F8FBD9F54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104760" y="1451160"/>
            <a:ext cx="9029880" cy="44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    🟢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C’est un autre nom pour le même fichier.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    🟢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Le lien physique pointe directement vers le même inode.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    🟢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Donc : contenu identique, permissions identiques.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    🟢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Si l’un des deux est supprimé, l’autre continue d’exister (tant qu’il reste au 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       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moins un lien vers cet inode).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60" name="PlaceHolder 4"/>
          <p:cNvSpPr/>
          <p:nvPr/>
        </p:nvSpPr>
        <p:spPr>
          <a:xfrm>
            <a:off x="498600" y="162360"/>
            <a:ext cx="755496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  <a:ea typeface="DejaVu Sans"/>
              </a:rPr>
              <a:t>Les liens physiques</a:t>
            </a:r>
            <a:endParaRPr b="0" lang="fr-FR" sz="3600" spc="-1" strike="noStrike"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349920" y="2357640"/>
            <a:ext cx="3249360" cy="19404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5054530-E466-4026-BA67-3798E81E885B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676080" y="2336400"/>
            <a:ext cx="6343200" cy="3494880"/>
          </a:xfrm>
          <a:prstGeom prst="rect">
            <a:avLst/>
          </a:prstGeom>
          <a:ln w="0">
            <a:noFill/>
          </a:ln>
        </p:spPr>
      </p:pic>
      <p:sp>
        <p:nvSpPr>
          <p:cNvPr id="163" name=""/>
          <p:cNvSpPr/>
          <p:nvPr/>
        </p:nvSpPr>
        <p:spPr>
          <a:xfrm>
            <a:off x="792000" y="1440000"/>
            <a:ext cx="3599280" cy="539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solidFill>
              <a:srgbClr val="331a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2400" spc="-1" strike="noStrike">
                <a:solidFill>
                  <a:srgbClr val="ffffff"/>
                </a:solidFill>
                <a:latin typeface="Arial"/>
                <a:ea typeface="DejaVu Sans"/>
              </a:rPr>
              <a:t>Exemple :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64" name="PlaceHolder 5"/>
          <p:cNvSpPr/>
          <p:nvPr/>
        </p:nvSpPr>
        <p:spPr>
          <a:xfrm>
            <a:off x="498600" y="144720"/>
            <a:ext cx="755496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  <a:ea typeface="DejaVu Sans"/>
              </a:rPr>
              <a:t>Les liens physiques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86305B0-90C5-4857-935D-341C3D068B0C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98600" y="16236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Les liens physiques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201600" y="959400"/>
            <a:ext cx="8656560" cy="5827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Un lien physique est associé à un emplacement sur le support de stockage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 Similaire à la notion de pointeurs du langage C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-Deux liens physiques sont considérés comme deux fichiers indépendants (même si leur contenu est au même emplacement sur le support)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120000"/>
              <a:buFont typeface="Wingdings" charset="2"/>
              <a:buChar char="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Créer un lien physique avec la commande « ln » :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</p:txBody>
      </p:sp>
      <p:pic>
        <p:nvPicPr>
          <p:cNvPr id="167" name="Picture 2" descr="C:\Users\asus\Desktop\1Capture.PNG"/>
          <p:cNvPicPr/>
          <p:nvPr/>
        </p:nvPicPr>
        <p:blipFill>
          <a:blip r:embed="rId1"/>
          <a:stretch/>
        </p:blipFill>
        <p:spPr>
          <a:xfrm>
            <a:off x="618480" y="4295880"/>
            <a:ext cx="7905240" cy="2170440"/>
          </a:xfrm>
          <a:prstGeom prst="rect">
            <a:avLst/>
          </a:prstGeom>
          <a:ln w="0">
            <a:noFill/>
          </a:ln>
        </p:spPr>
      </p:pic>
      <p:sp>
        <p:nvSpPr>
          <p:cNvPr id="168" name="ZoneTexte 6"/>
          <p:cNvSpPr/>
          <p:nvPr/>
        </p:nvSpPr>
        <p:spPr>
          <a:xfrm>
            <a:off x="7563600" y="3926520"/>
            <a:ext cx="144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0000"/>
                </a:solidFill>
                <a:latin typeface="Rockwell"/>
                <a:ea typeface="DejaVu Sans"/>
              </a:rPr>
              <a:t>Nom fichier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50BCC56-73B7-461F-B52F-6784BDCA4E86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-118080" y="3600000"/>
            <a:ext cx="3537360" cy="2663280"/>
          </a:xfrm>
          <a:prstGeom prst="rect">
            <a:avLst/>
          </a:prstGeom>
          <a:ln w="0">
            <a:noFill/>
          </a:ln>
        </p:spPr>
      </p:pic>
      <p:sp>
        <p:nvSpPr>
          <p:cNvPr id="170" name=""/>
          <p:cNvSpPr/>
          <p:nvPr/>
        </p:nvSpPr>
        <p:spPr>
          <a:xfrm>
            <a:off x="0" y="1080000"/>
            <a:ext cx="8099280" cy="21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🟢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C’est comme un raccourci (il pointe vers le nom du fichier, pas vers son 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 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inode).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🟢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Le lien symbolique a son propre inode, qui contient juste le chemin vers le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 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fichier original.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🟢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Si le fichier original est supprimé ou déplacé → le lien symbolique est 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     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"cassé".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71" name="PlaceHolder 6"/>
          <p:cNvSpPr/>
          <p:nvPr/>
        </p:nvSpPr>
        <p:spPr>
          <a:xfrm>
            <a:off x="720000" y="180000"/>
            <a:ext cx="755496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  <a:ea typeface="DejaVu Sans"/>
              </a:rPr>
              <a:t>Les liens symboliques</a:t>
            </a:r>
            <a:endParaRPr b="0" lang="fr-FR" sz="3600" spc="-1" strike="noStrike">
              <a:latin typeface="Arial"/>
            </a:endParaRPr>
          </a:p>
        </p:txBody>
      </p:sp>
      <p:pic>
        <p:nvPicPr>
          <p:cNvPr id="172" name="" descr=""/>
          <p:cNvPicPr/>
          <p:nvPr/>
        </p:nvPicPr>
        <p:blipFill>
          <a:blip r:embed="rId2"/>
          <a:stretch/>
        </p:blipFill>
        <p:spPr>
          <a:xfrm>
            <a:off x="3027240" y="3218040"/>
            <a:ext cx="5792040" cy="32173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F7D441F-5CEC-490E-90D1-BCA429BBC488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600840" y="3780000"/>
            <a:ext cx="3059280" cy="1290960"/>
          </a:xfrm>
          <a:prstGeom prst="rect">
            <a:avLst/>
          </a:prstGeom>
          <a:ln w="0">
            <a:noFill/>
          </a:ln>
        </p:spPr>
      </p:pic>
      <p:pic>
        <p:nvPicPr>
          <p:cNvPr id="174" name="" descr=""/>
          <p:cNvPicPr/>
          <p:nvPr/>
        </p:nvPicPr>
        <p:blipFill>
          <a:blip r:embed="rId2"/>
          <a:stretch/>
        </p:blipFill>
        <p:spPr>
          <a:xfrm>
            <a:off x="554760" y="720000"/>
            <a:ext cx="4304520" cy="1398960"/>
          </a:xfrm>
          <a:prstGeom prst="rect">
            <a:avLst/>
          </a:prstGeom>
          <a:ln w="0">
            <a:noFill/>
          </a:ln>
        </p:spPr>
      </p:pic>
      <p:pic>
        <p:nvPicPr>
          <p:cNvPr id="175" name="" descr=""/>
          <p:cNvPicPr/>
          <p:nvPr/>
        </p:nvPicPr>
        <p:blipFill>
          <a:blip r:embed="rId3"/>
          <a:stretch/>
        </p:blipFill>
        <p:spPr>
          <a:xfrm>
            <a:off x="507960" y="1831680"/>
            <a:ext cx="7591320" cy="1161000"/>
          </a:xfrm>
          <a:prstGeom prst="rect">
            <a:avLst/>
          </a:prstGeom>
          <a:ln w="0">
            <a:noFill/>
          </a:ln>
        </p:spPr>
      </p:pic>
      <p:pic>
        <p:nvPicPr>
          <p:cNvPr id="176" name="" descr=""/>
          <p:cNvPicPr/>
          <p:nvPr/>
        </p:nvPicPr>
        <p:blipFill>
          <a:blip r:embed="rId4"/>
          <a:stretch/>
        </p:blipFill>
        <p:spPr>
          <a:xfrm>
            <a:off x="600840" y="2811600"/>
            <a:ext cx="7677000" cy="111348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5"/>
          <a:stretch/>
        </p:blipFill>
        <p:spPr>
          <a:xfrm>
            <a:off x="502200" y="4860000"/>
            <a:ext cx="5066640" cy="1408680"/>
          </a:xfrm>
          <a:prstGeom prst="rect">
            <a:avLst/>
          </a:prstGeom>
          <a:ln w="0">
            <a:noFill/>
          </a:ln>
        </p:spPr>
      </p:pic>
      <p:sp>
        <p:nvSpPr>
          <p:cNvPr id="178" name=""/>
          <p:cNvSpPr/>
          <p:nvPr/>
        </p:nvSpPr>
        <p:spPr>
          <a:xfrm>
            <a:off x="684000" y="144000"/>
            <a:ext cx="3599280" cy="539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solidFill>
              <a:srgbClr val="331a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2400" spc="-1" strike="noStrike">
                <a:solidFill>
                  <a:srgbClr val="ffffff"/>
                </a:solidFill>
                <a:latin typeface="Arial"/>
                <a:ea typeface="DejaVu Sans"/>
              </a:rPr>
              <a:t>Exemple :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CE0B219-4EDF-4B92-92F1-8459B16300FC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309960" y="720000"/>
            <a:ext cx="7429320" cy="368532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376200" y="4348440"/>
            <a:ext cx="8486640" cy="10944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C86465F-4E8B-4852-B7B8-B5DA855265C2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360000" y="803880"/>
            <a:ext cx="7229160" cy="54954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9DDC45A-CF6E-4C46-B0C7-B4B34AAB52CD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98600" y="242280"/>
            <a:ext cx="755496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Les liens symboliques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203040" y="1027440"/>
            <a:ext cx="8655120" cy="558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Le lien symbolique est une référence vers un fichier cible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 Lorsque le fichier cible est effacé, le lien est rompu </a:t>
            </a: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    </a:t>
            </a: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- Lorsque le lien est effacé, le fichier cible n’est pas effacé</a:t>
            </a: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Exemple</a:t>
            </a:r>
            <a:endParaRPr b="0" lang="fr-FR" sz="2000" spc="-1" strike="noStrike"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Rockwell"/>
              </a:rPr>
              <a:t>La commande « ln » avec l’option « -s » est utilisée pour créer un lien symbolique</a:t>
            </a:r>
            <a:endParaRPr b="0" lang="fr-FR" sz="2000" spc="-1" strike="noStrike"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</p:txBody>
      </p:sp>
      <p:pic>
        <p:nvPicPr>
          <p:cNvPr id="184" name="Picture 2" descr="C:\Users\asus\Desktop\1Capture.PNG"/>
          <p:cNvPicPr/>
          <p:nvPr/>
        </p:nvPicPr>
        <p:blipFill>
          <a:blip r:embed="rId1"/>
          <a:stretch/>
        </p:blipFill>
        <p:spPr>
          <a:xfrm>
            <a:off x="498600" y="3034440"/>
            <a:ext cx="7714800" cy="1713240"/>
          </a:xfrm>
          <a:prstGeom prst="rect">
            <a:avLst/>
          </a:prstGeom>
          <a:ln w="0">
            <a:noFill/>
          </a:ln>
        </p:spPr>
      </p:pic>
      <p:pic>
        <p:nvPicPr>
          <p:cNvPr id="185" name="Picture 3" descr="C:\Users\asus\Desktop\1Capture.PNG"/>
          <p:cNvPicPr/>
          <p:nvPr/>
        </p:nvPicPr>
        <p:blipFill>
          <a:blip r:embed="rId2"/>
          <a:stretch/>
        </p:blipFill>
        <p:spPr>
          <a:xfrm>
            <a:off x="498600" y="5548320"/>
            <a:ext cx="7838640" cy="10656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0A18D63-55EF-42C5-B355-F4E8589D98EA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152280" y="1620000"/>
            <a:ext cx="9207000" cy="305928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B4E5FF2-5DBF-410A-9BB5-53704AF3B0B7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/>
          </p:nvPr>
        </p:nvSpPr>
        <p:spPr>
          <a:xfrm>
            <a:off x="498600" y="1981080"/>
            <a:ext cx="7554960" cy="41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fr-FR" sz="2000" spc="-1" strike="noStrike"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595959"/>
                </a:solidFill>
                <a:latin typeface="Rockwell"/>
              </a:rPr>
              <a:t>Merci</a:t>
            </a:r>
            <a:endParaRPr b="0" lang="fr-FR" sz="5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D48583E-0DE5-4E1F-8AE6-B4A15187B955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Advantage">
  <a:themeElements>
    <a:clrScheme name="Advantage">
      <a:dk1>
        <a:srgbClr val="000000"/>
      </a:dk1>
      <a:lt1>
        <a:srgbClr val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Advantage">
  <a:themeElements>
    <a:clrScheme name="Advantage">
      <a:dk1>
        <a:srgbClr val="000000"/>
      </a:dk1>
      <a:lt1>
        <a:srgbClr val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7849</TotalTime>
  <Application>View_PPTX_PLUS/7.4.0.3$Windows_X86_64 LibreOffice_project/</Application>
  <AppVersion>15.0000</AppVersion>
  <Words>1634</Words>
  <Paragraphs>252</Paragraphs>
  <Company>supcom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2015-10-17T14:33:24Z</dcterms:created>
  <dc:creator>imen abidi</dc:creator>
  <dc:description/>
  <dc:language>fr-FR</dc:language>
  <cp:lastModifiedBy/>
  <dcterms:modified xsi:type="dcterms:W3CDTF">2025-10-06T15:24:26Z</dcterms:modified>
  <cp:revision>291</cp:revision>
  <dc:subject/>
  <dc:title>Imen Abidi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Affichage à l'écran (4:3)</vt:lpwstr>
  </property>
  <property fmtid="{D5CDD505-2E9C-101B-9397-08002B2CF9AE}" pid="4" name="Slides">
    <vt:i4>23</vt:i4>
  </property>
</Properties>
</file>