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4" r:id="rId4"/>
    <p:sldId id="258" r:id="rId5"/>
    <p:sldId id="259" r:id="rId6"/>
    <p:sldId id="290" r:id="rId7"/>
    <p:sldId id="260" r:id="rId8"/>
    <p:sldId id="261" r:id="rId9"/>
    <p:sldId id="262" r:id="rId10"/>
    <p:sldId id="309" r:id="rId11"/>
    <p:sldId id="301" r:id="rId12"/>
    <p:sldId id="302" r:id="rId13"/>
    <p:sldId id="304" r:id="rId14"/>
    <p:sldId id="305" r:id="rId15"/>
    <p:sldId id="306" r:id="rId16"/>
    <p:sldId id="308" r:id="rId17"/>
    <p:sldId id="310" r:id="rId18"/>
    <p:sldId id="316" r:id="rId19"/>
    <p:sldId id="317" r:id="rId20"/>
    <p:sldId id="358" r:id="rId21"/>
    <p:sldId id="322" r:id="rId22"/>
    <p:sldId id="323" r:id="rId23"/>
    <p:sldId id="326" r:id="rId24"/>
    <p:sldId id="330" r:id="rId25"/>
    <p:sldId id="336" r:id="rId26"/>
    <p:sldId id="359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>
        <p:scale>
          <a:sx n="59" d="100"/>
          <a:sy n="59" d="100"/>
        </p:scale>
        <p:origin x="590" y="4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17168-7C5E-471D-B2BD-3D79CDFA250C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20BEE-C3FF-4358-B315-2EDF4CDCB8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4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920BEE-C3FF-4358-B315-2EDF4CDCB833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81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A31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A31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1A31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6531" y="457200"/>
            <a:ext cx="3703320" cy="94615"/>
          </a:xfrm>
          <a:custGeom>
            <a:avLst/>
            <a:gdLst/>
            <a:ahLst/>
            <a:cxnLst/>
            <a:rect l="l" t="t" r="r" b="b"/>
            <a:pathLst>
              <a:path w="3703320" h="94615">
                <a:moveTo>
                  <a:pt x="3703320" y="0"/>
                </a:moveTo>
                <a:lnTo>
                  <a:pt x="0" y="0"/>
                </a:lnTo>
                <a:lnTo>
                  <a:pt x="0" y="94487"/>
                </a:lnTo>
                <a:lnTo>
                  <a:pt x="3703320" y="94487"/>
                </a:lnTo>
                <a:lnTo>
                  <a:pt x="37033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42147" y="454151"/>
            <a:ext cx="3703320" cy="97790"/>
          </a:xfrm>
          <a:custGeom>
            <a:avLst/>
            <a:gdLst/>
            <a:ahLst/>
            <a:cxnLst/>
            <a:rect l="l" t="t" r="r" b="b"/>
            <a:pathLst>
              <a:path w="3703320" h="97790">
                <a:moveTo>
                  <a:pt x="3703320" y="0"/>
                </a:moveTo>
                <a:lnTo>
                  <a:pt x="0" y="0"/>
                </a:lnTo>
                <a:lnTo>
                  <a:pt x="0" y="97536"/>
                </a:lnTo>
                <a:lnTo>
                  <a:pt x="3703320" y="97536"/>
                </a:lnTo>
                <a:lnTo>
                  <a:pt x="3703320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41291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3703320" h="91440">
                <a:moveTo>
                  <a:pt x="3703319" y="0"/>
                </a:moveTo>
                <a:lnTo>
                  <a:pt x="0" y="0"/>
                </a:lnTo>
                <a:lnTo>
                  <a:pt x="0" y="91439"/>
                </a:lnTo>
                <a:lnTo>
                  <a:pt x="3703319" y="91439"/>
                </a:lnTo>
                <a:lnTo>
                  <a:pt x="3703319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1001" y="2029821"/>
            <a:ext cx="8349996" cy="304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409" y="2664205"/>
            <a:ext cx="11119485" cy="265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52600" y="2069597"/>
            <a:ext cx="8349996" cy="2873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10">
              <a:lnSpc>
                <a:spcPct val="150000"/>
              </a:lnSpc>
              <a:spcBef>
                <a:spcPts val="100"/>
              </a:spcBef>
            </a:pPr>
            <a:r>
              <a:rPr spc="-285" dirty="0" err="1"/>
              <a:t>Chapitre</a:t>
            </a:r>
            <a:r>
              <a:rPr spc="-215" dirty="0"/>
              <a:t> </a:t>
            </a:r>
            <a:r>
              <a:rPr lang="fr-FR" spc="-215" dirty="0"/>
              <a:t>5</a:t>
            </a:r>
            <a:r>
              <a:rPr spc="-335" dirty="0"/>
              <a:t> </a:t>
            </a:r>
            <a:r>
              <a:rPr spc="-994" dirty="0"/>
              <a:t>:</a:t>
            </a:r>
            <a:r>
              <a:rPr spc="-810" dirty="0"/>
              <a:t> </a:t>
            </a:r>
            <a:r>
              <a:rPr spc="-170" dirty="0"/>
              <a:t>Gestion</a:t>
            </a:r>
            <a:r>
              <a:rPr spc="-240" dirty="0"/>
              <a:t> </a:t>
            </a:r>
            <a:r>
              <a:rPr spc="-325" dirty="0"/>
              <a:t>des </a:t>
            </a:r>
            <a:r>
              <a:rPr spc="-365" dirty="0"/>
              <a:t>fichiers</a:t>
            </a:r>
            <a:r>
              <a:rPr spc="-130" dirty="0"/>
              <a:t> </a:t>
            </a:r>
            <a:r>
              <a:rPr spc="-370" dirty="0"/>
              <a:t>séquentiels</a:t>
            </a:r>
            <a:r>
              <a:rPr spc="-125" dirty="0"/>
              <a:t> </a:t>
            </a:r>
            <a:r>
              <a:rPr spc="-400" dirty="0"/>
              <a:t>en</a:t>
            </a:r>
            <a:r>
              <a:rPr spc="-125" dirty="0"/>
              <a:t> </a:t>
            </a:r>
            <a:r>
              <a:rPr spc="660" dirty="0"/>
              <a:t>C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90" y="1099331"/>
            <a:ext cx="3334101" cy="96289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9993" y="6050076"/>
            <a:ext cx="879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Trebuchet MS"/>
                <a:cs typeface="Trebuchet MS"/>
              </a:rPr>
              <a:t>DR.</a:t>
            </a:r>
            <a:r>
              <a:rPr sz="900" spc="2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590B8"/>
                </a:solidFill>
                <a:latin typeface="Trebuchet MS"/>
                <a:cs typeface="Trebuchet MS"/>
              </a:rPr>
              <a:t>SFAXI</a:t>
            </a:r>
            <a:r>
              <a:rPr sz="900" spc="2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590B8"/>
                </a:solidFill>
                <a:latin typeface="Trebuchet MS"/>
                <a:cs typeface="Trebuchet MS"/>
              </a:rPr>
              <a:t>SAIDA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49304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590B8"/>
                </a:solidFill>
                <a:latin typeface="Trebuchet MS"/>
                <a:cs typeface="Trebuchet MS"/>
              </a:rPr>
              <a:t>1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6830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2900"/>
              </a:spcBef>
            </a:pPr>
            <a:r>
              <a:rPr sz="2800" spc="60" dirty="0">
                <a:solidFill>
                  <a:srgbClr val="FFFFFF"/>
                </a:solidFill>
              </a:rPr>
              <a:t>INTRODUCTION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42315" y="6340246"/>
            <a:ext cx="847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Trebuchet MS"/>
                <a:cs typeface="Trebuchet MS"/>
              </a:rPr>
              <a:t>DR.SFAXI</a:t>
            </a:r>
            <a:r>
              <a:rPr sz="900" spc="7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590B8"/>
                </a:solidFill>
                <a:latin typeface="Trebuchet MS"/>
                <a:cs typeface="Trebuchet MS"/>
              </a:rPr>
              <a:t>SAIDA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9304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590B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843" y="1998805"/>
            <a:ext cx="10325735" cy="391767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200000"/>
              </a:lnSpc>
              <a:spcBef>
                <a:spcPts val="90"/>
              </a:spcBef>
            </a:pP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fichier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est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une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collection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organisée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données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stockées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de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manière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permanente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sur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un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support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stockage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tel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qu'un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disque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dur.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Contrairement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aux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variables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mémoire,</a:t>
            </a:r>
            <a:r>
              <a:rPr sz="2000" spc="-27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les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fichiers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permettent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conserver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les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données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même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après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l'arrêt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du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programme.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200000"/>
              </a:lnSpc>
              <a:spcBef>
                <a:spcPts val="1200"/>
              </a:spcBef>
            </a:pPr>
            <a:r>
              <a:rPr sz="2000" spc="-55" dirty="0">
                <a:latin typeface="Trebuchet MS"/>
                <a:cs typeface="Trebuchet MS"/>
              </a:rPr>
              <a:t>Les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fichiers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sont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essentiels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en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programmation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pour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355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2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14" dirty="0">
                <a:latin typeface="Trebuchet MS"/>
                <a:cs typeface="Trebuchet MS"/>
              </a:rPr>
              <a:t>La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persistance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des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données.</a:t>
            </a:r>
            <a:endParaRPr sz="2000" dirty="0">
              <a:latin typeface="Trebuchet MS"/>
              <a:cs typeface="Trebuchet MS"/>
            </a:endParaRPr>
          </a:p>
          <a:p>
            <a:pPr marL="12700" marR="1186180" indent="342265">
              <a:lnSpc>
                <a:spcPct val="2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14" dirty="0">
                <a:latin typeface="Trebuchet MS"/>
                <a:cs typeface="Trebuchet MS"/>
              </a:rPr>
              <a:t>La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gestion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et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le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partage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des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informations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entre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différentes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exécutions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programme. 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36830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2900"/>
              </a:spcBef>
            </a:pPr>
            <a:r>
              <a:rPr sz="2800" spc="60" dirty="0">
                <a:solidFill>
                  <a:srgbClr val="FFFFFF"/>
                </a:solidFill>
              </a:rPr>
              <a:t>INTRODUCTION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42315" y="6340246"/>
            <a:ext cx="847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Trebuchet MS"/>
                <a:cs typeface="Trebuchet MS"/>
              </a:rPr>
              <a:t>DR.SFAXI</a:t>
            </a:r>
            <a:r>
              <a:rPr sz="900" spc="75" dirty="0">
                <a:solidFill>
                  <a:srgbClr val="4590B8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590B8"/>
                </a:solidFill>
                <a:latin typeface="Trebuchet MS"/>
                <a:cs typeface="Trebuchet MS"/>
              </a:rPr>
              <a:t>SAIDA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49304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4590B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843" y="1998805"/>
            <a:ext cx="10325735" cy="8806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26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lang="fr-FR" sz="20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lang="fr-FR" sz="2000" spc="17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peut</a:t>
            </a:r>
            <a:r>
              <a:rPr lang="fr-FR" sz="2000" spc="1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imaginer</a:t>
            </a:r>
            <a:r>
              <a:rPr lang="fr-FR" sz="2000" spc="1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lang="fr-FR" sz="2000" spc="1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lang="fr-FR" sz="2000" spc="1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séquentiel</a:t>
            </a:r>
            <a:r>
              <a:rPr lang="fr-FR" sz="2000" spc="2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180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PERSONNE.TXT</a:t>
            </a:r>
            <a:r>
              <a:rPr lang="fr-FR" sz="1800" spc="17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lang="fr-FR" sz="2000" spc="1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spc="-10" dirty="0">
                <a:latin typeface="Gill Sans MT" panose="020B0502020104020203" pitchFamily="34" charset="0"/>
                <a:cs typeface="Times New Roman"/>
              </a:rPr>
              <a:t>champs</a:t>
            </a:r>
            <a:endParaRPr lang="fr-FR" sz="2000" dirty="0">
              <a:latin typeface="Gill Sans MT" panose="020B0502020104020203" pitchFamily="34" charset="0"/>
              <a:cs typeface="Times New Roman"/>
            </a:endParaRPr>
          </a:p>
          <a:p>
            <a:pPr marL="354965">
              <a:lnSpc>
                <a:spcPct val="150000"/>
              </a:lnSpc>
            </a:pPr>
            <a:r>
              <a:rPr lang="fr-FR" sz="2000" i="1" dirty="0" err="1">
                <a:solidFill>
                  <a:srgbClr val="0000CC"/>
                </a:solidFill>
                <a:latin typeface="Gill Sans MT" panose="020B0502020104020203" pitchFamily="34" charset="0"/>
                <a:cs typeface="Times New Roman"/>
              </a:rPr>
              <a:t>num</a:t>
            </a:r>
            <a:r>
              <a:rPr lang="fr-FR" sz="2000" i="1" spc="-90" dirty="0">
                <a:solidFill>
                  <a:srgbClr val="0000CC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et</a:t>
            </a:r>
            <a:r>
              <a:rPr lang="fr-FR" sz="20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i="1" dirty="0">
                <a:solidFill>
                  <a:srgbClr val="0000CC"/>
                </a:solidFill>
                <a:latin typeface="Gill Sans MT" panose="020B0502020104020203" pitchFamily="34" charset="0"/>
                <a:cs typeface="Times New Roman"/>
              </a:rPr>
              <a:t>nom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,</a:t>
            </a:r>
            <a:r>
              <a:rPr lang="fr-FR"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spc="-10" dirty="0">
                <a:latin typeface="Gill Sans MT" panose="020B0502020104020203" pitchFamily="34" charset="0"/>
                <a:cs typeface="Times New Roman"/>
              </a:rPr>
              <a:t>enregistré</a:t>
            </a:r>
            <a:r>
              <a:rPr lang="fr-FR"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spc="-30" dirty="0">
                <a:latin typeface="Gill Sans MT" panose="020B0502020104020203" pitchFamily="34" charset="0"/>
                <a:cs typeface="Times New Roman"/>
              </a:rPr>
              <a:t>sur</a:t>
            </a:r>
            <a:r>
              <a:rPr lang="fr-FR" sz="20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lang="fr-FR" sz="2000" spc="-6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mémoire</a:t>
            </a:r>
            <a:r>
              <a:rPr lang="fr-FR"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lang="fr-FR" sz="20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lang="fr-FR" sz="20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spc="-10" dirty="0">
                <a:latin typeface="Gill Sans MT" panose="020B0502020104020203" pitchFamily="34" charset="0"/>
                <a:cs typeface="Times New Roman"/>
              </a:rPr>
              <a:t>manière</a:t>
            </a:r>
            <a:r>
              <a:rPr lang="fr-FR"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2000" spc="-10" dirty="0">
                <a:latin typeface="Gill Sans MT" panose="020B0502020104020203" pitchFamily="34" charset="0"/>
                <a:cs typeface="Times New Roman"/>
              </a:rPr>
              <a:t>suivante:</a:t>
            </a:r>
            <a:endParaRPr lang="fr-FR" sz="2000" dirty="0">
              <a:latin typeface="Gill Sans MT" panose="020B0502020104020203" pitchFamily="34" charset="0"/>
              <a:cs typeface="Times New Roman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6455F4D8-EF79-06CB-7DE3-BCB458BB61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7340" y="3863594"/>
            <a:ext cx="74961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5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31" y="606551"/>
            <a:ext cx="1129919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159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0"/>
              </a:spcBef>
            </a:pPr>
            <a:endParaRPr sz="280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</a:pPr>
            <a:r>
              <a:rPr sz="2800" spc="225" dirty="0">
                <a:solidFill>
                  <a:srgbClr val="FFFFFF"/>
                </a:solidFill>
              </a:rPr>
              <a:t>NOTION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125" dirty="0">
                <a:solidFill>
                  <a:srgbClr val="FFFFFF"/>
                </a:solidFill>
              </a:rPr>
              <a:t>DE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FICHIER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88567" y="3152017"/>
            <a:ext cx="1656714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  <a:tabLst>
                <a:tab pos="306070" algn="l"/>
              </a:tabLst>
            </a:pPr>
            <a:r>
              <a:rPr sz="1650" spc="-520" dirty="0">
                <a:solidFill>
                  <a:srgbClr val="4590B8"/>
                </a:solidFill>
                <a:latin typeface="Cambria"/>
                <a:cs typeface="Cambria"/>
              </a:rPr>
              <a:t>◾</a:t>
            </a:r>
            <a:r>
              <a:rPr sz="1650" dirty="0">
                <a:solidFill>
                  <a:srgbClr val="4590B8"/>
                </a:solidFill>
                <a:latin typeface="Cambria"/>
                <a:cs typeface="Cambria"/>
              </a:rPr>
              <a:t>	</a:t>
            </a:r>
            <a:r>
              <a:rPr sz="1800" spc="-95" dirty="0">
                <a:latin typeface="Trebuchet MS"/>
                <a:cs typeface="Trebuchet MS"/>
              </a:rPr>
              <a:t>Fichiers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Textes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6532" y="3152017"/>
            <a:ext cx="180467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5"/>
              </a:lnSpc>
              <a:tabLst>
                <a:tab pos="306070" algn="l"/>
              </a:tabLst>
            </a:pPr>
            <a:r>
              <a:rPr sz="1650" spc="-520" dirty="0">
                <a:solidFill>
                  <a:srgbClr val="4590B8"/>
                </a:solidFill>
                <a:latin typeface="Cambria"/>
                <a:cs typeface="Cambria"/>
              </a:rPr>
              <a:t>◾</a:t>
            </a:r>
            <a:r>
              <a:rPr sz="1650" dirty="0">
                <a:solidFill>
                  <a:srgbClr val="4590B8"/>
                </a:solidFill>
                <a:latin typeface="Cambria"/>
                <a:cs typeface="Cambria"/>
              </a:rPr>
              <a:t>	</a:t>
            </a:r>
            <a:r>
              <a:rPr sz="1800" spc="-95" dirty="0">
                <a:latin typeface="Trebuchet MS"/>
                <a:cs typeface="Trebuchet MS"/>
              </a:rPr>
              <a:t>Fichiers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Binaires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9993" y="2107768"/>
            <a:ext cx="69697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Trebuchet MS"/>
                <a:cs typeface="Trebuchet MS"/>
              </a:rPr>
              <a:t>Les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fichiers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sont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classés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14" dirty="0">
                <a:latin typeface="Trebuchet MS"/>
                <a:cs typeface="Trebuchet MS"/>
              </a:rPr>
              <a:t>en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deux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catégories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principales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selon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leur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contenu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325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876" y="2775055"/>
            <a:ext cx="4712335" cy="3121817"/>
          </a:xfrm>
          <a:prstGeom prst="rect">
            <a:avLst/>
          </a:prstGeom>
          <a:solidFill>
            <a:srgbClr val="1A315F"/>
          </a:solidFill>
          <a:ln w="22859">
            <a:solidFill>
              <a:srgbClr val="0F214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000"/>
              </a:lnSpc>
            </a:pP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Fichiers</a:t>
            </a:r>
            <a:r>
              <a:rPr sz="180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Textes</a:t>
            </a:r>
            <a:endParaRPr sz="1800" b="1" dirty="0">
              <a:latin typeface="Trebuchet MS"/>
              <a:cs typeface="Trebuchet MS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77190" algn="l"/>
              </a:tabLst>
            </a:pP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Contiennent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des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caractères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lisibles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(lettres,</a:t>
            </a:r>
            <a:endParaRPr sz="1800" dirty="0">
              <a:latin typeface="Trebuchet MS"/>
              <a:cs typeface="Trebuchet MS"/>
            </a:endParaRPr>
          </a:p>
          <a:p>
            <a:pPr marL="377190">
              <a:lnSpc>
                <a:spcPct val="100000"/>
              </a:lnSpc>
              <a:spcBef>
                <a:spcPts val="1080"/>
              </a:spcBef>
            </a:pPr>
            <a:r>
              <a:rPr sz="1800" spc="-140" dirty="0">
                <a:solidFill>
                  <a:srgbClr val="FFFFFF"/>
                </a:solidFill>
                <a:latin typeface="Trebuchet MS"/>
                <a:cs typeface="Trebuchet MS"/>
              </a:rPr>
              <a:t>chiffres,</a:t>
            </a:r>
            <a:r>
              <a:rPr sz="18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symboles).</a:t>
            </a:r>
            <a:endParaRPr sz="1800" dirty="0">
              <a:latin typeface="Trebuchet MS"/>
              <a:cs typeface="Trebuchet MS"/>
            </a:endParaRPr>
          </a:p>
          <a:p>
            <a:pPr marL="377190" marR="156210" indent="-287020">
              <a:lnSpc>
                <a:spcPct val="150000"/>
              </a:lnSpc>
              <a:buFont typeface="Arial MT"/>
              <a:buChar char="•"/>
              <a:tabLst>
                <a:tab pos="377190" algn="l"/>
              </a:tabLst>
            </a:pP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Chaque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caractère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Trebuchet MS"/>
                <a:cs typeface="Trebuchet MS"/>
              </a:rPr>
              <a:t>est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encodé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dans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Trebuchet MS"/>
                <a:cs typeface="Trebuchet MS"/>
              </a:rPr>
              <a:t>format </a:t>
            </a:r>
            <a:r>
              <a:rPr sz="1800" spc="-114" dirty="0">
                <a:solidFill>
                  <a:srgbClr val="FFFFFF"/>
                </a:solidFill>
                <a:latin typeface="Trebuchet MS"/>
                <a:cs typeface="Trebuchet MS"/>
              </a:rPr>
              <a:t>standard</a:t>
            </a:r>
            <a:r>
              <a:rPr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Trebuchet MS"/>
                <a:cs typeface="Trebuchet MS"/>
              </a:rPr>
              <a:t>(ex.</a:t>
            </a:r>
            <a:r>
              <a:rPr sz="1800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ASCII</a:t>
            </a:r>
            <a:r>
              <a:rPr sz="18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ou</a:t>
            </a:r>
            <a:r>
              <a:rPr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UTF-8)</a:t>
            </a:r>
            <a:endParaRPr sz="1800" dirty="0">
              <a:latin typeface="Trebuchet MS"/>
              <a:cs typeface="Trebuchet MS"/>
            </a:endParaRPr>
          </a:p>
          <a:p>
            <a:pPr marL="377190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77190" algn="l"/>
                <a:tab pos="2153285" algn="l"/>
              </a:tabLst>
            </a:pP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Extension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typique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.txt</a:t>
            </a:r>
            <a:endParaRPr sz="1800" dirty="0">
              <a:latin typeface="Trebuchet MS"/>
              <a:cs typeface="Trebuchet MS"/>
            </a:endParaRPr>
          </a:p>
          <a:p>
            <a:pPr marL="377190" marR="89535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77190" algn="l"/>
              </a:tabLst>
            </a:pPr>
            <a:r>
              <a:rPr sz="1800" spc="-80" dirty="0">
                <a:solidFill>
                  <a:srgbClr val="FFFFFF"/>
                </a:solidFill>
                <a:latin typeface="Trebuchet MS"/>
                <a:cs typeface="Trebuchet MS"/>
              </a:rPr>
              <a:t>Usage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Trebuchet MS"/>
                <a:cs typeface="Trebuchet MS"/>
              </a:rPr>
              <a:t>courant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7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8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Trebuchet MS"/>
                <a:cs typeface="Trebuchet MS"/>
              </a:rPr>
              <a:t>journaux,</a:t>
            </a:r>
            <a:r>
              <a:rPr sz="18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Trebuchet MS"/>
                <a:cs typeface="Trebuchet MS"/>
              </a:rPr>
              <a:t>rapports,</a:t>
            </a:r>
            <a:r>
              <a:rPr sz="18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fichiers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configuration.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600" y="2682090"/>
            <a:ext cx="4712335" cy="3286605"/>
          </a:xfrm>
          <a:prstGeom prst="rect">
            <a:avLst/>
          </a:prstGeom>
          <a:solidFill>
            <a:srgbClr val="1A315F"/>
          </a:solidFill>
          <a:ln w="22859">
            <a:solidFill>
              <a:srgbClr val="0F2144"/>
            </a:solidFill>
          </a:ln>
        </p:spPr>
        <p:txBody>
          <a:bodyPr vert="horz" wrap="square" lIns="0" tIns="184785" rIns="0" bIns="0" rtlCol="0">
            <a:spAutoFit/>
          </a:bodyPr>
          <a:lstStyle/>
          <a:p>
            <a:pPr marL="90805" algn="just">
              <a:lnSpc>
                <a:spcPct val="100000"/>
              </a:lnSpc>
              <a:spcBef>
                <a:spcPts val="1455"/>
              </a:spcBef>
            </a:pPr>
            <a:r>
              <a:rPr sz="1800" b="1" spc="-90" dirty="0" err="1">
                <a:solidFill>
                  <a:srgbClr val="FFFFFF"/>
                </a:solidFill>
                <a:latin typeface="Trebuchet MS"/>
                <a:cs typeface="Trebuchet MS"/>
              </a:rPr>
              <a:t>Fichiers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 err="1">
                <a:solidFill>
                  <a:srgbClr val="FFFFFF"/>
                </a:solidFill>
                <a:latin typeface="Trebuchet MS"/>
                <a:cs typeface="Trebuchet MS"/>
              </a:rPr>
              <a:t>Binaire</a:t>
            </a:r>
            <a:endParaRPr lang="fr-FR" sz="1800" b="1" spc="-1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203200" marR="814069" indent="-45085" algn="just">
              <a:lnSpc>
                <a:spcPts val="3240"/>
              </a:lnSpc>
              <a:spcBef>
                <a:spcPts val="15"/>
              </a:spcBef>
              <a:buSzPct val="94444"/>
              <a:buChar char="•"/>
              <a:tabLst>
                <a:tab pos="283210" algn="l"/>
              </a:tabLst>
            </a:pPr>
            <a:r>
              <a:rPr lang="fr-FR" sz="1800" spc="-70" dirty="0">
                <a:solidFill>
                  <a:srgbClr val="FFFFFF"/>
                </a:solidFill>
                <a:latin typeface="Trebuchet MS"/>
                <a:cs typeface="Trebuchet MS"/>
              </a:rPr>
              <a:t>	Contiennent</a:t>
            </a:r>
            <a:r>
              <a:rPr lang="fr-FR"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0" dirty="0">
                <a:solidFill>
                  <a:srgbClr val="FFFFFF"/>
                </a:solidFill>
                <a:latin typeface="Trebuchet MS"/>
                <a:cs typeface="Trebuchet MS"/>
              </a:rPr>
              <a:t>des</a:t>
            </a:r>
            <a:r>
              <a:rPr lang="fr-FR" sz="1800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85" dirty="0">
                <a:solidFill>
                  <a:srgbClr val="FFFFFF"/>
                </a:solidFill>
                <a:latin typeface="Trebuchet MS"/>
                <a:cs typeface="Trebuchet MS"/>
              </a:rPr>
              <a:t>données</a:t>
            </a:r>
            <a:r>
              <a:rPr lang="fr-FR"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95" dirty="0">
                <a:solidFill>
                  <a:srgbClr val="FFFFFF"/>
                </a:solidFill>
                <a:latin typeface="Trebuchet MS"/>
                <a:cs typeface="Trebuchet MS"/>
              </a:rPr>
              <a:t>encodées</a:t>
            </a:r>
            <a:r>
              <a:rPr lang="fr-FR" sz="1800" spc="-25" dirty="0">
                <a:solidFill>
                  <a:srgbClr val="FFFFFF"/>
                </a:solidFill>
                <a:latin typeface="Trebuchet MS"/>
                <a:cs typeface="Trebuchet MS"/>
              </a:rPr>
              <a:t> en </a:t>
            </a:r>
            <a:r>
              <a:rPr lang="fr-FR" sz="1800" spc="-120" dirty="0">
                <a:solidFill>
                  <a:srgbClr val="FFFFFF"/>
                </a:solidFill>
                <a:latin typeface="Trebuchet MS"/>
                <a:cs typeface="Trebuchet MS"/>
              </a:rPr>
              <a:t>binaire</a:t>
            </a:r>
            <a:r>
              <a:rPr lang="fr-FR"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55" dirty="0">
                <a:solidFill>
                  <a:srgbClr val="FFFFFF"/>
                </a:solidFill>
                <a:latin typeface="Trebuchet MS"/>
                <a:cs typeface="Trebuchet MS"/>
              </a:rPr>
              <a:t>(non</a:t>
            </a:r>
            <a:r>
              <a:rPr lang="fr-FR"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20" dirty="0">
                <a:solidFill>
                  <a:srgbClr val="FFFFFF"/>
                </a:solidFill>
                <a:latin typeface="Trebuchet MS"/>
                <a:cs typeface="Trebuchet MS"/>
              </a:rPr>
              <a:t>directement</a:t>
            </a:r>
            <a:r>
              <a:rPr lang="fr-FR"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5" dirty="0">
                <a:solidFill>
                  <a:srgbClr val="FFFFFF"/>
                </a:solidFill>
                <a:latin typeface="Trebuchet MS"/>
                <a:cs typeface="Trebuchet MS"/>
              </a:rPr>
              <a:t>lisibles</a:t>
            </a:r>
            <a:r>
              <a:rPr lang="fr-FR" sz="1800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14" dirty="0">
                <a:solidFill>
                  <a:srgbClr val="FFFFFF"/>
                </a:solidFill>
                <a:latin typeface="Trebuchet MS"/>
                <a:cs typeface="Trebuchet MS"/>
              </a:rPr>
              <a:t>par</a:t>
            </a:r>
            <a:r>
              <a:rPr lang="fr-FR" sz="18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25" dirty="0">
                <a:solidFill>
                  <a:srgbClr val="FFFFFF"/>
                </a:solidFill>
                <a:latin typeface="Trebuchet MS"/>
                <a:cs typeface="Trebuchet MS"/>
              </a:rPr>
              <a:t>un </a:t>
            </a:r>
            <a:r>
              <a:rPr lang="fr-FR" sz="1800" spc="-20" dirty="0">
                <a:solidFill>
                  <a:srgbClr val="FFFFFF"/>
                </a:solidFill>
                <a:latin typeface="Trebuchet MS"/>
                <a:cs typeface="Trebuchet MS"/>
              </a:rPr>
              <a:t>humain).</a:t>
            </a:r>
            <a:endParaRPr lang="fr-FR" sz="1800" dirty="0">
              <a:latin typeface="Trebuchet MS"/>
              <a:cs typeface="Trebuchet MS"/>
            </a:endParaRPr>
          </a:p>
          <a:p>
            <a:pPr marL="203200" marR="842010" indent="-45720" algn="just">
              <a:lnSpc>
                <a:spcPts val="3240"/>
              </a:lnSpc>
              <a:buSzPct val="94444"/>
              <a:buChar char="•"/>
              <a:tabLst>
                <a:tab pos="283210" algn="l"/>
              </a:tabLst>
            </a:pPr>
            <a:r>
              <a:rPr lang="fr-FR" sz="1800" spc="-100" dirty="0">
                <a:solidFill>
                  <a:srgbClr val="FFFFFF"/>
                </a:solidFill>
                <a:latin typeface="Trebuchet MS"/>
                <a:cs typeface="Trebuchet MS"/>
              </a:rPr>
              <a:t>	Plus</a:t>
            </a:r>
            <a:r>
              <a:rPr lang="fr-FR"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50" dirty="0">
                <a:solidFill>
                  <a:srgbClr val="FFFFFF"/>
                </a:solidFill>
                <a:latin typeface="Trebuchet MS"/>
                <a:cs typeface="Trebuchet MS"/>
              </a:rPr>
              <a:t>efficaces</a:t>
            </a:r>
            <a:r>
              <a:rPr lang="fr-FR" sz="18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25" dirty="0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lang="fr-FR" sz="1800" spc="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90" dirty="0">
                <a:solidFill>
                  <a:srgbClr val="FFFFFF"/>
                </a:solidFill>
                <a:latin typeface="Trebuchet MS"/>
                <a:cs typeface="Trebuchet MS"/>
              </a:rPr>
              <a:t>termes</a:t>
            </a:r>
            <a:r>
              <a:rPr lang="fr-FR" sz="18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5" dirty="0">
                <a:solidFill>
                  <a:srgbClr val="FFFFFF"/>
                </a:solidFill>
                <a:latin typeface="Trebuchet MS"/>
                <a:cs typeface="Trebuchet MS"/>
              </a:rPr>
              <a:t>d'espace</a:t>
            </a:r>
            <a:r>
              <a:rPr lang="fr-FR" sz="18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70" dirty="0">
                <a:solidFill>
                  <a:srgbClr val="FFFFFF"/>
                </a:solidFill>
                <a:latin typeface="Trebuchet MS"/>
                <a:cs typeface="Trebuchet MS"/>
              </a:rPr>
              <a:t>et</a:t>
            </a:r>
            <a:r>
              <a:rPr lang="fr-FR" sz="18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2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lang="fr-FR" sz="1800" spc="-114" dirty="0">
                <a:solidFill>
                  <a:srgbClr val="FFFFFF"/>
                </a:solidFill>
                <a:latin typeface="Trebuchet MS"/>
                <a:cs typeface="Trebuchet MS"/>
              </a:rPr>
              <a:t>traitement</a:t>
            </a:r>
            <a:r>
              <a:rPr lang="fr-FR"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5" dirty="0">
                <a:solidFill>
                  <a:srgbClr val="FFFFFF"/>
                </a:solidFill>
                <a:latin typeface="Trebuchet MS"/>
                <a:cs typeface="Trebuchet MS"/>
              </a:rPr>
              <a:t>par</a:t>
            </a:r>
            <a:r>
              <a:rPr lang="fr-FR"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70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lang="fr-FR"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" dirty="0">
                <a:solidFill>
                  <a:srgbClr val="FFFFFF"/>
                </a:solidFill>
                <a:latin typeface="Trebuchet MS"/>
                <a:cs typeface="Trebuchet MS"/>
              </a:rPr>
              <a:t>machine.</a:t>
            </a:r>
            <a:endParaRPr lang="fr-FR" sz="1800" dirty="0">
              <a:latin typeface="Trebuchet MS"/>
              <a:cs typeface="Trebuchet MS"/>
            </a:endParaRPr>
          </a:p>
          <a:p>
            <a:pPr marL="203200" marR="758825" indent="-45720" algn="just">
              <a:lnSpc>
                <a:spcPts val="3240"/>
              </a:lnSpc>
              <a:spcBef>
                <a:spcPts val="5"/>
              </a:spcBef>
              <a:buSzPct val="94444"/>
              <a:buChar char="•"/>
              <a:tabLst>
                <a:tab pos="283210" algn="l"/>
              </a:tabLst>
            </a:pPr>
            <a:r>
              <a:rPr lang="fr-FR" sz="1800" spc="-80" dirty="0">
                <a:solidFill>
                  <a:srgbClr val="FFFFFF"/>
                </a:solidFill>
                <a:latin typeface="Trebuchet MS"/>
                <a:cs typeface="Trebuchet MS"/>
              </a:rPr>
              <a:t>	Usage</a:t>
            </a:r>
            <a:r>
              <a:rPr lang="fr-FR" sz="18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80" dirty="0">
                <a:solidFill>
                  <a:srgbClr val="FFFFFF"/>
                </a:solidFill>
                <a:latin typeface="Trebuchet MS"/>
                <a:cs typeface="Trebuchet MS"/>
              </a:rPr>
              <a:t>courant</a:t>
            </a:r>
            <a:r>
              <a:rPr lang="fr-FR"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27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lang="fr-FR" sz="1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45" dirty="0">
                <a:solidFill>
                  <a:srgbClr val="FFFFFF"/>
                </a:solidFill>
                <a:latin typeface="Trebuchet MS"/>
                <a:cs typeface="Trebuchet MS"/>
              </a:rPr>
              <a:t>images,</a:t>
            </a:r>
            <a:r>
              <a:rPr lang="fr-FR" sz="18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5" dirty="0">
                <a:solidFill>
                  <a:srgbClr val="FFFFFF"/>
                </a:solidFill>
                <a:latin typeface="Trebuchet MS"/>
                <a:cs typeface="Trebuchet MS"/>
              </a:rPr>
              <a:t>vidéos,</a:t>
            </a:r>
            <a:r>
              <a:rPr lang="fr-FR" sz="18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0" dirty="0">
                <a:solidFill>
                  <a:srgbClr val="FFFFFF"/>
                </a:solidFill>
                <a:latin typeface="Trebuchet MS"/>
                <a:cs typeface="Trebuchet MS"/>
              </a:rPr>
              <a:t>bases</a:t>
            </a:r>
            <a:r>
              <a:rPr lang="fr-FR"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lang="fr-FR"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10" dirty="0">
                <a:solidFill>
                  <a:srgbClr val="FFFFFF"/>
                </a:solidFill>
                <a:latin typeface="Trebuchet MS"/>
                <a:cs typeface="Trebuchet MS"/>
              </a:rPr>
              <a:t>données,</a:t>
            </a:r>
            <a:r>
              <a:rPr lang="fr-FR" sz="18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05" dirty="0">
                <a:solidFill>
                  <a:srgbClr val="FFFFFF"/>
                </a:solidFill>
                <a:latin typeface="Trebuchet MS"/>
                <a:cs typeface="Trebuchet MS"/>
              </a:rPr>
              <a:t>fichiers</a:t>
            </a:r>
            <a:r>
              <a:rPr lang="fr-FR" sz="18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fr-FR" sz="1800" spc="-110" dirty="0">
                <a:solidFill>
                  <a:srgbClr val="FFFFFF"/>
                </a:solidFill>
                <a:latin typeface="Trebuchet MS"/>
                <a:cs typeface="Trebuchet MS"/>
              </a:rPr>
              <a:t>compilés.</a:t>
            </a:r>
            <a:endParaRPr lang="fr-FR"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145" dirty="0">
                <a:solidFill>
                  <a:srgbClr val="FFFFFF"/>
                </a:solidFill>
              </a:rPr>
              <a:t>COMPARAISON</a:t>
            </a:r>
            <a:r>
              <a:rPr sz="2800" spc="-10" dirty="0">
                <a:solidFill>
                  <a:srgbClr val="FFFFFF"/>
                </a:solidFill>
              </a:rPr>
              <a:t> </a:t>
            </a:r>
            <a:r>
              <a:rPr sz="2800" spc="55" dirty="0">
                <a:solidFill>
                  <a:srgbClr val="FFFFFF"/>
                </a:solidFill>
              </a:rPr>
              <a:t>ENTRE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FICHIERS</a:t>
            </a:r>
            <a:r>
              <a:rPr sz="2800" spc="-3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TEXTES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ET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FICHIERS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BINAIRES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878569"/>
              </p:ext>
            </p:extLst>
          </p:nvPr>
        </p:nvGraphicFramePr>
        <p:xfrm>
          <a:off x="1219201" y="2291332"/>
          <a:ext cx="9677400" cy="31950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30" dirty="0">
                          <a:latin typeface="Trebuchet MS"/>
                          <a:cs typeface="Trebuchet MS"/>
                        </a:rPr>
                        <a:t>Caractéristique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05" dirty="0">
                          <a:latin typeface="Trebuchet MS"/>
                          <a:cs typeface="Trebuchet MS"/>
                        </a:rPr>
                        <a:t>Fichiers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textes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05" dirty="0">
                          <a:latin typeface="Trebuchet MS"/>
                          <a:cs typeface="Trebuchet MS"/>
                        </a:rPr>
                        <a:t>Fichiers</a:t>
                      </a:r>
                      <a:r>
                        <a:rPr sz="20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binaires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7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Lisibilité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105" dirty="0">
                          <a:latin typeface="Trebuchet MS"/>
                          <a:cs typeface="Trebuchet MS"/>
                        </a:rPr>
                        <a:t>Lisibles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par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les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humains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916940">
                        <a:lnSpc>
                          <a:spcPts val="3600"/>
                        </a:lnSpc>
                        <a:spcBef>
                          <a:spcPts val="185"/>
                        </a:spcBef>
                      </a:pPr>
                      <a:r>
                        <a:rPr sz="2000" spc="-105" dirty="0">
                          <a:latin typeface="Trebuchet MS"/>
                          <a:cs typeface="Trebuchet MS"/>
                        </a:rPr>
                        <a:t>Lisibles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uniquement</a:t>
                      </a:r>
                      <a:r>
                        <a:rPr sz="20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0" dirty="0">
                          <a:latin typeface="Trebuchet MS"/>
                          <a:cs typeface="Trebuchet MS"/>
                        </a:rPr>
                        <a:t>par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40" dirty="0">
                          <a:latin typeface="Trebuchet MS"/>
                          <a:cs typeface="Trebuchet MS"/>
                        </a:rPr>
                        <a:t>la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machine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20" dirty="0">
                          <a:latin typeface="Trebuchet MS"/>
                          <a:cs typeface="Trebuchet MS"/>
                        </a:rPr>
                        <a:t>Espace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utilisé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95" dirty="0">
                          <a:latin typeface="Trebuchet MS"/>
                          <a:cs typeface="Trebuchet MS"/>
                        </a:rPr>
                        <a:t>Plus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volumineux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95" dirty="0">
                          <a:latin typeface="Trebuchet MS"/>
                          <a:cs typeface="Trebuchet MS"/>
                        </a:rPr>
                        <a:t>Plus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compacts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Applications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  <a:solidFill>
                      <a:srgbClr val="B4D2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45" dirty="0">
                          <a:latin typeface="Trebuchet MS"/>
                          <a:cs typeface="Trebuchet MS"/>
                        </a:rPr>
                        <a:t>Journaux,</a:t>
                      </a:r>
                      <a:r>
                        <a:rPr sz="20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20" dirty="0">
                          <a:latin typeface="Trebuchet MS"/>
                          <a:cs typeface="Trebuchet MS"/>
                        </a:rPr>
                        <a:t>scripts,</a:t>
                      </a:r>
                      <a:r>
                        <a:rPr sz="2000" spc="-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etc.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2000" spc="-135" dirty="0">
                          <a:latin typeface="Trebuchet MS"/>
                          <a:cs typeface="Trebuchet MS"/>
                        </a:rPr>
                        <a:t>Multimédia,</a:t>
                      </a:r>
                      <a:r>
                        <a:rPr sz="2000" spc="-2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bases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14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données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12700">
                      <a:solidFill>
                        <a:srgbClr val="1A315F"/>
                      </a:solidFill>
                      <a:prstDash val="solid"/>
                    </a:lnL>
                    <a:lnR w="12700">
                      <a:solidFill>
                        <a:srgbClr val="1A315F"/>
                      </a:solidFill>
                      <a:prstDash val="solid"/>
                    </a:lnR>
                    <a:lnT w="12700">
                      <a:solidFill>
                        <a:srgbClr val="1A315F"/>
                      </a:solidFill>
                      <a:prstDash val="solid"/>
                    </a:lnT>
                    <a:lnB w="12700">
                      <a:solidFill>
                        <a:srgbClr val="1A315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br>
              <a:rPr lang="fr-FR" sz="2800" dirty="0">
                <a:latin typeface="Times New Roman"/>
                <a:cs typeface="Times New Roman"/>
              </a:rPr>
            </a:b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1BA8BAE-6AB9-A206-EBC9-3641D84EE3DC}"/>
              </a:ext>
            </a:extLst>
          </p:cNvPr>
          <p:cNvSpPr txBox="1"/>
          <p:nvPr/>
        </p:nvSpPr>
        <p:spPr>
          <a:xfrm>
            <a:off x="764541" y="2091416"/>
            <a:ext cx="11103609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+mj-lt"/>
                <a:cs typeface="Times New Roman"/>
              </a:rPr>
              <a:t>On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distingue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deux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manières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d’accès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aux</a:t>
            </a:r>
            <a:r>
              <a:rPr sz="2400" spc="-30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informations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d’un fichier</a:t>
            </a:r>
            <a:r>
              <a:rPr sz="2400" spc="-95" dirty="0"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:</a:t>
            </a:r>
            <a:endParaRPr sz="2400" dirty="0">
              <a:latin typeface="+mj-lt"/>
              <a:cs typeface="Times New Roman"/>
            </a:endParaRPr>
          </a:p>
          <a:p>
            <a:pPr marL="755015" marR="587375" lvl="1" indent="-285750">
              <a:spcBef>
                <a:spcPts val="580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6285" algn="l"/>
              </a:tabLst>
            </a:pPr>
            <a:r>
              <a:rPr sz="2400" dirty="0">
                <a:solidFill>
                  <a:srgbClr val="000066"/>
                </a:solidFill>
                <a:latin typeface="+mj-lt"/>
                <a:cs typeface="Times New Roman"/>
              </a:rPr>
              <a:t>accès</a:t>
            </a:r>
            <a:r>
              <a:rPr sz="2400" spc="50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+mj-lt"/>
                <a:cs typeface="Times New Roman"/>
              </a:rPr>
              <a:t>séquentiel</a:t>
            </a:r>
            <a:r>
              <a:rPr sz="2400" spc="85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+mj-lt"/>
                <a:cs typeface="Times New Roman"/>
              </a:rPr>
              <a:t>(le</a:t>
            </a:r>
            <a:r>
              <a:rPr sz="2400" spc="75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66"/>
                </a:solidFill>
                <a:latin typeface="+mj-lt"/>
                <a:cs typeface="Times New Roman"/>
              </a:rPr>
              <a:t>plus</a:t>
            </a:r>
            <a:r>
              <a:rPr sz="2400" spc="70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rgbClr val="000066"/>
                </a:solidFill>
                <a:latin typeface="+mj-lt"/>
                <a:cs typeface="Times New Roman"/>
              </a:rPr>
              <a:t>courant)</a:t>
            </a:r>
            <a:r>
              <a:rPr sz="2400" spc="95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spc="-185" dirty="0">
                <a:latin typeface="+mj-lt"/>
                <a:cs typeface="Times New Roman"/>
              </a:rPr>
              <a:t>:</a:t>
            </a:r>
            <a:r>
              <a:rPr sz="2400" spc="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on</a:t>
            </a:r>
            <a:r>
              <a:rPr sz="2400" spc="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lit/écrit</a:t>
            </a:r>
            <a:r>
              <a:rPr sz="2400" spc="80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dans 	</a:t>
            </a:r>
            <a:r>
              <a:rPr sz="2400" spc="-90" dirty="0">
                <a:latin typeface="+mj-lt"/>
                <a:cs typeface="Times New Roman"/>
              </a:rPr>
              <a:t>l’ordre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dans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lequel</a:t>
            </a:r>
            <a:r>
              <a:rPr sz="2400" spc="-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les </a:t>
            </a:r>
            <a:r>
              <a:rPr sz="2400" spc="-25" dirty="0">
                <a:latin typeface="+mj-lt"/>
                <a:cs typeface="Times New Roman"/>
              </a:rPr>
              <a:t>informations</a:t>
            </a:r>
            <a:r>
              <a:rPr sz="2400" spc="-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apparaissent.</a:t>
            </a:r>
            <a:endParaRPr sz="2400" dirty="0">
              <a:latin typeface="+mj-lt"/>
              <a:cs typeface="Times New Roman"/>
            </a:endParaRPr>
          </a:p>
          <a:p>
            <a:pPr marL="755015" marR="136525" lvl="1" indent="-285750">
              <a:spcBef>
                <a:spcPts val="57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6285" algn="l"/>
              </a:tabLst>
            </a:pPr>
            <a:r>
              <a:rPr sz="2400" dirty="0">
                <a:solidFill>
                  <a:srgbClr val="000066"/>
                </a:solidFill>
                <a:latin typeface="+mj-lt"/>
                <a:cs typeface="Times New Roman"/>
              </a:rPr>
              <a:t>accès </a:t>
            </a:r>
            <a:r>
              <a:rPr sz="2400" spc="-10" dirty="0">
                <a:solidFill>
                  <a:srgbClr val="000066"/>
                </a:solidFill>
                <a:latin typeface="+mj-lt"/>
                <a:cs typeface="Times New Roman"/>
              </a:rPr>
              <a:t>direct</a:t>
            </a:r>
            <a:r>
              <a:rPr sz="2400" spc="25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spc="-185" dirty="0">
                <a:solidFill>
                  <a:srgbClr val="000066"/>
                </a:solidFill>
                <a:latin typeface="+mj-lt"/>
                <a:cs typeface="Times New Roman"/>
              </a:rPr>
              <a:t>:</a:t>
            </a:r>
            <a:r>
              <a:rPr sz="2400" spc="25" dirty="0">
                <a:solidFill>
                  <a:srgbClr val="000066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on</a:t>
            </a:r>
            <a:r>
              <a:rPr sz="2400" spc="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lit/écrit</a:t>
            </a:r>
            <a:r>
              <a:rPr sz="2400" spc="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dans</a:t>
            </a:r>
            <a:r>
              <a:rPr sz="2400" spc="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un</a:t>
            </a:r>
            <a:r>
              <a:rPr sz="2400" spc="30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endroit</a:t>
            </a:r>
            <a:r>
              <a:rPr sz="2400" spc="25" dirty="0">
                <a:latin typeface="+mj-lt"/>
                <a:cs typeface="Times New Roman"/>
              </a:rPr>
              <a:t> </a:t>
            </a:r>
            <a:r>
              <a:rPr sz="2400" spc="-45" dirty="0">
                <a:latin typeface="+mj-lt"/>
                <a:cs typeface="Times New Roman"/>
              </a:rPr>
              <a:t>particulier</a:t>
            </a:r>
            <a:r>
              <a:rPr sz="2400" spc="25" dirty="0">
                <a:latin typeface="+mj-lt"/>
                <a:cs typeface="Times New Roman"/>
              </a:rPr>
              <a:t> </a:t>
            </a:r>
            <a:r>
              <a:rPr sz="2400" spc="-25" dirty="0">
                <a:latin typeface="+mj-lt"/>
                <a:cs typeface="Times New Roman"/>
              </a:rPr>
              <a:t>du 	</a:t>
            </a:r>
            <a:r>
              <a:rPr sz="2400" spc="-45" dirty="0">
                <a:latin typeface="+mj-lt"/>
                <a:cs typeface="Times New Roman"/>
              </a:rPr>
              <a:t>fichier;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dont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enregistrements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sont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indexés.</a:t>
            </a:r>
            <a:endParaRPr sz="2400" dirty="0">
              <a:latin typeface="+mj-lt"/>
              <a:cs typeface="Times New Roman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24B44B2E-DB69-C978-C1A1-E276A43A76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337" y="4252928"/>
            <a:ext cx="7639716" cy="679795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E92A3098-89E8-CE36-CD34-CC5AFC0BDDD2}"/>
              </a:ext>
            </a:extLst>
          </p:cNvPr>
          <p:cNvSpPr txBox="1"/>
          <p:nvPr/>
        </p:nvSpPr>
        <p:spPr>
          <a:xfrm>
            <a:off x="581193" y="4458696"/>
            <a:ext cx="9391279" cy="167195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spcBef>
                <a:spcPts val="1535"/>
              </a:spcBef>
            </a:pP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NB:</a:t>
            </a:r>
            <a:endParaRPr sz="2400" dirty="0">
              <a:latin typeface="Times New Roman"/>
              <a:cs typeface="Times New Roman"/>
            </a:endParaRPr>
          </a:p>
          <a:p>
            <a:pPr marL="227965" indent="-215265">
              <a:spcBef>
                <a:spcPts val="1445"/>
              </a:spcBef>
              <a:buFont typeface="Wingdings"/>
              <a:buChar char=""/>
              <a:tabLst>
                <a:tab pos="227965" algn="l"/>
              </a:tabLst>
            </a:pPr>
            <a:r>
              <a:rPr sz="2400" spc="-114" dirty="0">
                <a:latin typeface="+mj-lt"/>
                <a:cs typeface="Times New Roman"/>
              </a:rPr>
              <a:t>Par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défaut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l’accès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est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séquentiel.</a:t>
            </a:r>
            <a:endParaRPr sz="2400" dirty="0">
              <a:latin typeface="+mj-lt"/>
              <a:cs typeface="Times New Roman"/>
            </a:endParaRPr>
          </a:p>
          <a:p>
            <a:pPr marL="228600" indent="-215900">
              <a:spcBef>
                <a:spcPts val="1440"/>
              </a:spcBef>
              <a:buFont typeface="Wingdings"/>
              <a:buChar char=""/>
              <a:tabLst>
                <a:tab pos="228600" algn="l"/>
              </a:tabLst>
            </a:pPr>
            <a:r>
              <a:rPr sz="2400" spc="-10" dirty="0">
                <a:latin typeface="+mj-lt"/>
                <a:cs typeface="Times New Roman"/>
              </a:rPr>
              <a:t>L’accès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direct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60" dirty="0">
                <a:latin typeface="+mj-lt"/>
                <a:cs typeface="Times New Roman"/>
              </a:rPr>
              <a:t>se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fait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au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moyen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fonctions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fseek,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ftell,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etc.</a:t>
            </a:r>
            <a:endParaRPr sz="2400" dirty="0">
              <a:latin typeface="+mj-lt"/>
              <a:cs typeface="Times New Roman"/>
            </a:endParaRP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59B5396C-81A8-DEE0-C428-513A5ADBF2D1}"/>
              </a:ext>
            </a:extLst>
          </p:cNvPr>
          <p:cNvSpPr txBox="1">
            <a:spLocks/>
          </p:cNvSpPr>
          <p:nvPr/>
        </p:nvSpPr>
        <p:spPr>
          <a:xfrm>
            <a:off x="581193" y="729658"/>
            <a:ext cx="11029616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fr-FR" sz="4800" dirty="0">
                <a:solidFill>
                  <a:schemeClr val="bg1"/>
                </a:solidFill>
                <a:latin typeface="Gill Sans MT" panose="020B0502020104020203" pitchFamily="34" charset="0"/>
              </a:rPr>
              <a:t>Type d’</a:t>
            </a:r>
            <a:r>
              <a:rPr lang="fr-FR" sz="4800" dirty="0" err="1">
                <a:solidFill>
                  <a:schemeClr val="bg1"/>
                </a:solidFill>
                <a:latin typeface="Gill Sans MT" panose="020B0502020104020203" pitchFamily="34" charset="0"/>
              </a:rPr>
              <a:t>accées</a:t>
            </a:r>
            <a:r>
              <a:rPr lang="fr-FR" sz="48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264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80" dirty="0">
                <a:solidFill>
                  <a:srgbClr val="FFFFFF"/>
                </a:solidFill>
              </a:rPr>
              <a:t>OPÉRATIONS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SUR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LES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FICHIERS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1790699"/>
            <a:ext cx="8715375" cy="441642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u="sng" spc="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Ouvrir</a:t>
            </a:r>
            <a:r>
              <a:rPr sz="2400" b="1" u="sng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fichier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spc="-114" dirty="0">
                <a:latin typeface="Trebuchet MS"/>
                <a:cs typeface="Trebuchet MS"/>
              </a:rPr>
              <a:t>Utilisation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de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la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fonction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fopen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415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2684145">
              <a:lnSpc>
                <a:spcPct val="100000"/>
              </a:lnSpc>
              <a:spcBef>
                <a:spcPts val="1440"/>
              </a:spcBef>
            </a:pPr>
            <a:r>
              <a:rPr sz="2400" spc="-80" dirty="0">
                <a:latin typeface="Trebuchet MS"/>
                <a:cs typeface="Trebuchet MS"/>
              </a:rPr>
              <a:t>FILE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*fichier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135" dirty="0">
                <a:latin typeface="Trebuchet MS"/>
                <a:cs typeface="Trebuchet MS"/>
              </a:rPr>
              <a:t>=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fopen("nom_du_fichier",</a:t>
            </a:r>
            <a:r>
              <a:rPr sz="2400" spc="-26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"mode");</a:t>
            </a:r>
            <a:endParaRPr sz="2400">
              <a:latin typeface="Trebuchet MS"/>
              <a:cs typeface="Trebuchet MS"/>
            </a:endParaRPr>
          </a:p>
          <a:p>
            <a:pPr marL="120650" indent="-119380">
              <a:lnSpc>
                <a:spcPct val="100000"/>
              </a:lnSpc>
              <a:spcBef>
                <a:spcPts val="1440"/>
              </a:spcBef>
              <a:buSzPct val="66666"/>
              <a:buFont typeface="Trebuchet MS"/>
              <a:buChar char="•"/>
              <a:tabLst>
                <a:tab pos="120650" algn="l"/>
              </a:tabLst>
            </a:pPr>
            <a:r>
              <a:rPr sz="2400" b="1" spc="65" dirty="0">
                <a:latin typeface="Trebuchet MS"/>
                <a:cs typeface="Trebuchet MS"/>
              </a:rPr>
              <a:t>Modes</a:t>
            </a:r>
            <a:r>
              <a:rPr sz="2400" b="1" spc="-10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d'ouverture</a:t>
            </a:r>
            <a:r>
              <a:rPr sz="2400" b="1" spc="-114" dirty="0">
                <a:latin typeface="Trebuchet MS"/>
                <a:cs typeface="Trebuchet MS"/>
              </a:rPr>
              <a:t> </a:t>
            </a:r>
            <a:r>
              <a:rPr sz="2400" spc="-415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577215" lvl="1" indent="-165100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577215" algn="l"/>
              </a:tabLst>
            </a:pPr>
            <a:r>
              <a:rPr sz="2400" dirty="0">
                <a:latin typeface="Trebuchet MS"/>
                <a:cs typeface="Trebuchet MS"/>
              </a:rPr>
              <a:t>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365" dirty="0">
                <a:latin typeface="Trebuchet MS"/>
                <a:cs typeface="Trebuchet MS"/>
              </a:rPr>
              <a:t>:</a:t>
            </a:r>
            <a:r>
              <a:rPr sz="2400" spc="-28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Lecture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seule.</a:t>
            </a:r>
            <a:endParaRPr sz="2400">
              <a:latin typeface="Trebuchet MS"/>
              <a:cs typeface="Trebuchet MS"/>
            </a:endParaRPr>
          </a:p>
          <a:p>
            <a:pPr marL="577215" lvl="1" indent="-165100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577215" algn="l"/>
              </a:tabLst>
            </a:pPr>
            <a:r>
              <a:rPr sz="2400" dirty="0">
                <a:latin typeface="Trebuchet MS"/>
                <a:cs typeface="Trebuchet MS"/>
              </a:rPr>
              <a:t>w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365" dirty="0">
                <a:latin typeface="Trebuchet MS"/>
                <a:cs typeface="Trebuchet MS"/>
              </a:rPr>
              <a:t>:</a:t>
            </a:r>
            <a:r>
              <a:rPr sz="2400" spc="-29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Écriture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55" dirty="0">
                <a:latin typeface="Trebuchet MS"/>
                <a:cs typeface="Trebuchet MS"/>
              </a:rPr>
              <a:t>seule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(écrase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contenu</a:t>
            </a:r>
            <a:r>
              <a:rPr sz="2400" spc="-50" dirty="0">
                <a:latin typeface="Trebuchet MS"/>
                <a:cs typeface="Trebuchet MS"/>
              </a:rPr>
              <a:t> existant).</a:t>
            </a:r>
            <a:endParaRPr sz="2400">
              <a:latin typeface="Trebuchet MS"/>
              <a:cs typeface="Trebuchet MS"/>
            </a:endParaRPr>
          </a:p>
          <a:p>
            <a:pPr marL="577215" lvl="1" indent="-165100">
              <a:lnSpc>
                <a:spcPct val="100000"/>
              </a:lnSpc>
              <a:spcBef>
                <a:spcPts val="1445"/>
              </a:spcBef>
              <a:buSzPct val="95833"/>
              <a:buChar char="•"/>
              <a:tabLst>
                <a:tab pos="577215" algn="l"/>
              </a:tabLst>
            </a:pPr>
            <a:r>
              <a:rPr sz="2400" spc="-240" dirty="0">
                <a:latin typeface="Trebuchet MS"/>
                <a:cs typeface="Trebuchet MS"/>
              </a:rPr>
              <a:t>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365" dirty="0">
                <a:latin typeface="Trebuchet MS"/>
                <a:cs typeface="Trebuchet MS"/>
              </a:rPr>
              <a:t>:</a:t>
            </a:r>
            <a:r>
              <a:rPr sz="2400" spc="-54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Ajout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(écriture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45" dirty="0">
                <a:latin typeface="Trebuchet MS"/>
                <a:cs typeface="Trebuchet MS"/>
              </a:rPr>
              <a:t>à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la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0" dirty="0">
                <a:latin typeface="Trebuchet MS"/>
                <a:cs typeface="Trebuchet MS"/>
              </a:rPr>
              <a:t>fin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du</a:t>
            </a:r>
            <a:r>
              <a:rPr sz="2400" spc="-55" dirty="0">
                <a:latin typeface="Trebuchet MS"/>
                <a:cs typeface="Trebuchet MS"/>
              </a:rPr>
              <a:t> fichier).</a:t>
            </a:r>
            <a:endParaRPr sz="2400">
              <a:latin typeface="Trebuchet MS"/>
              <a:cs typeface="Trebuchet MS"/>
            </a:endParaRPr>
          </a:p>
          <a:p>
            <a:pPr marL="577215" lvl="1" indent="-165100">
              <a:lnSpc>
                <a:spcPct val="100000"/>
              </a:lnSpc>
              <a:spcBef>
                <a:spcPts val="1440"/>
              </a:spcBef>
              <a:buSzPct val="95833"/>
              <a:buChar char="•"/>
              <a:tabLst>
                <a:tab pos="577215" algn="l"/>
              </a:tabLst>
            </a:pPr>
            <a:r>
              <a:rPr sz="2400" spc="-185" dirty="0">
                <a:latin typeface="Trebuchet MS"/>
                <a:cs typeface="Trebuchet MS"/>
              </a:rPr>
              <a:t>rb,</a:t>
            </a:r>
            <a:r>
              <a:rPr sz="2400" spc="-305" dirty="0">
                <a:latin typeface="Trebuchet MS"/>
                <a:cs typeface="Trebuchet MS"/>
              </a:rPr>
              <a:t> </a:t>
            </a:r>
            <a:r>
              <a:rPr sz="2400" spc="-210" dirty="0">
                <a:latin typeface="Trebuchet MS"/>
                <a:cs typeface="Trebuchet MS"/>
              </a:rPr>
              <a:t>wb,</a:t>
            </a:r>
            <a:r>
              <a:rPr sz="2400" spc="-295" dirty="0">
                <a:latin typeface="Trebuchet MS"/>
                <a:cs typeface="Trebuchet MS"/>
              </a:rPr>
              <a:t> </a:t>
            </a:r>
            <a:r>
              <a:rPr sz="2400" spc="-210" dirty="0">
                <a:latin typeface="Trebuchet MS"/>
                <a:cs typeface="Trebuchet MS"/>
              </a:rPr>
              <a:t>ab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365" dirty="0">
                <a:latin typeface="Trebuchet MS"/>
                <a:cs typeface="Trebuchet MS"/>
              </a:rPr>
              <a:t>:</a:t>
            </a:r>
            <a:r>
              <a:rPr sz="2400" spc="-3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Modes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pour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50" dirty="0">
                <a:latin typeface="Trebuchet MS"/>
                <a:cs typeface="Trebuchet MS"/>
              </a:rPr>
              <a:t>fichiers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binaires.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80" dirty="0">
                <a:solidFill>
                  <a:srgbClr val="FFFFFF"/>
                </a:solidFill>
              </a:rPr>
              <a:t>OPÉRATIONS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SUR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LES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FICHIERS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29234" y="1710769"/>
            <a:ext cx="11053166" cy="3705502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Lire/Écrire</a:t>
            </a:r>
            <a:r>
              <a:rPr sz="2000" b="1" spc="-11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dans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un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fichier</a:t>
            </a:r>
            <a:endParaRPr sz="2000" dirty="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spcBef>
                <a:spcPts val="1200"/>
              </a:spcBef>
              <a:buSzPct val="65000"/>
              <a:buChar char="•"/>
              <a:tabLst>
                <a:tab pos="102870" algn="l"/>
              </a:tabLst>
            </a:pPr>
            <a:r>
              <a:rPr sz="2000" spc="-50" dirty="0">
                <a:latin typeface="Trebuchet MS"/>
                <a:cs typeface="Trebuchet MS"/>
              </a:rPr>
              <a:t>Pour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fichiers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textes</a:t>
            </a:r>
            <a:r>
              <a:rPr sz="2000" b="1" spc="-110" dirty="0">
                <a:latin typeface="Trebuchet MS"/>
                <a:cs typeface="Trebuchet MS"/>
              </a:rPr>
              <a:t> </a:t>
            </a:r>
            <a:r>
              <a:rPr sz="2000" spc="-355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  <a:p>
            <a:pPr marL="558800" lvl="1" indent="-13970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558800" algn="l"/>
              </a:tabLst>
            </a:pPr>
            <a:r>
              <a:rPr sz="2000" spc="-140" dirty="0">
                <a:latin typeface="Trebuchet MS"/>
                <a:cs typeface="Trebuchet MS"/>
              </a:rPr>
              <a:t>fprintf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305" dirty="0">
                <a:latin typeface="Trebuchet MS"/>
                <a:cs typeface="Trebuchet MS"/>
              </a:rPr>
              <a:t>:</a:t>
            </a:r>
            <a:r>
              <a:rPr sz="2000" spc="-22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Écrire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dans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fichier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texte.</a:t>
            </a:r>
            <a:endParaRPr sz="2000" dirty="0">
              <a:latin typeface="Trebuchet MS"/>
              <a:cs typeface="Trebuchet MS"/>
            </a:endParaRPr>
          </a:p>
          <a:p>
            <a:pPr marL="558800" lvl="1" indent="-13970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558800" algn="l"/>
              </a:tabLst>
            </a:pPr>
            <a:r>
              <a:rPr sz="2000" spc="-160" dirty="0">
                <a:latin typeface="Trebuchet MS"/>
                <a:cs typeface="Trebuchet MS"/>
              </a:rPr>
              <a:t>fscanf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305" dirty="0">
                <a:latin typeface="Trebuchet MS"/>
                <a:cs typeface="Trebuchet MS"/>
              </a:rPr>
              <a:t>: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Lire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à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partir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d’un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fichier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texte.</a:t>
            </a:r>
            <a:endParaRPr sz="2000" dirty="0">
              <a:latin typeface="Trebuchet MS"/>
              <a:cs typeface="Trebuchet MS"/>
            </a:endParaRPr>
          </a:p>
          <a:p>
            <a:pPr marL="102870" indent="-100330">
              <a:lnSpc>
                <a:spcPct val="100000"/>
              </a:lnSpc>
              <a:spcBef>
                <a:spcPts val="1200"/>
              </a:spcBef>
              <a:buSzPct val="65000"/>
              <a:buChar char="•"/>
              <a:tabLst>
                <a:tab pos="102870" algn="l"/>
              </a:tabLst>
            </a:pPr>
            <a:r>
              <a:rPr sz="2000" spc="-50" dirty="0">
                <a:latin typeface="Trebuchet MS"/>
                <a:cs typeface="Trebuchet MS"/>
              </a:rPr>
              <a:t>Pour</a:t>
            </a:r>
            <a:r>
              <a:rPr sz="2000" spc="-85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fichiers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binaires</a:t>
            </a:r>
            <a:r>
              <a:rPr sz="2000" b="1" spc="-100" dirty="0">
                <a:latin typeface="Trebuchet MS"/>
                <a:cs typeface="Trebuchet MS"/>
              </a:rPr>
              <a:t> </a:t>
            </a:r>
            <a:r>
              <a:rPr sz="2000" spc="-355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  <a:p>
            <a:pPr marL="558800" lvl="1" indent="-139700">
              <a:lnSpc>
                <a:spcPct val="100000"/>
              </a:lnSpc>
              <a:spcBef>
                <a:spcPts val="1205"/>
              </a:spcBef>
              <a:buSzPct val="95000"/>
              <a:buChar char="•"/>
              <a:tabLst>
                <a:tab pos="558800" algn="l"/>
              </a:tabLst>
            </a:pPr>
            <a:r>
              <a:rPr sz="2000" spc="-114" dirty="0">
                <a:latin typeface="Trebuchet MS"/>
                <a:cs typeface="Trebuchet MS"/>
              </a:rPr>
              <a:t>fwrite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305" dirty="0">
                <a:latin typeface="Trebuchet MS"/>
                <a:cs typeface="Trebuchet MS"/>
              </a:rPr>
              <a:t>:</a:t>
            </a:r>
            <a:r>
              <a:rPr sz="2000" spc="-24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Écrire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dans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un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fichier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binaire.</a:t>
            </a:r>
            <a:endParaRPr sz="2000" dirty="0">
              <a:latin typeface="Trebuchet MS"/>
              <a:cs typeface="Trebuchet MS"/>
            </a:endParaRPr>
          </a:p>
          <a:p>
            <a:pPr marL="558800" lvl="1" indent="-139700">
              <a:lnSpc>
                <a:spcPct val="100000"/>
              </a:lnSpc>
              <a:spcBef>
                <a:spcPts val="1200"/>
              </a:spcBef>
              <a:buSzPct val="95000"/>
              <a:buChar char="•"/>
              <a:tabLst>
                <a:tab pos="558800" algn="l"/>
              </a:tabLst>
            </a:pPr>
            <a:r>
              <a:rPr sz="2000" spc="-145" dirty="0">
                <a:latin typeface="Trebuchet MS"/>
                <a:cs typeface="Trebuchet MS"/>
              </a:rPr>
              <a:t>fread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305" dirty="0">
                <a:latin typeface="Trebuchet MS"/>
                <a:cs typeface="Trebuchet MS"/>
              </a:rPr>
              <a:t>:</a:t>
            </a:r>
            <a:r>
              <a:rPr sz="2000" spc="-22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Lire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depuis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fichier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binaire.</a:t>
            </a:r>
            <a:endParaRPr sz="2000" dirty="0">
              <a:latin typeface="Trebuchet MS"/>
              <a:cs typeface="Trebuchet MS"/>
            </a:endParaRPr>
          </a:p>
          <a:p>
            <a:pPr marR="2702560" algn="l">
              <a:lnSpc>
                <a:spcPct val="100000"/>
              </a:lnSpc>
              <a:spcBef>
                <a:spcPts val="1200"/>
              </a:spcBef>
            </a:pPr>
            <a:r>
              <a:rPr sz="2000" spc="-120" dirty="0">
                <a:latin typeface="Trebuchet MS"/>
                <a:cs typeface="Trebuchet MS"/>
              </a:rPr>
              <a:t>Exemple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d'écriture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dans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rebuchet MS"/>
                <a:cs typeface="Trebuchet MS"/>
              </a:rPr>
              <a:t>un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fichier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10" dirty="0" err="1">
                <a:latin typeface="Trebuchet MS"/>
                <a:cs typeface="Trebuchet MS"/>
              </a:rPr>
              <a:t>texte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355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A12B0F6-2596-6B98-F673-2368A7C51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408" y="4827615"/>
            <a:ext cx="6012358" cy="17098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19062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280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sz="2800" spc="80" dirty="0">
                <a:solidFill>
                  <a:srgbClr val="FFFFFF"/>
                </a:solidFill>
              </a:rPr>
              <a:t>OPÉRATIONS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SUR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LES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FICHIERS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659993" y="2744190"/>
            <a:ext cx="9846945" cy="2952115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2020"/>
              </a:spcBef>
              <a:buClr>
                <a:srgbClr val="1A315F"/>
              </a:buClr>
              <a:buFont typeface="Wingdings"/>
              <a:buChar char=""/>
              <a:tabLst>
                <a:tab pos="318770" algn="l"/>
              </a:tabLst>
            </a:pPr>
            <a:r>
              <a:rPr sz="3200" b="1" dirty="0">
                <a:latin typeface="Trebuchet MS"/>
                <a:cs typeface="Trebuchet MS"/>
              </a:rPr>
              <a:t>Fermer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un</a:t>
            </a:r>
            <a:r>
              <a:rPr sz="3200" b="1" spc="-3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fichier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spc="-165" dirty="0">
                <a:latin typeface="Trebuchet MS"/>
                <a:cs typeface="Trebuchet MS"/>
              </a:rPr>
              <a:t>Utilisation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de</a:t>
            </a:r>
            <a:r>
              <a:rPr sz="3200" spc="-45" dirty="0">
                <a:latin typeface="Trebuchet MS"/>
                <a:cs typeface="Trebuchet MS"/>
              </a:rPr>
              <a:t> </a:t>
            </a:r>
            <a:r>
              <a:rPr sz="3200" spc="-295" dirty="0">
                <a:latin typeface="Trebuchet MS"/>
                <a:cs typeface="Trebuchet MS"/>
              </a:rPr>
              <a:t>la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fonction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fclose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45" dirty="0">
                <a:latin typeface="Trebuchet MS"/>
                <a:cs typeface="Trebuchet MS"/>
              </a:rPr>
              <a:t>pour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libérer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les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ressources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535" dirty="0"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3200">
              <a:latin typeface="Trebuchet MS"/>
              <a:cs typeface="Trebuchet MS"/>
            </a:endParaRPr>
          </a:p>
          <a:p>
            <a:pPr marL="831850" algn="ctr">
              <a:lnSpc>
                <a:spcPct val="100000"/>
              </a:lnSpc>
            </a:pPr>
            <a:r>
              <a:rPr sz="3200" spc="-140" dirty="0">
                <a:latin typeface="Trebuchet MS"/>
                <a:cs typeface="Trebuchet MS"/>
              </a:rPr>
              <a:t>fclose(fichier);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8D0924-B4F0-F494-3CA5-19F3B2F8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2690336"/>
            <a:ext cx="8349996" cy="1477328"/>
          </a:xfrm>
        </p:spPr>
        <p:txBody>
          <a:bodyPr/>
          <a:lstStyle/>
          <a:p>
            <a:r>
              <a:rPr lang="fr-FR" sz="96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ll Sans MT" panose="020B0502020104020203" pitchFamily="34" charset="0"/>
              </a:rPr>
              <a:t>fichiers textes</a:t>
            </a:r>
          </a:p>
        </p:txBody>
      </p:sp>
    </p:spTree>
    <p:extLst>
      <p:ext uri="{BB962C8B-B14F-4D97-AF65-F5344CB8AC3E}">
        <p14:creationId xmlns:p14="http://schemas.microsoft.com/office/powerpoint/2010/main" val="398189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spc="80" dirty="0">
                <a:solidFill>
                  <a:srgbClr val="FFFFFF"/>
                </a:solidFill>
              </a:rPr>
              <a:t>Exemple 1 fichier txt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59993" y="2744190"/>
            <a:ext cx="11227207" cy="810607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32740" marR="735330" indent="-320040">
              <a:lnSpc>
                <a:spcPct val="120000"/>
              </a:lnSpc>
              <a:spcBef>
                <a:spcPts val="100"/>
              </a:spcBef>
              <a:buFont typeface="Wingdings"/>
              <a:buChar char=""/>
              <a:tabLst>
                <a:tab pos="332740" algn="l"/>
                <a:tab pos="354965" algn="l"/>
              </a:tabLst>
            </a:pPr>
            <a:r>
              <a:rPr lang="fr-FR" sz="2400" dirty="0">
                <a:solidFill>
                  <a:srgbClr val="00007C"/>
                </a:solidFill>
                <a:latin typeface="Gill Sans MT" panose="020B0502020104020203" pitchFamily="34" charset="0"/>
                <a:cs typeface="Times New Roman"/>
              </a:rPr>
              <a:t>	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lang="fr-FR" sz="32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souhaite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spc="-50" dirty="0">
                <a:latin typeface="Gill Sans MT" panose="020B0502020104020203" pitchFamily="34" charset="0"/>
                <a:cs typeface="Times New Roman"/>
              </a:rPr>
              <a:t>créer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personnes</a:t>
            </a:r>
            <a:r>
              <a:rPr lang="fr-FR" sz="32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(numéro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et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nom). </a:t>
            </a:r>
            <a:endParaRPr lang="fr-FR" sz="3200" dirty="0">
              <a:latin typeface="Gill Sans MT" panose="020B0502020104020203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781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spc="80" dirty="0">
                <a:solidFill>
                  <a:srgbClr val="FFFFFF"/>
                </a:solidFill>
              </a:rPr>
              <a:t>Exemple 1 fichier txt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674505"/>
            <a:ext cx="11227207" cy="810607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32740" marR="735330" indent="-320040">
              <a:lnSpc>
                <a:spcPct val="120000"/>
              </a:lnSpc>
              <a:spcBef>
                <a:spcPts val="100"/>
              </a:spcBef>
              <a:buFont typeface="Wingdings"/>
              <a:buChar char=""/>
              <a:tabLst>
                <a:tab pos="332740" algn="l"/>
                <a:tab pos="354965" algn="l"/>
              </a:tabLst>
            </a:pPr>
            <a:r>
              <a:rPr lang="fr-FR" sz="2400" dirty="0">
                <a:solidFill>
                  <a:srgbClr val="00007C"/>
                </a:solidFill>
                <a:latin typeface="Gill Sans MT" panose="020B0502020104020203" pitchFamily="34" charset="0"/>
                <a:cs typeface="Times New Roman"/>
              </a:rPr>
              <a:t>	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lang="fr-FR" sz="32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souhaite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spc="-50" dirty="0">
                <a:latin typeface="Gill Sans MT" panose="020B0502020104020203" pitchFamily="34" charset="0"/>
                <a:cs typeface="Times New Roman"/>
              </a:rPr>
              <a:t>créer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lang="fr-FR" sz="32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personnes</a:t>
            </a:r>
            <a:r>
              <a:rPr lang="fr-FR" sz="32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(numéro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lang="fr-FR" sz="3200" dirty="0">
                <a:latin typeface="Gill Sans MT" panose="020B0502020104020203" pitchFamily="34" charset="0"/>
                <a:cs typeface="Times New Roman"/>
              </a:rPr>
              <a:t>et</a:t>
            </a:r>
            <a:r>
              <a:rPr lang="fr-FR" sz="3200" spc="-10" dirty="0">
                <a:latin typeface="Gill Sans MT" panose="020B0502020104020203" pitchFamily="34" charset="0"/>
                <a:cs typeface="Times New Roman"/>
              </a:rPr>
              <a:t> nom). </a:t>
            </a:r>
            <a:endParaRPr lang="fr-FR" sz="3200" dirty="0">
              <a:latin typeface="Gill Sans MT" panose="020B0502020104020203" pitchFamily="34" charset="0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19D173-5465-698C-75A6-1B228BED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338" y="2714787"/>
            <a:ext cx="9484692" cy="374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34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spc="80" dirty="0">
                <a:solidFill>
                  <a:srgbClr val="FFFFFF"/>
                </a:solidFill>
              </a:rPr>
              <a:t>Exemple 2 fichier txt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2879" y="3048000"/>
            <a:ext cx="11227207" cy="997709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fr-FR" sz="2400" b="1" dirty="0">
                <a:latin typeface="Times New Roman"/>
                <a:cs typeface="Times New Roman"/>
              </a:rPr>
              <a:t>On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souhaite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lire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 err="1">
                <a:solidFill>
                  <a:srgbClr val="0000CC"/>
                </a:solidFill>
                <a:latin typeface="Times New Roman"/>
                <a:cs typeface="Times New Roman"/>
              </a:rPr>
              <a:t>num</a:t>
            </a:r>
            <a:r>
              <a:rPr lang="fr-FR" sz="2400" b="1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lang="fr-FR" sz="2400" b="1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personne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à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spc="-50" dirty="0">
                <a:latin typeface="Times New Roman"/>
                <a:cs typeface="Times New Roman"/>
              </a:rPr>
              <a:t>partir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du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fichier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spc="-25" dirty="0">
                <a:latin typeface="Times New Roman"/>
                <a:cs typeface="Times New Roman"/>
              </a:rPr>
              <a:t>les </a:t>
            </a:r>
            <a:r>
              <a:rPr lang="fr-FR" sz="2400" b="1" spc="-30" dirty="0">
                <a:latin typeface="Times New Roman"/>
                <a:cs typeface="Times New Roman"/>
              </a:rPr>
              <a:t>afficher</a:t>
            </a:r>
            <a:r>
              <a:rPr lang="fr-FR" sz="2400" b="1" spc="-80" dirty="0">
                <a:latin typeface="Times New Roman"/>
                <a:cs typeface="Times New Roman"/>
              </a:rPr>
              <a:t> </a:t>
            </a:r>
            <a:r>
              <a:rPr lang="fr-FR" sz="2400" b="1" spc="-30" dirty="0">
                <a:latin typeface="Times New Roman"/>
                <a:cs typeface="Times New Roman"/>
              </a:rPr>
              <a:t>sur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spc="-10" dirty="0">
                <a:latin typeface="Times New Roman"/>
                <a:cs typeface="Times New Roman"/>
              </a:rPr>
              <a:t>console.</a:t>
            </a:r>
            <a:endParaRPr lang="fr-FR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940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spc="80" dirty="0">
                <a:solidFill>
                  <a:srgbClr val="FFFFFF"/>
                </a:solidFill>
              </a:rPr>
              <a:t>Exemple 2 fichier txt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7795" y="2057400"/>
            <a:ext cx="11227207" cy="997709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fr-FR" sz="2400" b="1" dirty="0">
                <a:latin typeface="Times New Roman"/>
                <a:cs typeface="Times New Roman"/>
              </a:rPr>
              <a:t>On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souhaite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lire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 err="1">
                <a:solidFill>
                  <a:srgbClr val="0000CC"/>
                </a:solidFill>
                <a:latin typeface="Times New Roman"/>
                <a:cs typeface="Times New Roman"/>
              </a:rPr>
              <a:t>num</a:t>
            </a:r>
            <a:r>
              <a:rPr lang="fr-FR" sz="2400" b="1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lang="fr-FR" sz="2400" b="1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personne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à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spc="-50" dirty="0">
                <a:latin typeface="Times New Roman"/>
                <a:cs typeface="Times New Roman"/>
              </a:rPr>
              <a:t>partir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du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fichier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spc="-25" dirty="0">
                <a:latin typeface="Times New Roman"/>
                <a:cs typeface="Times New Roman"/>
              </a:rPr>
              <a:t>les </a:t>
            </a:r>
            <a:r>
              <a:rPr lang="fr-FR" sz="2400" b="1" spc="-30" dirty="0">
                <a:latin typeface="Times New Roman"/>
                <a:cs typeface="Times New Roman"/>
              </a:rPr>
              <a:t>afficher</a:t>
            </a:r>
            <a:r>
              <a:rPr lang="fr-FR" sz="2400" b="1" spc="-80" dirty="0">
                <a:latin typeface="Times New Roman"/>
                <a:cs typeface="Times New Roman"/>
              </a:rPr>
              <a:t> </a:t>
            </a:r>
            <a:r>
              <a:rPr lang="fr-FR" sz="2400" b="1" spc="-30" dirty="0">
                <a:latin typeface="Times New Roman"/>
                <a:cs typeface="Times New Roman"/>
              </a:rPr>
              <a:t>sur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spc="-10" dirty="0">
                <a:latin typeface="Times New Roman"/>
                <a:cs typeface="Times New Roman"/>
              </a:rPr>
              <a:t>console.</a:t>
            </a:r>
            <a:endParaRPr lang="fr-FR" sz="2400" dirty="0">
              <a:latin typeface="Times New Roman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C7D1A4-457F-51C9-10B5-9F149945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00400"/>
            <a:ext cx="1061651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64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spc="80" dirty="0">
                <a:solidFill>
                  <a:srgbClr val="FFFFFF"/>
                </a:solidFill>
              </a:rPr>
              <a:t>Exemple 2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7795" y="2057400"/>
            <a:ext cx="11227207" cy="997709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55600" marR="5080" indent="-342900">
              <a:spcBef>
                <a:spcPts val="10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lang="fr-FR" sz="2400" b="1" dirty="0">
                <a:latin typeface="Times New Roman"/>
                <a:cs typeface="Times New Roman"/>
              </a:rPr>
              <a:t>On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souhaite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lire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 err="1">
                <a:solidFill>
                  <a:srgbClr val="0000CC"/>
                </a:solidFill>
                <a:latin typeface="Times New Roman"/>
                <a:cs typeface="Times New Roman"/>
              </a:rPr>
              <a:t>num</a:t>
            </a:r>
            <a:r>
              <a:rPr lang="fr-FR" sz="2400" b="1" spc="2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le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lang="fr-FR" sz="2400" b="1" spc="2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20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personne</a:t>
            </a:r>
            <a:r>
              <a:rPr lang="fr-FR" sz="2400" b="1" spc="204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à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spc="-50" dirty="0">
                <a:latin typeface="Times New Roman"/>
                <a:cs typeface="Times New Roman"/>
              </a:rPr>
              <a:t>partir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du</a:t>
            </a:r>
            <a:r>
              <a:rPr lang="fr-FR" sz="2400" b="1" spc="210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fichier</a:t>
            </a:r>
            <a:r>
              <a:rPr lang="fr-FR" sz="2400" b="1" spc="19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et</a:t>
            </a:r>
            <a:r>
              <a:rPr lang="fr-FR" sz="2400" b="1" spc="215" dirty="0">
                <a:latin typeface="Times New Roman"/>
                <a:cs typeface="Times New Roman"/>
              </a:rPr>
              <a:t> </a:t>
            </a:r>
            <a:r>
              <a:rPr lang="fr-FR" sz="2400" b="1" spc="-25" dirty="0">
                <a:latin typeface="Times New Roman"/>
                <a:cs typeface="Times New Roman"/>
              </a:rPr>
              <a:t>les </a:t>
            </a:r>
            <a:r>
              <a:rPr lang="fr-FR" sz="2400" b="1" spc="-30" dirty="0">
                <a:latin typeface="Times New Roman"/>
                <a:cs typeface="Times New Roman"/>
              </a:rPr>
              <a:t>afficher</a:t>
            </a:r>
            <a:r>
              <a:rPr lang="fr-FR" sz="2400" b="1" spc="-80" dirty="0">
                <a:latin typeface="Times New Roman"/>
                <a:cs typeface="Times New Roman"/>
              </a:rPr>
              <a:t> </a:t>
            </a:r>
            <a:r>
              <a:rPr lang="fr-FR" sz="2400" b="1" spc="-30" dirty="0">
                <a:latin typeface="Times New Roman"/>
                <a:cs typeface="Times New Roman"/>
              </a:rPr>
              <a:t>sur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dirty="0">
                <a:latin typeface="Times New Roman"/>
                <a:cs typeface="Times New Roman"/>
              </a:rPr>
              <a:t>la</a:t>
            </a:r>
            <a:r>
              <a:rPr lang="fr-FR" sz="2400" b="1" spc="-75" dirty="0">
                <a:latin typeface="Times New Roman"/>
                <a:cs typeface="Times New Roman"/>
              </a:rPr>
              <a:t> </a:t>
            </a:r>
            <a:r>
              <a:rPr lang="fr-FR" sz="2400" b="1" spc="-10" dirty="0">
                <a:latin typeface="Times New Roman"/>
                <a:cs typeface="Times New Roman"/>
              </a:rPr>
              <a:t>console.</a:t>
            </a:r>
            <a:endParaRPr lang="fr-FR" sz="2400" dirty="0">
              <a:latin typeface="Times New Roman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EC7D1A4-457F-51C9-10B5-9F149945F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00400"/>
            <a:ext cx="1061651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24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436" y="614172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>
              <a:lnSpc>
                <a:spcPct val="100000"/>
              </a:lnSpc>
            </a:pP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Détection</a:t>
            </a:r>
            <a:r>
              <a:rPr lang="fr-FR" sz="2800" spc="-4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de</a:t>
            </a:r>
            <a:r>
              <a:rPr lang="fr-FR" sz="2800" spc="-35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la</a:t>
            </a:r>
            <a:r>
              <a:rPr lang="fr-FR" sz="2800" spc="-3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fin</a:t>
            </a:r>
            <a:r>
              <a:rPr lang="fr-FR" sz="2800" spc="-4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d'un</a:t>
            </a:r>
            <a:r>
              <a:rPr lang="fr-FR" sz="2800" spc="-35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20" dirty="0">
                <a:solidFill>
                  <a:schemeClr val="bg1"/>
                </a:solidFill>
                <a:latin typeface="Gill Sans MT" panose="020B0502020104020203" pitchFamily="34" charset="0"/>
              </a:rPr>
              <a:t>fichier</a:t>
            </a:r>
            <a:r>
              <a:rPr lang="fr-FR" sz="2800" spc="-35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10" dirty="0">
                <a:solidFill>
                  <a:schemeClr val="bg1"/>
                </a:solidFill>
                <a:latin typeface="Gill Sans MT" panose="020B0502020104020203" pitchFamily="34" charset="0"/>
              </a:rPr>
              <a:t>séquentiel</a:t>
            </a:r>
            <a:endParaRPr sz="28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5008941-C0DF-1AAA-D6E2-9478D77B76AD}"/>
              </a:ext>
            </a:extLst>
          </p:cNvPr>
          <p:cNvSpPr txBox="1"/>
          <p:nvPr/>
        </p:nvSpPr>
        <p:spPr>
          <a:xfrm>
            <a:off x="765977" y="2179682"/>
            <a:ext cx="10674909" cy="38080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fonction</a:t>
            </a:r>
            <a:r>
              <a:rPr sz="24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feof</a:t>
            </a:r>
            <a:r>
              <a:rPr sz="2400" spc="-75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permet</a:t>
            </a:r>
            <a:r>
              <a:rPr sz="2400" spc="-7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détecter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fin</a:t>
            </a:r>
            <a:r>
              <a:rPr sz="24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du</a:t>
            </a:r>
            <a:r>
              <a:rPr sz="2400" spc="-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algn="ctr">
              <a:spcBef>
                <a:spcPts val="575"/>
              </a:spcBef>
            </a:pPr>
            <a:r>
              <a:rPr sz="2400" dirty="0">
                <a:solidFill>
                  <a:srgbClr val="0000E4"/>
                </a:solidFill>
                <a:latin typeface="Gill Sans MT" panose="020B0502020104020203" pitchFamily="34" charset="0"/>
                <a:cs typeface="Times New Roman"/>
              </a:rPr>
              <a:t>int</a:t>
            </a:r>
            <a:r>
              <a:rPr sz="2400" spc="-65" dirty="0">
                <a:solidFill>
                  <a:srgbClr val="0000E4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solidFill>
                  <a:srgbClr val="0000E4"/>
                </a:solidFill>
                <a:latin typeface="Gill Sans MT" panose="020B0502020104020203" pitchFamily="34" charset="0"/>
                <a:cs typeface="Times New Roman"/>
              </a:rPr>
              <a:t>feof(p_fichier);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42265" indent="-342265" algn="ctr"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42265" algn="l"/>
                <a:tab pos="717550" algn="l"/>
                <a:tab pos="1993264" algn="l"/>
                <a:tab pos="2273300" algn="l"/>
                <a:tab pos="3237230" algn="l"/>
                <a:tab pos="3597275" algn="l"/>
                <a:tab pos="4075429" algn="l"/>
                <a:tab pos="4544695" algn="l"/>
                <a:tab pos="5581650" algn="l"/>
                <a:tab pos="6200140" algn="l"/>
                <a:tab pos="7419975" algn="l"/>
                <a:tab pos="8034020" algn="l"/>
              </a:tabLst>
            </a:pPr>
            <a:r>
              <a:rPr sz="2400" spc="-25" dirty="0">
                <a:latin typeface="Gill Sans MT" panose="020B0502020104020203" pitchFamily="34" charset="0"/>
                <a:cs typeface="Times New Roman"/>
              </a:rPr>
              <a:t>Si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p_fichier</a:t>
            </a:r>
            <a:r>
              <a:rPr sz="240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50" dirty="0">
                <a:latin typeface="Gill Sans MT" panose="020B0502020104020203" pitchFamily="34" charset="0"/>
                <a:cs typeface="Times New Roman"/>
              </a:rPr>
              <a:t>a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atteint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fin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du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fichier,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feof</a:t>
            </a:r>
            <a:r>
              <a:rPr sz="240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retourne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une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valeur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R="6203950" algn="ctr"/>
            <a:r>
              <a:rPr sz="2400" spc="-25" dirty="0">
                <a:latin typeface="Gill Sans MT" panose="020B0502020104020203" pitchFamily="34" charset="0"/>
                <a:cs typeface="Times New Roman"/>
              </a:rPr>
              <a:t>différente</a:t>
            </a:r>
            <a:r>
              <a:rPr sz="24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4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0.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5600" marR="5080" indent="-342900" algn="just"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Sinon,</a:t>
            </a:r>
            <a:r>
              <a:rPr sz="2400" spc="3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si</a:t>
            </a:r>
            <a:r>
              <a:rPr sz="2400" spc="3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p_fichier</a:t>
            </a:r>
            <a:r>
              <a:rPr sz="2400" spc="355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n’a</a:t>
            </a:r>
            <a:r>
              <a:rPr sz="2400" spc="34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pas</a:t>
            </a:r>
            <a:r>
              <a:rPr sz="2400" spc="34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encore</a:t>
            </a:r>
            <a:r>
              <a:rPr sz="2400" spc="3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atteint</a:t>
            </a:r>
            <a:r>
              <a:rPr sz="2400" spc="3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3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fin</a:t>
            </a:r>
            <a:r>
              <a:rPr sz="2400" spc="3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du</a:t>
            </a:r>
            <a:r>
              <a:rPr sz="2400" spc="3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fichier,</a:t>
            </a:r>
            <a:r>
              <a:rPr sz="2400" spc="3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feof 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retourne</a:t>
            </a:r>
            <a:r>
              <a:rPr sz="2400" spc="-1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0.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>
              <a:spcBef>
                <a:spcPts val="1275"/>
              </a:spcBef>
              <a:buClr>
                <a:srgbClr val="00007C"/>
              </a:buClr>
              <a:buFont typeface="Wingdings"/>
              <a:buChar char=""/>
            </a:pP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5600" marR="6985" indent="-342900" algn="just"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Gill Sans MT" panose="020B0502020104020203" pitchFamily="34" charset="0"/>
                <a:cs typeface="Times New Roman"/>
              </a:rPr>
              <a:t>NB:</a:t>
            </a:r>
            <a:r>
              <a:rPr sz="2400" spc="5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Pour</a:t>
            </a:r>
            <a:r>
              <a:rPr sz="2400" spc="5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que</a:t>
            </a:r>
            <a:r>
              <a:rPr sz="2400" spc="5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5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fonction</a:t>
            </a:r>
            <a:r>
              <a:rPr sz="2400" spc="5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feof</a:t>
            </a:r>
            <a:r>
              <a:rPr sz="2400" spc="515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détecte</a:t>
            </a:r>
            <a:r>
              <a:rPr sz="2400" spc="5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correctement</a:t>
            </a:r>
            <a:r>
              <a:rPr sz="2400" spc="5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5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fin</a:t>
            </a:r>
            <a:r>
              <a:rPr sz="2400" spc="5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du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fichier,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il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faut 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terminer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chaîne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55" dirty="0">
                <a:latin typeface="Gill Sans MT" panose="020B0502020104020203" pitchFamily="34" charset="0"/>
                <a:cs typeface="Times New Roman"/>
              </a:rPr>
              <a:t>format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 </a:t>
            </a:r>
            <a:r>
              <a:rPr sz="240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fscanf</a:t>
            </a:r>
            <a:r>
              <a:rPr sz="2400" spc="-35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85" dirty="0">
                <a:latin typeface="Gill Sans MT" panose="020B0502020104020203" pitchFamily="34" charset="0"/>
                <a:cs typeface="Times New Roman"/>
              </a:rPr>
              <a:t>par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retour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ligne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55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‘\n’</a:t>
            </a:r>
            <a:r>
              <a:rPr sz="2400" spc="-40" dirty="0">
                <a:solidFill>
                  <a:srgbClr val="1717FF"/>
                </a:solidFill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lors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lecture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du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093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8D0924-B4F0-F494-3CA5-19F3B2F8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2690336"/>
            <a:ext cx="8349996" cy="1477328"/>
          </a:xfrm>
        </p:spPr>
        <p:txBody>
          <a:bodyPr/>
          <a:lstStyle/>
          <a:p>
            <a:r>
              <a:rPr lang="fr-FR" sz="96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ll Sans MT" panose="020B0502020104020203" pitchFamily="34" charset="0"/>
              </a:rPr>
              <a:t>fichiers Binaires</a:t>
            </a:r>
          </a:p>
        </p:txBody>
      </p:sp>
    </p:spTree>
    <p:extLst>
      <p:ext uri="{BB962C8B-B14F-4D97-AF65-F5344CB8AC3E}">
        <p14:creationId xmlns:p14="http://schemas.microsoft.com/office/powerpoint/2010/main" val="201453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6311" y="2106015"/>
            <a:ext cx="10763431" cy="342593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spc="-25" dirty="0">
                <a:latin typeface="+mj-lt"/>
                <a:cs typeface="Times New Roman"/>
              </a:rPr>
              <a:t>Prototype</a:t>
            </a:r>
            <a:r>
              <a:rPr sz="2400" spc="-95" dirty="0"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:</a:t>
            </a:r>
            <a:endParaRPr sz="2400" dirty="0">
              <a:latin typeface="+mj-lt"/>
              <a:cs typeface="Times New Roman"/>
            </a:endParaRPr>
          </a:p>
          <a:p>
            <a:pPr marL="186055" algn="ctr">
              <a:spcBef>
                <a:spcPts val="580"/>
              </a:spcBef>
              <a:tabLst>
                <a:tab pos="1085215" algn="l"/>
              </a:tabLst>
            </a:pPr>
            <a:r>
              <a:rPr sz="2400" spc="-10" dirty="0">
                <a:solidFill>
                  <a:srgbClr val="0000D3"/>
                </a:solidFill>
                <a:latin typeface="+mj-lt"/>
                <a:cs typeface="Times New Roman"/>
              </a:rPr>
              <a:t>size_t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	</a:t>
            </a:r>
            <a:r>
              <a:rPr sz="2400" spc="-35" dirty="0">
                <a:solidFill>
                  <a:srgbClr val="0000D3"/>
                </a:solidFill>
                <a:latin typeface="+mj-lt"/>
                <a:cs typeface="Times New Roman"/>
              </a:rPr>
              <a:t>fread(void</a:t>
            </a:r>
            <a:r>
              <a:rPr sz="2400" spc="-20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*</a:t>
            </a:r>
            <a:r>
              <a:rPr sz="2400" spc="-10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spc="-55" dirty="0">
                <a:latin typeface="+mj-lt"/>
                <a:cs typeface="Times New Roman"/>
              </a:rPr>
              <a:t>ptr</a:t>
            </a:r>
            <a:r>
              <a:rPr sz="2400" spc="-55" dirty="0">
                <a:solidFill>
                  <a:srgbClr val="0000D3"/>
                </a:solidFill>
                <a:latin typeface="+mj-lt"/>
                <a:cs typeface="Times New Roman"/>
              </a:rPr>
              <a:t>,</a:t>
            </a:r>
            <a:r>
              <a:rPr sz="2400" spc="-1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size_t</a:t>
            </a:r>
            <a:r>
              <a:rPr sz="2400" spc="-2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taille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,</a:t>
            </a:r>
            <a:r>
              <a:rPr sz="2400" spc="-1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size_t</a:t>
            </a:r>
            <a:r>
              <a:rPr sz="2400" spc="-10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nbloc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,</a:t>
            </a:r>
            <a:r>
              <a:rPr sz="2400" spc="-1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FILE</a:t>
            </a:r>
            <a:r>
              <a:rPr sz="2400" spc="-1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D3"/>
                </a:solidFill>
                <a:latin typeface="+mj-lt"/>
                <a:cs typeface="Times New Roman"/>
              </a:rPr>
              <a:t>*</a:t>
            </a:r>
            <a:r>
              <a:rPr sz="2400" spc="-5" dirty="0">
                <a:solidFill>
                  <a:srgbClr val="0000D3"/>
                </a:solidFill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p_fichier</a:t>
            </a:r>
            <a:r>
              <a:rPr sz="2400" spc="-10" dirty="0">
                <a:solidFill>
                  <a:srgbClr val="0000D3"/>
                </a:solidFill>
                <a:latin typeface="+mj-lt"/>
                <a:cs typeface="Times New Roman"/>
              </a:rPr>
              <a:t>);</a:t>
            </a:r>
            <a:endParaRPr sz="2400" dirty="0">
              <a:latin typeface="+mj-lt"/>
              <a:cs typeface="Times New Roman"/>
            </a:endParaRPr>
          </a:p>
          <a:p>
            <a:pPr marL="354965" indent="-342265"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+mj-lt"/>
                <a:cs typeface="Times New Roman"/>
              </a:rPr>
              <a:t>La</a:t>
            </a:r>
            <a:r>
              <a:rPr sz="2400" spc="-9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fonction</a:t>
            </a:r>
            <a:r>
              <a:rPr sz="2400" spc="-80" dirty="0">
                <a:latin typeface="+mj-lt"/>
                <a:cs typeface="Times New Roman"/>
              </a:rPr>
              <a:t> </a:t>
            </a:r>
            <a:r>
              <a:rPr sz="2400" spc="-55" dirty="0">
                <a:solidFill>
                  <a:srgbClr val="0000CC"/>
                </a:solidFill>
                <a:latin typeface="+mj-lt"/>
                <a:cs typeface="Times New Roman"/>
              </a:rPr>
              <a:t>fread</a:t>
            </a:r>
            <a:r>
              <a:rPr sz="2400" spc="-9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:</a:t>
            </a:r>
            <a:endParaRPr sz="2400" dirty="0">
              <a:latin typeface="+mj-lt"/>
              <a:cs typeface="Times New Roman"/>
            </a:endParaRPr>
          </a:p>
          <a:p>
            <a:pPr marL="755650" lvl="1" indent="-285750">
              <a:spcBef>
                <a:spcPts val="580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dirty="0">
                <a:latin typeface="+mj-lt"/>
                <a:cs typeface="Times New Roman"/>
              </a:rPr>
              <a:t>lit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+mj-lt"/>
                <a:cs typeface="Times New Roman"/>
              </a:rPr>
              <a:t>nbloc</a:t>
            </a:r>
            <a:r>
              <a:rPr sz="2400" spc="-3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(le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plus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souvent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spc="-55" dirty="0">
                <a:latin typeface="+mj-lt"/>
                <a:cs typeface="Times New Roman"/>
              </a:rPr>
              <a:t>1)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taille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+mj-lt"/>
                <a:cs typeface="Times New Roman"/>
              </a:rPr>
              <a:t>taille</a:t>
            </a:r>
            <a:r>
              <a:rPr sz="2400" spc="-5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dans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+mj-lt"/>
                <a:cs typeface="Times New Roman"/>
              </a:rPr>
              <a:t>p_fichier</a:t>
            </a:r>
            <a:r>
              <a:rPr sz="2400" spc="-2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et</a:t>
            </a:r>
            <a:r>
              <a:rPr sz="2400" spc="-50" dirty="0">
                <a:latin typeface="+mj-lt"/>
                <a:cs typeface="Times New Roman"/>
              </a:rPr>
              <a:t> </a:t>
            </a:r>
            <a:r>
              <a:rPr sz="2400" spc="-25" dirty="0">
                <a:latin typeface="+mj-lt"/>
                <a:cs typeface="Times New Roman"/>
              </a:rPr>
              <a:t>les</a:t>
            </a:r>
            <a:endParaRPr sz="2400" dirty="0">
              <a:latin typeface="+mj-lt"/>
              <a:cs typeface="Times New Roman"/>
            </a:endParaRPr>
          </a:p>
          <a:p>
            <a:pPr marL="756285"/>
            <a:r>
              <a:rPr sz="2400" dirty="0">
                <a:latin typeface="+mj-lt"/>
                <a:cs typeface="Times New Roman"/>
              </a:rPr>
              <a:t>lit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à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spc="-95" dirty="0">
                <a:latin typeface="+mj-lt"/>
                <a:cs typeface="Times New Roman"/>
              </a:rPr>
              <a:t>partir</a:t>
            </a:r>
            <a:r>
              <a:rPr sz="2400" spc="-5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spc="-30" dirty="0">
                <a:latin typeface="+mj-lt"/>
                <a:cs typeface="Times New Roman"/>
              </a:rPr>
              <a:t>l’adresse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+mj-lt"/>
                <a:cs typeface="Times New Roman"/>
              </a:rPr>
              <a:t>ptr</a:t>
            </a:r>
            <a:r>
              <a:rPr sz="2400" spc="-20" dirty="0">
                <a:latin typeface="+mj-lt"/>
                <a:cs typeface="Times New Roman"/>
              </a:rPr>
              <a:t>.</a:t>
            </a:r>
            <a:endParaRPr sz="2400" dirty="0">
              <a:latin typeface="+mj-lt"/>
              <a:cs typeface="Times New Roman"/>
            </a:endParaRPr>
          </a:p>
          <a:p>
            <a:pPr marL="756285" lvl="1" indent="-286385">
              <a:spcBef>
                <a:spcPts val="57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6285" algn="l"/>
              </a:tabLst>
            </a:pPr>
            <a:r>
              <a:rPr sz="2400" spc="-45" dirty="0">
                <a:latin typeface="+mj-lt"/>
                <a:cs typeface="Times New Roman"/>
              </a:rPr>
              <a:t>retourne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nombre</a:t>
            </a:r>
            <a:r>
              <a:rPr sz="2400" spc="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blocs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effectivement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25" dirty="0">
                <a:latin typeface="+mj-lt"/>
                <a:cs typeface="Times New Roman"/>
              </a:rPr>
              <a:t>lu.</a:t>
            </a:r>
            <a:endParaRPr sz="2400" dirty="0">
              <a:latin typeface="+mj-lt"/>
              <a:cs typeface="Times New Roman"/>
            </a:endParaRPr>
          </a:p>
          <a:p>
            <a:pPr marL="774700">
              <a:spcBef>
                <a:spcPts val="575"/>
              </a:spcBef>
            </a:pPr>
            <a:r>
              <a:rPr sz="2400" spc="-95" dirty="0">
                <a:latin typeface="+mj-lt"/>
                <a:cs typeface="Times New Roman"/>
              </a:rPr>
              <a:t>erreur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si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50" dirty="0">
                <a:latin typeface="+mj-lt"/>
                <a:cs typeface="Times New Roman"/>
              </a:rPr>
              <a:t>ce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nombre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retourné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est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35" dirty="0">
                <a:latin typeface="+mj-lt"/>
                <a:cs typeface="Times New Roman"/>
              </a:rPr>
              <a:t>différent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+mj-lt"/>
                <a:cs typeface="Times New Roman"/>
              </a:rPr>
              <a:t>nbloc</a:t>
            </a:r>
            <a:r>
              <a:rPr sz="2400" dirty="0">
                <a:latin typeface="+mj-lt"/>
                <a:cs typeface="Times New Roman"/>
              </a:rPr>
              <a:t>.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Cette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40" dirty="0">
                <a:latin typeface="+mj-lt"/>
                <a:cs typeface="Times New Roman"/>
              </a:rPr>
              <a:t>erreur</a:t>
            </a:r>
            <a:endParaRPr sz="2400" dirty="0">
              <a:latin typeface="+mj-lt"/>
              <a:cs typeface="Times New Roman"/>
            </a:endParaRPr>
          </a:p>
          <a:p>
            <a:pPr marL="756285"/>
            <a:r>
              <a:rPr sz="2400" dirty="0">
                <a:latin typeface="+mj-lt"/>
                <a:cs typeface="Times New Roman"/>
              </a:rPr>
              <a:t>peut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être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la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spc="-35" dirty="0">
                <a:latin typeface="+mj-lt"/>
                <a:cs typeface="Times New Roman"/>
              </a:rPr>
              <a:t>rencontre</a:t>
            </a:r>
            <a:r>
              <a:rPr sz="2400" spc="-7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la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fin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du</a:t>
            </a:r>
            <a:r>
              <a:rPr sz="2400" spc="-6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fichier.</a:t>
            </a:r>
            <a:endParaRPr sz="2400" dirty="0">
              <a:latin typeface="+mj-lt"/>
              <a:cs typeface="Times New Roman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B328BF4-0CDD-72D8-68ED-5F12AC2D7F4B}"/>
              </a:ext>
            </a:extLst>
          </p:cNvPr>
          <p:cNvSpPr txBox="1">
            <a:spLocks/>
          </p:cNvSpPr>
          <p:nvPr/>
        </p:nvSpPr>
        <p:spPr>
          <a:xfrm>
            <a:off x="440436" y="614172"/>
            <a:ext cx="11309985" cy="125483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4000" spc="-30" dirty="0">
                <a:solidFill>
                  <a:schemeClr val="bg1"/>
                </a:solidFill>
              </a:rPr>
              <a:t>Lecture</a:t>
            </a:r>
            <a:r>
              <a:rPr lang="fr-FR" sz="4000" spc="-135" dirty="0">
                <a:solidFill>
                  <a:schemeClr val="bg1"/>
                </a:solidFill>
              </a:rPr>
              <a:t> </a:t>
            </a:r>
            <a:r>
              <a:rPr lang="fr-FR" sz="4000" dirty="0">
                <a:solidFill>
                  <a:schemeClr val="bg1"/>
                </a:solidFill>
              </a:rPr>
              <a:t>avec</a:t>
            </a:r>
            <a:r>
              <a:rPr lang="fr-FR" sz="4000" spc="-135" dirty="0">
                <a:solidFill>
                  <a:schemeClr val="bg1"/>
                </a:solidFill>
              </a:rPr>
              <a:t> </a:t>
            </a:r>
            <a:r>
              <a:rPr lang="fr-FR" sz="4000" spc="-85" dirty="0" err="1">
                <a:solidFill>
                  <a:schemeClr val="bg1"/>
                </a:solidFill>
              </a:rPr>
              <a:t>fread</a:t>
            </a:r>
            <a:endParaRPr lang="fr-FR" sz="4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192" y="919794"/>
            <a:ext cx="6605088" cy="627736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45" dirty="0"/>
              <a:t>Ecriture</a:t>
            </a:r>
            <a:r>
              <a:rPr sz="4000" spc="-120" dirty="0"/>
              <a:t> </a:t>
            </a:r>
            <a:r>
              <a:rPr sz="4000" dirty="0"/>
              <a:t>avec</a:t>
            </a:r>
            <a:r>
              <a:rPr sz="4000" spc="-135" dirty="0"/>
              <a:t> </a:t>
            </a:r>
            <a:r>
              <a:rPr sz="4000" spc="-80" dirty="0"/>
              <a:t>fwrite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123767" y="2040830"/>
            <a:ext cx="10197375" cy="342856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spc="-25" dirty="0">
                <a:latin typeface="+mj-lt"/>
                <a:cs typeface="Times New Roman"/>
              </a:rPr>
              <a:t>Prototype</a:t>
            </a:r>
            <a:r>
              <a:rPr sz="2400" spc="-95" dirty="0"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:</a:t>
            </a:r>
            <a:endParaRPr sz="2400" dirty="0">
              <a:latin typeface="+mj-lt"/>
              <a:cs typeface="Times New Roman"/>
            </a:endParaRPr>
          </a:p>
          <a:p>
            <a:pPr marL="64135" algn="ctr">
              <a:spcBef>
                <a:spcPts val="555"/>
              </a:spcBef>
            </a:pP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size_t</a:t>
            </a:r>
            <a:r>
              <a:rPr sz="2300" spc="-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300" spc="-10" dirty="0">
                <a:solidFill>
                  <a:srgbClr val="0000CC"/>
                </a:solidFill>
                <a:latin typeface="+mj-lt"/>
                <a:cs typeface="Times New Roman"/>
              </a:rPr>
              <a:t>fwrite(const</a:t>
            </a:r>
            <a:r>
              <a:rPr sz="2300" spc="-1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void</a:t>
            </a:r>
            <a:r>
              <a:rPr sz="2300" spc="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300" spc="-50" dirty="0">
                <a:solidFill>
                  <a:srgbClr val="0000CC"/>
                </a:solidFill>
                <a:latin typeface="+mj-lt"/>
                <a:cs typeface="Times New Roman"/>
              </a:rPr>
              <a:t>*</a:t>
            </a:r>
            <a:r>
              <a:rPr sz="2300" spc="-50" dirty="0">
                <a:latin typeface="+mj-lt"/>
                <a:cs typeface="Times New Roman"/>
              </a:rPr>
              <a:t>ptr</a:t>
            </a:r>
            <a:r>
              <a:rPr sz="2300" spc="-50" dirty="0">
                <a:solidFill>
                  <a:srgbClr val="0000CC"/>
                </a:solidFill>
                <a:latin typeface="+mj-lt"/>
                <a:cs typeface="Times New Roman"/>
              </a:rPr>
              <a:t>,</a:t>
            </a: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 size_t </a:t>
            </a:r>
            <a:r>
              <a:rPr sz="2300" dirty="0">
                <a:latin typeface="+mj-lt"/>
                <a:cs typeface="Times New Roman"/>
              </a:rPr>
              <a:t>taille</a:t>
            </a: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, size_t</a:t>
            </a:r>
            <a:r>
              <a:rPr sz="2300" spc="-1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nbloc</a:t>
            </a: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, FILE</a:t>
            </a:r>
            <a:r>
              <a:rPr sz="2300" spc="-1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300" dirty="0">
                <a:solidFill>
                  <a:srgbClr val="0000CC"/>
                </a:solidFill>
                <a:latin typeface="+mj-lt"/>
                <a:cs typeface="Times New Roman"/>
              </a:rPr>
              <a:t>*</a:t>
            </a:r>
            <a:r>
              <a:rPr sz="2300" spc="-7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000" spc="-10" dirty="0">
                <a:latin typeface="+mj-lt"/>
                <a:cs typeface="Times New Roman"/>
              </a:rPr>
              <a:t>p_fichier</a:t>
            </a:r>
            <a:r>
              <a:rPr sz="2300" spc="-10" dirty="0">
                <a:solidFill>
                  <a:srgbClr val="0000CC"/>
                </a:solidFill>
                <a:latin typeface="+mj-lt"/>
                <a:cs typeface="Times New Roman"/>
              </a:rPr>
              <a:t>);</a:t>
            </a:r>
            <a:endParaRPr sz="2300" dirty="0">
              <a:latin typeface="+mj-lt"/>
              <a:cs typeface="Times New Roman"/>
            </a:endParaRPr>
          </a:p>
          <a:p>
            <a:pPr>
              <a:spcBef>
                <a:spcPts val="1245"/>
              </a:spcBef>
            </a:pPr>
            <a:endParaRPr sz="2300" dirty="0">
              <a:latin typeface="+mj-lt"/>
              <a:cs typeface="Times New Roman"/>
            </a:endParaRPr>
          </a:p>
          <a:p>
            <a:pPr marL="354965" indent="-342265"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+mj-lt"/>
                <a:cs typeface="Times New Roman"/>
              </a:rPr>
              <a:t>La</a:t>
            </a:r>
            <a:r>
              <a:rPr sz="2400" spc="-7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fonction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spc="-55" dirty="0">
                <a:solidFill>
                  <a:srgbClr val="0000CC"/>
                </a:solidFill>
                <a:latin typeface="+mj-lt"/>
                <a:cs typeface="Times New Roman"/>
              </a:rPr>
              <a:t>fwrite</a:t>
            </a:r>
            <a:r>
              <a:rPr sz="2400" spc="-8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spc="-50" dirty="0">
                <a:latin typeface="+mj-lt"/>
                <a:cs typeface="Times New Roman"/>
              </a:rPr>
              <a:t>:</a:t>
            </a:r>
            <a:endParaRPr sz="2400" dirty="0">
              <a:latin typeface="+mj-lt"/>
              <a:cs typeface="Times New Roman"/>
            </a:endParaRPr>
          </a:p>
          <a:p>
            <a:pPr marL="756285" marR="363220" lvl="1" indent="-287020">
              <a:spcBef>
                <a:spcPts val="57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6285" algn="l"/>
              </a:tabLst>
            </a:pPr>
            <a:r>
              <a:rPr sz="2400" spc="-20" dirty="0">
                <a:latin typeface="+mj-lt"/>
                <a:cs typeface="Times New Roman"/>
              </a:rPr>
              <a:t>écrit</a:t>
            </a:r>
            <a:r>
              <a:rPr sz="2400" spc="-30" dirty="0">
                <a:latin typeface="+mj-lt"/>
                <a:cs typeface="Times New Roman"/>
              </a:rPr>
              <a:t> </a:t>
            </a:r>
            <a:r>
              <a:rPr sz="2400" dirty="0">
                <a:solidFill>
                  <a:srgbClr val="0000CC"/>
                </a:solidFill>
                <a:latin typeface="+mj-lt"/>
                <a:cs typeface="Times New Roman"/>
              </a:rPr>
              <a:t>nbloc</a:t>
            </a:r>
            <a:r>
              <a:rPr sz="2400" spc="-1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(le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plus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souvent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55" dirty="0">
                <a:latin typeface="+mj-lt"/>
                <a:cs typeface="Times New Roman"/>
              </a:rPr>
              <a:t>1)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taille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+mj-lt"/>
                <a:cs typeface="Times New Roman"/>
              </a:rPr>
              <a:t>taille</a:t>
            </a:r>
            <a:r>
              <a:rPr sz="2400" spc="-30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situés</a:t>
            </a:r>
            <a:r>
              <a:rPr sz="2400" spc="-1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à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l’adresse </a:t>
            </a:r>
            <a:r>
              <a:rPr sz="2400" spc="-85" dirty="0">
                <a:solidFill>
                  <a:srgbClr val="0000CC"/>
                </a:solidFill>
                <a:latin typeface="+mj-lt"/>
                <a:cs typeface="Times New Roman"/>
              </a:rPr>
              <a:t>ptr</a:t>
            </a:r>
            <a:r>
              <a:rPr sz="2400" spc="-55" dirty="0">
                <a:solidFill>
                  <a:srgbClr val="0000CC"/>
                </a:solidFill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dans</a:t>
            </a:r>
            <a:r>
              <a:rPr sz="2400" spc="-5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</a:t>
            </a:r>
            <a:r>
              <a:rPr sz="2400" spc="-6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flux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+mj-lt"/>
                <a:cs typeface="Times New Roman"/>
              </a:rPr>
              <a:t>p_fichier</a:t>
            </a:r>
            <a:r>
              <a:rPr sz="2400" spc="-10" dirty="0">
                <a:latin typeface="+mj-lt"/>
                <a:cs typeface="Times New Roman"/>
              </a:rPr>
              <a:t>.</a:t>
            </a:r>
            <a:endParaRPr sz="2400" dirty="0">
              <a:latin typeface="+mj-lt"/>
              <a:cs typeface="Times New Roman"/>
            </a:endParaRPr>
          </a:p>
          <a:p>
            <a:pPr marL="755650" marR="1896745" lvl="1" indent="-286385">
              <a:lnSpc>
                <a:spcPct val="120000"/>
              </a:lnSpc>
              <a:buClr>
                <a:srgbClr val="9999CC"/>
              </a:buClr>
              <a:buSzPct val="79166"/>
              <a:buFont typeface="Wingdings"/>
              <a:buChar char=""/>
              <a:tabLst>
                <a:tab pos="774700" algn="l"/>
              </a:tabLst>
            </a:pPr>
            <a:r>
              <a:rPr sz="2400" spc="-45" dirty="0">
                <a:latin typeface="+mj-lt"/>
                <a:cs typeface="Times New Roman"/>
              </a:rPr>
              <a:t>retourne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le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spc="-20" dirty="0">
                <a:latin typeface="+mj-lt"/>
                <a:cs typeface="Times New Roman"/>
              </a:rPr>
              <a:t>nombre</a:t>
            </a:r>
            <a:r>
              <a:rPr sz="2400" spc="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blocs</a:t>
            </a:r>
            <a:r>
              <a:rPr sz="2400" spc="-1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effectivement</a:t>
            </a:r>
            <a:r>
              <a:rPr sz="2400" spc="-3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écrits. 	</a:t>
            </a:r>
            <a:r>
              <a:rPr sz="2400" spc="-105" dirty="0">
                <a:latin typeface="+mj-lt"/>
                <a:cs typeface="Times New Roman"/>
              </a:rPr>
              <a:t>erreur</a:t>
            </a:r>
            <a:r>
              <a:rPr sz="2400" spc="-3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si</a:t>
            </a:r>
            <a:r>
              <a:rPr sz="2400" spc="-20" dirty="0">
                <a:latin typeface="+mj-lt"/>
                <a:cs typeface="Times New Roman"/>
              </a:rPr>
              <a:t> </a:t>
            </a:r>
            <a:r>
              <a:rPr sz="2400" spc="55" dirty="0">
                <a:latin typeface="+mj-lt"/>
                <a:cs typeface="Times New Roman"/>
              </a:rPr>
              <a:t>ce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nombre est</a:t>
            </a:r>
            <a:r>
              <a:rPr sz="2400" spc="-25" dirty="0">
                <a:latin typeface="+mj-lt"/>
                <a:cs typeface="Times New Roman"/>
              </a:rPr>
              <a:t> </a:t>
            </a:r>
            <a:r>
              <a:rPr sz="2400" spc="-35" dirty="0">
                <a:latin typeface="+mj-lt"/>
                <a:cs typeface="Times New Roman"/>
              </a:rPr>
              <a:t>différent</a:t>
            </a:r>
            <a:r>
              <a:rPr sz="2400" spc="-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de</a:t>
            </a:r>
            <a:r>
              <a:rPr sz="2400" spc="-15" dirty="0">
                <a:latin typeface="+mj-lt"/>
                <a:cs typeface="Times New Roman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+mj-lt"/>
                <a:cs typeface="Times New Roman"/>
              </a:rPr>
              <a:t>nbloc</a:t>
            </a:r>
            <a:r>
              <a:rPr sz="2400" spc="-10" dirty="0">
                <a:latin typeface="+mj-lt"/>
                <a:cs typeface="Times New Roman"/>
              </a:rPr>
              <a:t>.</a:t>
            </a:r>
            <a:endParaRPr sz="2400" dirty="0">
              <a:latin typeface="+mj-lt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9AB2A5B-CA42-47A0-24D7-BCFE1E0C2A35}"/>
              </a:ext>
            </a:extLst>
          </p:cNvPr>
          <p:cNvSpPr txBox="1">
            <a:spLocks/>
          </p:cNvSpPr>
          <p:nvPr/>
        </p:nvSpPr>
        <p:spPr>
          <a:xfrm>
            <a:off x="440436" y="614172"/>
            <a:ext cx="11309985" cy="1254831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4000" spc="-30" dirty="0">
                <a:solidFill>
                  <a:schemeClr val="bg1"/>
                </a:solidFill>
              </a:rPr>
              <a:t>Ecriture</a:t>
            </a:r>
            <a:r>
              <a:rPr lang="fr-FR" sz="4000" spc="-135" dirty="0">
                <a:solidFill>
                  <a:schemeClr val="bg1"/>
                </a:solidFill>
              </a:rPr>
              <a:t> </a:t>
            </a:r>
            <a:r>
              <a:rPr lang="fr-FR" sz="4000" dirty="0">
                <a:solidFill>
                  <a:schemeClr val="bg1"/>
                </a:solidFill>
              </a:rPr>
              <a:t>avec</a:t>
            </a:r>
            <a:r>
              <a:rPr lang="fr-FR" sz="4000" spc="-135" dirty="0">
                <a:solidFill>
                  <a:schemeClr val="bg1"/>
                </a:solidFill>
              </a:rPr>
              <a:t> </a:t>
            </a:r>
            <a:r>
              <a:rPr lang="fr-FR" sz="4000" spc="-85" dirty="0" err="1">
                <a:solidFill>
                  <a:schemeClr val="bg1"/>
                </a:solidFill>
              </a:rPr>
              <a:t>fwrite</a:t>
            </a:r>
            <a:endParaRPr lang="fr-FR" sz="4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2407246"/>
            <a:ext cx="7335520" cy="2043508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algn="ctr">
              <a:spcBef>
                <a:spcPts val="95"/>
              </a:spcBef>
            </a:pPr>
            <a:r>
              <a:rPr lang="fr-FR" sz="66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ll Sans MT" panose="020B0502020104020203" pitchFamily="34" charset="0"/>
              </a:rPr>
              <a:t>Mise à jour des fichiers séquentiels</a:t>
            </a:r>
            <a:endParaRPr sz="6600" dirty="0">
              <a:ln w="0"/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3606300" y="6032261"/>
            <a:ext cx="1052510" cy="212879"/>
          </a:xfrm>
          <a:prstGeom prst="rect">
            <a:avLst/>
          </a:prstGeom>
        </p:spPr>
        <p:txBody>
          <a:bodyPr vert="horz" wrap="square" lIns="0" tIns="27940" rIns="0" bIns="0" rtlCol="0" anchor="ctr">
            <a:spAutoFit/>
          </a:bodyPr>
          <a:lstStyle/>
          <a:p>
            <a:pPr marL="38100">
              <a:spcBef>
                <a:spcPts val="220"/>
              </a:spcBef>
            </a:pPr>
            <a:fld id="{81D60167-4931-47E6-BA6A-407CBD079E47}" type="slidenum">
              <a:rPr spc="-25" dirty="0"/>
              <a:pPr marL="38100">
                <a:spcBef>
                  <a:spcPts val="220"/>
                </a:spcBef>
              </a:pPr>
              <a:t>20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471947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46976" y="2107656"/>
            <a:ext cx="10500737" cy="2982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spcBef>
                <a:spcPts val="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800" spc="-65" dirty="0">
                <a:latin typeface="Gill Sans MT" panose="020B0502020104020203" pitchFamily="34" charset="0"/>
                <a:cs typeface="Times New Roman"/>
              </a:rPr>
              <a:t>Ajouter</a:t>
            </a:r>
            <a:r>
              <a:rPr sz="28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8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enregistrement</a:t>
            </a:r>
            <a:r>
              <a:rPr sz="28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8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8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8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(au</a:t>
            </a:r>
            <a:r>
              <a:rPr sz="28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début,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50" dirty="0">
                <a:latin typeface="Gill Sans MT" panose="020B0502020104020203" pitchFamily="34" charset="0"/>
                <a:cs typeface="Times New Roman"/>
              </a:rPr>
              <a:t>à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8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fin</a:t>
            </a:r>
            <a:r>
              <a:rPr sz="2800" spc="-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ou</a:t>
            </a:r>
            <a:r>
              <a:rPr sz="2800" spc="-6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au</a:t>
            </a:r>
            <a:r>
              <a:rPr sz="28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milieu).</a:t>
            </a:r>
            <a:endParaRPr sz="2800" dirty="0">
              <a:latin typeface="Gill Sans MT" panose="020B0502020104020203" pitchFamily="34" charset="0"/>
              <a:cs typeface="Times New Roman"/>
            </a:endParaRPr>
          </a:p>
          <a:p>
            <a:pPr>
              <a:spcBef>
                <a:spcPts val="1485"/>
              </a:spcBef>
              <a:buClr>
                <a:srgbClr val="00007C"/>
              </a:buClr>
              <a:buFont typeface="Wingdings"/>
              <a:buChar char=""/>
            </a:pPr>
            <a:endParaRPr sz="2800" dirty="0">
              <a:latin typeface="Gill Sans MT" panose="020B0502020104020203" pitchFamily="34" charset="0"/>
              <a:cs typeface="Times New Roman"/>
            </a:endParaRPr>
          </a:p>
          <a:p>
            <a:pPr marL="354965" indent="-342265"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800" spc="-65" dirty="0">
                <a:latin typeface="Gill Sans MT" panose="020B0502020104020203" pitchFamily="34" charset="0"/>
                <a:cs typeface="Times New Roman"/>
              </a:rPr>
              <a:t>Supprimer</a:t>
            </a:r>
            <a:r>
              <a:rPr sz="2800" spc="-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800" spc="-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20" dirty="0">
                <a:latin typeface="Gill Sans MT" panose="020B0502020104020203" pitchFamily="34" charset="0"/>
                <a:cs typeface="Times New Roman"/>
              </a:rPr>
              <a:t>enregistrement</a:t>
            </a:r>
            <a:r>
              <a:rPr sz="2800" spc="-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50" dirty="0">
                <a:latin typeface="Gill Sans MT" panose="020B0502020104020203" pitchFamily="34" charset="0"/>
                <a:cs typeface="Times New Roman"/>
              </a:rPr>
              <a:t>d’un</a:t>
            </a:r>
            <a:r>
              <a:rPr sz="2800" spc="-6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800" dirty="0">
              <a:latin typeface="Gill Sans MT" panose="020B0502020104020203" pitchFamily="34" charset="0"/>
              <a:cs typeface="Times New Roman"/>
            </a:endParaRPr>
          </a:p>
          <a:p>
            <a:pPr>
              <a:spcBef>
                <a:spcPts val="1485"/>
              </a:spcBef>
              <a:buClr>
                <a:srgbClr val="00007C"/>
              </a:buClr>
              <a:buFont typeface="Wingdings"/>
              <a:buChar char=""/>
            </a:pPr>
            <a:endParaRPr sz="2800" dirty="0">
              <a:latin typeface="Gill Sans MT" panose="020B0502020104020203" pitchFamily="34" charset="0"/>
              <a:cs typeface="Times New Roman"/>
            </a:endParaRPr>
          </a:p>
          <a:p>
            <a:pPr marL="354965" indent="-342265">
              <a:spcBef>
                <a:spcPts val="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800" spc="-30" dirty="0">
                <a:latin typeface="Gill Sans MT" panose="020B0502020104020203" pitchFamily="34" charset="0"/>
                <a:cs typeface="Times New Roman"/>
              </a:rPr>
              <a:t>Modifier</a:t>
            </a:r>
            <a:r>
              <a:rPr sz="2800" spc="-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800" spc="-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enregistrement</a:t>
            </a:r>
            <a:r>
              <a:rPr sz="2800" spc="-7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800" spc="-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800" spc="-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8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800" dirty="0">
              <a:latin typeface="Gill Sans MT" panose="020B0502020104020203" pitchFamily="34" charset="0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87CEDE6-D024-7D14-0859-E6587977026B}"/>
              </a:ext>
            </a:extLst>
          </p:cNvPr>
          <p:cNvSpPr txBox="1">
            <a:spLocks/>
          </p:cNvSpPr>
          <p:nvPr/>
        </p:nvSpPr>
        <p:spPr>
          <a:xfrm>
            <a:off x="441007" y="581198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dirty="0">
                <a:solidFill>
                  <a:schemeClr val="bg1"/>
                </a:solidFill>
              </a:rPr>
              <a:t>Mise</a:t>
            </a:r>
            <a:r>
              <a:rPr lang="fr-FR" sz="2800" spc="-85" dirty="0">
                <a:solidFill>
                  <a:schemeClr val="bg1"/>
                </a:solidFill>
              </a:rPr>
              <a:t> </a:t>
            </a:r>
            <a:r>
              <a:rPr lang="fr-FR" sz="2800" dirty="0">
                <a:solidFill>
                  <a:schemeClr val="bg1"/>
                </a:solidFill>
              </a:rPr>
              <a:t>à</a:t>
            </a:r>
            <a:r>
              <a:rPr lang="fr-FR" sz="2800" spc="-80" dirty="0">
                <a:solidFill>
                  <a:schemeClr val="bg1"/>
                </a:solidFill>
              </a:rPr>
              <a:t> </a:t>
            </a:r>
            <a:r>
              <a:rPr lang="fr-FR" sz="2800" spc="-130" dirty="0">
                <a:solidFill>
                  <a:schemeClr val="bg1"/>
                </a:solidFill>
              </a:rPr>
              <a:t>jour</a:t>
            </a:r>
            <a:r>
              <a:rPr lang="fr-FR" sz="2800" spc="-80" dirty="0">
                <a:solidFill>
                  <a:schemeClr val="bg1"/>
                </a:solidFill>
              </a:rPr>
              <a:t> </a:t>
            </a:r>
            <a:r>
              <a:rPr lang="fr-FR" sz="2800" spc="-55" dirty="0">
                <a:solidFill>
                  <a:schemeClr val="bg1"/>
                </a:solidFill>
              </a:rPr>
              <a:t>d’un</a:t>
            </a:r>
            <a:r>
              <a:rPr lang="fr-FR" sz="2800" spc="-85" dirty="0">
                <a:solidFill>
                  <a:schemeClr val="bg1"/>
                </a:solidFill>
              </a:rPr>
              <a:t> </a:t>
            </a:r>
            <a:r>
              <a:rPr lang="fr-FR" sz="2800" spc="-20" dirty="0">
                <a:solidFill>
                  <a:schemeClr val="bg1"/>
                </a:solidFill>
              </a:rPr>
              <a:t>fichier</a:t>
            </a:r>
            <a:r>
              <a:rPr lang="fr-FR" sz="2800" spc="-80" dirty="0">
                <a:solidFill>
                  <a:schemeClr val="bg1"/>
                </a:solidFill>
              </a:rPr>
              <a:t> </a:t>
            </a:r>
            <a:r>
              <a:rPr lang="fr-FR" sz="2800" spc="-10" dirty="0">
                <a:solidFill>
                  <a:schemeClr val="bg1"/>
                </a:solidFill>
              </a:rPr>
              <a:t>séquentiel</a:t>
            </a:r>
            <a:endParaRPr lang="fr-F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192" y="545956"/>
            <a:ext cx="11029616" cy="1028487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0014">
              <a:spcBef>
                <a:spcPts val="100"/>
              </a:spcBef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31214" y="1949524"/>
            <a:ext cx="10309672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  <a:tab pos="981710" algn="l"/>
                <a:tab pos="2059939" algn="l"/>
                <a:tab pos="3453765" algn="l"/>
                <a:tab pos="4432300" algn="l"/>
                <a:tab pos="4954270" algn="l"/>
                <a:tab pos="7087234" algn="l"/>
                <a:tab pos="7882255" algn="l"/>
              </a:tabLst>
            </a:pPr>
            <a:r>
              <a:rPr sz="2400" spc="-25" dirty="0">
                <a:latin typeface="Gill Sans MT" panose="020B0502020104020203" pitchFamily="34" charset="0"/>
                <a:cs typeface="Times New Roman"/>
              </a:rPr>
              <a:t>Par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défaut,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lorsqu’on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ajoute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enregistrement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un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fichier,</a:t>
            </a:r>
            <a:r>
              <a:rPr sz="2400" spc="-7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il</a:t>
            </a:r>
            <a:r>
              <a:rPr sz="24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s’ajoute</a:t>
            </a:r>
            <a:r>
              <a:rPr sz="24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la</a:t>
            </a:r>
            <a:r>
              <a:rPr sz="2400" spc="-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fin.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5600" indent="-342900"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ouvre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 le</a:t>
            </a:r>
            <a:r>
              <a:rPr sz="24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4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en</a:t>
            </a:r>
            <a:r>
              <a:rPr sz="24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mode </a:t>
            </a:r>
            <a:r>
              <a:rPr sz="2400" spc="-20" dirty="0">
                <a:solidFill>
                  <a:srgbClr val="0000D3"/>
                </a:solidFill>
                <a:latin typeface="Gill Sans MT" panose="020B0502020104020203" pitchFamily="34" charset="0"/>
                <a:cs typeface="Times New Roman"/>
              </a:rPr>
              <a:t>"a".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5600" indent="-342900"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-6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ajoute</a:t>
            </a:r>
            <a:r>
              <a:rPr sz="24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400" spc="-5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4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enregistrement.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7112" y="3733120"/>
            <a:ext cx="4505325" cy="267652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A6BCC722-174B-29B4-A4C2-1B2FA8B875DC}"/>
              </a:ext>
            </a:extLst>
          </p:cNvPr>
          <p:cNvSpPr txBox="1">
            <a:spLocks/>
          </p:cNvSpPr>
          <p:nvPr/>
        </p:nvSpPr>
        <p:spPr>
          <a:xfrm>
            <a:off x="441007" y="581198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spc="-110" dirty="0">
                <a:solidFill>
                  <a:schemeClr val="bg1"/>
                </a:solidFill>
                <a:latin typeface="Gill Sans MT" panose="020B0502020104020203" pitchFamily="34" charset="0"/>
              </a:rPr>
              <a:t>Ajouter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un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20" dirty="0">
                <a:solidFill>
                  <a:schemeClr val="bg1"/>
                </a:solidFill>
                <a:latin typeface="Gill Sans MT" panose="020B0502020104020203" pitchFamily="34" charset="0"/>
              </a:rPr>
              <a:t>enregistrement</a:t>
            </a:r>
            <a:r>
              <a:rPr lang="fr-FR" sz="2800" spc="-105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à</a:t>
            </a:r>
            <a:r>
              <a:rPr lang="fr-FR" sz="2800" spc="-85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la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fin</a:t>
            </a:r>
            <a:r>
              <a:rPr lang="fr-FR" sz="2800" spc="-1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du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10" dirty="0">
                <a:solidFill>
                  <a:schemeClr val="bg1"/>
                </a:solidFill>
                <a:latin typeface="Gill Sans MT" panose="020B0502020104020203" pitchFamily="34" charset="0"/>
              </a:rPr>
              <a:t>fichier</a:t>
            </a:r>
            <a:endParaRPr lang="fr-FR" sz="28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698" y="908411"/>
            <a:ext cx="11029616" cy="535403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0014">
              <a:spcBef>
                <a:spcPts val="95"/>
              </a:spcBef>
            </a:pPr>
            <a:r>
              <a:rPr sz="3400" spc="-95" dirty="0"/>
              <a:t>Ajouter</a:t>
            </a:r>
            <a:r>
              <a:rPr sz="3400" spc="-70" dirty="0"/>
              <a:t> </a:t>
            </a:r>
            <a:r>
              <a:rPr sz="3400" dirty="0"/>
              <a:t>un</a:t>
            </a:r>
            <a:r>
              <a:rPr sz="3400" spc="-100" dirty="0"/>
              <a:t> </a:t>
            </a:r>
            <a:r>
              <a:rPr sz="3400" spc="-20" dirty="0"/>
              <a:t>enregistrement</a:t>
            </a:r>
            <a:r>
              <a:rPr sz="3400" spc="-45" dirty="0"/>
              <a:t> </a:t>
            </a:r>
            <a:r>
              <a:rPr sz="3400" dirty="0"/>
              <a:t>au</a:t>
            </a:r>
            <a:r>
              <a:rPr sz="3400" spc="-95" dirty="0"/>
              <a:t> </a:t>
            </a:r>
            <a:r>
              <a:rPr sz="3400" dirty="0"/>
              <a:t>début</a:t>
            </a:r>
            <a:r>
              <a:rPr sz="3400" spc="-85" dirty="0"/>
              <a:t> </a:t>
            </a:r>
            <a:r>
              <a:rPr sz="3400" dirty="0"/>
              <a:t>du</a:t>
            </a:r>
            <a:r>
              <a:rPr sz="3400" spc="-95" dirty="0"/>
              <a:t> </a:t>
            </a:r>
            <a:r>
              <a:rPr sz="3400" spc="-10" dirty="0"/>
              <a:t>fichier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581192" y="1890192"/>
            <a:ext cx="10914122" cy="296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6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utilise</a:t>
            </a:r>
            <a:r>
              <a:rPr sz="2400" spc="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400" spc="7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400" spc="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400" spc="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qui</a:t>
            </a:r>
            <a:r>
              <a:rPr sz="2400" spc="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va</a:t>
            </a:r>
            <a:r>
              <a:rPr sz="2400" spc="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contenir</a:t>
            </a:r>
            <a:r>
              <a:rPr sz="2400" spc="8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l’enregistrement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5600"/>
            <a:r>
              <a:rPr sz="24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50" dirty="0">
                <a:latin typeface="Gill Sans MT" panose="020B0502020104020203" pitchFamily="34" charset="0"/>
                <a:cs typeface="Times New Roman"/>
              </a:rPr>
              <a:t>ajouter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et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les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enregistrements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5" dirty="0">
                <a:latin typeface="Gill Sans MT" panose="020B0502020104020203" pitchFamily="34" charset="0"/>
                <a:cs typeface="Times New Roman"/>
              </a:rPr>
              <a:t>l’ancien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4965" indent="-342265"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Donc,</a:t>
            </a:r>
            <a:r>
              <a:rPr sz="2400" spc="10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il</a:t>
            </a:r>
            <a:r>
              <a:rPr sz="2400" spc="9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faut: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527685" lvl="1" indent="-457200">
              <a:spcBef>
                <a:spcPts val="509"/>
              </a:spcBef>
              <a:buClr>
                <a:srgbClr val="00007C"/>
              </a:buClr>
              <a:buSzPct val="75000"/>
              <a:buAutoNum type="arabicParenR"/>
              <a:tabLst>
                <a:tab pos="527685" algn="l"/>
              </a:tabLst>
            </a:pPr>
            <a:r>
              <a:rPr sz="2000" spc="-80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l’ancien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mode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lecture.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527685" lvl="1" indent="-457200">
              <a:spcBef>
                <a:spcPts val="484"/>
              </a:spcBef>
              <a:buClr>
                <a:srgbClr val="00007C"/>
              </a:buClr>
              <a:buSzPct val="75000"/>
              <a:buAutoNum type="arabicParenR"/>
              <a:tabLst>
                <a:tab pos="527685" algn="l"/>
              </a:tabLst>
            </a:pPr>
            <a:r>
              <a:rPr sz="2000" spc="-75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nouveau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 mode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écriture.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527685" lvl="1" indent="-457200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527685" algn="l"/>
              </a:tabLst>
            </a:pPr>
            <a:r>
              <a:rPr sz="2000" spc="-25" dirty="0">
                <a:latin typeface="Gill Sans MT" panose="020B0502020104020203" pitchFamily="34" charset="0"/>
                <a:cs typeface="Times New Roman"/>
              </a:rPr>
              <a:t>Ecrire</a:t>
            </a:r>
            <a:r>
              <a:rPr sz="2000" spc="-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enregistrement</a:t>
            </a:r>
            <a:r>
              <a:rPr sz="2000" spc="-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000" spc="-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527685" marR="5080" lvl="1" indent="-457200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527685" algn="l"/>
              </a:tabLst>
            </a:pPr>
            <a:r>
              <a:rPr sz="2000" spc="-20" dirty="0">
                <a:latin typeface="Gill Sans MT" panose="020B0502020104020203" pitchFamily="34" charset="0"/>
                <a:cs typeface="Times New Roman"/>
              </a:rPr>
              <a:t>Copier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contenu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l’ancien fichier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dans le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fichier: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Lire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000" spc="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partir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l’ancien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et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les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écrire</a:t>
            </a:r>
            <a:r>
              <a:rPr sz="20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825343" y="4597674"/>
            <a:ext cx="3870471" cy="1857556"/>
            <a:chOff x="2342388" y="4149850"/>
            <a:chExt cx="4848225" cy="27082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2388" y="4149850"/>
              <a:ext cx="4847844" cy="27081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6650" y="4214811"/>
              <a:ext cx="4665599" cy="25717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87600" y="4195761"/>
              <a:ext cx="4704080" cy="2609850"/>
            </a:xfrm>
            <a:custGeom>
              <a:avLst/>
              <a:gdLst/>
              <a:ahLst/>
              <a:cxnLst/>
              <a:rect l="l" t="t" r="r" b="b"/>
              <a:pathLst>
                <a:path w="4704080" h="2609850">
                  <a:moveTo>
                    <a:pt x="0" y="2609849"/>
                  </a:moveTo>
                  <a:lnTo>
                    <a:pt x="4703826" y="2609849"/>
                  </a:lnTo>
                  <a:lnTo>
                    <a:pt x="4703826" y="0"/>
                  </a:lnTo>
                  <a:lnTo>
                    <a:pt x="0" y="0"/>
                  </a:lnTo>
                  <a:lnTo>
                    <a:pt x="0" y="260984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2">
            <a:extLst>
              <a:ext uri="{FF2B5EF4-FFF2-40B4-BE49-F238E27FC236}">
                <a16:creationId xmlns:a16="http://schemas.microsoft.com/office/drawing/2014/main" id="{F479ADFC-FBB0-7BE4-4027-E6C1373B949F}"/>
              </a:ext>
            </a:extLst>
          </p:cNvPr>
          <p:cNvSpPr txBox="1">
            <a:spLocks/>
          </p:cNvSpPr>
          <p:nvPr/>
        </p:nvSpPr>
        <p:spPr>
          <a:xfrm>
            <a:off x="465698" y="641029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spc="-110" dirty="0">
                <a:solidFill>
                  <a:schemeClr val="bg1"/>
                </a:solidFill>
                <a:latin typeface="Gill Sans MT" panose="020B0502020104020203" pitchFamily="34" charset="0"/>
              </a:rPr>
              <a:t>Ajouter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un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20" dirty="0">
                <a:solidFill>
                  <a:schemeClr val="bg1"/>
                </a:solidFill>
                <a:latin typeface="Gill Sans MT" panose="020B0502020104020203" pitchFamily="34" charset="0"/>
              </a:rPr>
              <a:t>enregistrement</a:t>
            </a:r>
            <a:r>
              <a:rPr lang="fr-FR" sz="2800" spc="-105" dirty="0">
                <a:solidFill>
                  <a:schemeClr val="bg1"/>
                </a:solidFill>
                <a:latin typeface="Gill Sans MT" panose="020B0502020104020203" pitchFamily="34" charset="0"/>
              </a:rPr>
              <a:t> au début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du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10" dirty="0">
                <a:solidFill>
                  <a:schemeClr val="bg1"/>
                </a:solidFill>
                <a:latin typeface="Gill Sans MT" panose="020B0502020104020203" pitchFamily="34" charset="0"/>
              </a:rPr>
              <a:t>fichier</a:t>
            </a:r>
            <a:endParaRPr lang="fr-FR" sz="28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00999" y="1824401"/>
            <a:ext cx="3526971" cy="1857830"/>
            <a:chOff x="2324097" y="4091931"/>
            <a:chExt cx="4785360" cy="2733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4097" y="4091931"/>
              <a:ext cx="4785365" cy="27325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9725" y="4143375"/>
              <a:ext cx="4621149" cy="2571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360675" y="4124323"/>
              <a:ext cx="4659630" cy="2609850"/>
            </a:xfrm>
            <a:custGeom>
              <a:avLst/>
              <a:gdLst/>
              <a:ahLst/>
              <a:cxnLst/>
              <a:rect l="l" t="t" r="r" b="b"/>
              <a:pathLst>
                <a:path w="4659630" h="2609850">
                  <a:moveTo>
                    <a:pt x="0" y="2609849"/>
                  </a:moveTo>
                  <a:lnTo>
                    <a:pt x="4659249" y="2609849"/>
                  </a:lnTo>
                  <a:lnTo>
                    <a:pt x="4659249" y="0"/>
                  </a:lnTo>
                  <a:lnTo>
                    <a:pt x="0" y="0"/>
                  </a:lnTo>
                  <a:lnTo>
                    <a:pt x="0" y="260984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6079" y="1920191"/>
            <a:ext cx="10721891" cy="33772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utilise</a:t>
            </a:r>
            <a:r>
              <a:rPr sz="24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4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400" spc="-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4965" indent="-342265"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procède</a:t>
            </a:r>
            <a:r>
              <a:rPr sz="2400" spc="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comme</a:t>
            </a:r>
            <a:r>
              <a:rPr sz="2400" spc="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20" dirty="0">
                <a:latin typeface="Gill Sans MT" panose="020B0502020104020203" pitchFamily="34" charset="0"/>
                <a:cs typeface="Times New Roman"/>
              </a:rPr>
              <a:t>suit: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505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spc="-80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l’ancien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spc="-1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mode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lecture,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4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spc="-75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mode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écriture,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900" marR="5080" indent="-457200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469900" algn="l"/>
                <a:tab pos="1458595" algn="l"/>
                <a:tab pos="2018030" algn="l"/>
                <a:tab pos="3347720" algn="l"/>
                <a:tab pos="4018279" algn="l"/>
                <a:tab pos="4545330" algn="l"/>
                <a:tab pos="5662930" algn="l"/>
                <a:tab pos="6614159" algn="l"/>
                <a:tab pos="7232650" algn="l"/>
              </a:tabLst>
            </a:pPr>
            <a:r>
              <a:rPr sz="2000" spc="-10" dirty="0">
                <a:latin typeface="Gill Sans MT" panose="020B0502020104020203" pitchFamily="34" charset="0"/>
                <a:cs typeface="Times New Roman"/>
              </a:rPr>
              <a:t>Copier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les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enregistrements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l'ancien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qui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précèdent 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l’enregistrement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ajouter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(faire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des</a:t>
            </a:r>
            <a:r>
              <a:rPr sz="2000" spc="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comparaisons),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spc="-25" dirty="0">
                <a:latin typeface="Gill Sans MT" panose="020B0502020104020203" pitchFamily="34" charset="0"/>
                <a:cs typeface="Times New Roman"/>
              </a:rPr>
              <a:t>Ecrire</a:t>
            </a:r>
            <a:r>
              <a:rPr sz="20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l’enregistrement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40" dirty="0">
                <a:latin typeface="Gill Sans MT" panose="020B0502020104020203" pitchFamily="34" charset="0"/>
                <a:cs typeface="Times New Roman"/>
              </a:rPr>
              <a:t>ajouter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dans</a:t>
            </a:r>
            <a:r>
              <a:rPr sz="20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-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6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  <a:tab pos="1341755" algn="l"/>
                <a:tab pos="1677035" algn="l"/>
                <a:tab pos="2339975" algn="l"/>
                <a:tab pos="2854960" algn="l"/>
                <a:tab pos="4735830" algn="l"/>
                <a:tab pos="5144770" algn="l"/>
                <a:tab pos="6144260" algn="l"/>
                <a:tab pos="6978015" algn="l"/>
                <a:tab pos="7389495" algn="l"/>
              </a:tabLst>
            </a:pPr>
            <a:r>
              <a:rPr sz="2000" spc="-10" dirty="0">
                <a:latin typeface="Gill Sans MT" panose="020B0502020104020203" pitchFamily="34" charset="0"/>
                <a:cs typeface="Times New Roman"/>
              </a:rPr>
              <a:t>Copier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reste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des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enregistrements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l'ancien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au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	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nouveau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900"/>
            <a:r>
              <a:rPr sz="20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6123785-99F7-0589-15F9-AD9E52CDE5A5}"/>
              </a:ext>
            </a:extLst>
          </p:cNvPr>
          <p:cNvSpPr txBox="1">
            <a:spLocks/>
          </p:cNvSpPr>
          <p:nvPr/>
        </p:nvSpPr>
        <p:spPr>
          <a:xfrm>
            <a:off x="465698" y="641029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spc="-110" dirty="0">
                <a:solidFill>
                  <a:schemeClr val="bg1"/>
                </a:solidFill>
                <a:latin typeface="Gill Sans MT" panose="020B0502020104020203" pitchFamily="34" charset="0"/>
              </a:rPr>
              <a:t>Ajouter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un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spc="-20" dirty="0">
                <a:solidFill>
                  <a:schemeClr val="bg1"/>
                </a:solidFill>
                <a:latin typeface="Gill Sans MT" panose="020B0502020104020203" pitchFamily="34" charset="0"/>
              </a:rPr>
              <a:t>enregistrement</a:t>
            </a:r>
            <a:r>
              <a:rPr lang="fr-FR" sz="2800" spc="-105" dirty="0">
                <a:solidFill>
                  <a:schemeClr val="bg1"/>
                </a:solidFill>
                <a:latin typeface="Gill Sans MT" panose="020B0502020104020203" pitchFamily="34" charset="0"/>
              </a:rPr>
              <a:t> dans un fichier trié</a:t>
            </a:r>
            <a:endParaRPr lang="fr-FR" sz="28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8900" y="870903"/>
            <a:ext cx="11013290" cy="627736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90" dirty="0"/>
              <a:t>Supprimer</a:t>
            </a:r>
            <a:r>
              <a:rPr sz="4000" spc="-110" dirty="0"/>
              <a:t> </a:t>
            </a:r>
            <a:r>
              <a:rPr sz="4000" dirty="0"/>
              <a:t>un</a:t>
            </a:r>
            <a:r>
              <a:rPr sz="4000" spc="-125" dirty="0"/>
              <a:t> </a:t>
            </a:r>
            <a:r>
              <a:rPr sz="4000" spc="-20" dirty="0"/>
              <a:t>enregistrement</a:t>
            </a:r>
            <a:r>
              <a:rPr sz="4000" spc="-110" dirty="0"/>
              <a:t> </a:t>
            </a:r>
            <a:r>
              <a:rPr sz="4000" spc="-55" dirty="0"/>
              <a:t>d’un</a:t>
            </a:r>
            <a:r>
              <a:rPr sz="4000" spc="-114" dirty="0"/>
              <a:t> </a:t>
            </a:r>
            <a:r>
              <a:rPr sz="4000" spc="-10" dirty="0"/>
              <a:t>fichier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36668" y="2457720"/>
            <a:ext cx="7135615" cy="2548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+mj-lt"/>
                <a:cs typeface="Times New Roman"/>
              </a:rPr>
              <a:t>On</a:t>
            </a:r>
            <a:r>
              <a:rPr sz="2400" spc="-5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utilise</a:t>
            </a:r>
            <a:r>
              <a:rPr sz="2400" spc="-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un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nouveau</a:t>
            </a:r>
            <a:r>
              <a:rPr sz="2400" spc="-40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fichier.</a:t>
            </a:r>
            <a:endParaRPr sz="2400" dirty="0">
              <a:latin typeface="+mj-lt"/>
              <a:cs typeface="Times New Roman"/>
            </a:endParaRPr>
          </a:p>
          <a:p>
            <a:pPr marL="354965" indent="-342265"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+mj-lt"/>
                <a:cs typeface="Times New Roman"/>
              </a:rPr>
              <a:t>On</a:t>
            </a:r>
            <a:r>
              <a:rPr sz="2400" spc="3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procède</a:t>
            </a:r>
            <a:r>
              <a:rPr sz="2400" spc="45" dirty="0">
                <a:latin typeface="+mj-lt"/>
                <a:cs typeface="Times New Roman"/>
              </a:rPr>
              <a:t> </a:t>
            </a:r>
            <a:r>
              <a:rPr sz="2400" dirty="0">
                <a:latin typeface="+mj-lt"/>
                <a:cs typeface="Times New Roman"/>
              </a:rPr>
              <a:t>comme</a:t>
            </a:r>
            <a:r>
              <a:rPr sz="2400" spc="45" dirty="0">
                <a:latin typeface="+mj-lt"/>
                <a:cs typeface="Times New Roman"/>
              </a:rPr>
              <a:t> </a:t>
            </a:r>
            <a:r>
              <a:rPr sz="2400" spc="-10" dirty="0">
                <a:latin typeface="+mj-lt"/>
                <a:cs typeface="Times New Roman"/>
              </a:rPr>
              <a:t>suit:</a:t>
            </a:r>
            <a:endParaRPr sz="2400" dirty="0">
              <a:latin typeface="+mj-lt"/>
              <a:cs typeface="Times New Roman"/>
            </a:endParaRPr>
          </a:p>
          <a:p>
            <a:pPr marL="469265" indent="-456565">
              <a:spcBef>
                <a:spcPts val="560"/>
              </a:spcBef>
              <a:buClr>
                <a:srgbClr val="00007C"/>
              </a:buClr>
              <a:buSzPct val="73913"/>
              <a:buAutoNum type="arabicParenR"/>
              <a:tabLst>
                <a:tab pos="469265" algn="l"/>
              </a:tabLst>
            </a:pPr>
            <a:r>
              <a:rPr sz="2300" spc="-90" dirty="0">
                <a:latin typeface="+mj-lt"/>
                <a:cs typeface="Times New Roman"/>
              </a:rPr>
              <a:t>Ouvrir</a:t>
            </a:r>
            <a:r>
              <a:rPr sz="2300" spc="-35" dirty="0">
                <a:latin typeface="+mj-lt"/>
                <a:cs typeface="Times New Roman"/>
              </a:rPr>
              <a:t> </a:t>
            </a:r>
            <a:r>
              <a:rPr sz="2300" spc="-10" dirty="0">
                <a:latin typeface="+mj-lt"/>
                <a:cs typeface="Times New Roman"/>
              </a:rPr>
              <a:t>l’ancien</a:t>
            </a:r>
            <a:r>
              <a:rPr sz="2300" spc="-5" dirty="0">
                <a:latin typeface="+mj-lt"/>
                <a:cs typeface="Times New Roman"/>
              </a:rPr>
              <a:t> </a:t>
            </a:r>
            <a:r>
              <a:rPr sz="2300" spc="-20" dirty="0">
                <a:latin typeface="+mj-lt"/>
                <a:cs typeface="Times New Roman"/>
              </a:rPr>
              <a:t>fichier</a:t>
            </a:r>
            <a:r>
              <a:rPr sz="2300" spc="-2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en</a:t>
            </a:r>
            <a:r>
              <a:rPr sz="2300" spc="-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mode</a:t>
            </a:r>
            <a:r>
              <a:rPr sz="2300" spc="-25" dirty="0">
                <a:latin typeface="+mj-lt"/>
                <a:cs typeface="Times New Roman"/>
              </a:rPr>
              <a:t> </a:t>
            </a:r>
            <a:r>
              <a:rPr sz="2300" spc="-10" dirty="0">
                <a:latin typeface="+mj-lt"/>
                <a:cs typeface="Times New Roman"/>
              </a:rPr>
              <a:t>lecture,</a:t>
            </a:r>
            <a:endParaRPr sz="2300" dirty="0">
              <a:latin typeface="+mj-lt"/>
              <a:cs typeface="Times New Roman"/>
            </a:endParaRPr>
          </a:p>
          <a:p>
            <a:pPr marL="469265" indent="-456565">
              <a:spcBef>
                <a:spcPts val="550"/>
              </a:spcBef>
              <a:buClr>
                <a:srgbClr val="00007C"/>
              </a:buClr>
              <a:buSzPct val="73913"/>
              <a:buAutoNum type="arabicParenR"/>
              <a:tabLst>
                <a:tab pos="469265" algn="l"/>
              </a:tabLst>
            </a:pPr>
            <a:r>
              <a:rPr sz="2300" spc="-90" dirty="0">
                <a:latin typeface="+mj-lt"/>
                <a:cs typeface="Times New Roman"/>
              </a:rPr>
              <a:t>Ouvrir</a:t>
            </a:r>
            <a:r>
              <a:rPr sz="2300" spc="-30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le</a:t>
            </a:r>
            <a:r>
              <a:rPr sz="2300" spc="-1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nouveau</a:t>
            </a:r>
            <a:r>
              <a:rPr sz="2300" spc="-30" dirty="0">
                <a:latin typeface="+mj-lt"/>
                <a:cs typeface="Times New Roman"/>
              </a:rPr>
              <a:t> </a:t>
            </a:r>
            <a:r>
              <a:rPr sz="2300" spc="-10" dirty="0">
                <a:latin typeface="+mj-lt"/>
                <a:cs typeface="Times New Roman"/>
              </a:rPr>
              <a:t>fichier</a:t>
            </a:r>
            <a:r>
              <a:rPr sz="2300" spc="-1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en</a:t>
            </a:r>
            <a:r>
              <a:rPr sz="2300" spc="-30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mode</a:t>
            </a:r>
            <a:r>
              <a:rPr sz="2300" spc="-15" dirty="0">
                <a:latin typeface="+mj-lt"/>
                <a:cs typeface="Times New Roman"/>
              </a:rPr>
              <a:t> </a:t>
            </a:r>
            <a:r>
              <a:rPr sz="2300" spc="-10" dirty="0">
                <a:latin typeface="+mj-lt"/>
                <a:cs typeface="Times New Roman"/>
              </a:rPr>
              <a:t>écriture,</a:t>
            </a:r>
            <a:endParaRPr sz="2300" dirty="0">
              <a:latin typeface="+mj-lt"/>
              <a:cs typeface="Times New Roman"/>
            </a:endParaRPr>
          </a:p>
          <a:p>
            <a:pPr marL="469900" marR="5080" indent="-457200">
              <a:spcBef>
                <a:spcPts val="555"/>
              </a:spcBef>
              <a:buClr>
                <a:srgbClr val="00007C"/>
              </a:buClr>
              <a:buSzPct val="73913"/>
              <a:buAutoNum type="arabicParenR"/>
              <a:tabLst>
                <a:tab pos="469900" algn="l"/>
                <a:tab pos="1459230" algn="l"/>
                <a:tab pos="2143125" algn="l"/>
                <a:tab pos="2633980" algn="l"/>
                <a:tab pos="4777105" algn="l"/>
                <a:tab pos="5231130" algn="l"/>
                <a:tab pos="6366510" algn="l"/>
                <a:tab pos="7312025" algn="l"/>
                <a:tab pos="7874634" algn="l"/>
              </a:tabLst>
            </a:pPr>
            <a:r>
              <a:rPr sz="2300" spc="-10" dirty="0">
                <a:latin typeface="+mj-lt"/>
                <a:cs typeface="Times New Roman"/>
              </a:rPr>
              <a:t>Copier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20" dirty="0">
                <a:latin typeface="+mj-lt"/>
                <a:cs typeface="Times New Roman"/>
              </a:rPr>
              <a:t>tous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25" dirty="0">
                <a:latin typeface="+mj-lt"/>
                <a:cs typeface="Times New Roman"/>
              </a:rPr>
              <a:t>les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10" dirty="0">
                <a:latin typeface="+mj-lt"/>
                <a:cs typeface="Times New Roman"/>
              </a:rPr>
              <a:t>enregistrements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25" dirty="0">
                <a:latin typeface="+mj-lt"/>
                <a:cs typeface="Times New Roman"/>
              </a:rPr>
              <a:t>de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10" dirty="0">
                <a:latin typeface="+mj-lt"/>
                <a:cs typeface="Times New Roman"/>
              </a:rPr>
              <a:t>l'ancien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10" dirty="0" err="1">
                <a:latin typeface="+mj-lt"/>
                <a:cs typeface="Times New Roman"/>
              </a:rPr>
              <a:t>fichier</a:t>
            </a:r>
            <a:r>
              <a:rPr lang="fr-FR" sz="2300" spc="-10" dirty="0">
                <a:latin typeface="+mj-lt"/>
                <a:cs typeface="Times New Roman"/>
              </a:rPr>
              <a:t> </a:t>
            </a:r>
            <a:r>
              <a:rPr sz="2300" spc="-25" dirty="0">
                <a:latin typeface="+mj-lt"/>
                <a:cs typeface="Times New Roman"/>
              </a:rPr>
              <a:t>qui</a:t>
            </a:r>
            <a:r>
              <a:rPr sz="2300" dirty="0">
                <a:latin typeface="+mj-lt"/>
                <a:cs typeface="Times New Roman"/>
              </a:rPr>
              <a:t>	</a:t>
            </a:r>
            <a:r>
              <a:rPr sz="2300" spc="-20" dirty="0">
                <a:latin typeface="+mj-lt"/>
                <a:cs typeface="Times New Roman"/>
              </a:rPr>
              <a:t>sont différents</a:t>
            </a:r>
            <a:r>
              <a:rPr sz="2300" spc="-2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de</a:t>
            </a:r>
            <a:r>
              <a:rPr sz="2300" spc="-40" dirty="0">
                <a:latin typeface="+mj-lt"/>
                <a:cs typeface="Times New Roman"/>
              </a:rPr>
              <a:t> </a:t>
            </a:r>
            <a:r>
              <a:rPr sz="2300" spc="-20" dirty="0">
                <a:latin typeface="+mj-lt"/>
                <a:cs typeface="Times New Roman"/>
              </a:rPr>
              <a:t>l'enregistrement</a:t>
            </a:r>
            <a:r>
              <a:rPr sz="2300" spc="-55" dirty="0">
                <a:latin typeface="+mj-lt"/>
                <a:cs typeface="Times New Roman"/>
              </a:rPr>
              <a:t> </a:t>
            </a:r>
            <a:r>
              <a:rPr sz="2300" dirty="0">
                <a:latin typeface="+mj-lt"/>
                <a:cs typeface="Times New Roman"/>
              </a:rPr>
              <a:t>à</a:t>
            </a:r>
            <a:r>
              <a:rPr sz="2300" spc="-25" dirty="0">
                <a:latin typeface="+mj-lt"/>
                <a:cs typeface="Times New Roman"/>
              </a:rPr>
              <a:t> </a:t>
            </a:r>
            <a:r>
              <a:rPr sz="2300" spc="-10" dirty="0" err="1">
                <a:latin typeface="+mj-lt"/>
                <a:cs typeface="Times New Roman"/>
              </a:rPr>
              <a:t>suppri</a:t>
            </a:r>
            <a:r>
              <a:rPr lang="fr-FR" sz="2300" spc="-10" dirty="0">
                <a:latin typeface="+mj-lt"/>
                <a:cs typeface="Times New Roman"/>
              </a:rPr>
              <a:t>m</a:t>
            </a:r>
            <a:r>
              <a:rPr sz="2300" spc="-10" dirty="0">
                <a:latin typeface="+mj-lt"/>
                <a:cs typeface="Times New Roman"/>
              </a:rPr>
              <a:t>er.</a:t>
            </a:r>
            <a:endParaRPr sz="2300" dirty="0">
              <a:latin typeface="+mj-lt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77940" y="2447748"/>
            <a:ext cx="3233738" cy="1962503"/>
            <a:chOff x="2328862" y="3971861"/>
            <a:chExt cx="4869180" cy="2811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488" y="4070344"/>
              <a:ext cx="4741712" cy="26844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43150" y="3986148"/>
              <a:ext cx="4840605" cy="2783205"/>
            </a:xfrm>
            <a:custGeom>
              <a:avLst/>
              <a:gdLst/>
              <a:ahLst/>
              <a:cxnLst/>
              <a:rect l="l" t="t" r="r" b="b"/>
              <a:pathLst>
                <a:path w="4840605" h="2783204">
                  <a:moveTo>
                    <a:pt x="0" y="2782951"/>
                  </a:moveTo>
                  <a:lnTo>
                    <a:pt x="4840224" y="2782951"/>
                  </a:lnTo>
                  <a:lnTo>
                    <a:pt x="4840224" y="0"/>
                  </a:lnTo>
                  <a:lnTo>
                    <a:pt x="0" y="0"/>
                  </a:lnTo>
                  <a:lnTo>
                    <a:pt x="0" y="2782951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2">
            <a:extLst>
              <a:ext uri="{FF2B5EF4-FFF2-40B4-BE49-F238E27FC236}">
                <a16:creationId xmlns:a16="http://schemas.microsoft.com/office/drawing/2014/main" id="{7897224A-81F2-6D98-18A6-B7A88B7B4A16}"/>
              </a:ext>
            </a:extLst>
          </p:cNvPr>
          <p:cNvSpPr txBox="1">
            <a:spLocks/>
          </p:cNvSpPr>
          <p:nvPr/>
        </p:nvSpPr>
        <p:spPr>
          <a:xfrm>
            <a:off x="440552" y="649688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spc="-110" dirty="0">
                <a:solidFill>
                  <a:schemeClr val="bg1"/>
                </a:solidFill>
                <a:latin typeface="Gill Sans MT" panose="020B0502020104020203" pitchFamily="34" charset="0"/>
              </a:rPr>
              <a:t>Supprimer </a:t>
            </a:r>
            <a:r>
              <a:rPr lang="fr-FR" sz="2800" spc="-9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Gill Sans MT" panose="020B0502020104020203" pitchFamily="34" charset="0"/>
              </a:rPr>
              <a:t>l’enregistrement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8900" y="870903"/>
            <a:ext cx="11013290" cy="627736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spc="-90" dirty="0"/>
              <a:t>Supprimer</a:t>
            </a:r>
            <a:r>
              <a:rPr sz="4000" spc="-110" dirty="0"/>
              <a:t> </a:t>
            </a:r>
            <a:r>
              <a:rPr sz="4000" dirty="0"/>
              <a:t>un</a:t>
            </a:r>
            <a:r>
              <a:rPr sz="4000" spc="-125" dirty="0"/>
              <a:t> </a:t>
            </a:r>
            <a:r>
              <a:rPr sz="4000" spc="-20" dirty="0"/>
              <a:t>enregistrement</a:t>
            </a:r>
            <a:r>
              <a:rPr sz="4000" spc="-110" dirty="0"/>
              <a:t> </a:t>
            </a:r>
            <a:r>
              <a:rPr sz="4000" spc="-55" dirty="0"/>
              <a:t>d’un</a:t>
            </a:r>
            <a:r>
              <a:rPr sz="4000" spc="-114" dirty="0"/>
              <a:t> </a:t>
            </a:r>
            <a:r>
              <a:rPr sz="4000" spc="-10" dirty="0"/>
              <a:t>fichier</a:t>
            </a:r>
            <a:endParaRPr sz="4000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897224A-81F2-6D98-18A6-B7A88B7B4A16}"/>
              </a:ext>
            </a:extLst>
          </p:cNvPr>
          <p:cNvSpPr txBox="1">
            <a:spLocks/>
          </p:cNvSpPr>
          <p:nvPr/>
        </p:nvSpPr>
        <p:spPr>
          <a:xfrm>
            <a:off x="440552" y="649688"/>
            <a:ext cx="11309985" cy="107016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206375" rIns="0" bIns="0" rtlCol="0">
            <a:spAutoFit/>
          </a:bodyPr>
          <a:lstStyle>
            <a:lvl1pPr>
              <a:defRPr sz="6600" b="0" i="0">
                <a:solidFill>
                  <a:srgbClr val="1A315F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>
              <a:spcBef>
                <a:spcPts val="1625"/>
              </a:spcBef>
            </a:pPr>
            <a:endParaRPr lang="fr-FR" sz="2800" dirty="0">
              <a:latin typeface="Times New Roman"/>
              <a:cs typeface="Times New Roman"/>
            </a:endParaRPr>
          </a:p>
          <a:p>
            <a:pPr marL="231775"/>
            <a:r>
              <a:rPr lang="fr-FR" sz="2800" spc="-90" dirty="0">
                <a:solidFill>
                  <a:schemeClr val="bg1"/>
                </a:solidFill>
                <a:latin typeface="Times New Roman"/>
                <a:cs typeface="Times New Roman"/>
              </a:rPr>
              <a:t>Modifier</a:t>
            </a:r>
            <a:r>
              <a:rPr lang="fr-FR" sz="2800" spc="-1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lang="fr-FR" sz="2800" spc="-1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fr-FR" sz="2800" spc="-50" dirty="0">
                <a:solidFill>
                  <a:schemeClr val="bg1"/>
                </a:solidFill>
                <a:latin typeface="Times New Roman"/>
                <a:cs typeface="Times New Roman"/>
              </a:rPr>
              <a:t>enregistrement</a:t>
            </a:r>
            <a:r>
              <a:rPr lang="fr-FR" sz="2800" spc="-114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Times New Roman"/>
                <a:cs typeface="Times New Roman"/>
              </a:rPr>
              <a:t>dans</a:t>
            </a:r>
            <a:r>
              <a:rPr lang="fr-FR" sz="2800" spc="-12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fr-FR" sz="2800" dirty="0">
                <a:solidFill>
                  <a:schemeClr val="bg1"/>
                </a:solidFill>
                <a:latin typeface="Times New Roman"/>
                <a:cs typeface="Times New Roman"/>
              </a:rPr>
              <a:t>un</a:t>
            </a:r>
            <a:r>
              <a:rPr lang="fr-FR" sz="2800" spc="-1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fr-FR" sz="2800" spc="-55" dirty="0">
                <a:solidFill>
                  <a:schemeClr val="bg1"/>
                </a:solidFill>
                <a:latin typeface="Times New Roman"/>
                <a:cs typeface="Times New Roman"/>
              </a:rPr>
              <a:t>fichier</a:t>
            </a:r>
            <a:endParaRPr lang="fr-FR" sz="28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31EF280-1174-7AB2-BAD1-0AC5D02E9E15}"/>
              </a:ext>
            </a:extLst>
          </p:cNvPr>
          <p:cNvSpPr txBox="1"/>
          <p:nvPr/>
        </p:nvSpPr>
        <p:spPr>
          <a:xfrm>
            <a:off x="758228" y="2155261"/>
            <a:ext cx="8595360" cy="276165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-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utilise</a:t>
            </a:r>
            <a:r>
              <a:rPr sz="24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un</a:t>
            </a:r>
            <a:r>
              <a:rPr sz="24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400" spc="-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fichier.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354965" indent="-342265">
              <a:spcBef>
                <a:spcPts val="5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Gill Sans MT" panose="020B0502020104020203" pitchFamily="34" charset="0"/>
                <a:cs typeface="Times New Roman"/>
              </a:rPr>
              <a:t>On</a:t>
            </a:r>
            <a:r>
              <a:rPr sz="2400" spc="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procède</a:t>
            </a:r>
            <a:r>
              <a:rPr sz="2400" spc="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dirty="0">
                <a:latin typeface="Gill Sans MT" panose="020B0502020104020203" pitchFamily="34" charset="0"/>
                <a:cs typeface="Times New Roman"/>
              </a:rPr>
              <a:t>comme</a:t>
            </a:r>
            <a:r>
              <a:rPr sz="2400" spc="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400" spc="-10" dirty="0">
                <a:latin typeface="Gill Sans MT" panose="020B0502020104020203" pitchFamily="34" charset="0"/>
                <a:cs typeface="Times New Roman"/>
              </a:rPr>
              <a:t>suit:</a:t>
            </a:r>
            <a:endParaRPr sz="24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505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spc="-80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l’ancien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mode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lecture,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0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spc="-80" dirty="0">
                <a:latin typeface="Gill Sans MT" panose="020B0502020104020203" pitchFamily="34" charset="0"/>
                <a:cs typeface="Times New Roman"/>
              </a:rPr>
              <a:t>Ouvrir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</a:t>
            </a:r>
            <a:r>
              <a:rPr sz="2000" spc="2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nouveau</a:t>
            </a:r>
            <a:r>
              <a:rPr sz="2000" spc="-3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0" dirty="0">
                <a:latin typeface="Gill Sans MT" panose="020B0502020104020203" pitchFamily="34" charset="0"/>
                <a:cs typeface="Times New Roman"/>
              </a:rPr>
              <a:t>fichier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 en mode</a:t>
            </a:r>
            <a:r>
              <a:rPr sz="2000" spc="-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écriture,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4"/>
              </a:spcBef>
              <a:buClr>
                <a:srgbClr val="00007C"/>
              </a:buClr>
              <a:buSzPct val="75000"/>
              <a:buAutoNum type="arabicParenR"/>
              <a:tabLst>
                <a:tab pos="469265" algn="l"/>
              </a:tabLst>
            </a:pPr>
            <a:r>
              <a:rPr sz="2000" dirty="0">
                <a:latin typeface="Gill Sans MT" panose="020B0502020104020203" pitchFamily="34" charset="0"/>
                <a:cs typeface="Times New Roman"/>
              </a:rPr>
              <a:t>Copier</a:t>
            </a:r>
            <a:r>
              <a:rPr sz="2000" spc="2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tous</a:t>
            </a:r>
            <a:r>
              <a:rPr sz="2000" spc="24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les</a:t>
            </a:r>
            <a:r>
              <a:rPr sz="2000" spc="254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enregistrements</a:t>
            </a:r>
            <a:r>
              <a:rPr sz="2000" spc="2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sz="2000" spc="2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 err="1">
                <a:latin typeface="Gill Sans MT" panose="020B0502020104020203" pitchFamily="34" charset="0"/>
                <a:cs typeface="Times New Roman"/>
              </a:rPr>
              <a:t>l'ancien</a:t>
            </a:r>
            <a:r>
              <a:rPr sz="2000" spc="24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 err="1">
                <a:latin typeface="Gill Sans MT" panose="020B0502020104020203" pitchFamily="34" charset="0"/>
                <a:cs typeface="Times New Roman"/>
              </a:rPr>
              <a:t>fichier</a:t>
            </a:r>
            <a:endParaRPr lang="fr-FR" sz="2000" dirty="0">
              <a:latin typeface="Gill Sans MT" panose="020B0502020104020203" pitchFamily="34" charset="0"/>
              <a:cs typeface="Times New Roman"/>
            </a:endParaRPr>
          </a:p>
          <a:p>
            <a:pPr marL="12700">
              <a:spcBef>
                <a:spcPts val="484"/>
              </a:spcBef>
              <a:buClr>
                <a:srgbClr val="00007C"/>
              </a:buClr>
              <a:buSzPct val="75000"/>
              <a:tabLst>
                <a:tab pos="469265" algn="l"/>
              </a:tabLst>
            </a:pPr>
            <a:r>
              <a:rPr sz="2000" spc="2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qui</a:t>
            </a:r>
            <a:r>
              <a:rPr sz="2000" spc="2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sont</a:t>
            </a:r>
            <a:r>
              <a:rPr sz="2000" spc="23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 err="1">
                <a:latin typeface="Gill Sans MT" panose="020B0502020104020203" pitchFamily="34" charset="0"/>
                <a:cs typeface="Times New Roman"/>
              </a:rPr>
              <a:t>différents</a:t>
            </a:r>
            <a:r>
              <a:rPr sz="2000" spc="25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25" dirty="0">
                <a:latin typeface="Gill Sans MT" panose="020B0502020104020203" pitchFamily="34" charset="0"/>
                <a:cs typeface="Times New Roman"/>
              </a:rPr>
              <a:t>de</a:t>
            </a:r>
            <a:r>
              <a:rPr lang="fr-FR" sz="200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 err="1">
                <a:latin typeface="Gill Sans MT" panose="020B0502020104020203" pitchFamily="34" charset="0"/>
                <a:cs typeface="Times New Roman"/>
              </a:rPr>
              <a:t>l'enregistrement</a:t>
            </a:r>
            <a:r>
              <a:rPr sz="2000" spc="-5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dirty="0">
                <a:latin typeface="Gill Sans MT" panose="020B0502020104020203" pitchFamily="34" charset="0"/>
                <a:cs typeface="Times New Roman"/>
              </a:rPr>
              <a:t>à</a:t>
            </a:r>
            <a:r>
              <a:rPr sz="2000" spc="-55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modifier,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  <a:p>
            <a:pPr marL="469265" indent="-456565">
              <a:spcBef>
                <a:spcPts val="480"/>
              </a:spcBef>
              <a:buClr>
                <a:srgbClr val="00007C"/>
              </a:buClr>
              <a:buSzPct val="75000"/>
              <a:buAutoNum type="arabicParenR" startAt="4"/>
              <a:tabLst>
                <a:tab pos="469265" algn="l"/>
              </a:tabLst>
            </a:pPr>
            <a:r>
              <a:rPr sz="2000" spc="-25" dirty="0">
                <a:latin typeface="Gill Sans MT" panose="020B0502020104020203" pitchFamily="34" charset="0"/>
                <a:cs typeface="Times New Roman"/>
              </a:rPr>
              <a:t>Ecrire</a:t>
            </a:r>
            <a:r>
              <a:rPr sz="2000" spc="-8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l'enregistrement</a:t>
            </a:r>
            <a:r>
              <a:rPr sz="2000" spc="-70" dirty="0">
                <a:latin typeface="Gill Sans MT" panose="020B0502020104020203" pitchFamily="34" charset="0"/>
                <a:cs typeface="Times New Roman"/>
              </a:rPr>
              <a:t> </a:t>
            </a:r>
            <a:r>
              <a:rPr sz="2000" spc="-10" dirty="0">
                <a:latin typeface="Gill Sans MT" panose="020B0502020104020203" pitchFamily="34" charset="0"/>
                <a:cs typeface="Times New Roman"/>
              </a:rPr>
              <a:t>modifié.</a:t>
            </a:r>
            <a:endParaRPr sz="2000" dirty="0">
              <a:latin typeface="Gill Sans MT" panose="020B0502020104020203" pitchFamily="34" charset="0"/>
              <a:cs typeface="Times New Roman"/>
            </a:endParaRPr>
          </a:p>
        </p:txBody>
      </p:sp>
      <p:grpSp>
        <p:nvGrpSpPr>
          <p:cNvPr id="9" name="object 4">
            <a:extLst>
              <a:ext uri="{FF2B5EF4-FFF2-40B4-BE49-F238E27FC236}">
                <a16:creationId xmlns:a16="http://schemas.microsoft.com/office/drawing/2014/main" id="{FE106A92-86E0-1400-264B-57442D6252E6}"/>
              </a:ext>
            </a:extLst>
          </p:cNvPr>
          <p:cNvGrpSpPr/>
          <p:nvPr/>
        </p:nvGrpSpPr>
        <p:grpSpPr>
          <a:xfrm>
            <a:off x="6707860" y="3040321"/>
            <a:ext cx="4986655" cy="2764155"/>
            <a:chOff x="2328862" y="4108448"/>
            <a:chExt cx="4986655" cy="2764155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31607715-79F8-D5AF-7A97-26BB058DE0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903" y="4204375"/>
              <a:ext cx="4740578" cy="2586273"/>
            </a:xfrm>
            <a:prstGeom prst="rect">
              <a:avLst/>
            </a:prstGeom>
          </p:spPr>
        </p:pic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22D51A54-195C-D56B-26AD-61339A2E5F7F}"/>
                </a:ext>
              </a:extLst>
            </p:cNvPr>
            <p:cNvSpPr/>
            <p:nvPr/>
          </p:nvSpPr>
          <p:spPr>
            <a:xfrm>
              <a:off x="2343150" y="4122736"/>
              <a:ext cx="4958080" cy="2735580"/>
            </a:xfrm>
            <a:custGeom>
              <a:avLst/>
              <a:gdLst/>
              <a:ahLst/>
              <a:cxnLst/>
              <a:rect l="l" t="t" r="r" b="b"/>
              <a:pathLst>
                <a:path w="4958080" h="2735579">
                  <a:moveTo>
                    <a:pt x="4957699" y="2735263"/>
                  </a:moveTo>
                  <a:lnTo>
                    <a:pt x="4957699" y="0"/>
                  </a:lnTo>
                  <a:lnTo>
                    <a:pt x="0" y="0"/>
                  </a:lnTo>
                  <a:lnTo>
                    <a:pt x="0" y="273526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11898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1265</Words>
  <Application>Microsoft Office PowerPoint</Application>
  <PresentationFormat>Grand écran</PresentationFormat>
  <Paragraphs>179</Paragraphs>
  <Slides>26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5" baseType="lpstr">
      <vt:lpstr>Aptos</vt:lpstr>
      <vt:lpstr>Arial MT</vt:lpstr>
      <vt:lpstr>Calibri</vt:lpstr>
      <vt:lpstr>Cambria</vt:lpstr>
      <vt:lpstr>Gill Sans MT</vt:lpstr>
      <vt:lpstr>Times New Roman</vt:lpstr>
      <vt:lpstr>Trebuchet MS</vt:lpstr>
      <vt:lpstr>Wingdings</vt:lpstr>
      <vt:lpstr>Office Theme</vt:lpstr>
      <vt:lpstr>Chapitre 5 : Gestion des fichiers séquentiels en C</vt:lpstr>
      <vt:lpstr>INTRODUCTION</vt:lpstr>
      <vt:lpstr>INTRODUCTION</vt:lpstr>
      <vt:lpstr> NOTION DE FICHIER</vt:lpstr>
      <vt:lpstr> COMPARAISON ENTRE FICHIERS TEXTES ET FICHIERS BINAIRES</vt:lpstr>
      <vt:lpstr> </vt:lpstr>
      <vt:lpstr> OPÉRATIONS SUR LES FICHIERS</vt:lpstr>
      <vt:lpstr> OPÉRATIONS SUR LES FICHIERS</vt:lpstr>
      <vt:lpstr> OPÉRATIONS SUR LES FICHIERS</vt:lpstr>
      <vt:lpstr>fichiers textes</vt:lpstr>
      <vt:lpstr> Exemple 1 fichier txt</vt:lpstr>
      <vt:lpstr> Exemple 1 fichier txt</vt:lpstr>
      <vt:lpstr> Exemple 2 fichier txt</vt:lpstr>
      <vt:lpstr> Exemple 2 fichier txt</vt:lpstr>
      <vt:lpstr> Exemple 2</vt:lpstr>
      <vt:lpstr> Détection de la fin d'un fichier séquentiel</vt:lpstr>
      <vt:lpstr>fichiers Binaires</vt:lpstr>
      <vt:lpstr>Présentation PowerPoint</vt:lpstr>
      <vt:lpstr>Ecriture avec fwrite</vt:lpstr>
      <vt:lpstr>Mise à jour des fichiers séquentiels</vt:lpstr>
      <vt:lpstr>Présentation PowerPoint</vt:lpstr>
      <vt:lpstr>Présentation PowerPoint</vt:lpstr>
      <vt:lpstr>Ajouter un enregistrement au début du fichier</vt:lpstr>
      <vt:lpstr>Présentation PowerPoint</vt:lpstr>
      <vt:lpstr>Supprimer un enregistrement d’un fichier</vt:lpstr>
      <vt:lpstr>Supprimer un enregistrement d’un fichier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Saida</dc:creator>
  <cp:lastModifiedBy>Saida</cp:lastModifiedBy>
  <cp:revision>38</cp:revision>
  <dcterms:created xsi:type="dcterms:W3CDTF">2025-12-02T07:36:27Z</dcterms:created>
  <dcterms:modified xsi:type="dcterms:W3CDTF">2025-12-02T10:12:59Z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2025-12-02T00:00:00Z</vt:filetime>
  </property>
  <property fmtid="{D5CDD505-2E9C-101B-9397-08002B2CF9AE}" pid="5" name="Producer">
    <vt:lpwstr>Microsoft® PowerPoint® 2016</vt:lpwstr>
  </property>
</Properties>
</file>