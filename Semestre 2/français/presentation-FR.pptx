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Merriweather"/>
      <p:regular r:id="rId21"/>
    </p:embeddedFont>
    <p:embeddedFont>
      <p:font typeface="Merriweather"/>
      <p:regular r:id="rId22"/>
    </p:embeddedFont>
    <p:embeddedFont>
      <p:font typeface="Merriweather"/>
      <p:regular r:id="rId23"/>
    </p:embeddedFont>
    <p:embeddedFont>
      <p:font typeface="Merriweather"/>
      <p:regular r:id="rId24"/>
    </p:embeddedFont>
    <p:embeddedFont>
      <p:font typeface="Open Sans"/>
      <p:regular r:id="rId25"/>
    </p:embeddedFont>
    <p:embeddedFont>
      <p:font typeface="Open Sans"/>
      <p:regular r:id="rId26"/>
    </p:embeddedFont>
    <p:embeddedFont>
      <p:font typeface="Open Sans"/>
      <p:regular r:id="rId27"/>
    </p:embeddedFont>
    <p:embeddedFont>
      <p:font typeface="Open Sans"/>
      <p:regular r:id="rId2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font" Target="fonts/font6.fntdata"/><Relationship Id="rId27" Type="http://schemas.openxmlformats.org/officeDocument/2006/relationships/font" Target="fonts/font7.fntdata"/><Relationship Id="rId2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4-1.png"/><Relationship Id="rId2" Type="http://schemas.openxmlformats.org/officeDocument/2006/relationships/image" Target="../media/image-1014-2.png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5-1.png"/><Relationship Id="rId2" Type="http://schemas.openxmlformats.org/officeDocument/2006/relationships/image" Target="../media/image-1015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slideLayout" Target="../slideLayouts/slideLayout3.xml"/><Relationship Id="rId2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5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slideLayout" Target="../slideLayouts/slideLayout7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8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slideLayout" Target="../slideLayouts/slideLayout1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946919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Les conflits dans une équipe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889596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Comment la communication peut sauver ou détruire un projet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96119" y="2810917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Présenté par : Ons Ajmi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197200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Eya Naamene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3583484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Hamza Arfaoui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3969767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2901" y="403101"/>
            <a:ext cx="3812530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Plan de la présentation</a:t>
            </a:r>
            <a:endParaRPr lang="en-US" sz="2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901" y="1099840"/>
            <a:ext cx="135062" cy="13506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2901" y="1293465"/>
            <a:ext cx="403473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5" name="Text 2"/>
          <p:cNvSpPr/>
          <p:nvPr/>
        </p:nvSpPr>
        <p:spPr>
          <a:xfrm>
            <a:off x="472901" y="139905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Introduction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6368" y="1099840"/>
            <a:ext cx="135062" cy="13506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36368" y="1293465"/>
            <a:ext cx="403473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8" name="Text 4"/>
          <p:cNvSpPr/>
          <p:nvPr/>
        </p:nvSpPr>
        <p:spPr>
          <a:xfrm>
            <a:off x="4636368" y="1399059"/>
            <a:ext cx="170237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Définition du conflit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901" y="1857077"/>
            <a:ext cx="135062" cy="13506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72901" y="2050703"/>
            <a:ext cx="403473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1" name="Text 6"/>
          <p:cNvSpPr/>
          <p:nvPr/>
        </p:nvSpPr>
        <p:spPr>
          <a:xfrm>
            <a:off x="472901" y="2156296"/>
            <a:ext cx="188289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Les causes des conflits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6368" y="1857077"/>
            <a:ext cx="135062" cy="135062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636368" y="2050703"/>
            <a:ext cx="403473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4" name="Text 8"/>
          <p:cNvSpPr/>
          <p:nvPr/>
        </p:nvSpPr>
        <p:spPr>
          <a:xfrm>
            <a:off x="4636368" y="2156296"/>
            <a:ext cx="350899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Quand la communication détruit un projet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901" y="2614315"/>
            <a:ext cx="135062" cy="135062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72901" y="2807940"/>
            <a:ext cx="403473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7" name="Text 10"/>
          <p:cNvSpPr/>
          <p:nvPr/>
        </p:nvSpPr>
        <p:spPr>
          <a:xfrm>
            <a:off x="472901" y="2913534"/>
            <a:ext cx="341106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Quand la communication sauve un projet</a:t>
            </a:r>
            <a:endParaRPr lang="en-US" sz="13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6368" y="2614315"/>
            <a:ext cx="135062" cy="13506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636368" y="2807940"/>
            <a:ext cx="403473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0" name="Text 12"/>
          <p:cNvSpPr/>
          <p:nvPr/>
        </p:nvSpPr>
        <p:spPr>
          <a:xfrm>
            <a:off x="4636368" y="2913534"/>
            <a:ext cx="3536528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Cas réel : développement d'une application</a:t>
            </a:r>
            <a:endParaRPr lang="en-US" sz="13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2901" y="3371552"/>
            <a:ext cx="135062" cy="135062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72901" y="3565178"/>
            <a:ext cx="403473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3" name="Text 14"/>
          <p:cNvSpPr/>
          <p:nvPr/>
        </p:nvSpPr>
        <p:spPr>
          <a:xfrm>
            <a:off x="472901" y="3670771"/>
            <a:ext cx="332757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Technologie et communication d'équipe</a:t>
            </a:r>
            <a:endParaRPr lang="en-US" sz="13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36368" y="3371552"/>
            <a:ext cx="135062" cy="135062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4636368" y="3565178"/>
            <a:ext cx="403473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6" name="Text 16"/>
          <p:cNvSpPr/>
          <p:nvPr/>
        </p:nvSpPr>
        <p:spPr>
          <a:xfrm>
            <a:off x="4636368" y="3670771"/>
            <a:ext cx="2610669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Activité interactive Mentimeter</a:t>
            </a:r>
            <a:endParaRPr lang="en-US" sz="13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2901" y="4128790"/>
            <a:ext cx="135062" cy="135062"/>
          </a:xfrm>
          <a:prstGeom prst="rect">
            <a:avLst/>
          </a:prstGeom>
        </p:spPr>
      </p:pic>
      <p:sp>
        <p:nvSpPr>
          <p:cNvPr id="28" name="Shape 17"/>
          <p:cNvSpPr/>
          <p:nvPr/>
        </p:nvSpPr>
        <p:spPr>
          <a:xfrm>
            <a:off x="472901" y="4322415"/>
            <a:ext cx="403473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9" name="Text 18"/>
          <p:cNvSpPr/>
          <p:nvPr/>
        </p:nvSpPr>
        <p:spPr>
          <a:xfrm>
            <a:off x="472901" y="442800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Points clés à retenir</a:t>
            </a:r>
            <a:endParaRPr lang="en-US" sz="13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636368" y="4128790"/>
            <a:ext cx="135062" cy="135062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4636368" y="4322415"/>
            <a:ext cx="4034730" cy="1905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32" name="Text 20"/>
          <p:cNvSpPr/>
          <p:nvPr/>
        </p:nvSpPr>
        <p:spPr>
          <a:xfrm>
            <a:off x="4636368" y="4428009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800671" y="1299270"/>
            <a:ext cx="554258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Commençons notre exploration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798960"/>
            <a:ext cx="8151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Comprendre les dynamiques de conflit et de communication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96119" y="2564383"/>
            <a:ext cx="815176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Dans le monde complexe du travail d'équipe, comprendre comment les conflits émergent et comment une communication efficace peut les transformer est essentiel. Cette présentation vous guidera à travers ces dynamiques pour vous aider à bâtir des équipes plus fortes et des projets plus réussis.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3662809"/>
            <a:ext cx="81517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019672" y="1355899"/>
            <a:ext cx="510458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Pourquoi cette présentation ?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011487"/>
            <a:ext cx="8151763" cy="283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Comprendre l'importance de la communication dans la dynamique des équipes.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454399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7658" y="2454399"/>
            <a:ext cx="33886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Le travail en équipe est incontournable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553" y="2454399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92092" y="2454399"/>
            <a:ext cx="326700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Les conflits sont normaux et naturels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092276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7658" y="3092276"/>
            <a:ext cx="24290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La communication est la clé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0553" y="3092276"/>
            <a:ext cx="354360" cy="3543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192092" y="3092276"/>
            <a:ext cx="33590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Elle peut sauver... ou détruire un projet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96119" y="3606105"/>
            <a:ext cx="81517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6725" y="264096"/>
            <a:ext cx="2730550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Qu'est-ce qu'un conflit ?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25562" y="676870"/>
            <a:ext cx="8492877" cy="308893"/>
          </a:xfrm>
          <a:prstGeom prst="roundRect">
            <a:avLst>
              <a:gd name="adj" fmla="val 12650"/>
            </a:avLst>
          </a:prstGeom>
          <a:solidFill>
            <a:srgbClr val="B6D6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8579" y="806946"/>
            <a:ext cx="116235" cy="930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7831" y="761107"/>
            <a:ext cx="8097589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 désaccord ou une tension entre deux ou plusieurs personnes ayant des objectifs, valeurs ou opinions différentes.</a:t>
            </a:r>
            <a:endParaRPr lang="en-US" sz="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62" y="1054447"/>
            <a:ext cx="6553200" cy="36576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62" y="1054447"/>
            <a:ext cx="6553200" cy="3657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5562" y="4780731"/>
            <a:ext cx="8492877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750"/>
              </a:lnSpc>
              <a:buNone/>
            </a:pPr>
            <a:r>
              <a:rPr lang="en-US" sz="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572592" y="390525"/>
            <a:ext cx="599881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Les causes principales des conflits</a:t>
            </a:r>
            <a:endParaRPr lang="en-US" sz="2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46113"/>
            <a:ext cx="354360" cy="354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6119" y="1577653"/>
            <a:ext cx="226538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Mauvaise communication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96119" y="18841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messages flous, incomplets ou mal interprétés créent rapidement des malentendus.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72433" y="1046113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72433" y="15776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Manque d'écoute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3272433" y="18841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 les points de vue ne sont pas pris en compte, la frustration et l’incompréhension augmentent.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8747" y="1046113"/>
            <a:ext cx="354360" cy="35436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48747" y="157765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Stress et délais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048747" y="1884164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 pression des échéances réduit la patience et peut amplifier les tensions au sein de l’équipe.</a:t>
            </a:r>
            <a:endParaRPr lang="en-US" sz="11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2848124"/>
            <a:ext cx="354360" cy="3543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96119" y="3379663"/>
            <a:ext cx="23996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Différences de personnalité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496119" y="368617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 styles de travail, valeurs ou approches différents peuvent provoquer des frottements naturels.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72433" y="2848124"/>
            <a:ext cx="354360" cy="3543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272433" y="3379663"/>
            <a:ext cx="202264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Manque d'organisation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3272433" y="3686175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Une planification insuffisante ou des rôles mal définis entraînent des chevauchements et des oublis.</a:t>
            </a:r>
            <a:endParaRPr lang="en-US" sz="1100" dirty="0"/>
          </a:p>
        </p:txBody>
      </p:sp>
      <p:sp>
        <p:nvSpPr>
          <p:cNvPr id="20" name="Text 12"/>
          <p:cNvSpPr/>
          <p:nvPr/>
        </p:nvSpPr>
        <p:spPr>
          <a:xfrm>
            <a:off x="496119" y="4526087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75" y="300782"/>
            <a:ext cx="4948758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Quand la communication détruit un projet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333375" y="766390"/>
            <a:ext cx="649858" cy="168548"/>
          </a:xfrm>
          <a:prstGeom prst="roundRect">
            <a:avLst>
              <a:gd name="adj" fmla="val 18988"/>
            </a:avLst>
          </a:prstGeom>
          <a:noFill/>
          <a:ln w="4763">
            <a:solidFill>
              <a:srgbClr val="FFAD94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5288" y="812527"/>
            <a:ext cx="76200" cy="76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9588" y="799728"/>
            <a:ext cx="411733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FFAD9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ATTENTION</a:t>
            </a:r>
            <a:endParaRPr lang="en-US" sz="600" dirty="0"/>
          </a:p>
        </p:txBody>
      </p:sp>
      <p:sp>
        <p:nvSpPr>
          <p:cNvPr id="6" name="Shape 3"/>
          <p:cNvSpPr/>
          <p:nvPr/>
        </p:nvSpPr>
        <p:spPr>
          <a:xfrm>
            <a:off x="333375" y="1006897"/>
            <a:ext cx="3948261" cy="320427"/>
          </a:xfrm>
          <a:prstGeom prst="roundRect">
            <a:avLst>
              <a:gd name="adj" fmla="val 12485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1137865"/>
            <a:ext cx="119062" cy="95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938" y="1094705"/>
            <a:ext cx="3543449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  Une communication dégradée peut rapidement fragiliser toute l'équipe.         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333375" y="1399282"/>
            <a:ext cx="152295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Mauvaise communication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33375" y="1620069"/>
            <a:ext cx="3948261" cy="367903"/>
          </a:xfrm>
          <a:prstGeom prst="roundRect">
            <a:avLst>
              <a:gd name="adj" fmla="val 18641"/>
            </a:avLst>
          </a:prstGeom>
          <a:solidFill>
            <a:srgbClr val="FFFFFF"/>
          </a:solidFill>
          <a:ln w="14288">
            <a:solidFill>
              <a:srgbClr val="E5BEB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19088" y="1620069"/>
            <a:ext cx="57150" cy="367903"/>
          </a:xfrm>
          <a:prstGeom prst="roundRect">
            <a:avLst>
              <a:gd name="adj" fmla="val 70000"/>
            </a:avLst>
          </a:prstGeom>
          <a:solidFill>
            <a:srgbClr val="FFAD94"/>
          </a:solidFill>
          <a:ln/>
        </p:spPr>
      </p:sp>
      <p:sp>
        <p:nvSpPr>
          <p:cNvPr id="12" name="Text 8"/>
          <p:cNvSpPr/>
          <p:nvPr/>
        </p:nvSpPr>
        <p:spPr>
          <a:xfrm>
            <a:off x="485775" y="1729606"/>
            <a:ext cx="1529060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Communication agressive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33375" y="2051968"/>
            <a:ext cx="3948261" cy="367903"/>
          </a:xfrm>
          <a:prstGeom prst="roundRect">
            <a:avLst>
              <a:gd name="adj" fmla="val 18641"/>
            </a:avLst>
          </a:prstGeom>
          <a:solidFill>
            <a:srgbClr val="FFFFFF"/>
          </a:solidFill>
          <a:ln w="14288">
            <a:solidFill>
              <a:srgbClr val="E5BEB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19088" y="2051968"/>
            <a:ext cx="57150" cy="367903"/>
          </a:xfrm>
          <a:prstGeom prst="roundRect">
            <a:avLst>
              <a:gd name="adj" fmla="val 70000"/>
            </a:avLst>
          </a:prstGeom>
          <a:solidFill>
            <a:srgbClr val="FFAD94"/>
          </a:solidFill>
          <a:ln/>
        </p:spPr>
      </p:sp>
      <p:sp>
        <p:nvSpPr>
          <p:cNvPr id="15" name="Text 11"/>
          <p:cNvSpPr/>
          <p:nvPr/>
        </p:nvSpPr>
        <p:spPr>
          <a:xfrm>
            <a:off x="485775" y="2161505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Manque de respect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33375" y="2483867"/>
            <a:ext cx="3948261" cy="367903"/>
          </a:xfrm>
          <a:prstGeom prst="roundRect">
            <a:avLst>
              <a:gd name="adj" fmla="val 18641"/>
            </a:avLst>
          </a:prstGeom>
          <a:solidFill>
            <a:srgbClr val="FFFFFF"/>
          </a:solidFill>
          <a:ln w="14288">
            <a:solidFill>
              <a:srgbClr val="E5BEB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19088" y="2483867"/>
            <a:ext cx="57150" cy="367903"/>
          </a:xfrm>
          <a:prstGeom prst="roundRect">
            <a:avLst>
              <a:gd name="adj" fmla="val 70000"/>
            </a:avLst>
          </a:prstGeom>
          <a:solidFill>
            <a:srgbClr val="FFAD94"/>
          </a:solidFill>
          <a:ln/>
        </p:spPr>
      </p:sp>
      <p:sp>
        <p:nvSpPr>
          <p:cNvPr id="18" name="Text 14"/>
          <p:cNvSpPr/>
          <p:nvPr/>
        </p:nvSpPr>
        <p:spPr>
          <a:xfrm>
            <a:off x="485775" y="2593404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Malentendus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33375" y="2915766"/>
            <a:ext cx="3948261" cy="367903"/>
          </a:xfrm>
          <a:prstGeom prst="roundRect">
            <a:avLst>
              <a:gd name="adj" fmla="val 18641"/>
            </a:avLst>
          </a:prstGeom>
          <a:solidFill>
            <a:srgbClr val="FFFFFF"/>
          </a:solidFill>
          <a:ln w="14288">
            <a:solidFill>
              <a:srgbClr val="E5BEB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19088" y="2915766"/>
            <a:ext cx="57150" cy="367903"/>
          </a:xfrm>
          <a:prstGeom prst="roundRect">
            <a:avLst>
              <a:gd name="adj" fmla="val 70000"/>
            </a:avLst>
          </a:prstGeom>
          <a:solidFill>
            <a:srgbClr val="FFAD94"/>
          </a:solidFill>
          <a:ln/>
        </p:spPr>
      </p:sp>
      <p:sp>
        <p:nvSpPr>
          <p:cNvPr id="21" name="Text 17"/>
          <p:cNvSpPr/>
          <p:nvPr/>
        </p:nvSpPr>
        <p:spPr>
          <a:xfrm>
            <a:off x="485775" y="3025304"/>
            <a:ext cx="128609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Ignorer les problèmes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450184" y="694432"/>
            <a:ext cx="4433664" cy="3974455"/>
          </a:xfrm>
          <a:prstGeom prst="roundRect">
            <a:avLst>
              <a:gd name="adj" fmla="val 1726"/>
            </a:avLst>
          </a:prstGeom>
          <a:solidFill>
            <a:srgbClr val="1F2937"/>
          </a:solidFill>
          <a:ln/>
        </p:spPr>
      </p:sp>
      <p:sp>
        <p:nvSpPr>
          <p:cNvPr id="23" name="Shape 19"/>
          <p:cNvSpPr/>
          <p:nvPr/>
        </p:nvSpPr>
        <p:spPr>
          <a:xfrm>
            <a:off x="4545434" y="766390"/>
            <a:ext cx="824061" cy="159023"/>
          </a:xfrm>
          <a:prstGeom prst="roundRect">
            <a:avLst>
              <a:gd name="adj" fmla="val 20125"/>
            </a:avLst>
          </a:prstGeom>
          <a:solidFill>
            <a:srgbClr val="4D120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2584" y="807765"/>
            <a:ext cx="76200" cy="76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16884" y="794965"/>
            <a:ext cx="595461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CONSÉQUENCES</a:t>
            </a:r>
            <a:endParaRPr lang="en-US" sz="600" dirty="0"/>
          </a:p>
        </p:txBody>
      </p:sp>
      <p:sp>
        <p:nvSpPr>
          <p:cNvPr id="26" name="Shape 21"/>
          <p:cNvSpPr/>
          <p:nvPr/>
        </p:nvSpPr>
        <p:spPr>
          <a:xfrm>
            <a:off x="4545434" y="997372"/>
            <a:ext cx="4243164" cy="320427"/>
          </a:xfrm>
          <a:prstGeom prst="roundRect">
            <a:avLst>
              <a:gd name="adj" fmla="val 12485"/>
            </a:avLst>
          </a:prstGeom>
          <a:solidFill>
            <a:srgbClr val="FFB3B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684" y="1128340"/>
            <a:ext cx="119062" cy="952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854997" y="1085180"/>
            <a:ext cx="3838352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  Les tensions s'accumulent et le projet perd en efficacité.         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4545434" y="1389757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Conséquences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45434" y="1610544"/>
            <a:ext cx="4243164" cy="698599"/>
          </a:xfrm>
          <a:prstGeom prst="roundRect">
            <a:avLst>
              <a:gd name="adj" fmla="val 5726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645447" y="1710556"/>
            <a:ext cx="285750" cy="285750"/>
          </a:xfrm>
          <a:prstGeom prst="roundRect">
            <a:avLst>
              <a:gd name="adj" fmla="val 19998000"/>
            </a:avLst>
          </a:prstGeom>
          <a:solidFill>
            <a:srgbClr val="FFAD94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4028" y="1789137"/>
            <a:ext cx="128588" cy="128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645447" y="2060302"/>
            <a:ext cx="146007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Retards et dépassements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545434" y="2373139"/>
            <a:ext cx="4243164" cy="698599"/>
          </a:xfrm>
          <a:prstGeom prst="roundRect">
            <a:avLst>
              <a:gd name="adj" fmla="val 5726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645447" y="2473151"/>
            <a:ext cx="285750" cy="285750"/>
          </a:xfrm>
          <a:prstGeom prst="roundRect">
            <a:avLst>
              <a:gd name="adj" fmla="val 19998000"/>
            </a:avLst>
          </a:prstGeom>
          <a:solidFill>
            <a:srgbClr val="FFAD94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24028" y="2551733"/>
            <a:ext cx="128588" cy="1285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645447" y="2822897"/>
            <a:ext cx="1318766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Stress et démotivation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4545434" y="3135734"/>
            <a:ext cx="4243164" cy="698599"/>
          </a:xfrm>
          <a:prstGeom prst="roundRect">
            <a:avLst>
              <a:gd name="adj" fmla="val 5726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4645447" y="3235747"/>
            <a:ext cx="285750" cy="285750"/>
          </a:xfrm>
          <a:prstGeom prst="roundRect">
            <a:avLst>
              <a:gd name="adj" fmla="val 19998000"/>
            </a:avLst>
          </a:prstGeom>
          <a:solidFill>
            <a:srgbClr val="FFAD94"/>
          </a:solidFill>
          <a:ln/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24028" y="3314328"/>
            <a:ext cx="128588" cy="128588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645447" y="3585493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Perte de confiance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4545434" y="3898329"/>
            <a:ext cx="4243164" cy="698599"/>
          </a:xfrm>
          <a:prstGeom prst="roundRect">
            <a:avLst>
              <a:gd name="adj" fmla="val 5726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43" name="Shape 34"/>
          <p:cNvSpPr/>
          <p:nvPr/>
        </p:nvSpPr>
        <p:spPr>
          <a:xfrm>
            <a:off x="4645447" y="3998342"/>
            <a:ext cx="285750" cy="285750"/>
          </a:xfrm>
          <a:prstGeom prst="roundRect">
            <a:avLst>
              <a:gd name="adj" fmla="val 19998000"/>
            </a:avLst>
          </a:prstGeom>
          <a:solidFill>
            <a:srgbClr val="FFAD94"/>
          </a:solidFill>
          <a:ln/>
        </p:spPr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24028" y="4076923"/>
            <a:ext cx="128588" cy="128588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4645447" y="4348088"/>
            <a:ext cx="1190625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Échec du projet</a:t>
            </a:r>
            <a:endParaRPr lang="en-US" sz="900" dirty="0"/>
          </a:p>
        </p:txBody>
      </p:sp>
      <p:sp>
        <p:nvSpPr>
          <p:cNvPr id="46" name="Text 36"/>
          <p:cNvSpPr/>
          <p:nvPr/>
        </p:nvSpPr>
        <p:spPr>
          <a:xfrm>
            <a:off x="333375" y="4740846"/>
            <a:ext cx="8477250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00"/>
              </a:lnSpc>
              <a:buNone/>
            </a:pPr>
            <a:r>
              <a:rPr lang="en-US" sz="6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96119" y="806723"/>
            <a:ext cx="752921" cy="266402"/>
          </a:xfrm>
          <a:prstGeom prst="roundRect">
            <a:avLst>
              <a:gd name="adj" fmla="val 17880"/>
            </a:avLst>
          </a:prstGeom>
          <a:solidFill>
            <a:srgbClr val="FFD8CC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174" y="883221"/>
            <a:ext cx="113407" cy="11340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1284" y="849213"/>
            <a:ext cx="4127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SUCCÈS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992609" y="1129829"/>
            <a:ext cx="71587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Quand la communication sauve un projet</a:t>
            </a:r>
            <a:endParaRPr lang="en-US" sz="2750" dirty="0"/>
          </a:p>
        </p:txBody>
      </p:sp>
      <p:sp>
        <p:nvSpPr>
          <p:cNvPr id="8" name="Text 4"/>
          <p:cNvSpPr/>
          <p:nvPr/>
        </p:nvSpPr>
        <p:spPr>
          <a:xfrm>
            <a:off x="996628" y="1629519"/>
            <a:ext cx="7150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Une communication saine transforme les efforts individuels en réussite collective.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394022" y="2063576"/>
            <a:ext cx="3937174" cy="1886843"/>
          </a:xfrm>
          <a:prstGeom prst="roundRect">
            <a:avLst>
              <a:gd name="adj" fmla="val 5410"/>
            </a:avLst>
          </a:prstGeom>
          <a:solidFill>
            <a:srgbClr val="E8F5E9"/>
          </a:solidFill>
          <a:ln/>
        </p:spPr>
      </p:sp>
      <p:sp>
        <p:nvSpPr>
          <p:cNvPr id="10" name="Text 6"/>
          <p:cNvSpPr/>
          <p:nvPr/>
        </p:nvSpPr>
        <p:spPr>
          <a:xfrm>
            <a:off x="535781" y="2205335"/>
            <a:ext cx="19981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Bonne communication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35781" y="2568550"/>
            <a:ext cx="3653656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Écoute active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Respect mutuel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Collaboration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Résolution constructive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Esprit d'équipe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477643" y="2063576"/>
            <a:ext cx="4277023" cy="1886843"/>
          </a:xfrm>
          <a:prstGeom prst="roundRect">
            <a:avLst>
              <a:gd name="adj" fmla="val 5410"/>
            </a:avLst>
          </a:prstGeom>
          <a:solidFill>
            <a:srgbClr val="E3F2FD"/>
          </a:solidFill>
          <a:ln/>
        </p:spPr>
      </p:sp>
      <p:sp>
        <p:nvSpPr>
          <p:cNvPr id="13" name="Text 9"/>
          <p:cNvSpPr/>
          <p:nvPr/>
        </p:nvSpPr>
        <p:spPr>
          <a:xfrm>
            <a:off x="4619402" y="220533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Effets positifs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619402" y="2568550"/>
            <a:ext cx="3993505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Confiance établie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Productivité accrue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Meilleure dynamique d'équipe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Succès du projet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96119" y="4109889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4620" y="446633"/>
            <a:ext cx="6894761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Cas réel : Développement d'une application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57349" y="1095970"/>
            <a:ext cx="8229302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Alex et Jony, deux employés, travaillent sur un projet de développement d'application et sont en désaccord sur la technologie à utiliser.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63289" y="1432322"/>
            <a:ext cx="4143375" cy="2305050"/>
          </a:xfrm>
          <a:prstGeom prst="roundRect">
            <a:avLst>
              <a:gd name="adj" fmla="val 4082"/>
            </a:avLst>
          </a:prstGeom>
          <a:solidFill>
            <a:srgbClr val="FDECEC"/>
          </a:solidFill>
          <a:ln/>
        </p:spPr>
      </p:sp>
      <p:sp>
        <p:nvSpPr>
          <p:cNvPr id="5" name="Shape 3"/>
          <p:cNvSpPr/>
          <p:nvPr/>
        </p:nvSpPr>
        <p:spPr>
          <a:xfrm>
            <a:off x="493961" y="1567830"/>
            <a:ext cx="1747837" cy="243780"/>
          </a:xfrm>
          <a:prstGeom prst="roundRect">
            <a:avLst>
              <a:gd name="adj" fmla="val 18013"/>
            </a:avLst>
          </a:prstGeom>
          <a:solidFill>
            <a:srgbClr val="FFD8CC"/>
          </a:solidFill>
          <a:ln/>
        </p:spPr>
      </p:sp>
      <p:sp>
        <p:nvSpPr>
          <p:cNvPr id="6" name="Text 4"/>
          <p:cNvSpPr/>
          <p:nvPr/>
        </p:nvSpPr>
        <p:spPr>
          <a:xfrm>
            <a:off x="572319" y="1606972"/>
            <a:ext cx="1591121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❌</a:t>
            </a:r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MAUVAISE COMMUNICATION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3961" y="1859756"/>
            <a:ext cx="166501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Conversation tendue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3961" y="2184350"/>
            <a:ext cx="3882033" cy="205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💬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Alex: "Ton idée est stupide, on fait comme je dis"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961" y="2498378"/>
            <a:ext cx="3882033" cy="205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💬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Jony: "Tu ne m'écoutes jamais"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3961" y="2812405"/>
            <a:ext cx="3882033" cy="68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Tension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Retards du projet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Désintégration de l'équipe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42098" y="1432322"/>
            <a:ext cx="4143375" cy="2305050"/>
          </a:xfrm>
          <a:prstGeom prst="roundRect">
            <a:avLst>
              <a:gd name="adj" fmla="val 4082"/>
            </a:avLst>
          </a:prstGeom>
          <a:solidFill>
            <a:srgbClr val="E8F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4772769" y="1567830"/>
            <a:ext cx="1544092" cy="239018"/>
          </a:xfrm>
          <a:prstGeom prst="roundRect">
            <a:avLst>
              <a:gd name="adj" fmla="val 18372"/>
            </a:avLst>
          </a:prstGeom>
          <a:solidFill>
            <a:srgbClr val="FFD8CC"/>
          </a:solidFill>
          <a:ln/>
        </p:spPr>
      </p:sp>
      <p:sp>
        <p:nvSpPr>
          <p:cNvPr id="13" name="Text 11"/>
          <p:cNvSpPr/>
          <p:nvPr/>
        </p:nvSpPr>
        <p:spPr>
          <a:xfrm>
            <a:off x="4851127" y="1606972"/>
            <a:ext cx="138737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BONNE COMMUNICATION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72769" y="1854994"/>
            <a:ext cx="2119833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Conversation constructive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772769" y="2179588"/>
            <a:ext cx="3882033" cy="406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💬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Alex: "J'ai des préoccupations sur cette approche, parlons-en"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72769" y="2694459"/>
            <a:ext cx="3882033" cy="205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💬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Jony: "Je comprends, explique-moi tes raisons"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2769" y="3008486"/>
            <a:ext cx="3882033" cy="686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Compromis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Meilleure solution trouvée</a:t>
            </a:r>
            <a:endParaRPr lang="en-US" sz="100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Succès du projet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349" y="3872880"/>
            <a:ext cx="8229302" cy="527745"/>
          </a:xfrm>
          <a:prstGeom prst="roundRect">
            <a:avLst>
              <a:gd name="adj" fmla="val 10401"/>
            </a:avLst>
          </a:prstGeom>
          <a:solidFill>
            <a:srgbClr val="B6FCB8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20" y="4069482"/>
            <a:ext cx="163339" cy="130671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82030" y="4026024"/>
            <a:ext cx="7673950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Leçon apprise :</a:t>
            </a:r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 communication transforme les conflits en opportunités.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349" y="4536132"/>
            <a:ext cx="8229302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1243682" y="405408"/>
            <a:ext cx="6656561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Technologie et communication d'équipe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472901" y="879202"/>
            <a:ext cx="8198197" cy="67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La technologie améliore-t-elle ou complique-t-elle la communication ?</a:t>
            </a:r>
            <a:endParaRPr lang="en-US" sz="2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901" y="1748061"/>
            <a:ext cx="337765" cy="3377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2901" y="224678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WhatsApp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72901" y="2535138"/>
            <a:ext cx="262540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Messagerie instantanée pour échanges rapides et informels.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59262" y="1748061"/>
            <a:ext cx="337765" cy="3377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59262" y="224678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Microsoft Teams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3259262" y="2535138"/>
            <a:ext cx="262540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Plateforme de collaboration intégrée avec chat, appels et partage de fichiers.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5622" y="1748061"/>
            <a:ext cx="337765" cy="33776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45622" y="224678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Zoom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6045622" y="2535138"/>
            <a:ext cx="262540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Conférences vidéo pour réunions virtuelles et interactions face-à-face.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2901" y="3214911"/>
            <a:ext cx="337765" cy="33776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2901" y="371363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Email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472901" y="4001988"/>
            <a:ext cx="262540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Communication formelle pour le partage d'informations détaillées et importantes.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59262" y="3214911"/>
            <a:ext cx="337765" cy="33776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259262" y="371363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Réseaux Sociaux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3259262" y="4001988"/>
            <a:ext cx="262540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Partage informel et veille d'informations au sein de la communauté.</a:t>
            </a:r>
            <a:endParaRPr lang="en-US" sz="1050" dirty="0"/>
          </a:p>
        </p:txBody>
      </p:sp>
      <p:sp>
        <p:nvSpPr>
          <p:cNvPr id="21" name="Text 13"/>
          <p:cNvSpPr/>
          <p:nvPr/>
        </p:nvSpPr>
        <p:spPr>
          <a:xfrm>
            <a:off x="472901" y="4569098"/>
            <a:ext cx="8198197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799904" y="727695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Points clés à retenir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383283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Retenez les idées essentielles pour mieux gérer les conflits en équipe.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1769566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E5BEB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7069" y="1769566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FFAD94"/>
          </a:solidFill>
          <a:ln/>
        </p:spPr>
      </p:sp>
      <p:sp>
        <p:nvSpPr>
          <p:cNvPr id="8" name="Text 5"/>
          <p:cNvSpPr/>
          <p:nvPr/>
        </p:nvSpPr>
        <p:spPr>
          <a:xfrm>
            <a:off x="714077" y="1930375"/>
            <a:ext cx="229106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Les conflits sont normaux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4077" y="2236887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Ils font partie de la vie d’une équipe et peuvent devenir constructifs.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42842" y="1769566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E5BEB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3792" y="1769566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FFAD94"/>
          </a:solidFill>
          <a:ln/>
        </p:spPr>
      </p:sp>
      <p:sp>
        <p:nvSpPr>
          <p:cNvPr id="12" name="Text 9"/>
          <p:cNvSpPr/>
          <p:nvPr/>
        </p:nvSpPr>
        <p:spPr>
          <a:xfrm>
            <a:off x="4860801" y="1930375"/>
            <a:ext cx="29170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La communication est essentielle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860801" y="2236887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Écouter, clarifier et parler tôt évite l’escalade des tensions.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6119" y="2993082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E5BE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7069" y="2993082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FFAD94"/>
          </a:solidFill>
          <a:ln/>
        </p:spPr>
      </p:sp>
      <p:sp>
        <p:nvSpPr>
          <p:cNvPr id="16" name="Text 13"/>
          <p:cNvSpPr/>
          <p:nvPr/>
        </p:nvSpPr>
        <p:spPr>
          <a:xfrm>
            <a:off x="714077" y="3153891"/>
            <a:ext cx="185625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Le leadership compte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4077" y="3460403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 leaders donnent le ton et créent un cadre de confiance.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42842" y="2993082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19050">
            <a:solidFill>
              <a:srgbClr val="E5BEB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23792" y="2993082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FFAD94"/>
          </a:solidFill>
          <a:ln/>
        </p:spPr>
      </p:sp>
      <p:sp>
        <p:nvSpPr>
          <p:cNvPr id="20" name="Text 17"/>
          <p:cNvSpPr/>
          <p:nvPr/>
        </p:nvSpPr>
        <p:spPr>
          <a:xfrm>
            <a:off x="4860801" y="3153891"/>
            <a:ext cx="35601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Le respect et l'écoute sont fondamentaux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860801" y="3460403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travail d’équipe repose sur le respect mutuel et l’attention aux autres.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6119" y="4234309"/>
            <a:ext cx="81517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966070" y="412849"/>
            <a:ext cx="32118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Conclusion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449610" y="988888"/>
            <a:ext cx="8244780" cy="1108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La bonne communication transforme les conflits en opportunités</a:t>
            </a:r>
            <a:endParaRPr lang="en-US" sz="3450" dirty="0"/>
          </a:p>
        </p:txBody>
      </p:sp>
      <p:sp>
        <p:nvSpPr>
          <p:cNvPr id="6" name="Text 3"/>
          <p:cNvSpPr/>
          <p:nvPr/>
        </p:nvSpPr>
        <p:spPr>
          <a:xfrm>
            <a:off x="449610" y="2271489"/>
            <a:ext cx="8244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succès d'une équipe dépend de la collaboration et du respect mutuel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2268" y="2729359"/>
            <a:ext cx="8052122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"Seul on va plus vite, ensemble on va plus loin"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49610" y="2598390"/>
            <a:ext cx="14288" cy="45787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9" name="Shape 6"/>
          <p:cNvSpPr/>
          <p:nvPr/>
        </p:nvSpPr>
        <p:spPr>
          <a:xfrm>
            <a:off x="449610" y="3187229"/>
            <a:ext cx="2670646" cy="928762"/>
          </a:xfrm>
          <a:prstGeom prst="roundRect">
            <a:avLst>
              <a:gd name="adj" fmla="val 5810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2811" y="3320430"/>
            <a:ext cx="175349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Communication claire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82811" y="3590925"/>
            <a:ext cx="240424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Écouter, clarifier et agir tôt pour éviter l'escalade.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36640" y="3187229"/>
            <a:ext cx="2670646" cy="928762"/>
          </a:xfrm>
          <a:prstGeom prst="roundRect">
            <a:avLst>
              <a:gd name="adj" fmla="val 5810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69841" y="332043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Esprit d'équipe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369841" y="3590925"/>
            <a:ext cx="240424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Avancer ensemble avec confiance, respect et alignement.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23670" y="3187229"/>
            <a:ext cx="2670646" cy="928762"/>
          </a:xfrm>
          <a:prstGeom prst="roundRect">
            <a:avLst>
              <a:gd name="adj" fmla="val 5810"/>
            </a:avLst>
          </a:prstGeom>
          <a:solidFill>
            <a:srgbClr val="FFD8CC"/>
          </a:solidFill>
          <a:ln w="4763">
            <a:solidFill>
              <a:srgbClr val="E5BEB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56871" y="3320430"/>
            <a:ext cx="16059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Succès durable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156871" y="3590925"/>
            <a:ext cx="2404244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Transformer les tensions en apprentissages et en progrès.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9610" y="4246959"/>
            <a:ext cx="824478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Comment allez-vous appliquer ces principes pour améliorer la communication dans vos propres équipes ?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9610" y="4573860"/>
            <a:ext cx="8244780" cy="156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111127" y="743545"/>
            <a:ext cx="49217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Êtes-vous prêt pour le quiz ?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1399133"/>
            <a:ext cx="8151763" cy="1834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Préparez-vous à démontrer votre compréhension et à relever le défi !</a:t>
            </a:r>
            <a:endParaRPr lang="en-US" sz="3850" dirty="0"/>
          </a:p>
        </p:txBody>
      </p:sp>
      <p:sp>
        <p:nvSpPr>
          <p:cNvPr id="6" name="Text 3"/>
          <p:cNvSpPr/>
          <p:nvPr/>
        </p:nvSpPr>
        <p:spPr>
          <a:xfrm>
            <a:off x="496119" y="3445892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96119" y="3832175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4218459"/>
            <a:ext cx="81517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00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472556" y="2130549"/>
            <a:ext cx="419881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Merci de votre attention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786137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2026-05-15T09:23:45Z</dcterms:created>
  <dcterms:modified xsi:type="dcterms:W3CDTF">2026-05-15T09:23:45Z</dcterms:modified>
</cp:coreProperties>
</file>