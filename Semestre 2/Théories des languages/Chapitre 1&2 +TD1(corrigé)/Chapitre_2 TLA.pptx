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3" r:id="rId1"/>
    <p:sldMasterId id="2147484135" r:id="rId2"/>
  </p:sldMasterIdLst>
  <p:notesMasterIdLst>
    <p:notesMasterId r:id="rId27"/>
  </p:notesMasterIdLst>
  <p:handoutMasterIdLst>
    <p:handoutMasterId r:id="rId28"/>
  </p:handoutMasterIdLst>
  <p:sldIdLst>
    <p:sldId id="521" r:id="rId3"/>
    <p:sldId id="256" r:id="rId4"/>
    <p:sldId id="1485" r:id="rId5"/>
    <p:sldId id="1503" r:id="rId6"/>
    <p:sldId id="1504" r:id="rId7"/>
    <p:sldId id="1505" r:id="rId8"/>
    <p:sldId id="1502" r:id="rId9"/>
    <p:sldId id="1506" r:id="rId10"/>
    <p:sldId id="1500" r:id="rId11"/>
    <p:sldId id="1501" r:id="rId12"/>
    <p:sldId id="1507" r:id="rId13"/>
    <p:sldId id="1499" r:id="rId14"/>
    <p:sldId id="1508" r:id="rId15"/>
    <p:sldId id="1518" r:id="rId16"/>
    <p:sldId id="1509" r:id="rId17"/>
    <p:sldId id="1511" r:id="rId18"/>
    <p:sldId id="1512" r:id="rId19"/>
    <p:sldId id="1515" r:id="rId20"/>
    <p:sldId id="1519" r:id="rId21"/>
    <p:sldId id="1514" r:id="rId22"/>
    <p:sldId id="1520" r:id="rId23"/>
    <p:sldId id="1522" r:id="rId24"/>
    <p:sldId id="1521" r:id="rId25"/>
    <p:sldId id="1523" r:id="rId26"/>
  </p:sldIdLst>
  <p:sldSz cx="12192000" cy="6858000"/>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LILI RADHOUANE" initials="TR" lastIdx="2" clrIdx="0">
    <p:extLst>
      <p:ext uri="{19B8F6BF-5375-455C-9EA6-DF929625EA0E}">
        <p15:presenceInfo xmlns:p15="http://schemas.microsoft.com/office/powerpoint/2012/main" userId="S::radhouane.tlili@kasserine.r-iset.tn::8930e9a9-fac6-42fe-958c-b98018379ef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0000"/>
    <a:srgbClr val="0099CC"/>
    <a:srgbClr val="339900"/>
    <a:srgbClr val="FF4949"/>
    <a:srgbClr val="990716"/>
    <a:srgbClr val="336600"/>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683" autoAdjust="0"/>
  </p:normalViewPr>
  <p:slideViewPr>
    <p:cSldViewPr snapToGrid="0">
      <p:cViewPr varScale="1">
        <p:scale>
          <a:sx n="68" d="100"/>
          <a:sy n="68" d="100"/>
        </p:scale>
        <p:origin x="738"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44"/>
    </p:cViewPr>
  </p:sorterViewPr>
  <p:notesViewPr>
    <p:cSldViewPr snapToGrid="0">
      <p:cViewPr varScale="1">
        <p:scale>
          <a:sx n="50" d="100"/>
          <a:sy n="50" d="100"/>
        </p:scale>
        <p:origin x="2814"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36F5CF7B-953B-4F51-9960-218379B14301}"/>
              </a:ext>
            </a:extLst>
          </p:cNvPr>
          <p:cNvSpPr>
            <a:spLocks noGrp="1" noChangeArrowheads="1"/>
          </p:cNvSpPr>
          <p:nvPr>
            <p:ph type="hdr" sz="quarter"/>
          </p:nvPr>
        </p:nvSpPr>
        <p:spPr bwMode="auto">
          <a:xfrm>
            <a:off x="0"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5" name="Rectangle 3">
            <a:extLst>
              <a:ext uri="{FF2B5EF4-FFF2-40B4-BE49-F238E27FC236}">
                <a16:creationId xmlns:a16="http://schemas.microsoft.com/office/drawing/2014/main" id="{EF0D8BB2-F0FB-42E2-9A6B-2B66FB00F2DF}"/>
              </a:ext>
            </a:extLst>
          </p:cNvPr>
          <p:cNvSpPr>
            <a:spLocks noGrp="1" noChangeArrowheads="1"/>
          </p:cNvSpPr>
          <p:nvPr>
            <p:ph type="dt" sz="quarter" idx="1"/>
          </p:nvPr>
        </p:nvSpPr>
        <p:spPr bwMode="auto">
          <a:xfrm>
            <a:off x="4143375"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lgn="r">
              <a:defRPr sz="1200">
                <a:latin typeface="Times New Roman" charset="0"/>
                <a:ea typeface="ＭＳ Ｐゴシック" charset="0"/>
                <a:cs typeface="ＭＳ Ｐゴシック" charset="0"/>
              </a:defRPr>
            </a:lvl1pPr>
          </a:lstStyle>
          <a:p>
            <a:pPr>
              <a:defRPr/>
            </a:pPr>
            <a:endParaRPr lang="en-US"/>
          </a:p>
        </p:txBody>
      </p:sp>
      <p:sp>
        <p:nvSpPr>
          <p:cNvPr id="131076" name="Rectangle 4">
            <a:extLst>
              <a:ext uri="{FF2B5EF4-FFF2-40B4-BE49-F238E27FC236}">
                <a16:creationId xmlns:a16="http://schemas.microsoft.com/office/drawing/2014/main" id="{625130C6-BBBC-4D7B-99EA-C49F41E4F92E}"/>
              </a:ext>
            </a:extLst>
          </p:cNvPr>
          <p:cNvSpPr>
            <a:spLocks noGrp="1" noChangeArrowheads="1"/>
          </p:cNvSpPr>
          <p:nvPr>
            <p:ph type="ftr" sz="quarter" idx="2"/>
          </p:nvPr>
        </p:nvSpPr>
        <p:spPr bwMode="auto">
          <a:xfrm>
            <a:off x="0"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7" name="Rectangle 5">
            <a:extLst>
              <a:ext uri="{FF2B5EF4-FFF2-40B4-BE49-F238E27FC236}">
                <a16:creationId xmlns:a16="http://schemas.microsoft.com/office/drawing/2014/main" id="{3ECC8A16-0E9C-41E3-8F62-A7C85854C502}"/>
              </a:ext>
            </a:extLst>
          </p:cNvPr>
          <p:cNvSpPr>
            <a:spLocks noGrp="1" noChangeArrowheads="1"/>
          </p:cNvSpPr>
          <p:nvPr>
            <p:ph type="sldNum" sz="quarter" idx="3"/>
          </p:nvPr>
        </p:nvSpPr>
        <p:spPr bwMode="auto">
          <a:xfrm>
            <a:off x="4143375"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lgn="r">
              <a:defRPr sz="1200">
                <a:latin typeface="Times New Roman" panose="02020603050405020304" pitchFamily="18" charset="0"/>
              </a:defRPr>
            </a:lvl1pPr>
          </a:lstStyle>
          <a:p>
            <a:pPr>
              <a:defRPr/>
            </a:pPr>
            <a:fld id="{00EE0A3A-2A0F-4AFC-8729-57A6EDDECF66}" type="slidenum">
              <a:rPr lang="en-US" altLang="fr-FR"/>
              <a:pPr>
                <a:defRPr/>
              </a:pPr>
              <a:t>‹N°›</a:t>
            </a:fld>
            <a:endParaRPr lang="en-US" alt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87D52D6-79D0-4A58-BE35-56E165214B46}"/>
              </a:ext>
            </a:extLst>
          </p:cNvPr>
          <p:cNvSpPr>
            <a:spLocks noGrp="1" noChangeArrowheads="1"/>
          </p:cNvSpPr>
          <p:nvPr>
            <p:ph type="hdr" sz="quarter"/>
          </p:nvPr>
        </p:nvSpPr>
        <p:spPr bwMode="auto">
          <a:xfrm>
            <a:off x="0" y="0"/>
            <a:ext cx="3170238" cy="479425"/>
          </a:xfrm>
          <a:prstGeom prst="rect">
            <a:avLst/>
          </a:prstGeom>
          <a:noFill/>
          <a:ln>
            <a:noFill/>
          </a:ln>
        </p:spPr>
        <p:txBody>
          <a:bodyPr vert="horz" wrap="square" lIns="96649" tIns="48325" rIns="96649" bIns="48325" numCol="1" anchor="t"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5" name="Rectangle 3">
            <a:extLst>
              <a:ext uri="{FF2B5EF4-FFF2-40B4-BE49-F238E27FC236}">
                <a16:creationId xmlns:a16="http://schemas.microsoft.com/office/drawing/2014/main" id="{7DB12764-5A34-4F9C-BBBF-E9235306CB25}"/>
              </a:ext>
            </a:extLst>
          </p:cNvPr>
          <p:cNvSpPr>
            <a:spLocks noGrp="1" noChangeArrowheads="1"/>
          </p:cNvSpPr>
          <p:nvPr>
            <p:ph type="dt" idx="1"/>
          </p:nvPr>
        </p:nvSpPr>
        <p:spPr bwMode="auto">
          <a:xfrm>
            <a:off x="4144963" y="0"/>
            <a:ext cx="3170237" cy="479425"/>
          </a:xfrm>
          <a:prstGeom prst="rect">
            <a:avLst/>
          </a:prstGeom>
          <a:noFill/>
          <a:ln>
            <a:noFill/>
          </a:ln>
        </p:spPr>
        <p:txBody>
          <a:bodyPr vert="horz" wrap="square" lIns="96649" tIns="48325" rIns="96649" bIns="48325" numCol="1" anchor="t" anchorCtr="0" compatLnSpc="1">
            <a:prstTxWarp prst="textNoShape">
              <a:avLst/>
            </a:prstTxWarp>
          </a:bodyPr>
          <a:lstStyle>
            <a:lvl1pPr algn="r" defTabSz="966788">
              <a:defRPr sz="1300">
                <a:latin typeface="Times New Roman" charset="0"/>
                <a:ea typeface="ＭＳ Ｐゴシック" charset="0"/>
                <a:cs typeface="ＭＳ Ｐゴシック" charset="0"/>
              </a:defRPr>
            </a:lvl1pPr>
          </a:lstStyle>
          <a:p>
            <a:pPr>
              <a:defRPr/>
            </a:pPr>
            <a:endParaRPr lang="en-US"/>
          </a:p>
        </p:txBody>
      </p:sp>
      <p:sp>
        <p:nvSpPr>
          <p:cNvPr id="9220" name="Rectangle 4">
            <a:extLst>
              <a:ext uri="{FF2B5EF4-FFF2-40B4-BE49-F238E27FC236}">
                <a16:creationId xmlns:a16="http://schemas.microsoft.com/office/drawing/2014/main" id="{2677E940-8154-4D2D-8FDE-8F95F27EB96F}"/>
              </a:ext>
            </a:extLst>
          </p:cNvPr>
          <p:cNvSpPr>
            <a:spLocks noGrp="1" noRot="1" noChangeAspect="1" noChangeArrowheads="1" noTextEdit="1"/>
          </p:cNvSpPr>
          <p:nvPr>
            <p:ph type="sldImg" idx="2"/>
          </p:nvPr>
        </p:nvSpPr>
        <p:spPr bwMode="auto">
          <a:xfrm>
            <a:off x="458788"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E8B5BFEF-A705-4407-B910-DF0DAE2BF09B}"/>
              </a:ext>
            </a:extLst>
          </p:cNvPr>
          <p:cNvSpPr>
            <a:spLocks noGrp="1" noChangeArrowheads="1"/>
          </p:cNvSpPr>
          <p:nvPr>
            <p:ph type="body" sz="quarter" idx="3"/>
          </p:nvPr>
        </p:nvSpPr>
        <p:spPr bwMode="auto">
          <a:xfrm>
            <a:off x="974725" y="4560888"/>
            <a:ext cx="5365750" cy="4319587"/>
          </a:xfrm>
          <a:prstGeom prst="rect">
            <a:avLst/>
          </a:prstGeom>
          <a:noFill/>
          <a:ln>
            <a:noFill/>
          </a:ln>
        </p:spPr>
        <p:txBody>
          <a:bodyPr vert="horz" wrap="square" lIns="96649" tIns="48325" rIns="96649"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369F9249-3705-4ED8-B738-008641D92754}"/>
              </a:ext>
            </a:extLst>
          </p:cNvPr>
          <p:cNvSpPr>
            <a:spLocks noGrp="1" noChangeArrowheads="1"/>
          </p:cNvSpPr>
          <p:nvPr>
            <p:ph type="ftr" sz="quarter" idx="4"/>
          </p:nvPr>
        </p:nvSpPr>
        <p:spPr bwMode="auto">
          <a:xfrm>
            <a:off x="0" y="9121775"/>
            <a:ext cx="3170238" cy="479425"/>
          </a:xfrm>
          <a:prstGeom prst="rect">
            <a:avLst/>
          </a:prstGeom>
          <a:noFill/>
          <a:ln>
            <a:noFill/>
          </a:ln>
        </p:spPr>
        <p:txBody>
          <a:bodyPr vert="horz" wrap="square" lIns="96649" tIns="48325" rIns="96649" bIns="48325" numCol="1" anchor="b"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9" name="Rectangle 7">
            <a:extLst>
              <a:ext uri="{FF2B5EF4-FFF2-40B4-BE49-F238E27FC236}">
                <a16:creationId xmlns:a16="http://schemas.microsoft.com/office/drawing/2014/main" id="{22569AE3-8992-4159-841C-8E2DEF1FE867}"/>
              </a:ext>
            </a:extLst>
          </p:cNvPr>
          <p:cNvSpPr>
            <a:spLocks noGrp="1" noChangeArrowheads="1"/>
          </p:cNvSpPr>
          <p:nvPr>
            <p:ph type="sldNum" sz="quarter" idx="5"/>
          </p:nvPr>
        </p:nvSpPr>
        <p:spPr bwMode="auto">
          <a:xfrm>
            <a:off x="4144963" y="9121775"/>
            <a:ext cx="3170237" cy="479425"/>
          </a:xfrm>
          <a:prstGeom prst="rect">
            <a:avLst/>
          </a:prstGeom>
          <a:noFill/>
          <a:ln>
            <a:noFill/>
          </a:ln>
        </p:spPr>
        <p:txBody>
          <a:bodyPr vert="horz" wrap="square" lIns="96649" tIns="48325" rIns="96649" bIns="48325"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29457111-CDDA-4220-B956-1D01D942AECC}"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4BFC8E20-2F3E-4C3D-9DA5-98B568015DC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4856CE6D-0C0D-4B1C-84ED-409E7CD98B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8403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48092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88406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5530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96246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43290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67977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52802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6768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8378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8072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8075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81338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04424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82948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6312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65672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4305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86055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92035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19149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95584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C01EF728-1991-4FAA-B8AA-E4FB6B88724E}"/>
              </a:ext>
            </a:extLst>
          </p:cNvPr>
          <p:cNvSpPr>
            <a:spLocks noGrp="1" noChangeArrowheads="1"/>
          </p:cNvSpPr>
          <p:nvPr>
            <p:ph type="ftr" sz="quarter" idx="10"/>
          </p:nvPr>
        </p:nvSpPr>
        <p:spPr/>
        <p:txBody>
          <a:bodyPr/>
          <a:lstStyle>
            <a:lvl1pPr>
              <a:defRPr/>
            </a:lvl1pPr>
          </a:lstStyle>
          <a:p>
            <a:pPr>
              <a:defRPr/>
            </a:pPr>
            <a:r>
              <a:rPr lang="en-US"/>
              <a:t>Introduction </a:t>
            </a:r>
          </a:p>
        </p:txBody>
      </p:sp>
      <p:sp>
        <p:nvSpPr>
          <p:cNvPr id="5" name="Rectangle 6">
            <a:extLst>
              <a:ext uri="{FF2B5EF4-FFF2-40B4-BE49-F238E27FC236}">
                <a16:creationId xmlns:a16="http://schemas.microsoft.com/office/drawing/2014/main" id="{3B1D2010-073B-46CA-A765-A9104D625328}"/>
              </a:ext>
            </a:extLst>
          </p:cNvPr>
          <p:cNvSpPr>
            <a:spLocks noGrp="1" noChangeArrowheads="1"/>
          </p:cNvSpPr>
          <p:nvPr>
            <p:ph type="sldNum" sz="quarter" idx="11"/>
          </p:nvPr>
        </p:nvSpPr>
        <p:spPr/>
        <p:txBody>
          <a:bodyPr/>
          <a:lstStyle>
            <a:lvl1pPr>
              <a:defRPr/>
            </a:lvl1pPr>
          </a:lstStyle>
          <a:p>
            <a:pPr>
              <a:defRPr/>
            </a:pPr>
            <a:r>
              <a:rPr lang="en-US" altLang="fr-FR"/>
              <a:t>2-</a:t>
            </a:r>
            <a:fld id="{02719EB8-330F-4A01-AE59-122C076630A1}" type="slidenum">
              <a:rPr lang="en-US" altLang="fr-FR" smtClean="0"/>
              <a:pPr>
                <a:defRPr/>
              </a:pPr>
              <a:t>‹N°›</a:t>
            </a:fld>
            <a:endParaRPr lang="en-US" altLang="fr-FR"/>
          </a:p>
        </p:txBody>
      </p:sp>
    </p:spTree>
    <p:extLst>
      <p:ext uri="{BB962C8B-B14F-4D97-AF65-F5344CB8AC3E}">
        <p14:creationId xmlns:p14="http://schemas.microsoft.com/office/powerpoint/2010/main" val="1284582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ACFCF62-34F6-41FF-B606-863FD873BE3C}"/>
              </a:ext>
            </a:extLst>
          </p:cNvPr>
          <p:cNvSpPr>
            <a:spLocks noGrp="1" noChangeArrowheads="1"/>
          </p:cNvSpPr>
          <p:nvPr>
            <p:ph type="dt" sz="half" idx="10"/>
          </p:nvPr>
        </p:nvSpPr>
        <p:spPr>
          <a:ln/>
        </p:spPr>
        <p:txBody>
          <a:bodyPr/>
          <a:lstStyle>
            <a:lvl1pPr>
              <a:defRPr/>
            </a:lvl1pPr>
          </a:lstStyle>
          <a:p>
            <a:pPr>
              <a:defRPr/>
            </a:pPr>
            <a:fld id="{9FD7C5A8-40A4-4918-A7BF-C4C0428549DC}" type="datetime1">
              <a:rPr lang="en-US" altLang="fr-FR" smtClean="0"/>
              <a:t>2/8/2023</a:t>
            </a:fld>
            <a:endParaRPr lang="en-US" altLang="fr-FR"/>
          </a:p>
        </p:txBody>
      </p:sp>
      <p:sp>
        <p:nvSpPr>
          <p:cNvPr id="5" name="Rectangle 5">
            <a:extLst>
              <a:ext uri="{FF2B5EF4-FFF2-40B4-BE49-F238E27FC236}">
                <a16:creationId xmlns:a16="http://schemas.microsoft.com/office/drawing/2014/main" id="{87F90C7A-37C1-44BD-8630-464A6598616F}"/>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6">
            <a:extLst>
              <a:ext uri="{FF2B5EF4-FFF2-40B4-BE49-F238E27FC236}">
                <a16:creationId xmlns:a16="http://schemas.microsoft.com/office/drawing/2014/main" id="{07E62703-99C6-4B6C-B263-6DFA7E851930}"/>
              </a:ext>
            </a:extLst>
          </p:cNvPr>
          <p:cNvSpPr>
            <a:spLocks noGrp="1" noChangeArrowheads="1"/>
          </p:cNvSpPr>
          <p:nvPr>
            <p:ph type="sldNum" sz="quarter" idx="12"/>
          </p:nvPr>
        </p:nvSpPr>
        <p:spPr>
          <a:ln/>
        </p:spPr>
        <p:txBody>
          <a:bodyPr/>
          <a:lstStyle>
            <a:lvl1pPr>
              <a:defRPr/>
            </a:lvl1pPr>
          </a:lstStyle>
          <a:p>
            <a:pPr>
              <a:defRPr/>
            </a:pPr>
            <a:r>
              <a:rPr lang="en-US" altLang="fr-FR"/>
              <a:t>2-</a:t>
            </a:r>
            <a:fld id="{A9089B58-83D4-4D2D-A69F-F53849F8FC2F}" type="slidenum">
              <a:rPr lang="en-US" altLang="fr-FR" smtClean="0"/>
              <a:pPr>
                <a:defRPr/>
              </a:pPr>
              <a:t>‹N°›</a:t>
            </a:fld>
            <a:endParaRPr lang="en-US" altLang="fr-FR"/>
          </a:p>
        </p:txBody>
      </p:sp>
    </p:spTree>
    <p:extLst>
      <p:ext uri="{BB962C8B-B14F-4D97-AF65-F5344CB8AC3E}">
        <p14:creationId xmlns:p14="http://schemas.microsoft.com/office/powerpoint/2010/main" val="1857227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9A5EC11-2C2B-4586-8489-299AE6853637}"/>
              </a:ext>
            </a:extLst>
          </p:cNvPr>
          <p:cNvSpPr>
            <a:spLocks noGrp="1" noChangeArrowheads="1"/>
          </p:cNvSpPr>
          <p:nvPr>
            <p:ph type="dt" sz="half" idx="10"/>
          </p:nvPr>
        </p:nvSpPr>
        <p:spPr>
          <a:ln/>
        </p:spPr>
        <p:txBody>
          <a:bodyPr/>
          <a:lstStyle>
            <a:lvl1pPr>
              <a:defRPr/>
            </a:lvl1pPr>
          </a:lstStyle>
          <a:p>
            <a:pPr>
              <a:defRPr/>
            </a:pPr>
            <a:fld id="{AE447734-FE1C-4DB9-8DAB-4C098632FD12}" type="datetime1">
              <a:rPr lang="en-US" altLang="fr-FR" smtClean="0"/>
              <a:t>2/8/2023</a:t>
            </a:fld>
            <a:endParaRPr lang="en-US" altLang="fr-FR"/>
          </a:p>
        </p:txBody>
      </p:sp>
      <p:sp>
        <p:nvSpPr>
          <p:cNvPr id="5" name="Rectangle 5">
            <a:extLst>
              <a:ext uri="{FF2B5EF4-FFF2-40B4-BE49-F238E27FC236}">
                <a16:creationId xmlns:a16="http://schemas.microsoft.com/office/drawing/2014/main" id="{541C5306-9252-4423-A6B7-CB4F490213B4}"/>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6">
            <a:extLst>
              <a:ext uri="{FF2B5EF4-FFF2-40B4-BE49-F238E27FC236}">
                <a16:creationId xmlns:a16="http://schemas.microsoft.com/office/drawing/2014/main" id="{34B8B805-AF0F-4D1E-A32E-E0FDDC429074}"/>
              </a:ext>
            </a:extLst>
          </p:cNvPr>
          <p:cNvSpPr>
            <a:spLocks noGrp="1" noChangeArrowheads="1"/>
          </p:cNvSpPr>
          <p:nvPr>
            <p:ph type="sldNum" sz="quarter" idx="12"/>
          </p:nvPr>
        </p:nvSpPr>
        <p:spPr>
          <a:ln/>
        </p:spPr>
        <p:txBody>
          <a:bodyPr/>
          <a:lstStyle>
            <a:lvl1pPr>
              <a:defRPr/>
            </a:lvl1pPr>
          </a:lstStyle>
          <a:p>
            <a:pPr>
              <a:defRPr/>
            </a:pPr>
            <a:r>
              <a:rPr lang="en-US" altLang="fr-FR"/>
              <a:t>2-</a:t>
            </a:r>
            <a:fld id="{D4E76D38-4EB6-416B-BF1A-AFA9B7E8649A}" type="slidenum">
              <a:rPr lang="en-US" altLang="fr-FR" smtClean="0"/>
              <a:pPr>
                <a:defRPr/>
              </a:pPr>
              <a:t>‹N°›</a:t>
            </a:fld>
            <a:endParaRPr lang="en-US" altLang="fr-FR"/>
          </a:p>
        </p:txBody>
      </p:sp>
    </p:spTree>
    <p:extLst>
      <p:ext uri="{BB962C8B-B14F-4D97-AF65-F5344CB8AC3E}">
        <p14:creationId xmlns:p14="http://schemas.microsoft.com/office/powerpoint/2010/main" val="836774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11313"/>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94400" y="1611313"/>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F4E6978-5605-412E-8082-2FB32CAC1948}"/>
              </a:ext>
            </a:extLst>
          </p:cNvPr>
          <p:cNvSpPr>
            <a:spLocks noGrp="1" noChangeArrowheads="1"/>
          </p:cNvSpPr>
          <p:nvPr>
            <p:ph type="dt" sz="half" idx="10"/>
          </p:nvPr>
        </p:nvSpPr>
        <p:spPr>
          <a:ln/>
        </p:spPr>
        <p:txBody>
          <a:bodyPr/>
          <a:lstStyle>
            <a:lvl1pPr>
              <a:defRPr/>
            </a:lvl1pPr>
          </a:lstStyle>
          <a:p>
            <a:pPr>
              <a:defRPr/>
            </a:pPr>
            <a:fld id="{158D6B83-60E4-407C-8254-95A7F317D08B}" type="datetime1">
              <a:rPr lang="en-US" altLang="fr-FR" smtClean="0"/>
              <a:t>2/8/2023</a:t>
            </a:fld>
            <a:endParaRPr lang="en-US" altLang="fr-FR"/>
          </a:p>
        </p:txBody>
      </p:sp>
      <p:sp>
        <p:nvSpPr>
          <p:cNvPr id="6" name="Rectangle 5">
            <a:extLst>
              <a:ext uri="{FF2B5EF4-FFF2-40B4-BE49-F238E27FC236}">
                <a16:creationId xmlns:a16="http://schemas.microsoft.com/office/drawing/2014/main" id="{70959D4C-5D97-4E68-90E8-BB89230F2E83}"/>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6">
            <a:extLst>
              <a:ext uri="{FF2B5EF4-FFF2-40B4-BE49-F238E27FC236}">
                <a16:creationId xmlns:a16="http://schemas.microsoft.com/office/drawing/2014/main" id="{79B7A87D-377C-4402-9382-DFDCE890AD2C}"/>
              </a:ext>
            </a:extLst>
          </p:cNvPr>
          <p:cNvSpPr>
            <a:spLocks noGrp="1" noChangeArrowheads="1"/>
          </p:cNvSpPr>
          <p:nvPr>
            <p:ph type="sldNum" sz="quarter" idx="12"/>
          </p:nvPr>
        </p:nvSpPr>
        <p:spPr>
          <a:ln/>
        </p:spPr>
        <p:txBody>
          <a:bodyPr/>
          <a:lstStyle>
            <a:lvl1pPr>
              <a:defRPr/>
            </a:lvl1pPr>
          </a:lstStyle>
          <a:p>
            <a:pPr>
              <a:defRPr/>
            </a:pPr>
            <a:r>
              <a:rPr lang="en-US" altLang="fr-FR"/>
              <a:t>2-</a:t>
            </a:r>
            <a:fld id="{4BFA9CED-9FD9-4383-B708-C52A742AAE59}" type="slidenum">
              <a:rPr lang="en-US" altLang="fr-FR" smtClean="0"/>
              <a:pPr>
                <a:defRPr/>
              </a:pPr>
              <a:t>‹N°›</a:t>
            </a:fld>
            <a:endParaRPr lang="en-US" altLang="fr-FR"/>
          </a:p>
        </p:txBody>
      </p:sp>
    </p:spTree>
    <p:extLst>
      <p:ext uri="{BB962C8B-B14F-4D97-AF65-F5344CB8AC3E}">
        <p14:creationId xmlns:p14="http://schemas.microsoft.com/office/powerpoint/2010/main" val="783532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BF2C709-5AD2-429D-B1D0-8D731B868C98}"/>
              </a:ext>
            </a:extLst>
          </p:cNvPr>
          <p:cNvSpPr>
            <a:spLocks noGrp="1" noChangeArrowheads="1"/>
          </p:cNvSpPr>
          <p:nvPr>
            <p:ph type="dt" sz="half" idx="10"/>
          </p:nvPr>
        </p:nvSpPr>
        <p:spPr>
          <a:ln/>
        </p:spPr>
        <p:txBody>
          <a:bodyPr/>
          <a:lstStyle>
            <a:lvl1pPr>
              <a:defRPr/>
            </a:lvl1pPr>
          </a:lstStyle>
          <a:p>
            <a:pPr>
              <a:defRPr/>
            </a:pPr>
            <a:fld id="{8422768E-89B5-4CA0-B781-1A751160DD75}" type="datetime1">
              <a:rPr lang="en-US" altLang="fr-FR" smtClean="0"/>
              <a:t>2/8/2023</a:t>
            </a:fld>
            <a:endParaRPr lang="en-US" altLang="fr-FR"/>
          </a:p>
        </p:txBody>
      </p:sp>
      <p:sp>
        <p:nvSpPr>
          <p:cNvPr id="8" name="Rectangle 5">
            <a:extLst>
              <a:ext uri="{FF2B5EF4-FFF2-40B4-BE49-F238E27FC236}">
                <a16:creationId xmlns:a16="http://schemas.microsoft.com/office/drawing/2014/main" id="{7840A25E-DA17-446A-8F9E-0628B56572FE}"/>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9" name="Rectangle 6">
            <a:extLst>
              <a:ext uri="{FF2B5EF4-FFF2-40B4-BE49-F238E27FC236}">
                <a16:creationId xmlns:a16="http://schemas.microsoft.com/office/drawing/2014/main" id="{7640D998-EFD1-4D94-8EB4-67281FABB7D4}"/>
              </a:ext>
            </a:extLst>
          </p:cNvPr>
          <p:cNvSpPr>
            <a:spLocks noGrp="1" noChangeArrowheads="1"/>
          </p:cNvSpPr>
          <p:nvPr>
            <p:ph type="sldNum" sz="quarter" idx="12"/>
          </p:nvPr>
        </p:nvSpPr>
        <p:spPr>
          <a:ln/>
        </p:spPr>
        <p:txBody>
          <a:bodyPr/>
          <a:lstStyle>
            <a:lvl1pPr>
              <a:defRPr/>
            </a:lvl1pPr>
          </a:lstStyle>
          <a:p>
            <a:pPr>
              <a:defRPr/>
            </a:pPr>
            <a:r>
              <a:rPr lang="en-US" altLang="fr-FR"/>
              <a:t>2-</a:t>
            </a:r>
            <a:fld id="{A4B17BB8-1A6D-4EE6-BDFE-35BBDD561E1F}" type="slidenum">
              <a:rPr lang="en-US" altLang="fr-FR" smtClean="0"/>
              <a:pPr>
                <a:defRPr/>
              </a:pPr>
              <a:t>‹N°›</a:t>
            </a:fld>
            <a:endParaRPr lang="en-US" altLang="fr-FR"/>
          </a:p>
        </p:txBody>
      </p:sp>
    </p:spTree>
    <p:extLst>
      <p:ext uri="{BB962C8B-B14F-4D97-AF65-F5344CB8AC3E}">
        <p14:creationId xmlns:p14="http://schemas.microsoft.com/office/powerpoint/2010/main" val="371558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306202E-B9C9-45D6-9119-1975317BF633}"/>
              </a:ext>
            </a:extLst>
          </p:cNvPr>
          <p:cNvSpPr>
            <a:spLocks noGrp="1" noChangeArrowheads="1"/>
          </p:cNvSpPr>
          <p:nvPr>
            <p:ph type="dt" sz="half" idx="10"/>
          </p:nvPr>
        </p:nvSpPr>
        <p:spPr>
          <a:ln/>
        </p:spPr>
        <p:txBody>
          <a:bodyPr/>
          <a:lstStyle>
            <a:lvl1pPr>
              <a:defRPr/>
            </a:lvl1pPr>
          </a:lstStyle>
          <a:p>
            <a:pPr>
              <a:defRPr/>
            </a:pPr>
            <a:fld id="{04724D4E-8CBF-44C4-B880-49ABA6CA754F}" type="datetime1">
              <a:rPr lang="en-US" altLang="fr-FR" smtClean="0"/>
              <a:t>2/8/2023</a:t>
            </a:fld>
            <a:endParaRPr lang="en-US" altLang="fr-FR"/>
          </a:p>
        </p:txBody>
      </p:sp>
      <p:sp>
        <p:nvSpPr>
          <p:cNvPr id="4" name="Rectangle 5">
            <a:extLst>
              <a:ext uri="{FF2B5EF4-FFF2-40B4-BE49-F238E27FC236}">
                <a16:creationId xmlns:a16="http://schemas.microsoft.com/office/drawing/2014/main" id="{BF99E874-96AF-4572-8609-31A8C18460A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5" name="Rectangle 6">
            <a:extLst>
              <a:ext uri="{FF2B5EF4-FFF2-40B4-BE49-F238E27FC236}">
                <a16:creationId xmlns:a16="http://schemas.microsoft.com/office/drawing/2014/main" id="{1AD1E1CE-031E-4511-8B11-4C43545A84FF}"/>
              </a:ext>
            </a:extLst>
          </p:cNvPr>
          <p:cNvSpPr>
            <a:spLocks noGrp="1" noChangeArrowheads="1"/>
          </p:cNvSpPr>
          <p:nvPr>
            <p:ph type="sldNum" sz="quarter" idx="12"/>
          </p:nvPr>
        </p:nvSpPr>
        <p:spPr>
          <a:ln/>
        </p:spPr>
        <p:txBody>
          <a:bodyPr/>
          <a:lstStyle>
            <a:lvl1pPr>
              <a:defRPr/>
            </a:lvl1pPr>
          </a:lstStyle>
          <a:p>
            <a:pPr>
              <a:defRPr/>
            </a:pPr>
            <a:r>
              <a:rPr lang="en-US" altLang="fr-FR"/>
              <a:t>2-</a:t>
            </a:r>
            <a:fld id="{533D1CA1-9B06-4BF3-A13D-A4EA0C7E5D5E}" type="slidenum">
              <a:rPr lang="en-US" altLang="fr-FR" smtClean="0"/>
              <a:pPr>
                <a:defRPr/>
              </a:pPr>
              <a:t>‹N°›</a:t>
            </a:fld>
            <a:endParaRPr lang="en-US" altLang="fr-FR"/>
          </a:p>
        </p:txBody>
      </p:sp>
    </p:spTree>
    <p:extLst>
      <p:ext uri="{BB962C8B-B14F-4D97-AF65-F5344CB8AC3E}">
        <p14:creationId xmlns:p14="http://schemas.microsoft.com/office/powerpoint/2010/main" val="3749731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A5228B-876D-4C8C-A22C-053E64D319B8}"/>
              </a:ext>
            </a:extLst>
          </p:cNvPr>
          <p:cNvSpPr>
            <a:spLocks noGrp="1"/>
          </p:cNvSpPr>
          <p:nvPr>
            <p:ph type="dt" sz="half" idx="10"/>
          </p:nvPr>
        </p:nvSpPr>
        <p:spPr/>
        <p:txBody>
          <a:bodyPr/>
          <a:lstStyle>
            <a:lvl1pPr>
              <a:defRPr smtClean="0"/>
            </a:lvl1pPr>
          </a:lstStyle>
          <a:p>
            <a:pPr>
              <a:defRPr/>
            </a:pPr>
            <a:fld id="{32B77BB6-3E04-4AC5-975D-B1D609BAC2F8}" type="datetime1">
              <a:rPr lang="en-US" altLang="fr-FR" smtClean="0"/>
              <a:t>2/8/2023</a:t>
            </a:fld>
            <a:endParaRPr lang="en-US" altLang="fr-FR"/>
          </a:p>
        </p:txBody>
      </p:sp>
      <p:sp>
        <p:nvSpPr>
          <p:cNvPr id="3" name="Footer Placeholder 2">
            <a:extLst>
              <a:ext uri="{FF2B5EF4-FFF2-40B4-BE49-F238E27FC236}">
                <a16:creationId xmlns:a16="http://schemas.microsoft.com/office/drawing/2014/main" id="{9202279B-CB67-4C39-B5FB-474DB5161F9F}"/>
              </a:ext>
            </a:extLst>
          </p:cNvPr>
          <p:cNvSpPr>
            <a:spLocks noGrp="1"/>
          </p:cNvSpPr>
          <p:nvPr>
            <p:ph type="ftr" sz="quarter" idx="11"/>
          </p:nvPr>
        </p:nvSpPr>
        <p:spPr/>
        <p:txBody>
          <a:bodyPr/>
          <a:lstStyle>
            <a:lvl1pPr>
              <a:defRPr/>
            </a:lvl1pPr>
          </a:lstStyle>
          <a:p>
            <a:pPr>
              <a:defRPr/>
            </a:pPr>
            <a:r>
              <a:rPr lang="en-US"/>
              <a:t>Introduction </a:t>
            </a:r>
          </a:p>
        </p:txBody>
      </p:sp>
      <p:sp>
        <p:nvSpPr>
          <p:cNvPr id="4" name="Slide Number Placeholder 3">
            <a:extLst>
              <a:ext uri="{FF2B5EF4-FFF2-40B4-BE49-F238E27FC236}">
                <a16:creationId xmlns:a16="http://schemas.microsoft.com/office/drawing/2014/main" id="{B39A65BC-FDF5-408C-94AF-C1D5F776087D}"/>
              </a:ext>
            </a:extLst>
          </p:cNvPr>
          <p:cNvSpPr>
            <a:spLocks noGrp="1"/>
          </p:cNvSpPr>
          <p:nvPr>
            <p:ph type="sldNum" sz="quarter" idx="12"/>
          </p:nvPr>
        </p:nvSpPr>
        <p:spPr/>
        <p:txBody>
          <a:bodyPr/>
          <a:lstStyle>
            <a:lvl1pPr>
              <a:defRPr/>
            </a:lvl1pPr>
          </a:lstStyle>
          <a:p>
            <a:pPr>
              <a:defRPr/>
            </a:pPr>
            <a:r>
              <a:rPr lang="en-US" altLang="fr-FR"/>
              <a:t>1-</a:t>
            </a:r>
            <a:fld id="{1B9E7BF5-931C-4EE2-B7B0-B734040F7C58}" type="slidenum">
              <a:rPr lang="en-US" altLang="fr-FR" smtClean="0"/>
              <a:pPr>
                <a:defRPr/>
              </a:pPr>
              <a:t>‹N°›</a:t>
            </a:fld>
            <a:endParaRPr lang="en-US" altLang="fr-FR"/>
          </a:p>
        </p:txBody>
      </p:sp>
    </p:spTree>
    <p:extLst>
      <p:ext uri="{BB962C8B-B14F-4D97-AF65-F5344CB8AC3E}">
        <p14:creationId xmlns:p14="http://schemas.microsoft.com/office/powerpoint/2010/main" val="317199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E4FF539-2C2D-4C6F-B59F-D1DF0A8EA0E2}"/>
              </a:ext>
            </a:extLst>
          </p:cNvPr>
          <p:cNvSpPr>
            <a:spLocks noGrp="1"/>
          </p:cNvSpPr>
          <p:nvPr>
            <p:ph type="dt" sz="half" idx="10"/>
          </p:nvPr>
        </p:nvSpPr>
        <p:spPr/>
        <p:txBody>
          <a:bodyPr/>
          <a:lstStyle>
            <a:lvl1pPr>
              <a:defRPr smtClean="0"/>
            </a:lvl1pPr>
          </a:lstStyle>
          <a:p>
            <a:pPr>
              <a:defRPr/>
            </a:pPr>
            <a:fld id="{21515A48-C80C-461E-A1F2-2303CA4A79B2}" type="datetime1">
              <a:rPr lang="en-US" altLang="fr-FR" smtClean="0"/>
              <a:t>2/8/2023</a:t>
            </a:fld>
            <a:endParaRPr lang="en-US" altLang="fr-FR"/>
          </a:p>
        </p:txBody>
      </p:sp>
      <p:sp>
        <p:nvSpPr>
          <p:cNvPr id="6" name="Footer Placeholder 5">
            <a:extLst>
              <a:ext uri="{FF2B5EF4-FFF2-40B4-BE49-F238E27FC236}">
                <a16:creationId xmlns:a16="http://schemas.microsoft.com/office/drawing/2014/main" id="{6E02A269-09C7-4EFE-B7E4-EC54581EFE88}"/>
              </a:ext>
            </a:extLst>
          </p:cNvPr>
          <p:cNvSpPr>
            <a:spLocks noGrp="1"/>
          </p:cNvSpPr>
          <p:nvPr>
            <p:ph type="ftr" sz="quarter" idx="11"/>
          </p:nvPr>
        </p:nvSpPr>
        <p:spPr/>
        <p:txBody>
          <a:bodyPr/>
          <a:lstStyle>
            <a:lvl1pPr>
              <a:defRPr/>
            </a:lvl1pPr>
          </a:lstStyle>
          <a:p>
            <a:pPr>
              <a:defRPr/>
            </a:pPr>
            <a:r>
              <a:rPr lang="en-US"/>
              <a:t>Introduction </a:t>
            </a:r>
          </a:p>
        </p:txBody>
      </p:sp>
      <p:sp>
        <p:nvSpPr>
          <p:cNvPr id="7" name="Slide Number Placeholder 6">
            <a:extLst>
              <a:ext uri="{FF2B5EF4-FFF2-40B4-BE49-F238E27FC236}">
                <a16:creationId xmlns:a16="http://schemas.microsoft.com/office/drawing/2014/main" id="{95A5C668-66BB-41C8-8BB5-52A54D81FF46}"/>
              </a:ext>
            </a:extLst>
          </p:cNvPr>
          <p:cNvSpPr>
            <a:spLocks noGrp="1"/>
          </p:cNvSpPr>
          <p:nvPr>
            <p:ph type="sldNum" sz="quarter" idx="12"/>
          </p:nvPr>
        </p:nvSpPr>
        <p:spPr/>
        <p:txBody>
          <a:bodyPr/>
          <a:lstStyle>
            <a:lvl1pPr>
              <a:defRPr/>
            </a:lvl1pPr>
          </a:lstStyle>
          <a:p>
            <a:pPr>
              <a:defRPr/>
            </a:pPr>
            <a:r>
              <a:rPr lang="en-US" altLang="fr-FR"/>
              <a:t>1-</a:t>
            </a:r>
            <a:fld id="{220C738F-E58F-4E4B-B6B8-E0B048DB4B3C}" type="slidenum">
              <a:rPr lang="en-US" altLang="fr-FR" smtClean="0"/>
              <a:pPr>
                <a:defRPr/>
              </a:pPr>
              <a:t>‹N°›</a:t>
            </a:fld>
            <a:endParaRPr lang="en-US" altLang="fr-FR"/>
          </a:p>
        </p:txBody>
      </p:sp>
    </p:spTree>
    <p:extLst>
      <p:ext uri="{BB962C8B-B14F-4D97-AF65-F5344CB8AC3E}">
        <p14:creationId xmlns:p14="http://schemas.microsoft.com/office/powerpoint/2010/main" val="2068804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DE23544-3AEC-48A9-8E24-ECF09F381BC1}"/>
              </a:ext>
            </a:extLst>
          </p:cNvPr>
          <p:cNvSpPr>
            <a:spLocks noGrp="1" noChangeArrowheads="1"/>
          </p:cNvSpPr>
          <p:nvPr>
            <p:ph type="dt" sz="half" idx="10"/>
          </p:nvPr>
        </p:nvSpPr>
        <p:spPr>
          <a:ln/>
        </p:spPr>
        <p:txBody>
          <a:bodyPr/>
          <a:lstStyle>
            <a:lvl1pPr>
              <a:defRPr/>
            </a:lvl1pPr>
          </a:lstStyle>
          <a:p>
            <a:pPr>
              <a:defRPr/>
            </a:pPr>
            <a:fld id="{F5E90A8D-82FE-4114-98C9-08A0C7D7901C}" type="datetime1">
              <a:rPr lang="en-US" altLang="fr-FR" smtClean="0"/>
              <a:t>2/8/2023</a:t>
            </a:fld>
            <a:endParaRPr lang="en-US" altLang="fr-FR"/>
          </a:p>
        </p:txBody>
      </p:sp>
      <p:sp>
        <p:nvSpPr>
          <p:cNvPr id="6" name="Rectangle 5">
            <a:extLst>
              <a:ext uri="{FF2B5EF4-FFF2-40B4-BE49-F238E27FC236}">
                <a16:creationId xmlns:a16="http://schemas.microsoft.com/office/drawing/2014/main" id="{52CEB66C-E899-45C6-94C0-18512E69B1F5}"/>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6">
            <a:extLst>
              <a:ext uri="{FF2B5EF4-FFF2-40B4-BE49-F238E27FC236}">
                <a16:creationId xmlns:a16="http://schemas.microsoft.com/office/drawing/2014/main" id="{C6F4243E-3322-482D-95FF-E2C6D2270FE2}"/>
              </a:ext>
            </a:extLst>
          </p:cNvPr>
          <p:cNvSpPr>
            <a:spLocks noGrp="1" noChangeArrowheads="1"/>
          </p:cNvSpPr>
          <p:nvPr>
            <p:ph type="sldNum" sz="quarter" idx="12"/>
          </p:nvPr>
        </p:nvSpPr>
        <p:spPr>
          <a:ln/>
        </p:spPr>
        <p:txBody>
          <a:bodyPr/>
          <a:lstStyle>
            <a:lvl1pPr>
              <a:defRPr/>
            </a:lvl1pPr>
          </a:lstStyle>
          <a:p>
            <a:pPr>
              <a:defRPr/>
            </a:pPr>
            <a:r>
              <a:rPr lang="en-US" altLang="fr-FR"/>
              <a:t>2-</a:t>
            </a:r>
            <a:fld id="{F2CAD2B0-FACF-4A2F-A21B-039BA2E6AA97}" type="slidenum">
              <a:rPr lang="en-US" altLang="fr-FR" smtClean="0"/>
              <a:pPr>
                <a:defRPr/>
              </a:pPr>
              <a:t>‹N°›</a:t>
            </a:fld>
            <a:endParaRPr lang="en-US" altLang="fr-FR"/>
          </a:p>
        </p:txBody>
      </p:sp>
    </p:spTree>
    <p:extLst>
      <p:ext uri="{BB962C8B-B14F-4D97-AF65-F5344CB8AC3E}">
        <p14:creationId xmlns:p14="http://schemas.microsoft.com/office/powerpoint/2010/main" val="3870669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5717B7-A9C1-4F6B-9784-1555DD7593A5}"/>
              </a:ext>
            </a:extLst>
          </p:cNvPr>
          <p:cNvSpPr>
            <a:spLocks noGrp="1"/>
          </p:cNvSpPr>
          <p:nvPr>
            <p:ph type="dt" sz="half" idx="10"/>
          </p:nvPr>
        </p:nvSpPr>
        <p:spPr/>
        <p:txBody>
          <a:bodyPr/>
          <a:lstStyle>
            <a:lvl1pPr>
              <a:defRPr smtClean="0"/>
            </a:lvl1pPr>
          </a:lstStyle>
          <a:p>
            <a:pPr>
              <a:defRPr/>
            </a:pPr>
            <a:fld id="{BA945A9F-616E-47B9-8D79-1CBBD7FE6F93}" type="datetime1">
              <a:rPr lang="en-US" altLang="fr-FR" smtClean="0"/>
              <a:t>2/8/2023</a:t>
            </a:fld>
            <a:endParaRPr lang="en-US" altLang="fr-FR"/>
          </a:p>
        </p:txBody>
      </p:sp>
      <p:sp>
        <p:nvSpPr>
          <p:cNvPr id="5" name="Footer Placeholder 4">
            <a:extLst>
              <a:ext uri="{FF2B5EF4-FFF2-40B4-BE49-F238E27FC236}">
                <a16:creationId xmlns:a16="http://schemas.microsoft.com/office/drawing/2014/main" id="{9D6F3D3E-CBEC-4705-8ABA-A39F1074256D}"/>
              </a:ext>
            </a:extLst>
          </p:cNvPr>
          <p:cNvSpPr>
            <a:spLocks noGrp="1"/>
          </p:cNvSpPr>
          <p:nvPr>
            <p:ph type="ftr" sz="quarter" idx="11"/>
          </p:nvPr>
        </p:nvSpPr>
        <p:spPr/>
        <p:txBody>
          <a:bodyPr/>
          <a:lstStyle>
            <a:lvl1pPr>
              <a:defRPr/>
            </a:lvl1pPr>
          </a:lstStyle>
          <a:p>
            <a:pPr>
              <a:defRPr/>
            </a:pPr>
            <a:r>
              <a:rPr lang="en-US"/>
              <a:t>Introduction </a:t>
            </a:r>
          </a:p>
        </p:txBody>
      </p:sp>
      <p:sp>
        <p:nvSpPr>
          <p:cNvPr id="6" name="Slide Number Placeholder 5">
            <a:extLst>
              <a:ext uri="{FF2B5EF4-FFF2-40B4-BE49-F238E27FC236}">
                <a16:creationId xmlns:a16="http://schemas.microsoft.com/office/drawing/2014/main" id="{5FAB93D3-CF52-4024-A335-17B629D273E7}"/>
              </a:ext>
            </a:extLst>
          </p:cNvPr>
          <p:cNvSpPr>
            <a:spLocks noGrp="1"/>
          </p:cNvSpPr>
          <p:nvPr>
            <p:ph type="sldNum" sz="quarter" idx="12"/>
          </p:nvPr>
        </p:nvSpPr>
        <p:spPr/>
        <p:txBody>
          <a:bodyPr/>
          <a:lstStyle>
            <a:lvl1pPr>
              <a:defRPr/>
            </a:lvl1pPr>
          </a:lstStyle>
          <a:p>
            <a:pPr>
              <a:defRPr/>
            </a:pPr>
            <a:r>
              <a:rPr lang="en-US" altLang="fr-FR"/>
              <a:t>1-</a:t>
            </a:r>
            <a:fld id="{293FF4D4-4395-4A9C-8251-C547C65605FB}" type="slidenum">
              <a:rPr lang="en-US" altLang="fr-FR" smtClean="0"/>
              <a:pPr>
                <a:defRPr/>
              </a:pPr>
              <a:t>‹N°›</a:t>
            </a:fld>
            <a:endParaRPr lang="en-US" altLang="fr-FR"/>
          </a:p>
        </p:txBody>
      </p:sp>
    </p:spTree>
    <p:extLst>
      <p:ext uri="{BB962C8B-B14F-4D97-AF65-F5344CB8AC3E}">
        <p14:creationId xmlns:p14="http://schemas.microsoft.com/office/powerpoint/2010/main" val="225688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228601"/>
            <a:ext cx="25908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228601"/>
            <a:ext cx="75692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D8407-A314-4DC7-88DF-92D76C871258}"/>
              </a:ext>
            </a:extLst>
          </p:cNvPr>
          <p:cNvSpPr>
            <a:spLocks noGrp="1"/>
          </p:cNvSpPr>
          <p:nvPr>
            <p:ph type="dt" sz="half" idx="10"/>
          </p:nvPr>
        </p:nvSpPr>
        <p:spPr/>
        <p:txBody>
          <a:bodyPr/>
          <a:lstStyle>
            <a:lvl1pPr>
              <a:defRPr smtClean="0"/>
            </a:lvl1pPr>
          </a:lstStyle>
          <a:p>
            <a:pPr>
              <a:defRPr/>
            </a:pPr>
            <a:fld id="{FA239D8C-40AC-43F2-BBCC-2E805357C4A9}" type="datetime1">
              <a:rPr lang="en-US" altLang="fr-FR" smtClean="0"/>
              <a:t>2/8/2023</a:t>
            </a:fld>
            <a:endParaRPr lang="en-US" altLang="fr-FR"/>
          </a:p>
        </p:txBody>
      </p:sp>
      <p:sp>
        <p:nvSpPr>
          <p:cNvPr id="5" name="Footer Placeholder 4">
            <a:extLst>
              <a:ext uri="{FF2B5EF4-FFF2-40B4-BE49-F238E27FC236}">
                <a16:creationId xmlns:a16="http://schemas.microsoft.com/office/drawing/2014/main" id="{842B233C-4873-4D04-96FA-5FE07A089BCA}"/>
              </a:ext>
            </a:extLst>
          </p:cNvPr>
          <p:cNvSpPr>
            <a:spLocks noGrp="1"/>
          </p:cNvSpPr>
          <p:nvPr>
            <p:ph type="ftr" sz="quarter" idx="11"/>
          </p:nvPr>
        </p:nvSpPr>
        <p:spPr/>
        <p:txBody>
          <a:bodyPr/>
          <a:lstStyle>
            <a:lvl1pPr>
              <a:defRPr/>
            </a:lvl1pPr>
          </a:lstStyle>
          <a:p>
            <a:pPr>
              <a:defRPr/>
            </a:pPr>
            <a:r>
              <a:rPr lang="en-US"/>
              <a:t>Introduction </a:t>
            </a:r>
          </a:p>
        </p:txBody>
      </p:sp>
      <p:sp>
        <p:nvSpPr>
          <p:cNvPr id="6" name="Slide Number Placeholder 5">
            <a:extLst>
              <a:ext uri="{FF2B5EF4-FFF2-40B4-BE49-F238E27FC236}">
                <a16:creationId xmlns:a16="http://schemas.microsoft.com/office/drawing/2014/main" id="{8C34F08B-8516-4FC7-8DDB-E942841C4244}"/>
              </a:ext>
            </a:extLst>
          </p:cNvPr>
          <p:cNvSpPr>
            <a:spLocks noGrp="1"/>
          </p:cNvSpPr>
          <p:nvPr>
            <p:ph type="sldNum" sz="quarter" idx="12"/>
          </p:nvPr>
        </p:nvSpPr>
        <p:spPr/>
        <p:txBody>
          <a:bodyPr/>
          <a:lstStyle>
            <a:lvl1pPr>
              <a:defRPr/>
            </a:lvl1pPr>
          </a:lstStyle>
          <a:p>
            <a:pPr>
              <a:defRPr/>
            </a:pPr>
            <a:r>
              <a:rPr lang="en-US" altLang="fr-FR"/>
              <a:t>1-</a:t>
            </a:r>
            <a:fld id="{1CCD152C-97C2-41A6-AF1D-D1FD27E39FAD}" type="slidenum">
              <a:rPr lang="en-US" altLang="fr-FR" smtClean="0"/>
              <a:pPr>
                <a:defRPr/>
              </a:pPr>
              <a:t>‹N°›</a:t>
            </a:fld>
            <a:endParaRPr lang="en-US" altLang="fr-FR"/>
          </a:p>
        </p:txBody>
      </p:sp>
    </p:spTree>
    <p:extLst>
      <p:ext uri="{BB962C8B-B14F-4D97-AF65-F5344CB8AC3E}">
        <p14:creationId xmlns:p14="http://schemas.microsoft.com/office/powerpoint/2010/main" val="2187714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11313"/>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994400" y="1611313"/>
            <a:ext cx="508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994400" y="4011613"/>
            <a:ext cx="508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2D4C01C5-B5A2-42A4-8949-4429B8A05F41}"/>
              </a:ext>
            </a:extLst>
          </p:cNvPr>
          <p:cNvSpPr>
            <a:spLocks noGrp="1"/>
          </p:cNvSpPr>
          <p:nvPr>
            <p:ph type="dt" sz="half" idx="10"/>
          </p:nvPr>
        </p:nvSpPr>
        <p:spPr/>
        <p:txBody>
          <a:bodyPr/>
          <a:lstStyle>
            <a:lvl1pPr>
              <a:defRPr smtClean="0"/>
            </a:lvl1pPr>
          </a:lstStyle>
          <a:p>
            <a:pPr>
              <a:defRPr/>
            </a:pPr>
            <a:fld id="{F0128CDA-CD40-4D07-AC14-6F590401CA4B}" type="datetime1">
              <a:rPr lang="en-US" altLang="fr-FR" smtClean="0"/>
              <a:t>2/8/2023</a:t>
            </a:fld>
            <a:endParaRPr lang="en-US" altLang="fr-FR"/>
          </a:p>
        </p:txBody>
      </p:sp>
      <p:sp>
        <p:nvSpPr>
          <p:cNvPr id="7" name="Footer Placeholder 6">
            <a:extLst>
              <a:ext uri="{FF2B5EF4-FFF2-40B4-BE49-F238E27FC236}">
                <a16:creationId xmlns:a16="http://schemas.microsoft.com/office/drawing/2014/main" id="{C7D5A674-E765-4642-AA71-AB0115C14960}"/>
              </a:ext>
            </a:extLst>
          </p:cNvPr>
          <p:cNvSpPr>
            <a:spLocks noGrp="1"/>
          </p:cNvSpPr>
          <p:nvPr>
            <p:ph type="ftr" sz="quarter" idx="11"/>
          </p:nvPr>
        </p:nvSpPr>
        <p:spPr/>
        <p:txBody>
          <a:bodyPr/>
          <a:lstStyle>
            <a:lvl1pPr>
              <a:defRPr/>
            </a:lvl1pPr>
          </a:lstStyle>
          <a:p>
            <a:pPr>
              <a:defRPr/>
            </a:pPr>
            <a:r>
              <a:rPr lang="en-US"/>
              <a:t>Introduction </a:t>
            </a:r>
          </a:p>
        </p:txBody>
      </p:sp>
      <p:sp>
        <p:nvSpPr>
          <p:cNvPr id="8" name="Slide Number Placeholder 7">
            <a:extLst>
              <a:ext uri="{FF2B5EF4-FFF2-40B4-BE49-F238E27FC236}">
                <a16:creationId xmlns:a16="http://schemas.microsoft.com/office/drawing/2014/main" id="{8FC921CA-7617-4307-B441-F2AC2210B5F8}"/>
              </a:ext>
            </a:extLst>
          </p:cNvPr>
          <p:cNvSpPr>
            <a:spLocks noGrp="1"/>
          </p:cNvSpPr>
          <p:nvPr>
            <p:ph type="sldNum" sz="quarter" idx="12"/>
          </p:nvPr>
        </p:nvSpPr>
        <p:spPr/>
        <p:txBody>
          <a:bodyPr/>
          <a:lstStyle>
            <a:lvl1pPr>
              <a:defRPr/>
            </a:lvl1pPr>
          </a:lstStyle>
          <a:p>
            <a:pPr>
              <a:defRPr/>
            </a:pPr>
            <a:r>
              <a:rPr lang="en-US" altLang="fr-FR"/>
              <a:t>1</a:t>
            </a:r>
            <a:fld id="{54B00835-19DF-4954-8888-606D50DC733A}" type="slidenum">
              <a:rPr lang="en-US" altLang="fr-FR" smtClean="0"/>
              <a:pPr>
                <a:defRPr/>
              </a:pPr>
              <a:t>‹N°›</a:t>
            </a:fld>
            <a:endParaRPr lang="en-US" altLang="fr-FR"/>
          </a:p>
        </p:txBody>
      </p:sp>
    </p:spTree>
    <p:extLst>
      <p:ext uri="{BB962C8B-B14F-4D97-AF65-F5344CB8AC3E}">
        <p14:creationId xmlns:p14="http://schemas.microsoft.com/office/powerpoint/2010/main" val="2127976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4777671-4787-48E7-B26D-8F3568B6690B}"/>
              </a:ext>
            </a:extLst>
          </p:cNvPr>
          <p:cNvSpPr>
            <a:spLocks noGrp="1" noChangeArrowheads="1"/>
          </p:cNvSpPr>
          <p:nvPr>
            <p:ph type="dt" sz="half" idx="10"/>
          </p:nvPr>
        </p:nvSpPr>
        <p:spPr>
          <a:ln/>
        </p:spPr>
        <p:txBody>
          <a:bodyPr/>
          <a:lstStyle>
            <a:lvl1pPr>
              <a:defRPr/>
            </a:lvl1pPr>
          </a:lstStyle>
          <a:p>
            <a:pPr>
              <a:defRPr/>
            </a:pPr>
            <a:fld id="{A2D8B53C-E269-4A07-B025-9BB20D05DE3A}" type="datetime1">
              <a:rPr lang="en-US" altLang="fr-FR" smtClean="0"/>
              <a:t>2/8/2023</a:t>
            </a:fld>
            <a:endParaRPr lang="en-US" altLang="fr-FR"/>
          </a:p>
        </p:txBody>
      </p:sp>
      <p:sp>
        <p:nvSpPr>
          <p:cNvPr id="5" name="Rectangle 7">
            <a:extLst>
              <a:ext uri="{FF2B5EF4-FFF2-40B4-BE49-F238E27FC236}">
                <a16:creationId xmlns:a16="http://schemas.microsoft.com/office/drawing/2014/main" id="{F931594A-7709-45C2-A8AC-4140CCDF8C1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FA6F7F74-3450-4B02-B91D-50ADBAB2BA03}"/>
              </a:ext>
            </a:extLst>
          </p:cNvPr>
          <p:cNvSpPr>
            <a:spLocks noGrp="1" noChangeArrowheads="1"/>
          </p:cNvSpPr>
          <p:nvPr>
            <p:ph type="sldNum" sz="quarter" idx="12"/>
          </p:nvPr>
        </p:nvSpPr>
        <p:spPr>
          <a:ln/>
        </p:spPr>
        <p:txBody>
          <a:bodyPr/>
          <a:lstStyle>
            <a:lvl1pPr>
              <a:defRPr/>
            </a:lvl1pPr>
          </a:lstStyle>
          <a:p>
            <a:pPr>
              <a:defRPr/>
            </a:pPr>
            <a:r>
              <a:rPr lang="en-US" altLang="fr-FR"/>
              <a:t>2-</a:t>
            </a:r>
            <a:fld id="{FF231934-DBF3-48C6-B9F2-CBB0AEF058EB}" type="slidenum">
              <a:rPr lang="en-US" altLang="fr-FR" smtClean="0"/>
              <a:pPr>
                <a:defRPr/>
              </a:pPr>
              <a:t>‹N°›</a:t>
            </a:fld>
            <a:endParaRPr lang="en-US" altLang="fr-FR"/>
          </a:p>
        </p:txBody>
      </p:sp>
    </p:spTree>
    <p:extLst>
      <p:ext uri="{BB962C8B-B14F-4D97-AF65-F5344CB8AC3E}">
        <p14:creationId xmlns:p14="http://schemas.microsoft.com/office/powerpoint/2010/main" val="4270741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BA9DD56-CBE8-4D57-AE46-7D5527ED142D}"/>
              </a:ext>
            </a:extLst>
          </p:cNvPr>
          <p:cNvSpPr>
            <a:spLocks noGrp="1" noChangeArrowheads="1"/>
          </p:cNvSpPr>
          <p:nvPr>
            <p:ph type="dt" sz="half" idx="10"/>
          </p:nvPr>
        </p:nvSpPr>
        <p:spPr>
          <a:ln/>
        </p:spPr>
        <p:txBody>
          <a:bodyPr/>
          <a:lstStyle>
            <a:lvl1pPr>
              <a:defRPr/>
            </a:lvl1pPr>
          </a:lstStyle>
          <a:p>
            <a:pPr>
              <a:defRPr/>
            </a:pPr>
            <a:fld id="{8C289B28-7202-49A4-8711-2CDCFD849B58}" type="datetime1">
              <a:rPr lang="en-US" altLang="fr-FR" smtClean="0"/>
              <a:t>2/8/2023</a:t>
            </a:fld>
            <a:endParaRPr lang="en-US" altLang="fr-FR"/>
          </a:p>
        </p:txBody>
      </p:sp>
      <p:sp>
        <p:nvSpPr>
          <p:cNvPr id="5" name="Rectangle 7">
            <a:extLst>
              <a:ext uri="{FF2B5EF4-FFF2-40B4-BE49-F238E27FC236}">
                <a16:creationId xmlns:a16="http://schemas.microsoft.com/office/drawing/2014/main" id="{3E2310F9-6535-42B2-9698-40544245FA12}"/>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9AD2171D-F000-4911-A650-91C92F50E63F}"/>
              </a:ext>
            </a:extLst>
          </p:cNvPr>
          <p:cNvSpPr>
            <a:spLocks noGrp="1" noChangeArrowheads="1"/>
          </p:cNvSpPr>
          <p:nvPr>
            <p:ph type="sldNum" sz="quarter" idx="12"/>
          </p:nvPr>
        </p:nvSpPr>
        <p:spPr>
          <a:ln/>
        </p:spPr>
        <p:txBody>
          <a:bodyPr/>
          <a:lstStyle>
            <a:lvl1pPr>
              <a:defRPr/>
            </a:lvl1pPr>
          </a:lstStyle>
          <a:p>
            <a:pPr>
              <a:defRPr/>
            </a:pPr>
            <a:r>
              <a:rPr lang="en-US" altLang="fr-FR"/>
              <a:t>2-</a:t>
            </a:r>
            <a:fld id="{3A6ECFCC-BA03-4428-8F9F-2FC5EAB7469E}" type="slidenum">
              <a:rPr lang="en-US" altLang="fr-FR" smtClean="0"/>
              <a:pPr>
                <a:defRPr/>
              </a:pPr>
              <a:t>‹N°›</a:t>
            </a:fld>
            <a:endParaRPr lang="en-US" altLang="fr-FR"/>
          </a:p>
        </p:txBody>
      </p:sp>
    </p:spTree>
    <p:extLst>
      <p:ext uri="{BB962C8B-B14F-4D97-AF65-F5344CB8AC3E}">
        <p14:creationId xmlns:p14="http://schemas.microsoft.com/office/powerpoint/2010/main" val="2252445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12325D2-AD37-4D4A-9AF3-6D6899A3EECC}"/>
              </a:ext>
            </a:extLst>
          </p:cNvPr>
          <p:cNvSpPr>
            <a:spLocks noGrp="1" noChangeArrowheads="1"/>
          </p:cNvSpPr>
          <p:nvPr>
            <p:ph type="dt" sz="half" idx="10"/>
          </p:nvPr>
        </p:nvSpPr>
        <p:spPr>
          <a:ln/>
        </p:spPr>
        <p:txBody>
          <a:bodyPr/>
          <a:lstStyle>
            <a:lvl1pPr>
              <a:defRPr/>
            </a:lvl1pPr>
          </a:lstStyle>
          <a:p>
            <a:pPr>
              <a:defRPr/>
            </a:pPr>
            <a:fld id="{5D0F3E6A-4C4B-45F7-83FB-48E00379BBE7}" type="datetime1">
              <a:rPr lang="en-US" altLang="fr-FR" smtClean="0"/>
              <a:t>2/8/2023</a:t>
            </a:fld>
            <a:endParaRPr lang="en-US" altLang="fr-FR"/>
          </a:p>
        </p:txBody>
      </p:sp>
      <p:sp>
        <p:nvSpPr>
          <p:cNvPr id="5" name="Rectangle 7">
            <a:extLst>
              <a:ext uri="{FF2B5EF4-FFF2-40B4-BE49-F238E27FC236}">
                <a16:creationId xmlns:a16="http://schemas.microsoft.com/office/drawing/2014/main" id="{87BD64ED-321A-4251-ABA2-EA15E8081078}"/>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3CBDA959-1054-4EAB-9206-EB4298AB9767}"/>
              </a:ext>
            </a:extLst>
          </p:cNvPr>
          <p:cNvSpPr>
            <a:spLocks noGrp="1" noChangeArrowheads="1"/>
          </p:cNvSpPr>
          <p:nvPr>
            <p:ph type="sldNum" sz="quarter" idx="12"/>
          </p:nvPr>
        </p:nvSpPr>
        <p:spPr>
          <a:ln/>
        </p:spPr>
        <p:txBody>
          <a:bodyPr/>
          <a:lstStyle>
            <a:lvl1pPr>
              <a:defRPr/>
            </a:lvl1pPr>
          </a:lstStyle>
          <a:p>
            <a:pPr>
              <a:defRPr/>
            </a:pPr>
            <a:r>
              <a:rPr lang="en-US" altLang="fr-FR"/>
              <a:t>2-</a:t>
            </a:r>
            <a:fld id="{340EEB37-4B8C-4088-9641-173AD930C292}" type="slidenum">
              <a:rPr lang="en-US" altLang="fr-FR" smtClean="0"/>
              <a:pPr>
                <a:defRPr/>
              </a:pPr>
              <a:t>‹N°›</a:t>
            </a:fld>
            <a:endParaRPr lang="en-US" altLang="fr-FR"/>
          </a:p>
        </p:txBody>
      </p:sp>
    </p:spTree>
    <p:extLst>
      <p:ext uri="{BB962C8B-B14F-4D97-AF65-F5344CB8AC3E}">
        <p14:creationId xmlns:p14="http://schemas.microsoft.com/office/powerpoint/2010/main" val="1238171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00200"/>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94400" y="1600200"/>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D11058B-CDFC-4E3B-B719-C772B99DED70}"/>
              </a:ext>
            </a:extLst>
          </p:cNvPr>
          <p:cNvSpPr>
            <a:spLocks noGrp="1" noChangeArrowheads="1"/>
          </p:cNvSpPr>
          <p:nvPr>
            <p:ph type="dt" sz="half" idx="10"/>
          </p:nvPr>
        </p:nvSpPr>
        <p:spPr>
          <a:ln/>
        </p:spPr>
        <p:txBody>
          <a:bodyPr/>
          <a:lstStyle>
            <a:lvl1pPr>
              <a:defRPr/>
            </a:lvl1pPr>
          </a:lstStyle>
          <a:p>
            <a:pPr>
              <a:defRPr/>
            </a:pPr>
            <a:fld id="{4050BEFA-B818-4C70-976C-B913BCE13C44}" type="datetime1">
              <a:rPr lang="en-US" altLang="fr-FR" smtClean="0"/>
              <a:t>2/8/2023</a:t>
            </a:fld>
            <a:endParaRPr lang="en-US" altLang="fr-FR"/>
          </a:p>
        </p:txBody>
      </p:sp>
      <p:sp>
        <p:nvSpPr>
          <p:cNvPr id="6" name="Rectangle 7">
            <a:extLst>
              <a:ext uri="{FF2B5EF4-FFF2-40B4-BE49-F238E27FC236}">
                <a16:creationId xmlns:a16="http://schemas.microsoft.com/office/drawing/2014/main" id="{B4B48078-D078-430A-A851-0E7F13DD6DC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500D75E2-F9EA-439D-B4FD-B567BBBF9D93}"/>
              </a:ext>
            </a:extLst>
          </p:cNvPr>
          <p:cNvSpPr>
            <a:spLocks noGrp="1" noChangeArrowheads="1"/>
          </p:cNvSpPr>
          <p:nvPr>
            <p:ph type="sldNum" sz="quarter" idx="12"/>
          </p:nvPr>
        </p:nvSpPr>
        <p:spPr>
          <a:ln/>
        </p:spPr>
        <p:txBody>
          <a:bodyPr/>
          <a:lstStyle>
            <a:lvl1pPr>
              <a:defRPr/>
            </a:lvl1pPr>
          </a:lstStyle>
          <a:p>
            <a:pPr>
              <a:defRPr/>
            </a:pPr>
            <a:r>
              <a:rPr lang="en-US" altLang="fr-FR"/>
              <a:t>2-</a:t>
            </a:r>
            <a:fld id="{4E114111-4203-4F5D-ABF4-DCA710109AC9}" type="slidenum">
              <a:rPr lang="en-US" altLang="fr-FR" smtClean="0"/>
              <a:pPr>
                <a:defRPr/>
              </a:pPr>
              <a:t>‹N°›</a:t>
            </a:fld>
            <a:endParaRPr lang="en-US" altLang="fr-FR"/>
          </a:p>
        </p:txBody>
      </p:sp>
    </p:spTree>
    <p:extLst>
      <p:ext uri="{BB962C8B-B14F-4D97-AF65-F5344CB8AC3E}">
        <p14:creationId xmlns:p14="http://schemas.microsoft.com/office/powerpoint/2010/main" val="1613732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FE285F3-00AB-41C8-8B9B-44B0045F7934}"/>
              </a:ext>
            </a:extLst>
          </p:cNvPr>
          <p:cNvSpPr>
            <a:spLocks noGrp="1" noChangeArrowheads="1"/>
          </p:cNvSpPr>
          <p:nvPr>
            <p:ph type="dt" sz="half" idx="10"/>
          </p:nvPr>
        </p:nvSpPr>
        <p:spPr>
          <a:ln/>
        </p:spPr>
        <p:txBody>
          <a:bodyPr/>
          <a:lstStyle>
            <a:lvl1pPr>
              <a:defRPr/>
            </a:lvl1pPr>
          </a:lstStyle>
          <a:p>
            <a:pPr>
              <a:defRPr/>
            </a:pPr>
            <a:fld id="{9DA40FB9-D3C5-4CA9-8E7B-7C58302D96CB}" type="datetime1">
              <a:rPr lang="en-US" altLang="fr-FR" smtClean="0"/>
              <a:t>2/8/2023</a:t>
            </a:fld>
            <a:endParaRPr lang="en-US" altLang="fr-FR"/>
          </a:p>
        </p:txBody>
      </p:sp>
      <p:sp>
        <p:nvSpPr>
          <p:cNvPr id="8" name="Rectangle 7">
            <a:extLst>
              <a:ext uri="{FF2B5EF4-FFF2-40B4-BE49-F238E27FC236}">
                <a16:creationId xmlns:a16="http://schemas.microsoft.com/office/drawing/2014/main" id="{0E1B6774-85C6-44CF-941C-C61200B0917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9" name="Rectangle 8">
            <a:extLst>
              <a:ext uri="{FF2B5EF4-FFF2-40B4-BE49-F238E27FC236}">
                <a16:creationId xmlns:a16="http://schemas.microsoft.com/office/drawing/2014/main" id="{A4AB7F0C-40B4-46D6-9679-E36D354AE4CA}"/>
              </a:ext>
            </a:extLst>
          </p:cNvPr>
          <p:cNvSpPr>
            <a:spLocks noGrp="1" noChangeArrowheads="1"/>
          </p:cNvSpPr>
          <p:nvPr>
            <p:ph type="sldNum" sz="quarter" idx="12"/>
          </p:nvPr>
        </p:nvSpPr>
        <p:spPr>
          <a:ln/>
        </p:spPr>
        <p:txBody>
          <a:bodyPr/>
          <a:lstStyle>
            <a:lvl1pPr>
              <a:defRPr/>
            </a:lvl1pPr>
          </a:lstStyle>
          <a:p>
            <a:pPr>
              <a:defRPr/>
            </a:pPr>
            <a:r>
              <a:rPr lang="en-US" altLang="fr-FR"/>
              <a:t>2-</a:t>
            </a:r>
            <a:fld id="{31B22366-9DF1-4968-91C8-4EADFACAC444}" type="slidenum">
              <a:rPr lang="en-US" altLang="fr-FR" smtClean="0"/>
              <a:pPr>
                <a:defRPr/>
              </a:pPr>
              <a:t>‹N°›</a:t>
            </a:fld>
            <a:endParaRPr lang="en-US" altLang="fr-FR"/>
          </a:p>
        </p:txBody>
      </p:sp>
    </p:spTree>
    <p:extLst>
      <p:ext uri="{BB962C8B-B14F-4D97-AF65-F5344CB8AC3E}">
        <p14:creationId xmlns:p14="http://schemas.microsoft.com/office/powerpoint/2010/main" val="3238962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CC68477-6539-49B0-BCC0-2A3D4FB2DACD}"/>
              </a:ext>
            </a:extLst>
          </p:cNvPr>
          <p:cNvSpPr>
            <a:spLocks noGrp="1" noChangeArrowheads="1"/>
          </p:cNvSpPr>
          <p:nvPr>
            <p:ph type="dt" sz="half" idx="10"/>
          </p:nvPr>
        </p:nvSpPr>
        <p:spPr>
          <a:ln/>
        </p:spPr>
        <p:txBody>
          <a:bodyPr/>
          <a:lstStyle>
            <a:lvl1pPr>
              <a:defRPr/>
            </a:lvl1pPr>
          </a:lstStyle>
          <a:p>
            <a:pPr>
              <a:defRPr/>
            </a:pPr>
            <a:fld id="{99113ABD-6892-491C-8E48-9EE095EEDB46}" type="datetime1">
              <a:rPr lang="en-US" altLang="fr-FR" smtClean="0"/>
              <a:t>2/8/2023</a:t>
            </a:fld>
            <a:endParaRPr lang="en-US" altLang="fr-FR"/>
          </a:p>
        </p:txBody>
      </p:sp>
      <p:sp>
        <p:nvSpPr>
          <p:cNvPr id="4" name="Rectangle 7">
            <a:extLst>
              <a:ext uri="{FF2B5EF4-FFF2-40B4-BE49-F238E27FC236}">
                <a16:creationId xmlns:a16="http://schemas.microsoft.com/office/drawing/2014/main" id="{A06D248B-6FA1-4345-935C-3737ACBBAA86}"/>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5" name="Rectangle 8">
            <a:extLst>
              <a:ext uri="{FF2B5EF4-FFF2-40B4-BE49-F238E27FC236}">
                <a16:creationId xmlns:a16="http://schemas.microsoft.com/office/drawing/2014/main" id="{EB29A32F-A39D-43D7-B2BB-D8CEB39D5740}"/>
              </a:ext>
            </a:extLst>
          </p:cNvPr>
          <p:cNvSpPr>
            <a:spLocks noGrp="1" noChangeArrowheads="1"/>
          </p:cNvSpPr>
          <p:nvPr>
            <p:ph type="sldNum" sz="quarter" idx="12"/>
          </p:nvPr>
        </p:nvSpPr>
        <p:spPr>
          <a:ln/>
        </p:spPr>
        <p:txBody>
          <a:bodyPr/>
          <a:lstStyle>
            <a:lvl1pPr>
              <a:defRPr/>
            </a:lvl1pPr>
          </a:lstStyle>
          <a:p>
            <a:pPr>
              <a:defRPr/>
            </a:pPr>
            <a:r>
              <a:rPr lang="en-US" altLang="fr-FR"/>
              <a:t>2-</a:t>
            </a:r>
            <a:fld id="{90C51D2E-B3D4-4C77-A83D-A055BEA023ED}" type="slidenum">
              <a:rPr lang="en-US" altLang="fr-FR" smtClean="0"/>
              <a:pPr>
                <a:defRPr/>
              </a:pPr>
              <a:t>‹N°›</a:t>
            </a:fld>
            <a:endParaRPr lang="en-US" altLang="fr-FR"/>
          </a:p>
        </p:txBody>
      </p:sp>
    </p:spTree>
    <p:extLst>
      <p:ext uri="{BB962C8B-B14F-4D97-AF65-F5344CB8AC3E}">
        <p14:creationId xmlns:p14="http://schemas.microsoft.com/office/powerpoint/2010/main" val="3535968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B58C27C-CA3E-4D74-973B-B2DCDE71A26D}"/>
              </a:ext>
            </a:extLst>
          </p:cNvPr>
          <p:cNvSpPr>
            <a:spLocks noGrp="1" noChangeArrowheads="1"/>
          </p:cNvSpPr>
          <p:nvPr>
            <p:ph type="dt" sz="half" idx="10"/>
          </p:nvPr>
        </p:nvSpPr>
        <p:spPr>
          <a:ln/>
        </p:spPr>
        <p:txBody>
          <a:bodyPr/>
          <a:lstStyle>
            <a:lvl1pPr>
              <a:defRPr/>
            </a:lvl1pPr>
          </a:lstStyle>
          <a:p>
            <a:pPr>
              <a:defRPr/>
            </a:pPr>
            <a:fld id="{72F71DFF-C96E-4471-9C91-ED2B66A04CD8}" type="datetime1">
              <a:rPr lang="en-US" altLang="fr-FR" smtClean="0"/>
              <a:t>2/8/2023</a:t>
            </a:fld>
            <a:endParaRPr lang="en-US" altLang="fr-FR"/>
          </a:p>
        </p:txBody>
      </p:sp>
      <p:sp>
        <p:nvSpPr>
          <p:cNvPr id="3" name="Rectangle 7">
            <a:extLst>
              <a:ext uri="{FF2B5EF4-FFF2-40B4-BE49-F238E27FC236}">
                <a16:creationId xmlns:a16="http://schemas.microsoft.com/office/drawing/2014/main" id="{F353FC9F-7086-4714-9CFD-728F553CC3F5}"/>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4" name="Rectangle 8">
            <a:extLst>
              <a:ext uri="{FF2B5EF4-FFF2-40B4-BE49-F238E27FC236}">
                <a16:creationId xmlns:a16="http://schemas.microsoft.com/office/drawing/2014/main" id="{75D95C81-C054-442A-A0EC-A172C83266EE}"/>
              </a:ext>
            </a:extLst>
          </p:cNvPr>
          <p:cNvSpPr>
            <a:spLocks noGrp="1" noChangeArrowheads="1"/>
          </p:cNvSpPr>
          <p:nvPr>
            <p:ph type="sldNum" sz="quarter" idx="12"/>
          </p:nvPr>
        </p:nvSpPr>
        <p:spPr>
          <a:ln/>
        </p:spPr>
        <p:txBody>
          <a:bodyPr/>
          <a:lstStyle>
            <a:lvl1pPr>
              <a:defRPr/>
            </a:lvl1pPr>
          </a:lstStyle>
          <a:p>
            <a:pPr>
              <a:defRPr/>
            </a:pPr>
            <a:r>
              <a:rPr lang="en-US" altLang="fr-FR"/>
              <a:t>2-</a:t>
            </a:r>
            <a:fld id="{11EA41B4-A968-4BA2-B549-20FEC3F2E1F0}" type="slidenum">
              <a:rPr lang="en-US" altLang="fr-FR" smtClean="0"/>
              <a:pPr>
                <a:defRPr/>
              </a:pPr>
              <a:t>‹N°›</a:t>
            </a:fld>
            <a:endParaRPr lang="en-US" altLang="fr-FR"/>
          </a:p>
        </p:txBody>
      </p:sp>
    </p:spTree>
    <p:extLst>
      <p:ext uri="{BB962C8B-B14F-4D97-AF65-F5344CB8AC3E}">
        <p14:creationId xmlns:p14="http://schemas.microsoft.com/office/powerpoint/2010/main" val="2847548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52882ED-0E48-404D-B03C-6DEC34CEF4D4}"/>
              </a:ext>
            </a:extLst>
          </p:cNvPr>
          <p:cNvSpPr>
            <a:spLocks noGrp="1" noChangeArrowheads="1"/>
          </p:cNvSpPr>
          <p:nvPr>
            <p:ph type="dt" sz="half" idx="10"/>
          </p:nvPr>
        </p:nvSpPr>
        <p:spPr>
          <a:ln/>
        </p:spPr>
        <p:txBody>
          <a:bodyPr/>
          <a:lstStyle>
            <a:lvl1pPr>
              <a:defRPr/>
            </a:lvl1pPr>
          </a:lstStyle>
          <a:p>
            <a:pPr>
              <a:defRPr/>
            </a:pPr>
            <a:fld id="{1208F971-FE27-42DA-9C66-DD9FF064DC56}" type="datetime1">
              <a:rPr lang="en-US" altLang="fr-FR" smtClean="0"/>
              <a:t>2/8/2023</a:t>
            </a:fld>
            <a:endParaRPr lang="en-US" altLang="fr-FR"/>
          </a:p>
        </p:txBody>
      </p:sp>
      <p:sp>
        <p:nvSpPr>
          <p:cNvPr id="6" name="Rectangle 7">
            <a:extLst>
              <a:ext uri="{FF2B5EF4-FFF2-40B4-BE49-F238E27FC236}">
                <a16:creationId xmlns:a16="http://schemas.microsoft.com/office/drawing/2014/main" id="{A4C45FA0-5380-42B1-959C-4F20C6193074}"/>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C33742AE-DBF3-482A-99CA-FA4B548E0852}"/>
              </a:ext>
            </a:extLst>
          </p:cNvPr>
          <p:cNvSpPr>
            <a:spLocks noGrp="1" noChangeArrowheads="1"/>
          </p:cNvSpPr>
          <p:nvPr>
            <p:ph type="sldNum" sz="quarter" idx="12"/>
          </p:nvPr>
        </p:nvSpPr>
        <p:spPr>
          <a:ln/>
        </p:spPr>
        <p:txBody>
          <a:bodyPr/>
          <a:lstStyle>
            <a:lvl1pPr>
              <a:defRPr/>
            </a:lvl1pPr>
          </a:lstStyle>
          <a:p>
            <a:pPr>
              <a:defRPr/>
            </a:pPr>
            <a:r>
              <a:rPr lang="en-US" altLang="fr-FR"/>
              <a:t>2-</a:t>
            </a:r>
            <a:fld id="{96F5B24A-B667-4123-8BA5-C06E5048516D}" type="slidenum">
              <a:rPr lang="en-US" altLang="fr-FR" smtClean="0"/>
              <a:pPr>
                <a:defRPr/>
              </a:pPr>
              <a:t>‹N°›</a:t>
            </a:fld>
            <a:endParaRPr lang="en-US" altLang="fr-FR"/>
          </a:p>
        </p:txBody>
      </p:sp>
    </p:spTree>
    <p:extLst>
      <p:ext uri="{BB962C8B-B14F-4D97-AF65-F5344CB8AC3E}">
        <p14:creationId xmlns:p14="http://schemas.microsoft.com/office/powerpoint/2010/main" val="2825136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75654F2-5AD3-471F-A246-FEEE54172604}"/>
              </a:ext>
            </a:extLst>
          </p:cNvPr>
          <p:cNvSpPr>
            <a:spLocks noGrp="1" noChangeArrowheads="1"/>
          </p:cNvSpPr>
          <p:nvPr>
            <p:ph type="dt" sz="half" idx="10"/>
          </p:nvPr>
        </p:nvSpPr>
        <p:spPr>
          <a:ln/>
        </p:spPr>
        <p:txBody>
          <a:bodyPr/>
          <a:lstStyle>
            <a:lvl1pPr>
              <a:defRPr/>
            </a:lvl1pPr>
          </a:lstStyle>
          <a:p>
            <a:pPr>
              <a:defRPr/>
            </a:pPr>
            <a:fld id="{C02139CA-1F42-41AE-A1F8-4917C6241B51}" type="datetime1">
              <a:rPr lang="en-US" altLang="fr-FR" smtClean="0"/>
              <a:t>2/8/2023</a:t>
            </a:fld>
            <a:endParaRPr lang="en-US" altLang="fr-FR"/>
          </a:p>
        </p:txBody>
      </p:sp>
      <p:sp>
        <p:nvSpPr>
          <p:cNvPr id="6" name="Rectangle 7">
            <a:extLst>
              <a:ext uri="{FF2B5EF4-FFF2-40B4-BE49-F238E27FC236}">
                <a16:creationId xmlns:a16="http://schemas.microsoft.com/office/drawing/2014/main" id="{BF6C1E26-A680-4029-8DAC-2B0C77DBB59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24C68783-BF2C-4F88-977D-54AC9BB8E88C}"/>
              </a:ext>
            </a:extLst>
          </p:cNvPr>
          <p:cNvSpPr>
            <a:spLocks noGrp="1" noChangeArrowheads="1"/>
          </p:cNvSpPr>
          <p:nvPr>
            <p:ph type="sldNum" sz="quarter" idx="12"/>
          </p:nvPr>
        </p:nvSpPr>
        <p:spPr>
          <a:ln/>
        </p:spPr>
        <p:txBody>
          <a:bodyPr/>
          <a:lstStyle>
            <a:lvl1pPr>
              <a:defRPr/>
            </a:lvl1pPr>
          </a:lstStyle>
          <a:p>
            <a:pPr>
              <a:defRPr/>
            </a:pPr>
            <a:r>
              <a:rPr lang="en-US" altLang="fr-FR"/>
              <a:t>2-</a:t>
            </a:r>
            <a:fld id="{35184DA2-DA46-45E8-9C95-DD848FFB7461}" type="slidenum">
              <a:rPr lang="en-US" altLang="fr-FR" smtClean="0"/>
              <a:pPr>
                <a:defRPr/>
              </a:pPr>
              <a:t>‹N°›</a:t>
            </a:fld>
            <a:endParaRPr lang="en-US" altLang="fr-FR"/>
          </a:p>
        </p:txBody>
      </p:sp>
    </p:spTree>
    <p:extLst>
      <p:ext uri="{BB962C8B-B14F-4D97-AF65-F5344CB8AC3E}">
        <p14:creationId xmlns:p14="http://schemas.microsoft.com/office/powerpoint/2010/main" val="41912665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31DF43F-953C-4898-A583-95736E3905DA}"/>
              </a:ext>
            </a:extLst>
          </p:cNvPr>
          <p:cNvSpPr>
            <a:spLocks noGrp="1" noChangeArrowheads="1"/>
          </p:cNvSpPr>
          <p:nvPr>
            <p:ph type="dt" sz="half" idx="10"/>
          </p:nvPr>
        </p:nvSpPr>
        <p:spPr>
          <a:ln/>
        </p:spPr>
        <p:txBody>
          <a:bodyPr/>
          <a:lstStyle>
            <a:lvl1pPr>
              <a:defRPr/>
            </a:lvl1pPr>
          </a:lstStyle>
          <a:p>
            <a:pPr>
              <a:defRPr/>
            </a:pPr>
            <a:fld id="{D9CC09E0-B63B-473D-911D-ADD906DC0004}" type="datetime1">
              <a:rPr lang="en-US" altLang="fr-FR" smtClean="0"/>
              <a:t>2/8/2023</a:t>
            </a:fld>
            <a:endParaRPr lang="en-US" altLang="fr-FR"/>
          </a:p>
        </p:txBody>
      </p:sp>
      <p:sp>
        <p:nvSpPr>
          <p:cNvPr id="5" name="Rectangle 7">
            <a:extLst>
              <a:ext uri="{FF2B5EF4-FFF2-40B4-BE49-F238E27FC236}">
                <a16:creationId xmlns:a16="http://schemas.microsoft.com/office/drawing/2014/main" id="{9C26AA8E-A6A0-42C2-9FB7-D795E0F739ED}"/>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EFFA380C-3F90-4A7C-B340-F9915837E3C4}"/>
              </a:ext>
            </a:extLst>
          </p:cNvPr>
          <p:cNvSpPr>
            <a:spLocks noGrp="1" noChangeArrowheads="1"/>
          </p:cNvSpPr>
          <p:nvPr>
            <p:ph type="sldNum" sz="quarter" idx="12"/>
          </p:nvPr>
        </p:nvSpPr>
        <p:spPr>
          <a:ln/>
        </p:spPr>
        <p:txBody>
          <a:bodyPr/>
          <a:lstStyle>
            <a:lvl1pPr>
              <a:defRPr/>
            </a:lvl1pPr>
          </a:lstStyle>
          <a:p>
            <a:pPr>
              <a:defRPr/>
            </a:pPr>
            <a:r>
              <a:rPr lang="en-US" altLang="fr-FR"/>
              <a:t>2-</a:t>
            </a:r>
            <a:fld id="{0181237F-36FD-4D4C-9AA6-92E2AC4C20A4}" type="slidenum">
              <a:rPr lang="en-US" altLang="fr-FR" smtClean="0"/>
              <a:pPr>
                <a:defRPr/>
              </a:pPr>
              <a:t>‹N°›</a:t>
            </a:fld>
            <a:endParaRPr lang="en-US" altLang="fr-FR"/>
          </a:p>
        </p:txBody>
      </p:sp>
    </p:spTree>
    <p:extLst>
      <p:ext uri="{BB962C8B-B14F-4D97-AF65-F5344CB8AC3E}">
        <p14:creationId xmlns:p14="http://schemas.microsoft.com/office/powerpoint/2010/main" val="2970591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228600"/>
            <a:ext cx="25908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228600"/>
            <a:ext cx="75692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6968715-91D9-4536-A503-2EA23F898045}"/>
              </a:ext>
            </a:extLst>
          </p:cNvPr>
          <p:cNvSpPr>
            <a:spLocks noGrp="1" noChangeArrowheads="1"/>
          </p:cNvSpPr>
          <p:nvPr>
            <p:ph type="dt" sz="half" idx="10"/>
          </p:nvPr>
        </p:nvSpPr>
        <p:spPr>
          <a:ln/>
        </p:spPr>
        <p:txBody>
          <a:bodyPr/>
          <a:lstStyle>
            <a:lvl1pPr>
              <a:defRPr/>
            </a:lvl1pPr>
          </a:lstStyle>
          <a:p>
            <a:pPr>
              <a:defRPr/>
            </a:pPr>
            <a:fld id="{A0EE334B-8040-4FBA-8A7F-F0DA95D6B16B}" type="datetime1">
              <a:rPr lang="en-US" altLang="fr-FR" smtClean="0"/>
              <a:t>2/8/2023</a:t>
            </a:fld>
            <a:endParaRPr lang="en-US" altLang="fr-FR"/>
          </a:p>
        </p:txBody>
      </p:sp>
      <p:sp>
        <p:nvSpPr>
          <p:cNvPr id="5" name="Rectangle 7">
            <a:extLst>
              <a:ext uri="{FF2B5EF4-FFF2-40B4-BE49-F238E27FC236}">
                <a16:creationId xmlns:a16="http://schemas.microsoft.com/office/drawing/2014/main" id="{618CCD1E-EFE9-4DE6-8855-A50E76CEACA6}"/>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2237C97C-CE04-4B83-A257-56170F43E724}"/>
              </a:ext>
            </a:extLst>
          </p:cNvPr>
          <p:cNvSpPr>
            <a:spLocks noGrp="1" noChangeArrowheads="1"/>
          </p:cNvSpPr>
          <p:nvPr>
            <p:ph type="sldNum" sz="quarter" idx="12"/>
          </p:nvPr>
        </p:nvSpPr>
        <p:spPr>
          <a:ln/>
        </p:spPr>
        <p:txBody>
          <a:bodyPr/>
          <a:lstStyle>
            <a:lvl1pPr>
              <a:defRPr/>
            </a:lvl1pPr>
          </a:lstStyle>
          <a:p>
            <a:pPr>
              <a:defRPr/>
            </a:pPr>
            <a:r>
              <a:rPr lang="en-US" altLang="fr-FR"/>
              <a:t>2-</a:t>
            </a:r>
            <a:fld id="{189787B1-EAF8-4A7C-82F5-CB2A5E3097A9}" type="slidenum">
              <a:rPr lang="en-US" altLang="fr-FR" smtClean="0"/>
              <a:pPr>
                <a:defRPr/>
              </a:pPr>
              <a:t>‹N°›</a:t>
            </a:fld>
            <a:endParaRPr lang="en-US" altLang="fr-FR"/>
          </a:p>
        </p:txBody>
      </p:sp>
    </p:spTree>
    <p:extLst>
      <p:ext uri="{BB962C8B-B14F-4D97-AF65-F5344CB8AC3E}">
        <p14:creationId xmlns:p14="http://schemas.microsoft.com/office/powerpoint/2010/main" val="19654888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944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DAB6A24-940C-46B1-B513-A8330F6C1335}"/>
              </a:ext>
            </a:extLst>
          </p:cNvPr>
          <p:cNvSpPr>
            <a:spLocks noGrp="1" noChangeArrowheads="1"/>
          </p:cNvSpPr>
          <p:nvPr>
            <p:ph type="dt" sz="half" idx="10"/>
          </p:nvPr>
        </p:nvSpPr>
        <p:spPr>
          <a:ln/>
        </p:spPr>
        <p:txBody>
          <a:bodyPr/>
          <a:lstStyle>
            <a:lvl1pPr>
              <a:defRPr/>
            </a:lvl1pPr>
          </a:lstStyle>
          <a:p>
            <a:pPr>
              <a:defRPr/>
            </a:pPr>
            <a:fld id="{71F1ADDF-2085-4A93-8DE7-5156F9EB8293}" type="datetime1">
              <a:rPr lang="en-US" altLang="fr-FR" smtClean="0"/>
              <a:t>2/8/2023</a:t>
            </a:fld>
            <a:endParaRPr lang="en-US" altLang="fr-FR"/>
          </a:p>
        </p:txBody>
      </p:sp>
      <p:sp>
        <p:nvSpPr>
          <p:cNvPr id="6" name="Rectangle 7">
            <a:extLst>
              <a:ext uri="{FF2B5EF4-FFF2-40B4-BE49-F238E27FC236}">
                <a16:creationId xmlns:a16="http://schemas.microsoft.com/office/drawing/2014/main" id="{CD169D94-BAEB-4CD0-A09F-C9521945776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322EA4BA-09FC-4A80-860C-C75CE32E151E}"/>
              </a:ext>
            </a:extLst>
          </p:cNvPr>
          <p:cNvSpPr>
            <a:spLocks noGrp="1" noChangeArrowheads="1"/>
          </p:cNvSpPr>
          <p:nvPr>
            <p:ph type="sldNum" sz="quarter" idx="12"/>
          </p:nvPr>
        </p:nvSpPr>
        <p:spPr>
          <a:ln/>
        </p:spPr>
        <p:txBody>
          <a:bodyPr/>
          <a:lstStyle>
            <a:lvl1pPr>
              <a:defRPr/>
            </a:lvl1pPr>
          </a:lstStyle>
          <a:p>
            <a:pPr>
              <a:defRPr/>
            </a:pPr>
            <a:r>
              <a:rPr lang="en-US" altLang="fr-FR"/>
              <a:t>2-</a:t>
            </a:r>
            <a:fld id="{439AE35B-3E48-4329-8922-E58E5D3A6D30}" type="slidenum">
              <a:rPr lang="en-US" altLang="fr-FR" smtClean="0"/>
              <a:pPr>
                <a:defRPr/>
              </a:pPr>
              <a:t>‹N°›</a:t>
            </a:fld>
            <a:endParaRPr lang="en-US" altLang="fr-FR"/>
          </a:p>
        </p:txBody>
      </p:sp>
    </p:spTree>
    <p:extLst>
      <p:ext uri="{BB962C8B-B14F-4D97-AF65-F5344CB8AC3E}">
        <p14:creationId xmlns:p14="http://schemas.microsoft.com/office/powerpoint/2010/main" val="1538693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944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B817199-9C9C-436C-90DE-2C22D2BF0A01}"/>
              </a:ext>
            </a:extLst>
          </p:cNvPr>
          <p:cNvSpPr>
            <a:spLocks noGrp="1" noChangeArrowheads="1"/>
          </p:cNvSpPr>
          <p:nvPr>
            <p:ph type="dt" sz="half" idx="10"/>
          </p:nvPr>
        </p:nvSpPr>
        <p:spPr>
          <a:ln/>
        </p:spPr>
        <p:txBody>
          <a:bodyPr/>
          <a:lstStyle>
            <a:lvl1pPr>
              <a:defRPr/>
            </a:lvl1pPr>
          </a:lstStyle>
          <a:p>
            <a:pPr>
              <a:defRPr/>
            </a:pPr>
            <a:fld id="{5E961CB3-E06A-46CA-8C76-512983FA7B37}" type="datetime1">
              <a:rPr lang="en-US" altLang="fr-FR" smtClean="0"/>
              <a:t>2/8/2023</a:t>
            </a:fld>
            <a:endParaRPr lang="en-US" altLang="fr-FR"/>
          </a:p>
        </p:txBody>
      </p:sp>
      <p:sp>
        <p:nvSpPr>
          <p:cNvPr id="6" name="Rectangle 7">
            <a:extLst>
              <a:ext uri="{FF2B5EF4-FFF2-40B4-BE49-F238E27FC236}">
                <a16:creationId xmlns:a16="http://schemas.microsoft.com/office/drawing/2014/main" id="{2859F8FB-6D78-42E7-A196-47F28C88354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93B7AB6F-1435-429B-BD0F-FA90CBB24AF0}"/>
              </a:ext>
            </a:extLst>
          </p:cNvPr>
          <p:cNvSpPr>
            <a:spLocks noGrp="1" noChangeArrowheads="1"/>
          </p:cNvSpPr>
          <p:nvPr>
            <p:ph type="sldNum" sz="quarter" idx="12"/>
          </p:nvPr>
        </p:nvSpPr>
        <p:spPr>
          <a:ln/>
        </p:spPr>
        <p:txBody>
          <a:bodyPr/>
          <a:lstStyle>
            <a:lvl1pPr>
              <a:defRPr/>
            </a:lvl1pPr>
          </a:lstStyle>
          <a:p>
            <a:pPr>
              <a:defRPr/>
            </a:pPr>
            <a:r>
              <a:rPr lang="en-US" altLang="fr-FR"/>
              <a:t>2-</a:t>
            </a:r>
            <a:fld id="{C5DE55A7-02B1-4F98-8B1D-0CB10799F524}" type="slidenum">
              <a:rPr lang="en-US" altLang="fr-FR" smtClean="0"/>
              <a:pPr>
                <a:defRPr/>
              </a:pPr>
              <a:t>‹N°›</a:t>
            </a:fld>
            <a:endParaRPr lang="en-US" altLang="fr-FR"/>
          </a:p>
        </p:txBody>
      </p:sp>
    </p:spTree>
    <p:extLst>
      <p:ext uri="{BB962C8B-B14F-4D97-AF65-F5344CB8AC3E}">
        <p14:creationId xmlns:p14="http://schemas.microsoft.com/office/powerpoint/2010/main" val="2265229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5994400" y="1600200"/>
            <a:ext cx="5080000" cy="4648200"/>
          </a:xfrm>
        </p:spPr>
        <p:txBody>
          <a:bodyPr/>
          <a:lstStyle/>
          <a:p>
            <a:pPr lvl="0"/>
            <a:endParaRPr lang="en-US" noProof="0"/>
          </a:p>
        </p:txBody>
      </p:sp>
      <p:sp>
        <p:nvSpPr>
          <p:cNvPr id="5" name="Rectangle 4">
            <a:extLst>
              <a:ext uri="{FF2B5EF4-FFF2-40B4-BE49-F238E27FC236}">
                <a16:creationId xmlns:a16="http://schemas.microsoft.com/office/drawing/2014/main" id="{EA0EE7D4-3D8F-41CC-B76D-6F0D6149ACDF}"/>
              </a:ext>
            </a:extLst>
          </p:cNvPr>
          <p:cNvSpPr>
            <a:spLocks noGrp="1" noChangeArrowheads="1"/>
          </p:cNvSpPr>
          <p:nvPr>
            <p:ph type="dt" sz="half" idx="10"/>
          </p:nvPr>
        </p:nvSpPr>
        <p:spPr>
          <a:ln/>
        </p:spPr>
        <p:txBody>
          <a:bodyPr/>
          <a:lstStyle>
            <a:lvl1pPr>
              <a:defRPr/>
            </a:lvl1pPr>
          </a:lstStyle>
          <a:p>
            <a:pPr>
              <a:defRPr/>
            </a:pPr>
            <a:fld id="{59415401-F57B-414A-BDDE-7D21FF854804}" type="datetime1">
              <a:rPr lang="en-US" altLang="fr-FR" smtClean="0"/>
              <a:t>2/8/2023</a:t>
            </a:fld>
            <a:endParaRPr lang="en-US" altLang="fr-FR"/>
          </a:p>
        </p:txBody>
      </p:sp>
      <p:sp>
        <p:nvSpPr>
          <p:cNvPr id="6" name="Rectangle 7">
            <a:extLst>
              <a:ext uri="{FF2B5EF4-FFF2-40B4-BE49-F238E27FC236}">
                <a16:creationId xmlns:a16="http://schemas.microsoft.com/office/drawing/2014/main" id="{EDDA7471-62FE-4B7E-8159-5C2F718878D7}"/>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53A21069-1F4A-4762-9CD6-4E38ACE50330}"/>
              </a:ext>
            </a:extLst>
          </p:cNvPr>
          <p:cNvSpPr>
            <a:spLocks noGrp="1" noChangeArrowheads="1"/>
          </p:cNvSpPr>
          <p:nvPr>
            <p:ph type="sldNum" sz="quarter" idx="12"/>
          </p:nvPr>
        </p:nvSpPr>
        <p:spPr>
          <a:ln/>
        </p:spPr>
        <p:txBody>
          <a:bodyPr/>
          <a:lstStyle>
            <a:lvl1pPr>
              <a:defRPr/>
            </a:lvl1pPr>
          </a:lstStyle>
          <a:p>
            <a:pPr>
              <a:defRPr/>
            </a:pPr>
            <a:r>
              <a:rPr lang="en-US" altLang="fr-FR"/>
              <a:t>2-</a:t>
            </a:r>
            <a:fld id="{47869928-FFA9-403E-84A8-343A4EA9FEED}" type="slidenum">
              <a:rPr lang="en-US" altLang="fr-FR" smtClean="0"/>
              <a:pPr>
                <a:defRPr/>
              </a:pPr>
              <a:t>‹N°›</a:t>
            </a:fld>
            <a:endParaRPr lang="en-US" altLang="fr-FR"/>
          </a:p>
        </p:txBody>
      </p:sp>
    </p:spTree>
    <p:extLst>
      <p:ext uri="{BB962C8B-B14F-4D97-AF65-F5344CB8AC3E}">
        <p14:creationId xmlns:p14="http://schemas.microsoft.com/office/powerpoint/2010/main" val="35436600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00200"/>
            <a:ext cx="103632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1200" y="4000500"/>
            <a:ext cx="103632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8914D21-99D9-4879-9590-9AE8CAC56593}"/>
              </a:ext>
            </a:extLst>
          </p:cNvPr>
          <p:cNvSpPr>
            <a:spLocks noGrp="1" noChangeArrowheads="1"/>
          </p:cNvSpPr>
          <p:nvPr>
            <p:ph type="dt" sz="half" idx="10"/>
          </p:nvPr>
        </p:nvSpPr>
        <p:spPr>
          <a:ln/>
        </p:spPr>
        <p:txBody>
          <a:bodyPr/>
          <a:lstStyle>
            <a:lvl1pPr>
              <a:defRPr/>
            </a:lvl1pPr>
          </a:lstStyle>
          <a:p>
            <a:pPr>
              <a:defRPr/>
            </a:pPr>
            <a:fld id="{98712D2D-3C24-4BDF-80A1-295A09C2F7B6}" type="datetime1">
              <a:rPr lang="en-US" altLang="fr-FR" smtClean="0"/>
              <a:t>2/8/2023</a:t>
            </a:fld>
            <a:endParaRPr lang="en-US" altLang="fr-FR"/>
          </a:p>
        </p:txBody>
      </p:sp>
      <p:sp>
        <p:nvSpPr>
          <p:cNvPr id="6" name="Rectangle 7">
            <a:extLst>
              <a:ext uri="{FF2B5EF4-FFF2-40B4-BE49-F238E27FC236}">
                <a16:creationId xmlns:a16="http://schemas.microsoft.com/office/drawing/2014/main" id="{9066BD4B-EDBF-4F4C-A258-E143ED295B1E}"/>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B1945EB0-DC11-48E9-AF50-DD6F74913000}"/>
              </a:ext>
            </a:extLst>
          </p:cNvPr>
          <p:cNvSpPr>
            <a:spLocks noGrp="1" noChangeArrowheads="1"/>
          </p:cNvSpPr>
          <p:nvPr>
            <p:ph type="sldNum" sz="quarter" idx="12"/>
          </p:nvPr>
        </p:nvSpPr>
        <p:spPr>
          <a:ln/>
        </p:spPr>
        <p:txBody>
          <a:bodyPr/>
          <a:lstStyle>
            <a:lvl1pPr>
              <a:defRPr/>
            </a:lvl1pPr>
          </a:lstStyle>
          <a:p>
            <a:pPr>
              <a:defRPr/>
            </a:pPr>
            <a:r>
              <a:rPr lang="en-US" altLang="fr-FR"/>
              <a:t>2-</a:t>
            </a:r>
            <a:fld id="{D9D9BA72-24D2-433F-AD7D-8E35D1AB0CA6}" type="slidenum">
              <a:rPr lang="en-US" altLang="fr-FR" smtClean="0"/>
              <a:pPr>
                <a:defRPr/>
              </a:pPr>
              <a:t>‹N°›</a:t>
            </a:fld>
            <a:endParaRPr lang="en-US" altLang="fr-FR"/>
          </a:p>
        </p:txBody>
      </p:sp>
    </p:spTree>
    <p:extLst>
      <p:ext uri="{BB962C8B-B14F-4D97-AF65-F5344CB8AC3E}">
        <p14:creationId xmlns:p14="http://schemas.microsoft.com/office/powerpoint/2010/main" val="90330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61385CE-686F-447F-AE58-41FAEEA1FF6D}"/>
              </a:ext>
            </a:extLst>
          </p:cNvPr>
          <p:cNvSpPr>
            <a:spLocks noGrp="1" noChangeArrowheads="1"/>
          </p:cNvSpPr>
          <p:nvPr>
            <p:ph type="title"/>
          </p:nvPr>
        </p:nvSpPr>
        <p:spPr bwMode="auto">
          <a:xfrm>
            <a:off x="711200" y="228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Click to edit master title style</a:t>
            </a:r>
          </a:p>
        </p:txBody>
      </p:sp>
      <p:sp>
        <p:nvSpPr>
          <p:cNvPr id="1027" name="Rectangle 3">
            <a:extLst>
              <a:ext uri="{FF2B5EF4-FFF2-40B4-BE49-F238E27FC236}">
                <a16:creationId xmlns:a16="http://schemas.microsoft.com/office/drawing/2014/main" id="{7706C6FD-80FD-4B43-8C12-FCF064407FE5}"/>
              </a:ext>
            </a:extLst>
          </p:cNvPr>
          <p:cNvSpPr>
            <a:spLocks noGrp="1" noChangeArrowheads="1"/>
          </p:cNvSpPr>
          <p:nvPr>
            <p:ph type="body" idx="1"/>
          </p:nvPr>
        </p:nvSpPr>
        <p:spPr bwMode="auto">
          <a:xfrm>
            <a:off x="711200" y="1611313"/>
            <a:ext cx="10363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1028" name="Rectangle 4">
            <a:extLst>
              <a:ext uri="{FF2B5EF4-FFF2-40B4-BE49-F238E27FC236}">
                <a16:creationId xmlns:a16="http://schemas.microsoft.com/office/drawing/2014/main" id="{7B2A06D4-0A87-4353-A280-4FE5949D9A40}"/>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Times New Roman" panose="02020603050405020304" pitchFamily="18" charset="0"/>
              </a:defRPr>
            </a:lvl1pPr>
          </a:lstStyle>
          <a:p>
            <a:pPr>
              <a:defRPr/>
            </a:pPr>
            <a:fld id="{5DA875AD-5406-46AA-B089-AF49ACF94946}" type="datetime1">
              <a:rPr lang="en-US" altLang="fr-FR" smtClean="0"/>
              <a:t>2/8/2023</a:t>
            </a:fld>
            <a:endParaRPr lang="en-US" altLang="fr-FR"/>
          </a:p>
        </p:txBody>
      </p:sp>
      <p:sp>
        <p:nvSpPr>
          <p:cNvPr id="195589" name="Rectangle 5">
            <a:extLst>
              <a:ext uri="{FF2B5EF4-FFF2-40B4-BE49-F238E27FC236}">
                <a16:creationId xmlns:a16="http://schemas.microsoft.com/office/drawing/2014/main" id="{7393B503-8D58-4B6E-B6D9-E0AF4944937E}"/>
              </a:ext>
            </a:extLst>
          </p:cNvPr>
          <p:cNvSpPr>
            <a:spLocks noGrp="1" noChangeArrowheads="1"/>
          </p:cNvSpPr>
          <p:nvPr>
            <p:ph type="ftr" sz="quarter" idx="3"/>
          </p:nvPr>
        </p:nvSpPr>
        <p:spPr bwMode="auto">
          <a:xfrm>
            <a:off x="7435850" y="6467475"/>
            <a:ext cx="38608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ea typeface="+mn-ea"/>
                <a:cs typeface="+mn-cs"/>
              </a:defRPr>
            </a:lvl1pPr>
          </a:lstStyle>
          <a:p>
            <a:pPr>
              <a:defRPr/>
            </a:pPr>
            <a:r>
              <a:rPr lang="en-US"/>
              <a:t>Introduction </a:t>
            </a:r>
          </a:p>
        </p:txBody>
      </p:sp>
      <p:sp>
        <p:nvSpPr>
          <p:cNvPr id="195590" name="Rectangle 6">
            <a:extLst>
              <a:ext uri="{FF2B5EF4-FFF2-40B4-BE49-F238E27FC236}">
                <a16:creationId xmlns:a16="http://schemas.microsoft.com/office/drawing/2014/main" id="{285496BF-D35D-4B3A-B8CD-3DB9C0BAC35D}"/>
              </a:ext>
            </a:extLst>
          </p:cNvPr>
          <p:cNvSpPr>
            <a:spLocks noGrp="1" noChangeArrowheads="1"/>
          </p:cNvSpPr>
          <p:nvPr>
            <p:ph type="sldNum" sz="quarter" idx="4"/>
          </p:nvPr>
        </p:nvSpPr>
        <p:spPr bwMode="auto">
          <a:xfrm>
            <a:off x="11099800" y="6462713"/>
            <a:ext cx="9017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fr-FR"/>
              <a:t>2-</a:t>
            </a:r>
            <a:fld id="{F41F317F-6460-4794-A608-3F250ED2FFAC}" type="slidenum">
              <a:rPr lang="en-US" altLang="fr-FR" smtClean="0"/>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640" r:id="rId1"/>
    <p:sldLayoutId id="2147484619" r:id="rId2"/>
    <p:sldLayoutId id="2147484620" r:id="rId3"/>
    <p:sldLayoutId id="2147484621" r:id="rId4"/>
    <p:sldLayoutId id="2147484622" r:id="rId5"/>
    <p:sldLayoutId id="2147484623" r:id="rId6"/>
    <p:sldLayoutId id="2147484641" r:id="rId7"/>
    <p:sldLayoutId id="2147484642" r:id="rId8"/>
    <p:sldLayoutId id="2147484624" r:id="rId9"/>
    <p:sldLayoutId id="2147484643" r:id="rId10"/>
    <p:sldLayoutId id="2147484644" r:id="rId11"/>
    <p:sldLayoutId id="2147484645" r:id="rId12"/>
  </p:sldLayoutIdLst>
  <p:hf sldNum="0" hdr="0" ftr="0" dt="0"/>
  <p:txStyles>
    <p:titleStyle>
      <a:lvl1pPr algn="l" rtl="0" eaLnBrk="0" fontAlgn="base" hangingPunct="0">
        <a:spcBef>
          <a:spcPct val="0"/>
        </a:spcBef>
        <a:spcAft>
          <a:spcPct val="0"/>
        </a:spcAft>
        <a:defRPr sz="4400">
          <a:solidFill>
            <a:srgbClr val="000099"/>
          </a:solidFill>
          <a:latin typeface="+mj-lt"/>
          <a:ea typeface="MS PGothic" panose="020B0600070205080204" pitchFamily="34" charset="-128"/>
          <a:cs typeface="+mj-cs"/>
        </a:defRPr>
      </a:lvl1pPr>
      <a:lvl2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2pPr>
      <a:lvl3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3pPr>
      <a:lvl4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4pPr>
      <a:lvl5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p:titleStyle>
    <p:body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E131E6D-ED3B-47B1-A3A6-A2478CDA5B30}"/>
              </a:ext>
            </a:extLst>
          </p:cNvPr>
          <p:cNvSpPr>
            <a:spLocks noGrp="1" noChangeArrowheads="1"/>
          </p:cNvSpPr>
          <p:nvPr>
            <p:ph type="title"/>
          </p:nvPr>
        </p:nvSpPr>
        <p:spPr bwMode="auto">
          <a:xfrm>
            <a:off x="711200" y="228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Click to edit master title style</a:t>
            </a:r>
          </a:p>
        </p:txBody>
      </p:sp>
      <p:sp>
        <p:nvSpPr>
          <p:cNvPr id="2051" name="Rectangle 3">
            <a:extLst>
              <a:ext uri="{FF2B5EF4-FFF2-40B4-BE49-F238E27FC236}">
                <a16:creationId xmlns:a16="http://schemas.microsoft.com/office/drawing/2014/main" id="{DCDAC031-4B1B-4A5E-B1B5-DE1ABCDCDC5D}"/>
              </a:ext>
            </a:extLst>
          </p:cNvPr>
          <p:cNvSpPr>
            <a:spLocks noGrp="1" noChangeArrowheads="1"/>
          </p:cNvSpPr>
          <p:nvPr>
            <p:ph type="body" idx="1"/>
          </p:nvPr>
        </p:nvSpPr>
        <p:spPr bwMode="auto">
          <a:xfrm>
            <a:off x="711200" y="1611313"/>
            <a:ext cx="10363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1028" name="Rectangle 4">
            <a:extLst>
              <a:ext uri="{FF2B5EF4-FFF2-40B4-BE49-F238E27FC236}">
                <a16:creationId xmlns:a16="http://schemas.microsoft.com/office/drawing/2014/main" id="{982EC594-D1F2-4ED0-A952-7B1E29C98FF9}"/>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panose="02020603050405020304" pitchFamily="18" charset="0"/>
                <a:ea typeface="ＭＳ Ｐゴシック" panose="020B0600070205080204" pitchFamily="34" charset="-128"/>
              </a:defRPr>
            </a:lvl1pPr>
          </a:lstStyle>
          <a:p>
            <a:pPr>
              <a:defRPr/>
            </a:pPr>
            <a:fld id="{4C50D312-BBA3-4593-82A9-4793D2B3128D}" type="datetime1">
              <a:rPr lang="en-US" altLang="fr-FR" smtClean="0"/>
              <a:t>2/8/2023</a:t>
            </a:fld>
            <a:endParaRPr lang="en-US" altLang="fr-FR"/>
          </a:p>
        </p:txBody>
      </p:sp>
      <p:sp>
        <p:nvSpPr>
          <p:cNvPr id="32775" name="Rectangle 7">
            <a:extLst>
              <a:ext uri="{FF2B5EF4-FFF2-40B4-BE49-F238E27FC236}">
                <a16:creationId xmlns:a16="http://schemas.microsoft.com/office/drawing/2014/main" id="{05D9CB4D-B9D0-4422-8965-09F27FDA174C}"/>
              </a:ext>
            </a:extLst>
          </p:cNvPr>
          <p:cNvSpPr>
            <a:spLocks noGrp="1" noChangeArrowheads="1"/>
          </p:cNvSpPr>
          <p:nvPr>
            <p:ph type="ftr" sz="quarter" idx="3"/>
          </p:nvPr>
        </p:nvSpPr>
        <p:spPr bwMode="auto">
          <a:xfrm>
            <a:off x="7435850" y="6467475"/>
            <a:ext cx="38608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a:defRPr/>
            </a:pPr>
            <a:r>
              <a:rPr lang="en-US"/>
              <a:t>Introduction </a:t>
            </a:r>
          </a:p>
        </p:txBody>
      </p:sp>
      <p:sp>
        <p:nvSpPr>
          <p:cNvPr id="32776" name="Rectangle 8">
            <a:extLst>
              <a:ext uri="{FF2B5EF4-FFF2-40B4-BE49-F238E27FC236}">
                <a16:creationId xmlns:a16="http://schemas.microsoft.com/office/drawing/2014/main" id="{FD7B7A95-73C3-4EE8-AFD2-4D34A58054C9}"/>
              </a:ext>
            </a:extLst>
          </p:cNvPr>
          <p:cNvSpPr>
            <a:spLocks noGrp="1" noChangeArrowheads="1"/>
          </p:cNvSpPr>
          <p:nvPr>
            <p:ph type="sldNum" sz="quarter" idx="4"/>
          </p:nvPr>
        </p:nvSpPr>
        <p:spPr bwMode="auto">
          <a:xfrm>
            <a:off x="11099800" y="6462713"/>
            <a:ext cx="9017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fr-FR"/>
              <a:t>2-</a:t>
            </a:r>
            <a:fld id="{5C64BCFA-E493-455E-8390-5F323A506B5C}" type="slidenum">
              <a:rPr lang="en-US" altLang="fr-FR" smtClean="0"/>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 id="2147484636" r:id="rId12"/>
    <p:sldLayoutId id="2147484637" r:id="rId13"/>
    <p:sldLayoutId id="2147484638" r:id="rId14"/>
    <p:sldLayoutId id="2147484639" r:id="rId15"/>
  </p:sldLayoutIdLst>
  <p:hf sldNum="0" hdr="0" ftr="0" dt="0"/>
  <p:txStyles>
    <p:titleStyle>
      <a:lvl1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100000"/>
        <a:buFont typeface="Wingdings" panose="05000000000000000000" pitchFamily="2" charset="2"/>
        <a:buChar char="§"/>
        <a:defRPr sz="2800">
          <a:solidFill>
            <a:schemeClr val="tx1"/>
          </a:solidFill>
          <a:latin typeface="Gill Sans MT" pitchFamily="34" charset="0"/>
          <a:ea typeface="MS PGothic" panose="020B0600070205080204" pitchFamily="34" charset="-128"/>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MS PGothic" panose="020B0600070205080204" pitchFamily="34" charset="-128"/>
        </a:defRPr>
      </a:lvl2pPr>
      <a:lvl3pPr marL="11430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6">
            <a:extLst>
              <a:ext uri="{FF2B5EF4-FFF2-40B4-BE49-F238E27FC236}">
                <a16:creationId xmlns:a16="http://schemas.microsoft.com/office/drawing/2014/main" id="{AE649732-B12B-4FC1-B7D4-535834BD76E2}"/>
              </a:ext>
            </a:extLst>
          </p:cNvPr>
          <p:cNvSpPr txBox="1">
            <a:spLocks noChangeArrowheads="1"/>
          </p:cNvSpPr>
          <p:nvPr/>
        </p:nvSpPr>
        <p:spPr bwMode="auto">
          <a:xfrm>
            <a:off x="1384323" y="2980696"/>
            <a:ext cx="5378450" cy="250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buClr>
                <a:srgbClr val="3333CC"/>
              </a:buClr>
              <a:buSzPct val="85000"/>
              <a:buFont typeface="ZapfDingbats" charset="2"/>
              <a:buNone/>
            </a:pP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a:solidFill>
                  <a:srgbClr val="000000"/>
                </a:solidFill>
                <a:latin typeface="Arial" panose="020B0604020202020204" pitchFamily="34" charset="0"/>
                <a:cs typeface="Arial" panose="020B0604020202020204" pitchFamily="34" charset="0"/>
              </a:rPr>
              <a:t>Tlili </a:t>
            </a:r>
            <a:r>
              <a:rPr lang="en-US" altLang="fr-FR" sz="2000" dirty="0" err="1">
                <a:solidFill>
                  <a:srgbClr val="000000"/>
                </a:solidFill>
                <a:latin typeface="Arial" panose="020B0604020202020204" pitchFamily="34" charset="0"/>
                <a:cs typeface="Arial" panose="020B0604020202020204" pitchFamily="34" charset="0"/>
              </a:rPr>
              <a:t>Radhouene</a:t>
            </a:r>
            <a:endParaRPr lang="fr-FR"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Iset</a:t>
            </a:r>
            <a:r>
              <a:rPr lang="en-US" altLang="fr-FR" sz="2000" dirty="0">
                <a:solidFill>
                  <a:srgbClr val="000000"/>
                </a:solidFill>
                <a:latin typeface="Arial" panose="020B0604020202020204" pitchFamily="34" charset="0"/>
                <a:cs typeface="Arial" panose="020B0604020202020204" pitchFamily="34" charset="0"/>
              </a:rPr>
              <a:t> Nabeul</a:t>
            </a: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Université</a:t>
            </a:r>
            <a:r>
              <a:rPr lang="en-US" altLang="fr-FR" sz="2000" dirty="0">
                <a:solidFill>
                  <a:srgbClr val="000000"/>
                </a:solidFill>
                <a:latin typeface="Arial" panose="020B0604020202020204" pitchFamily="34" charset="0"/>
                <a:cs typeface="Arial" panose="020B0604020202020204" pitchFamily="34" charset="0"/>
              </a:rPr>
              <a:t> SESAME</a:t>
            </a: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PolytechInt</a:t>
            </a: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a:solidFill>
                  <a:srgbClr val="000000"/>
                </a:solidFill>
                <a:latin typeface="Arial" panose="020B0604020202020204" pitchFamily="34" charset="0"/>
                <a:cs typeface="Arial" panose="020B0604020202020204" pitchFamily="34" charset="0"/>
              </a:rPr>
              <a:t>Tek-up</a:t>
            </a:r>
          </a:p>
          <a:p>
            <a:pPr algn="ctr">
              <a:lnSpc>
                <a:spcPct val="100000"/>
              </a:lnSpc>
              <a:buClr>
                <a:srgbClr val="3333CC"/>
              </a:buClr>
              <a:buSzPct val="85000"/>
              <a:buFont typeface="ZapfDingbats" charset="2"/>
              <a:buNone/>
            </a:pPr>
            <a:endParaRPr lang="en-US" altLang="fr-FR" sz="1400" dirty="0">
              <a:solidFill>
                <a:srgbClr val="000000"/>
              </a:solidFill>
              <a:latin typeface="Arial" panose="020B0604020202020204" pitchFamily="34" charset="0"/>
              <a:cs typeface="Arial" panose="020B0604020202020204" pitchFamily="34" charset="0"/>
            </a:endParaRPr>
          </a:p>
        </p:txBody>
      </p:sp>
      <p:sp>
        <p:nvSpPr>
          <p:cNvPr id="11270" name="Rectangle 3">
            <a:extLst>
              <a:ext uri="{FF2B5EF4-FFF2-40B4-BE49-F238E27FC236}">
                <a16:creationId xmlns:a16="http://schemas.microsoft.com/office/drawing/2014/main" id="{1FEF1257-5114-42E1-B1D8-E8A415397411}"/>
              </a:ext>
            </a:extLst>
          </p:cNvPr>
          <p:cNvSpPr>
            <a:spLocks noChangeArrowheads="1"/>
          </p:cNvSpPr>
          <p:nvPr/>
        </p:nvSpPr>
        <p:spPr bwMode="auto">
          <a:xfrm>
            <a:off x="1895475" y="505327"/>
            <a:ext cx="5378450" cy="2475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ClrTx/>
              <a:buSzTx/>
              <a:buFontTx/>
              <a:buNone/>
            </a:pPr>
            <a:r>
              <a:rPr lang="en-US" altLang="fr-FR" sz="4400" dirty="0" err="1">
                <a:solidFill>
                  <a:srgbClr val="000099"/>
                </a:solidFill>
                <a:cs typeface="Arial" panose="020B0604020202020204" pitchFamily="34" charset="0"/>
              </a:rPr>
              <a:t>Chapitre</a:t>
            </a:r>
            <a:r>
              <a:rPr lang="en-US" altLang="fr-FR" sz="4400" dirty="0">
                <a:solidFill>
                  <a:srgbClr val="000099"/>
                </a:solidFill>
                <a:cs typeface="Arial" panose="020B0604020202020204" pitchFamily="34" charset="0"/>
              </a:rPr>
              <a:t> II :</a:t>
            </a:r>
            <a:br>
              <a:rPr lang="en-US" altLang="fr-FR" sz="4800" dirty="0">
                <a:solidFill>
                  <a:srgbClr val="000099"/>
                </a:solidFill>
                <a:cs typeface="Arial" panose="020B0604020202020204" pitchFamily="34" charset="0"/>
              </a:rPr>
            </a:br>
            <a:r>
              <a:rPr lang="en-US" altLang="fr-FR" sz="4800" dirty="0" err="1">
                <a:solidFill>
                  <a:srgbClr val="000099"/>
                </a:solidFill>
                <a:cs typeface="Arial" panose="020B0604020202020204" pitchFamily="34" charset="0"/>
              </a:rPr>
              <a:t>Langages</a:t>
            </a:r>
            <a:r>
              <a:rPr lang="en-US" altLang="fr-FR" sz="4800" dirty="0">
                <a:solidFill>
                  <a:srgbClr val="000099"/>
                </a:solidFill>
                <a:cs typeface="Arial" panose="020B0604020202020204" pitchFamily="34" charset="0"/>
              </a:rPr>
              <a:t> </a:t>
            </a:r>
            <a:r>
              <a:rPr lang="en-US" altLang="fr-FR" sz="4800" dirty="0" err="1">
                <a:solidFill>
                  <a:srgbClr val="000099"/>
                </a:solidFill>
                <a:cs typeface="Arial" panose="020B0604020202020204" pitchFamily="34" charset="0"/>
              </a:rPr>
              <a:t>réguliers</a:t>
            </a:r>
            <a:r>
              <a:rPr lang="en-US" altLang="fr-FR" sz="4800" dirty="0">
                <a:solidFill>
                  <a:srgbClr val="000099"/>
                </a:solidFill>
                <a:cs typeface="Arial" panose="020B0604020202020204" pitchFamily="34" charset="0"/>
              </a:rPr>
              <a:t> et expressions </a:t>
            </a:r>
            <a:r>
              <a:rPr lang="en-US" altLang="fr-FR" sz="4800" dirty="0" err="1">
                <a:solidFill>
                  <a:srgbClr val="000099"/>
                </a:solidFill>
                <a:cs typeface="Arial" panose="020B0604020202020204" pitchFamily="34" charset="0"/>
              </a:rPr>
              <a:t>régulières</a:t>
            </a:r>
            <a:endParaRPr lang="en-US" altLang="fr-FR" sz="4400" dirty="0">
              <a:solidFill>
                <a:srgbClr val="000099"/>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7EF42D8-51B3-4ACE-97AB-33F1298C09EF}"/>
              </a:ext>
            </a:extLst>
          </p:cNvPr>
          <p:cNvSpPr>
            <a:spLocks noGrp="1" noChangeArrowheads="1"/>
          </p:cNvSpPr>
          <p:nvPr>
            <p:ph type="title"/>
          </p:nvPr>
        </p:nvSpPr>
        <p:spPr>
          <a:xfrm>
            <a:off x="711199" y="228600"/>
            <a:ext cx="11480801" cy="1143000"/>
          </a:xfrm>
        </p:spPr>
        <p:txBody>
          <a:bodyPr vert="horz" wrap="square" lIns="91440" tIns="45720" rIns="91440" bIns="45720" numCol="1" anchor="ctr" anchorCtr="0" compatLnSpc="1">
            <a:prstTxWarp prst="textNoShape">
              <a:avLst/>
            </a:prstTxWarp>
            <a:normAutofit fontScale="90000"/>
          </a:bodyPr>
          <a:lstStyle/>
          <a:p>
            <a:pPr>
              <a:lnSpc>
                <a:spcPct val="90000"/>
              </a:lnSpc>
            </a:pPr>
            <a:r>
              <a:rPr lang="en-US" altLang="fr-FR" b="1" dirty="0" err="1">
                <a:latin typeface="+mj-lt"/>
                <a:ea typeface="MS PGothic" panose="020B0600070205080204" pitchFamily="34" charset="-128"/>
                <a:cs typeface="+mj-cs"/>
              </a:rPr>
              <a:t>Chapitre</a:t>
            </a:r>
            <a:r>
              <a:rPr lang="en-US" altLang="fr-FR" b="1" dirty="0">
                <a:latin typeface="+mj-lt"/>
                <a:ea typeface="MS PGothic" panose="020B0600070205080204" pitchFamily="34" charset="-128"/>
                <a:cs typeface="+mj-cs"/>
              </a:rPr>
              <a:t> II : </a:t>
            </a:r>
            <a:r>
              <a:rPr lang="en-US" altLang="fr-FR" b="1" dirty="0" err="1">
                <a:latin typeface="+mj-lt"/>
                <a:ea typeface="MS PGothic" panose="020B0600070205080204" pitchFamily="34" charset="-128"/>
                <a:cs typeface="+mj-cs"/>
              </a:rPr>
              <a:t>Langages</a:t>
            </a:r>
            <a:r>
              <a:rPr lang="en-US" altLang="fr-FR" b="1" dirty="0">
                <a:latin typeface="+mj-lt"/>
                <a:ea typeface="MS PGothic" panose="020B0600070205080204" pitchFamily="34" charset="-128"/>
                <a:cs typeface="+mj-cs"/>
              </a:rPr>
              <a:t> </a:t>
            </a:r>
            <a:r>
              <a:rPr lang="en-US" altLang="fr-FR" b="1" dirty="0" err="1">
                <a:latin typeface="+mj-lt"/>
                <a:ea typeface="MS PGothic" panose="020B0600070205080204" pitchFamily="34" charset="-128"/>
                <a:cs typeface="+mj-cs"/>
              </a:rPr>
              <a:t>réguliers</a:t>
            </a:r>
            <a:r>
              <a:rPr lang="en-US" altLang="fr-FR" b="1" dirty="0">
                <a:latin typeface="+mj-lt"/>
                <a:ea typeface="MS PGothic" panose="020B0600070205080204" pitchFamily="34" charset="-128"/>
                <a:cs typeface="+mj-cs"/>
              </a:rPr>
              <a:t> et expressions </a:t>
            </a:r>
            <a:r>
              <a:rPr lang="en-US" altLang="fr-FR" b="1" dirty="0" err="1">
                <a:latin typeface="+mj-lt"/>
                <a:ea typeface="MS PGothic" panose="020B0600070205080204" pitchFamily="34" charset="-128"/>
                <a:cs typeface="+mj-cs"/>
              </a:rPr>
              <a:t>régulières</a:t>
            </a:r>
            <a:endParaRPr lang="en-US" altLang="fr-FR" b="1" dirty="0">
              <a:latin typeface="+mj-lt"/>
              <a:ea typeface="MS PGothic" panose="020B0600070205080204" pitchFamily="34" charset="-128"/>
              <a:cs typeface="+mj-cs"/>
            </a:endParaRPr>
          </a:p>
        </p:txBody>
      </p:sp>
      <p:sp>
        <p:nvSpPr>
          <p:cNvPr id="6" name="Rectangle 4">
            <a:extLst>
              <a:ext uri="{FF2B5EF4-FFF2-40B4-BE49-F238E27FC236}">
                <a16:creationId xmlns:a16="http://schemas.microsoft.com/office/drawing/2014/main" id="{FE86E7E5-07C5-42D4-A75D-DD9E896B41C4}"/>
              </a:ext>
            </a:extLst>
          </p:cNvPr>
          <p:cNvSpPr txBox="1">
            <a:spLocks noChangeArrowheads="1"/>
          </p:cNvSpPr>
          <p:nvPr/>
        </p:nvSpPr>
        <p:spPr bwMode="auto">
          <a:xfrm>
            <a:off x="711200" y="1611313"/>
            <a:ext cx="508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77500" lnSpcReduction="20000"/>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None/>
              <a:tabLst/>
              <a:defRPr/>
            </a:pP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Aperçu </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Problématique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modèles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de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définition</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des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langages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formels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Exercices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Langage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régulier</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définition</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informelle</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a:solidFill>
                  <a:srgbClr val="000000"/>
                </a:solidFill>
                <a:latin typeface="Gill Sans MT"/>
                <a:cs typeface="Arial"/>
              </a:rPr>
              <a:t>Langage </a:t>
            </a:r>
            <a:r>
              <a:rPr lang="en-US" altLang="ja-JP" kern="0" dirty="0" err="1">
                <a:solidFill>
                  <a:srgbClr val="000000"/>
                </a:solidFill>
                <a:latin typeface="Gill Sans MT"/>
                <a:cs typeface="Arial"/>
              </a:rPr>
              <a:t>régulier</a:t>
            </a:r>
            <a:r>
              <a:rPr lang="en-US" altLang="ja-JP" kern="0" dirty="0">
                <a:solidFill>
                  <a:srgbClr val="000000"/>
                </a:solidFill>
                <a:latin typeface="Gill Sans MT"/>
                <a:cs typeface="Arial"/>
              </a:rPr>
              <a:t> : </a:t>
            </a:r>
            <a:r>
              <a:rPr lang="en-US" altLang="ja-JP" kern="0" dirty="0" err="1">
                <a:solidFill>
                  <a:srgbClr val="000000"/>
                </a:solidFill>
                <a:latin typeface="Gill Sans MT"/>
                <a:cs typeface="Arial"/>
              </a:rPr>
              <a:t>définition</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formelle</a:t>
            </a:r>
            <a:endParaRPr lang="en-US" altLang="ja-JP" kern="0" dirty="0">
              <a:solidFill>
                <a:srgbClr val="000000"/>
              </a:solidFill>
              <a:latin typeface="Gill Sans MT"/>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Langage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régulier</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 importance</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a:solidFill>
                  <a:srgbClr val="000000"/>
                </a:solidFill>
                <a:latin typeface="Gill Sans MT"/>
                <a:cs typeface="Arial"/>
              </a:rPr>
              <a:t>Langage </a:t>
            </a:r>
            <a:r>
              <a:rPr lang="en-US" altLang="ja-JP" kern="0" dirty="0" err="1">
                <a:solidFill>
                  <a:srgbClr val="000000"/>
                </a:solidFill>
                <a:latin typeface="Gill Sans MT"/>
                <a:cs typeface="Arial"/>
              </a:rPr>
              <a:t>régulier</a:t>
            </a:r>
            <a:r>
              <a:rPr lang="en-US" altLang="ja-JP" kern="0" dirty="0">
                <a:solidFill>
                  <a:srgbClr val="000000"/>
                </a:solidFill>
                <a:latin typeface="Gill Sans MT"/>
                <a:cs typeface="Arial"/>
              </a:rPr>
              <a:t> : </a:t>
            </a:r>
            <a:r>
              <a:rPr lang="en-US" altLang="ja-JP" kern="0" dirty="0" err="1">
                <a:solidFill>
                  <a:srgbClr val="000000"/>
                </a:solidFill>
                <a:latin typeface="Gill Sans MT"/>
                <a:cs typeface="Arial"/>
              </a:rPr>
              <a:t>propriétés</a:t>
            </a:r>
            <a:endParaRPr lang="en-US" altLang="ja-JP" kern="0" dirty="0">
              <a:solidFill>
                <a:srgbClr val="000000"/>
              </a:solidFill>
              <a:latin typeface="Gill Sans MT"/>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Expression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régulière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 definition</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Expression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régulière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et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langage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régulier</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Expression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régulière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interprétation</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a:solidFill>
                  <a:srgbClr val="000000"/>
                </a:solidFill>
                <a:latin typeface="Gill Sans MT"/>
                <a:cs typeface="Arial"/>
              </a:rPr>
              <a:t>Expressions </a:t>
            </a:r>
            <a:r>
              <a:rPr lang="en-US" altLang="ja-JP" kern="0" dirty="0" err="1">
                <a:solidFill>
                  <a:srgbClr val="000000"/>
                </a:solidFill>
                <a:latin typeface="Gill Sans MT"/>
                <a:cs typeface="Arial"/>
              </a:rPr>
              <a:t>régulières</a:t>
            </a:r>
            <a:r>
              <a:rPr lang="en-US" altLang="ja-JP" kern="0" dirty="0">
                <a:solidFill>
                  <a:srgbClr val="000000"/>
                </a:solidFill>
                <a:latin typeface="Gill Sans MT"/>
                <a:cs typeface="Arial"/>
              </a:rPr>
              <a:t> : </a:t>
            </a:r>
            <a:r>
              <a:rPr lang="en-US" altLang="ja-JP" kern="0" dirty="0" err="1">
                <a:solidFill>
                  <a:srgbClr val="000000"/>
                </a:solidFill>
                <a:latin typeface="Gill Sans MT"/>
                <a:cs typeface="Arial"/>
              </a:rPr>
              <a:t>équivalence</a:t>
            </a:r>
            <a:endParaRPr lang="en-US" altLang="ja-JP" kern="0" dirty="0">
              <a:solidFill>
                <a:srgbClr val="000000"/>
              </a:solidFill>
              <a:latin typeface="Gill Sans MT"/>
              <a:cs typeface="Arial"/>
            </a:endParaRPr>
          </a:p>
          <a:p>
            <a:pPr>
              <a:defRPr/>
            </a:pPr>
            <a:r>
              <a:rPr lang="en-US" altLang="ja-JP" kern="0" dirty="0" err="1">
                <a:solidFill>
                  <a:srgbClr val="000000"/>
                </a:solidFill>
              </a:rPr>
              <a:t>Définitions</a:t>
            </a:r>
            <a:r>
              <a:rPr lang="en-US" altLang="ja-JP" kern="0" dirty="0">
                <a:solidFill>
                  <a:srgbClr val="000000"/>
                </a:solidFill>
              </a:rPr>
              <a:t> </a:t>
            </a:r>
            <a:r>
              <a:rPr lang="en-US" altLang="ja-JP" kern="0" dirty="0" err="1">
                <a:solidFill>
                  <a:srgbClr val="000000"/>
                </a:solidFill>
              </a:rPr>
              <a:t>régulières</a:t>
            </a:r>
            <a:endParaRPr lang="en-US" altLang="ja-JP" kern="0" dirty="0">
              <a:solidFill>
                <a:srgbClr val="000000"/>
              </a:solidFill>
            </a:endParaRPr>
          </a:p>
          <a:p>
            <a:pPr>
              <a:defRPr/>
            </a:pPr>
            <a:r>
              <a:rPr kumimoji="0" lang="en-US" altLang="fr-FR"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Limites</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des expressions </a:t>
            </a:r>
            <a:r>
              <a:rPr kumimoji="0" lang="en-US" altLang="fr-FR"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régulières</a:t>
            </a:r>
            <a:endPar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p:txBody>
      </p:sp>
      <p:sp>
        <p:nvSpPr>
          <p:cNvPr id="5" name="Rectangle 3">
            <a:extLst>
              <a:ext uri="{FF2B5EF4-FFF2-40B4-BE49-F238E27FC236}">
                <a16:creationId xmlns:a16="http://schemas.microsoft.com/office/drawing/2014/main" id="{40FD58C6-D63C-411F-B273-07D07247884C}"/>
              </a:ext>
            </a:extLst>
          </p:cNvPr>
          <p:cNvSpPr txBox="1">
            <a:spLocks noChangeArrowheads="1"/>
          </p:cNvSpPr>
          <p:nvPr/>
        </p:nvSpPr>
        <p:spPr bwMode="auto">
          <a:xfrm>
            <a:off x="5994400" y="1611313"/>
            <a:ext cx="508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None/>
              <a:tabLst/>
              <a:defRPr/>
            </a:pPr>
            <a:r>
              <a:rPr kumimoji="0" lang="en-US" altLang="fr-FR" sz="2800" b="0" i="1"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Objectifs</a:t>
            </a: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du </a:t>
            </a:r>
            <a:r>
              <a:rPr kumimoji="0" lang="en-US" altLang="fr-FR" sz="2800" b="0" i="1"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chapitre</a:t>
            </a: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Aborder</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un type particulier simple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mais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très utile : les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langages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réguliers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a:solidFill>
                  <a:srgbClr val="000000"/>
                </a:solidFill>
                <a:latin typeface="Gill Sans MT"/>
                <a:cs typeface="Arial"/>
              </a:rPr>
              <a:t>Les </a:t>
            </a:r>
            <a:r>
              <a:rPr lang="en-US" altLang="ja-JP" kern="0" dirty="0" err="1">
                <a:solidFill>
                  <a:srgbClr val="000000"/>
                </a:solidFill>
                <a:latin typeface="Gill Sans MT"/>
                <a:cs typeface="Arial"/>
              </a:rPr>
              <a:t>langages</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réguliers</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sont</a:t>
            </a:r>
            <a:r>
              <a:rPr lang="en-US" altLang="ja-JP" kern="0" dirty="0">
                <a:solidFill>
                  <a:srgbClr val="000000"/>
                </a:solidFill>
                <a:latin typeface="Gill Sans MT"/>
                <a:cs typeface="Arial"/>
              </a:rPr>
              <a:t> très </a:t>
            </a:r>
            <a:r>
              <a:rPr lang="en-US" altLang="ja-JP" kern="0" dirty="0" err="1">
                <a:solidFill>
                  <a:srgbClr val="000000"/>
                </a:solidFill>
                <a:latin typeface="Gill Sans MT"/>
                <a:cs typeface="Arial"/>
              </a:rPr>
              <a:t>utilisés</a:t>
            </a:r>
            <a:r>
              <a:rPr lang="en-US" altLang="ja-JP" kern="0" dirty="0">
                <a:solidFill>
                  <a:srgbClr val="000000"/>
                </a:solidFill>
                <a:latin typeface="Gill Sans MT"/>
                <a:cs typeface="Arial"/>
              </a:rPr>
              <a:t> dans les </a:t>
            </a:r>
            <a:r>
              <a:rPr lang="en-US" altLang="ja-JP" kern="0" dirty="0" err="1">
                <a:solidFill>
                  <a:srgbClr val="000000"/>
                </a:solidFill>
                <a:latin typeface="Gill Sans MT"/>
                <a:cs typeface="Arial"/>
              </a:rPr>
              <a:t>langages</a:t>
            </a:r>
            <a:r>
              <a:rPr lang="en-US" altLang="ja-JP" kern="0" dirty="0">
                <a:solidFill>
                  <a:srgbClr val="000000"/>
                </a:solidFill>
                <a:latin typeface="Gill Sans MT"/>
                <a:cs typeface="Arial"/>
              </a:rPr>
              <a:t> de </a:t>
            </a:r>
            <a:r>
              <a:rPr lang="en-US" altLang="ja-JP" kern="0" dirty="0" err="1">
                <a:solidFill>
                  <a:srgbClr val="000000"/>
                </a:solidFill>
                <a:latin typeface="Gill Sans MT"/>
                <a:cs typeface="Arial"/>
              </a:rPr>
              <a:t>programmation</a:t>
            </a:r>
            <a:r>
              <a:rPr lang="en-US" altLang="ja-JP" kern="0" dirty="0">
                <a:solidFill>
                  <a:srgbClr val="000000"/>
                </a:solidFill>
                <a:latin typeface="Gill Sans MT"/>
                <a:cs typeface="Arial"/>
              </a:rPr>
              <a:t> (ex : </a:t>
            </a:r>
            <a:r>
              <a:rPr lang="en-US" altLang="ja-JP" kern="0" dirty="0" err="1">
                <a:solidFill>
                  <a:srgbClr val="000000"/>
                </a:solidFill>
                <a:latin typeface="Gill Sans MT"/>
                <a:cs typeface="Arial"/>
              </a:rPr>
              <a:t>langage</a:t>
            </a:r>
            <a:r>
              <a:rPr lang="en-US" altLang="ja-JP" kern="0" dirty="0">
                <a:solidFill>
                  <a:srgbClr val="000000"/>
                </a:solidFill>
                <a:latin typeface="Gill Sans MT"/>
                <a:cs typeface="Arial"/>
              </a:rPr>
              <a:t> des </a:t>
            </a:r>
            <a:r>
              <a:rPr lang="en-US" altLang="ja-JP" kern="0" dirty="0" err="1">
                <a:solidFill>
                  <a:srgbClr val="000000"/>
                </a:solidFill>
                <a:latin typeface="Gill Sans MT"/>
                <a:cs typeface="Arial"/>
              </a:rPr>
              <a:t>identificateurs</a:t>
            </a:r>
            <a:r>
              <a:rPr lang="en-US" altLang="ja-JP" kern="0" dirty="0">
                <a:solidFill>
                  <a:srgbClr val="000000"/>
                </a:solidFill>
                <a:latin typeface="Gill Sans MT"/>
                <a:cs typeface="Arial"/>
              </a:rPr>
              <a:t>)</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lang="en-US" altLang="ja-JP" kern="0" dirty="0" err="1">
                <a:solidFill>
                  <a:srgbClr val="000000"/>
                </a:solidFill>
                <a:latin typeface="Gill Sans MT"/>
                <a:cs typeface="Arial"/>
              </a:rPr>
              <a:t>Présenter</a:t>
            </a:r>
            <a:r>
              <a:rPr lang="en-US" altLang="ja-JP" kern="0" dirty="0">
                <a:solidFill>
                  <a:srgbClr val="000000"/>
                </a:solidFill>
                <a:latin typeface="Gill Sans MT"/>
                <a:cs typeface="Arial"/>
              </a:rPr>
              <a:t> un </a:t>
            </a:r>
            <a:r>
              <a:rPr lang="en-US" altLang="ja-JP" kern="0" dirty="0" err="1">
                <a:solidFill>
                  <a:srgbClr val="000000"/>
                </a:solidFill>
                <a:latin typeface="Gill Sans MT"/>
                <a:cs typeface="Arial"/>
              </a:rPr>
              <a:t>modèle</a:t>
            </a:r>
            <a:r>
              <a:rPr lang="en-US" altLang="ja-JP" kern="0" dirty="0">
                <a:solidFill>
                  <a:srgbClr val="000000"/>
                </a:solidFill>
                <a:latin typeface="Gill Sans MT"/>
                <a:cs typeface="Arial"/>
              </a:rPr>
              <a:t> de </a:t>
            </a:r>
            <a:r>
              <a:rPr lang="en-US" altLang="ja-JP" kern="0" dirty="0" err="1">
                <a:solidFill>
                  <a:srgbClr val="000000"/>
                </a:solidFill>
                <a:latin typeface="Gill Sans MT"/>
                <a:cs typeface="Arial"/>
              </a:rPr>
              <a:t>définition</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permettant</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d’analyser</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ces</a:t>
            </a:r>
            <a:r>
              <a:rPr lang="en-US" altLang="ja-JP" kern="0" dirty="0">
                <a:solidFill>
                  <a:srgbClr val="000000"/>
                </a:solidFill>
                <a:latin typeface="Gill Sans MT"/>
                <a:cs typeface="Arial"/>
              </a:rPr>
              <a:t> </a:t>
            </a:r>
            <a:r>
              <a:rPr lang="en-US" altLang="ja-JP" kern="0" dirty="0" err="1">
                <a:solidFill>
                  <a:srgbClr val="000000"/>
                </a:solidFill>
                <a:latin typeface="Gill Sans MT"/>
                <a:cs typeface="Arial"/>
              </a:rPr>
              <a:t>langages</a:t>
            </a:r>
            <a:r>
              <a:rPr lang="en-US" altLang="ja-JP" kern="0" dirty="0">
                <a:solidFill>
                  <a:srgbClr val="000000"/>
                </a:solidFill>
                <a:latin typeface="Gill Sans MT"/>
                <a:cs typeface="Arial"/>
              </a:rPr>
              <a:t> : les expressions </a:t>
            </a:r>
            <a:r>
              <a:rPr lang="en-US" altLang="ja-JP" kern="0" dirty="0" err="1">
                <a:solidFill>
                  <a:srgbClr val="000000"/>
                </a:solidFill>
                <a:latin typeface="Gill Sans MT"/>
                <a:cs typeface="Arial"/>
              </a:rPr>
              <a:t>régulières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Problématique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77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dirty="0"/>
              <a:t>Comme mentionné au chapitre 1 : un langage est un ensemble</a:t>
            </a:r>
          </a:p>
          <a:p>
            <a:pPr marL="287338" indent="-287338" eaLnBrk="0" hangingPunct="0">
              <a:spcBef>
                <a:spcPct val="20000"/>
              </a:spcBef>
              <a:buClr>
                <a:srgbClr val="000090"/>
              </a:buClr>
            </a:pPr>
            <a:r>
              <a:rPr lang="fr-FR" altLang="en-US" dirty="0"/>
              <a:t>On définit un ensemble par :</a:t>
            </a:r>
          </a:p>
          <a:p>
            <a:pPr marL="717550" indent="-266700" eaLnBrk="0" hangingPunct="0">
              <a:spcBef>
                <a:spcPct val="20000"/>
              </a:spcBef>
              <a:buClr>
                <a:srgbClr val="000090"/>
              </a:buClr>
              <a:buFont typeface="Arial" panose="020B0604020202020204" pitchFamily="34" charset="0"/>
              <a:buChar char="•"/>
            </a:pPr>
            <a:r>
              <a:rPr lang="fr-FR" altLang="en-US" sz="2900" dirty="0" err="1">
                <a:ea typeface="Cambria Math" panose="02040503050406030204" pitchFamily="18" charset="0"/>
              </a:rPr>
              <a:t>exetnsion</a:t>
            </a:r>
            <a:r>
              <a:rPr lang="fr-FR" altLang="en-US" sz="2900" dirty="0">
                <a:ea typeface="Cambria Math" panose="02040503050406030204" pitchFamily="18" charset="0"/>
              </a:rPr>
              <a:t> : en énumérant ses éléments</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par compréhension en exploitant une propriété algébrique de ses éléments</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par induction en exploitant une propriété récursive de ses éléments</a:t>
            </a:r>
          </a:p>
          <a:p>
            <a:pPr marL="287338" indent="-287338" eaLnBrk="0" hangingPunct="0">
              <a:spcBef>
                <a:spcPct val="20000"/>
              </a:spcBef>
              <a:buClr>
                <a:srgbClr val="000090"/>
              </a:buClr>
            </a:pPr>
            <a:r>
              <a:rPr lang="fr-FR" altLang="en-US" dirty="0"/>
              <a:t>Question :</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Comment définir un langage ; </a:t>
            </a:r>
            <a:r>
              <a:rPr lang="fr-FR" altLang="en-US" sz="2900" dirty="0">
                <a:solidFill>
                  <a:srgbClr val="C00000"/>
                </a:solidFill>
                <a:ea typeface="Cambria Math" panose="02040503050406030204" pitchFamily="18" charset="0"/>
              </a:rPr>
              <a:t>quels modèles analytiques utiliser pour définir un langage</a:t>
            </a:r>
            <a:r>
              <a:rPr lang="fr-FR" altLang="en-US" sz="2900" dirty="0">
                <a:ea typeface="Cambria Math" panose="02040503050406030204" pitchFamily="18" charset="0"/>
              </a:rPr>
              <a:t> ?</a:t>
            </a:r>
          </a:p>
          <a:p>
            <a:pPr marL="287338" indent="-287338" eaLnBrk="0" hangingPunct="0">
              <a:spcBef>
                <a:spcPct val="20000"/>
              </a:spcBef>
              <a:buClr>
                <a:srgbClr val="000090"/>
              </a:buClr>
            </a:pPr>
            <a:r>
              <a:rPr lang="fr-FR" altLang="en-US" dirty="0"/>
              <a:t>Réponse :</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Il existe un modèle très simple mais très utile appelé les </a:t>
            </a:r>
            <a:r>
              <a:rPr lang="fr-FR" altLang="en-US" sz="2900" dirty="0">
                <a:solidFill>
                  <a:srgbClr val="C00000"/>
                </a:solidFill>
                <a:ea typeface="Cambria Math" panose="02040503050406030204" pitchFamily="18" charset="0"/>
              </a:rPr>
              <a:t>expressions régulières </a:t>
            </a:r>
            <a:r>
              <a:rPr lang="fr-FR" altLang="en-US" sz="2900" dirty="0">
                <a:ea typeface="Cambria Math" panose="02040503050406030204" pitchFamily="18" charset="0"/>
              </a:rPr>
              <a:t>; Hélas ! Il n’est pas général ; il concerne une classe très limité de langages dits </a:t>
            </a:r>
            <a:r>
              <a:rPr lang="fr-FR" altLang="en-US" sz="2900" dirty="0">
                <a:solidFill>
                  <a:srgbClr val="C00000"/>
                </a:solidFill>
                <a:ea typeface="Cambria Math" panose="02040503050406030204" pitchFamily="18" charset="0"/>
              </a:rPr>
              <a:t>langages réguliers</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Il existe un modèle plus général applicable à tous genres de langages formels : les </a:t>
            </a:r>
            <a:r>
              <a:rPr lang="fr-FR" altLang="en-US" sz="2900" dirty="0">
                <a:solidFill>
                  <a:srgbClr val="C00000"/>
                </a:solidFill>
                <a:ea typeface="Cambria Math" panose="02040503050406030204" pitchFamily="18" charset="0"/>
              </a:rPr>
              <a:t>grammaires</a:t>
            </a:r>
          </a:p>
          <a:p>
            <a:pPr marL="287338" indent="-287338" eaLnBrk="0" hangingPunct="0">
              <a:spcBef>
                <a:spcPct val="20000"/>
              </a:spcBef>
              <a:buClr>
                <a:srgbClr val="000090"/>
              </a:buClr>
            </a:pPr>
            <a:r>
              <a:rPr lang="fr-FR" altLang="en-US" dirty="0"/>
              <a:t>Nous aborderons dans ce chapitre les langages et les expressions régulières et nous étudierons dans un chapitre ultérieur les grammaires   </a:t>
            </a:r>
          </a:p>
        </p:txBody>
      </p:sp>
    </p:spTree>
    <p:extLst>
      <p:ext uri="{BB962C8B-B14F-4D97-AF65-F5344CB8AC3E}">
        <p14:creationId xmlns:p14="http://schemas.microsoft.com/office/powerpoint/2010/main" val="396727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Exercices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Exercice 1:</a:t>
                </a:r>
              </a:p>
              <a:p>
                <a:pPr marL="287338" indent="-287338" eaLnBrk="0" hangingPunct="0">
                  <a:spcBef>
                    <a:spcPct val="20000"/>
                  </a:spcBef>
                  <a:buClr>
                    <a:srgbClr val="000090"/>
                  </a:buClr>
                </a:pPr>
                <a:r>
                  <a:rPr lang="fr-FR" altLang="en-US" dirty="0"/>
                  <a:t>Que représentent les langages suivants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𝑎</m:t>
                        </m:r>
                      </m:e>
                    </m:d>
                    <m:r>
                      <a:rPr lang="fr-FR" altLang="en-US" sz="2900" b="0" i="1" smtClean="0">
                        <a:latin typeface="Cambria Math" panose="02040503050406030204" pitchFamily="18" charset="0"/>
                        <a:ea typeface="Cambria Math" panose="02040503050406030204" pitchFamily="18" charset="0"/>
                      </a:rPr>
                      <m:t>.</m:t>
                    </m:r>
                    <m:sSup>
                      <m:sSupPr>
                        <m:ctrlPr>
                          <a:rPr lang="fr-FR" altLang="en-US" sz="2900" b="0" i="1" smtClean="0">
                            <a:latin typeface="Cambria Math" panose="02040503050406030204" pitchFamily="18" charset="0"/>
                            <a:ea typeface="Cambria Math" panose="02040503050406030204" pitchFamily="18" charset="0"/>
                          </a:rPr>
                        </m:ctrlPr>
                      </m:sSupPr>
                      <m:e>
                        <m:r>
                          <a:rPr lang="fr-FR" altLang="en-US" sz="2900" b="0" i="1" smtClean="0">
                            <a:latin typeface="Cambria Math" panose="02040503050406030204" pitchFamily="18" charset="0"/>
                            <a:ea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𝑎</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𝑏</m:t>
                        </m:r>
                        <m:r>
                          <a:rPr lang="fr-FR" altLang="en-US" sz="2900" b="0" i="1" smtClean="0">
                            <a:latin typeface="Cambria Math" panose="02040503050406030204" pitchFamily="18" charset="0"/>
                            <a:ea typeface="Cambria Math" panose="02040503050406030204" pitchFamily="18" charset="0"/>
                          </a:rPr>
                          <m:t>}</m:t>
                        </m:r>
                      </m:e>
                      <m:sup>
                        <m:r>
                          <a:rPr lang="fr-FR" altLang="en-US" sz="2900" b="0" i="1" smtClean="0">
                            <a:latin typeface="Cambria Math" panose="02040503050406030204" pitchFamily="18" charset="0"/>
                            <a:ea typeface="Cambria Math" panose="02040503050406030204" pitchFamily="18" charset="0"/>
                          </a:rPr>
                          <m:t>∗</m:t>
                        </m:r>
                      </m:sup>
                    </m:sSup>
                    <m:r>
                      <a:rPr lang="fr-FR" altLang="en-US" sz="2900" b="0" i="1" smtClean="0">
                        <a:latin typeface="Cambria Math" panose="02040503050406030204" pitchFamily="18" charset="0"/>
                        <a:ea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𝑏</m:t>
                    </m:r>
                    <m:r>
                      <a:rPr lang="fr-FR" altLang="en-US" sz="2900" b="0" i="1" smtClean="0">
                        <a:latin typeface="Cambria Math" panose="02040503050406030204" pitchFamily="18" charset="0"/>
                        <a:ea typeface="Cambria Math" panose="02040503050406030204" pitchFamily="18" charset="0"/>
                      </a:rPr>
                      <m:t>}</m:t>
                    </m:r>
                  </m:oMath>
                </a14:m>
                <a:endParaRPr lang="fr-FR" altLang="en-US" sz="2900" dirty="0">
                  <a:ea typeface="Cambria Math" panose="02040503050406030204" pitchFamily="18" charset="0"/>
                </a:endParaRP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d>
                      <m:dPr>
                        <m:begChr m:val="{"/>
                        <m:endChr m:val="}"/>
                        <m:ctrlPr>
                          <a:rPr lang="fr-FR" altLang="en-US" sz="2900" b="0" i="1" smtClean="0">
                            <a:latin typeface="Cambria Math" panose="02040503050406030204" pitchFamily="18" charset="0"/>
                            <a:ea typeface="Cambria Math" panose="02040503050406030204" pitchFamily="18" charset="0"/>
                          </a:rPr>
                        </m:ctrlPr>
                      </m:dPr>
                      <m:e>
                        <m:r>
                          <a:rPr lang="fr-FR" altLang="en-US" sz="2900" b="0" i="1" smtClean="0">
                            <a:latin typeface="Cambria Math" panose="02040503050406030204" pitchFamily="18" charset="0"/>
                            <a:ea typeface="Cambria Math" panose="02040503050406030204" pitchFamily="18" charset="0"/>
                          </a:rPr>
                          <m:t>1, 2, 3, 4, 5, 6, 7, 8, 9</m:t>
                        </m:r>
                      </m:e>
                    </m:d>
                    <m:r>
                      <a:rPr lang="fr-FR" altLang="en-US" sz="2900" b="0" i="1" smtClean="0">
                        <a:latin typeface="Cambria Math" panose="02040503050406030204" pitchFamily="18" charset="0"/>
                        <a:ea typeface="Cambria Math" panose="02040503050406030204" pitchFamily="18" charset="0"/>
                      </a:rPr>
                      <m:t>.</m:t>
                    </m:r>
                    <m:sSup>
                      <m:sSupPr>
                        <m:ctrlPr>
                          <a:rPr lang="fr-FR" altLang="en-US" sz="2900" b="0" i="1" smtClean="0">
                            <a:latin typeface="Cambria Math" panose="02040503050406030204" pitchFamily="18" charset="0"/>
                            <a:ea typeface="Cambria Math" panose="02040503050406030204" pitchFamily="18" charset="0"/>
                          </a:rPr>
                        </m:ctrlPr>
                      </m:sSupPr>
                      <m:e>
                        <m:r>
                          <m:rPr>
                            <m:sty m:val="p"/>
                          </m:rPr>
                          <a:rPr lang="el-GR" altLang="en-US" sz="2900" b="0" i="1" smtClean="0">
                            <a:latin typeface="Cambria Math" panose="02040503050406030204" pitchFamily="18" charset="0"/>
                            <a:ea typeface="Cambria Math" panose="02040503050406030204" pitchFamily="18" charset="0"/>
                          </a:rPr>
                          <m:t>Σ</m:t>
                        </m:r>
                      </m:e>
                      <m:sup>
                        <m:r>
                          <a:rPr lang="fr-FR" altLang="en-US" sz="2900" b="0" i="1" smtClean="0">
                            <a:latin typeface="Cambria Math" panose="02040503050406030204" pitchFamily="18" charset="0"/>
                            <a:ea typeface="Cambria Math" panose="02040503050406030204" pitchFamily="18" charset="0"/>
                          </a:rPr>
                          <m:t>∗</m:t>
                        </m:r>
                      </m:sup>
                    </m:sSup>
                    <m:r>
                      <a:rPr lang="fr-FR" altLang="en-US" sz="2900" b="0" i="1" smtClean="0">
                        <a:latin typeface="Cambria Math" panose="02040503050406030204" pitchFamily="18" charset="0"/>
                        <a:ea typeface="Cambria Math" panose="02040503050406030204" pitchFamily="18" charset="0"/>
                      </a:rPr>
                      <m:t>∪{0}</m:t>
                    </m:r>
                  </m:oMath>
                </a14:m>
                <a:r>
                  <a:rPr lang="fr-FR" altLang="en-US" sz="2900" dirty="0">
                    <a:ea typeface="Cambria Math" panose="02040503050406030204" pitchFamily="18" charset="0"/>
                  </a:rPr>
                  <a:t> où </a:t>
                </a:r>
                <a14:m>
                  <m:oMath xmlns:m="http://schemas.openxmlformats.org/officeDocument/2006/math">
                    <m:r>
                      <m:rPr>
                        <m:sty m:val="p"/>
                      </m:rPr>
                      <a:rPr lang="el-GR" altLang="en-US" sz="2900" i="1" smtClean="0">
                        <a:latin typeface="Cambria Math" panose="02040503050406030204" pitchFamily="18" charset="0"/>
                        <a:ea typeface="Cambria Math" panose="02040503050406030204" pitchFamily="18" charset="0"/>
                      </a:rPr>
                      <m:t>Σ</m:t>
                    </m:r>
                    <m:r>
                      <a:rPr lang="fr-FR" altLang="en-US" sz="2900" b="0" i="1" smtClean="0">
                        <a:latin typeface="Cambria Math" panose="02040503050406030204" pitchFamily="18" charset="0"/>
                        <a:ea typeface="Cambria Math" panose="02040503050406030204" pitchFamily="18" charset="0"/>
                      </a:rPr>
                      <m:t>={0, 1, 2, 3, 4, 5, 6, 7, 8, 9}</m:t>
                    </m:r>
                  </m:oMath>
                </a14:m>
                <a:endParaRPr lang="fr-FR" altLang="en-US" sz="2900" dirty="0">
                  <a:ea typeface="Cambria Math" panose="02040503050406030204" pitchFamily="18" charset="0"/>
                </a:endParaRP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m:t>
                        </m:r>
                      </m:e>
                    </m:d>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m:t>
                        </m:r>
                      </m:e>
                    </m:d>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m:t>
                        </m:r>
                      </m:e>
                    </m:d>
                    <m:r>
                      <a:rPr lang="fr-FR" altLang="en-US" b="0" i="1" smtClean="0">
                        <a:latin typeface="Cambria Math" panose="02040503050406030204" pitchFamily="18" charset="0"/>
                      </a:rPr>
                      <m:t>.</m:t>
                    </m:r>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m:t>
                        </m:r>
                        <m:r>
                          <a:rPr lang="fr-FR" altLang="en-US" b="0" i="1" smtClean="0">
                            <a:latin typeface="Cambria Math" panose="02040503050406030204" pitchFamily="18" charset="0"/>
                          </a:rPr>
                          <m:t>𝑎</m:t>
                        </m:r>
                        <m:r>
                          <a:rPr lang="fr-FR" altLang="en-US" b="0" i="1" smtClean="0">
                            <a:latin typeface="Cambria Math" panose="02040503050406030204" pitchFamily="18" charset="0"/>
                          </a:rPr>
                          <m:t>, </m:t>
                        </m:r>
                        <m:r>
                          <a:rPr lang="fr-FR" altLang="en-US" b="0" i="1" smtClean="0">
                            <a:latin typeface="Cambria Math" panose="02040503050406030204" pitchFamily="18" charset="0"/>
                          </a:rPr>
                          <m:t>𝑏</m:t>
                        </m:r>
                        <m:r>
                          <a:rPr lang="fr-FR" altLang="en-US" b="0" i="1" smtClean="0">
                            <a:latin typeface="Cambria Math" panose="02040503050406030204" pitchFamily="18" charset="0"/>
                          </a:rPr>
                          <m:t>}</m:t>
                        </m:r>
                      </m:e>
                      <m:sup>
                        <m:r>
                          <a:rPr lang="fr-FR" altLang="en-US" b="0" i="1" smtClean="0">
                            <a:latin typeface="Cambria Math" panose="02040503050406030204" pitchFamily="18" charset="0"/>
                          </a:rPr>
                          <m:t>∗</m:t>
                        </m:r>
                      </m:sup>
                    </m:sSup>
                  </m:oMath>
                </a14:m>
                <a:endParaRPr lang="fr-FR" altLang="en-US" dirty="0"/>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d>
                      <m:dPr>
                        <m:ctrlPr>
                          <a:rPr lang="fr-FR" altLang="en-US" b="0" i="1" smtClean="0">
                            <a:latin typeface="Cambria Math" panose="02040503050406030204" pitchFamily="18" charset="0"/>
                          </a:rPr>
                        </m:ctrlPr>
                      </m:dPr>
                      <m:e>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𝑏</m:t>
                            </m:r>
                          </m:e>
                        </m:d>
                      </m:e>
                    </m:d>
                    <m:r>
                      <a:rPr lang="fr-FR" altLang="en-US" b="0" i="1" smtClean="0">
                        <a:latin typeface="Cambria Math" panose="02040503050406030204" pitchFamily="18" charset="0"/>
                        <a:ea typeface="Cambria Math" panose="02040503050406030204" pitchFamily="18" charset="0"/>
                      </a:rPr>
                      <m:t>.</m:t>
                    </m:r>
                    <m:sSup>
                      <m:sSupPr>
                        <m:ctrlPr>
                          <a:rPr lang="fr-FR" altLang="en-US" b="0" i="1" smtClean="0">
                            <a:latin typeface="Cambria Math" panose="02040503050406030204" pitchFamily="18" charset="0"/>
                            <a:ea typeface="Cambria Math" panose="02040503050406030204" pitchFamily="18" charset="0"/>
                          </a:rPr>
                        </m:ctrlPr>
                      </m:sSupPr>
                      <m:e>
                        <m:r>
                          <a:rPr lang="fr-FR" altLang="en-US" b="0" i="1" smtClean="0">
                            <a:latin typeface="Cambria Math" panose="02040503050406030204" pitchFamily="18" charset="0"/>
                            <a:ea typeface="Cambria Math" panose="02040503050406030204" pitchFamily="18" charset="0"/>
                          </a:rPr>
                          <m:t>{0, 1}</m:t>
                        </m:r>
                      </m:e>
                      <m:sup>
                        <m:r>
                          <a:rPr lang="fr-FR" altLang="en-US" b="0" i="1" smtClean="0">
                            <a:latin typeface="Cambria Math" panose="02040503050406030204" pitchFamily="18" charset="0"/>
                            <a:ea typeface="Cambria Math" panose="02040503050406030204" pitchFamily="18" charset="0"/>
                          </a:rPr>
                          <m:t>∗</m:t>
                        </m:r>
                      </m:sup>
                    </m:sSup>
                  </m:oMath>
                </a14:m>
                <a:endParaRPr lang="fr-FR" altLang="en-US"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901864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Exercices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Exercice 1I :</a:t>
                </a:r>
              </a:p>
              <a:p>
                <a:pPr marL="287338" indent="-287338" eaLnBrk="0" hangingPunct="0">
                  <a:spcBef>
                    <a:spcPct val="20000"/>
                  </a:spcBef>
                  <a:buClr>
                    <a:srgbClr val="000090"/>
                  </a:buClr>
                </a:pPr>
                <a:r>
                  <a:rPr lang="fr-FR" altLang="en-US" dirty="0"/>
                  <a:t>En écrivant des expressions algébriques contenant uniquement les opérateurs ensemblistes généraux, les opérateurs spécifiques aux langages et les langages de « base » </a:t>
                </a:r>
                <a14:m>
                  <m:oMath xmlns:m="http://schemas.openxmlformats.org/officeDocument/2006/math">
                    <m:r>
                      <a:rPr lang="fr-FR" altLang="en-US"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 </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𝜀</m:t>
                        </m:r>
                      </m:e>
                    </m:d>
                    <m:r>
                      <a:rPr lang="fr-FR" altLang="en-US" b="0" i="1" smtClean="0">
                        <a:latin typeface="Cambria Math" panose="02040503050406030204" pitchFamily="18" charset="0"/>
                        <a:ea typeface="Cambria Math" panose="02040503050406030204" pitchFamily="18" charset="0"/>
                      </a:rPr>
                      <m:t>, </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𝑜</m:t>
                    </m:r>
                    <m:r>
                      <a:rPr lang="fr-FR" altLang="en-US" b="0" i="1" smtClean="0">
                        <a:latin typeface="Cambria Math" panose="02040503050406030204" pitchFamily="18" charset="0"/>
                        <a:ea typeface="Cambria Math" panose="02040503050406030204" pitchFamily="18" charset="0"/>
                      </a:rPr>
                      <m:t>ù </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m:t>
                    </m:r>
                    <m:r>
                      <m:rPr>
                        <m:sty m:val="p"/>
                      </m:rPr>
                      <a:rPr lang="el-GR" altLang="en-US" b="0" i="1" smtClean="0">
                        <a:latin typeface="Cambria Math" panose="02040503050406030204" pitchFamily="18" charset="0"/>
                        <a:ea typeface="Cambria Math" panose="02040503050406030204" pitchFamily="18" charset="0"/>
                      </a:rPr>
                      <m:t>Σ</m:t>
                    </m:r>
                  </m:oMath>
                </a14:m>
                <a:r>
                  <a:rPr lang="fr-FR" altLang="en-US" dirty="0"/>
                  <a:t> (un alphabet), définissez les langages suivants :</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Le langage des nombres réels en notation décimale</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Le langage des identificateurs du langage programmation Pascal</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Le langage des mots commençant par ab et se terminant </a:t>
                </a:r>
                <a:r>
                  <a:rPr lang="fr-FR" altLang="en-US" sz="2900" dirty="0" err="1">
                    <a:ea typeface="Cambria Math" panose="02040503050406030204" pitchFamily="18" charset="0"/>
                  </a:rPr>
                  <a:t>ez</a:t>
                </a:r>
                <a:r>
                  <a:rPr lang="fr-FR" altLang="en-US" sz="2900" dirty="0">
                    <a:ea typeface="Cambria Math" panose="02040503050406030204" pitchFamily="18" charset="0"/>
                  </a:rPr>
                  <a:t> sur l’alphabet latin</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Le langage des mots contenant un a ou un b sur l’alphabet latin</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le langage constitué des mots de la forme suivante : un d, puis un nombre quelconque de mots qui peuvent être soit a soit </a:t>
                </a:r>
                <a:r>
                  <a:rPr lang="fr-FR" altLang="en-US" sz="2900" dirty="0" err="1">
                    <a:ea typeface="Cambria Math" panose="02040503050406030204" pitchFamily="18" charset="0"/>
                  </a:rPr>
                  <a:t>bb</a:t>
                </a:r>
                <a:r>
                  <a:rPr lang="fr-FR" altLang="en-US" sz="2900" dirty="0">
                    <a:ea typeface="Cambria Math" panose="02040503050406030204" pitchFamily="18" charset="0"/>
                  </a:rPr>
                  <a:t>, et enfin un c sur l’alphabet </a:t>
                </a:r>
                <a14:m>
                  <m:oMath xmlns:m="http://schemas.openxmlformats.org/officeDocument/2006/math">
                    <m:r>
                      <m:rPr>
                        <m:sty m:val="p"/>
                      </m:rPr>
                      <a:rPr lang="el-GR" altLang="en-US" sz="2900" i="1" smtClean="0">
                        <a:latin typeface="Cambria Math" panose="02040503050406030204" pitchFamily="18" charset="0"/>
                        <a:ea typeface="Cambria Math" panose="02040503050406030204" pitchFamily="18" charset="0"/>
                      </a:rPr>
                      <m:t>Σ</m:t>
                    </m:r>
                    <m:r>
                      <a:rPr lang="fr-FR" altLang="en-US" sz="2900" b="0" i="1" smtClean="0">
                        <a:latin typeface="Cambria Math" panose="02040503050406030204" pitchFamily="18" charset="0"/>
                        <a:ea typeface="Cambria Math" panose="02040503050406030204" pitchFamily="18" charset="0"/>
                      </a:rPr>
                      <m:t>={</m:t>
                    </m:r>
                    <m:r>
                      <a:rPr lang="fr-FR" altLang="en-US" sz="2900" b="0" i="1" smtClean="0">
                        <a:latin typeface="Cambria Math" panose="02040503050406030204" pitchFamily="18" charset="0"/>
                        <a:ea typeface="Cambria Math" panose="02040503050406030204" pitchFamily="18" charset="0"/>
                      </a:rPr>
                      <m:t>𝑎</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𝑏</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𝑐</m:t>
                    </m:r>
                    <m:r>
                      <a:rPr lang="fr-FR" altLang="en-US" sz="2900" b="0" i="1" smtClean="0">
                        <a:latin typeface="Cambria Math" panose="02040503050406030204" pitchFamily="18" charset="0"/>
                        <a:ea typeface="Cambria Math" panose="02040503050406030204" pitchFamily="18" charset="0"/>
                      </a:rPr>
                      <m:t>, </m:t>
                    </m:r>
                    <m:r>
                      <a:rPr lang="fr-FR" altLang="en-US" sz="2900" b="0" i="1" smtClean="0">
                        <a:latin typeface="Cambria Math" panose="02040503050406030204" pitchFamily="18" charset="0"/>
                        <a:ea typeface="Cambria Math" panose="02040503050406030204" pitchFamily="18" charset="0"/>
                      </a:rPr>
                      <m:t>𝑑</m:t>
                    </m:r>
                    <m:r>
                      <a:rPr lang="fr-FR" altLang="en-US" sz="2900" b="0" i="1" smtClean="0">
                        <a:latin typeface="Cambria Math" panose="02040503050406030204" pitchFamily="18" charset="0"/>
                        <a:ea typeface="Cambria Math" panose="02040503050406030204" pitchFamily="18" charset="0"/>
                      </a:rPr>
                      <m:t>}</m:t>
                    </m:r>
                  </m:oMath>
                </a14:m>
                <a:endParaRPr lang="fr-FR" altLang="en-US" sz="2900" dirty="0">
                  <a:ea typeface="Cambria Math" panose="02040503050406030204" pitchFamily="18" charset="0"/>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3539" r="-1882"/>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719148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informelle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dirty="0"/>
              <a:t>Les langages traités dans les exercices sont tous dits des langages réguliers</a:t>
            </a:r>
          </a:p>
          <a:p>
            <a:pPr marL="287338" indent="-287338" eaLnBrk="0" hangingPunct="0">
              <a:spcBef>
                <a:spcPct val="20000"/>
              </a:spcBef>
              <a:buClr>
                <a:srgbClr val="000090"/>
              </a:buClr>
            </a:pPr>
            <a:r>
              <a:rPr lang="fr-FR" altLang="en-US" dirty="0"/>
              <a:t>Les constructions essentielles qui permettront de fabriquer les langages réguliers sont :</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la réunion (j’autorise ceci ou cela, par exemple « un a ou bien un b »</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la concaténation (je demande ceci puis cela, par exemple « un d, puis une suite quelconque de a ou de b »</a:t>
            </a:r>
          </a:p>
          <a:p>
            <a:pPr marL="717550" indent="-266700" eaLnBrk="0" hangingPunct="0">
              <a:spcBef>
                <a:spcPct val="20000"/>
              </a:spcBef>
              <a:buClr>
                <a:srgbClr val="000090"/>
              </a:buClr>
              <a:buFont typeface="Arial" panose="020B0604020202020204" pitchFamily="34" charset="0"/>
              <a:buChar char="•"/>
            </a:pPr>
            <a:r>
              <a:rPr lang="fr-FR" altLang="en-US" sz="2900" dirty="0">
                <a:ea typeface="Cambria Math" panose="02040503050406030204" pitchFamily="18" charset="0"/>
              </a:rPr>
              <a:t>et l’étoile de Kleene (représentant une répétition quelconque d’un certain motif)</a:t>
            </a:r>
          </a:p>
        </p:txBody>
      </p:sp>
    </p:spTree>
    <p:extLst>
      <p:ext uri="{BB962C8B-B14F-4D97-AF65-F5344CB8AC3E}">
        <p14:creationId xmlns:p14="http://schemas.microsoft.com/office/powerpoint/2010/main" val="3281497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 </a:t>
                </a:r>
                <a:r>
                  <a:rPr lang="fr-FR" altLang="en-US" dirty="0"/>
                  <a:t>Un langage </a:t>
                </a:r>
                <a14:m>
                  <m:oMath xmlns:m="http://schemas.openxmlformats.org/officeDocument/2006/math">
                    <m:r>
                      <a:rPr lang="fr-FR" altLang="en-US">
                        <a:latin typeface="Cambria Math" panose="02040503050406030204" pitchFamily="18" charset="0"/>
                      </a:rPr>
                      <m:t>𝐿</m:t>
                    </m:r>
                  </m:oMath>
                </a14:m>
                <a:r>
                  <a:rPr lang="fr-FR" altLang="en-US" dirty="0"/>
                  <a:t> sur </a:t>
                </a:r>
                <a14:m>
                  <m:oMath xmlns:m="http://schemas.openxmlformats.org/officeDocument/2006/math">
                    <m:r>
                      <m:rPr>
                        <m:sty m:val="p"/>
                      </m:rPr>
                      <a:rPr lang="el-GR" altLang="en-US">
                        <a:latin typeface="Cambria Math" panose="02040503050406030204" pitchFamily="18" charset="0"/>
                      </a:rPr>
                      <m:t>Σ</m:t>
                    </m:r>
                  </m:oMath>
                </a14:m>
                <a:r>
                  <a:rPr lang="fr-FR" altLang="en-US" dirty="0"/>
                  <a:t>  est régulier si on peut l'obtenir par récursivité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à partir des seuls langages " de base " :</a:t>
                </a:r>
              </a:p>
              <a:p>
                <a:pPr marL="1258887" indent="-457200" eaLnBrk="0" hangingPunct="0">
                  <a:spcBef>
                    <a:spcPct val="20000"/>
                  </a:spcBef>
                  <a:buClr>
                    <a:srgbClr val="000090"/>
                  </a:buClr>
                  <a:buFont typeface="Wingdings" panose="05000000000000000000" pitchFamily="2" charset="2"/>
                  <a:buChar char="ü"/>
                </a:pPr>
                <a:r>
                  <a:rPr lang="fr-FR" altLang="en-US" i="1" dirty="0">
                    <a:latin typeface="Cambria Math" panose="02040503050406030204" pitchFamily="18" charset="0"/>
                    <a:ea typeface="Cambria Math" panose="02040503050406030204" pitchFamily="18" charset="0"/>
                  </a:rPr>
                  <a:t>langage vide :  </a:t>
                </a:r>
                <a14:m>
                  <m:oMath xmlns:m="http://schemas.openxmlformats.org/officeDocument/2006/math">
                    <m:r>
                      <a:rPr lang="fr-FR" altLang="en-US" i="1">
                        <a:latin typeface="Cambria Math" panose="02040503050406030204" pitchFamily="18" charset="0"/>
                        <a:ea typeface="Cambria Math" panose="02040503050406030204" pitchFamily="18" charset="0"/>
                      </a:rPr>
                      <m:t>𝜙</m:t>
                    </m:r>
                  </m:oMath>
                </a14:m>
                <a:endParaRPr lang="fr-FR" altLang="en-US" i="1" dirty="0">
                  <a:latin typeface="Cambria Math" panose="02040503050406030204" pitchFamily="18" charset="0"/>
                  <a:ea typeface="Cambria Math" panose="02040503050406030204" pitchFamily="18" charset="0"/>
                </a:endParaRPr>
              </a:p>
              <a:p>
                <a:pPr marL="1258887" indent="-457200" eaLnBrk="0" hangingPunct="0">
                  <a:spcBef>
                    <a:spcPct val="20000"/>
                  </a:spcBef>
                  <a:buClr>
                    <a:srgbClr val="000090"/>
                  </a:buClr>
                  <a:buFont typeface="Wingdings" panose="05000000000000000000" pitchFamily="2" charset="2"/>
                  <a:buChar char="ü"/>
                </a:pPr>
                <a:r>
                  <a:rPr lang="fr-FR" altLang="en-US" i="1" dirty="0">
                    <a:latin typeface="Cambria Math" panose="02040503050406030204" pitchFamily="18" charset="0"/>
                    <a:ea typeface="Cambria Math" panose="02040503050406030204" pitchFamily="18" charset="0"/>
                  </a:rPr>
                  <a:t>langage </a:t>
                </a:r>
                <a14:m>
                  <m:oMath xmlns:m="http://schemas.openxmlformats.org/officeDocument/2006/math">
                    <m:r>
                      <a:rPr lang="fr-FR" altLang="en-US" i="1">
                        <a:latin typeface="Cambria Math" panose="02040503050406030204" pitchFamily="18" charset="0"/>
                        <a:ea typeface="Cambria Math" panose="02040503050406030204" pitchFamily="18" charset="0"/>
                      </a:rPr>
                      <m:t>{</m:t>
                    </m:r>
                    <m:r>
                      <a:rPr lang="fr-FR" altLang="en-US" i="1">
                        <a:latin typeface="Cambria Math" panose="02040503050406030204" pitchFamily="18" charset="0"/>
                        <a:ea typeface="Cambria Math" panose="02040503050406030204" pitchFamily="18" charset="0"/>
                      </a:rPr>
                      <m:t>𝜀</m:t>
                    </m:r>
                    <m:r>
                      <a:rPr lang="fr-FR" altLang="en-US" i="1">
                        <a:latin typeface="Cambria Math" panose="02040503050406030204" pitchFamily="18" charset="0"/>
                        <a:ea typeface="Cambria Math" panose="02040503050406030204" pitchFamily="18" charset="0"/>
                      </a:rPr>
                      <m:t>}</m:t>
                    </m:r>
                  </m:oMath>
                </a14:m>
                <a:r>
                  <a:rPr lang="fr-FR" altLang="en-US" i="1" dirty="0">
                    <a:latin typeface="Cambria Math" panose="02040503050406030204" pitchFamily="18" charset="0"/>
                    <a:ea typeface="Cambria Math" panose="02040503050406030204" pitchFamily="18" charset="0"/>
                  </a:rPr>
                  <a:t> (le langage ne contenant que la chaîne vide)</a:t>
                </a:r>
              </a:p>
              <a:p>
                <a:pPr marL="1258887" indent="-457200" eaLnBrk="0" hangingPunct="0">
                  <a:spcBef>
                    <a:spcPct val="20000"/>
                  </a:spcBef>
                  <a:buClr>
                    <a:srgbClr val="000090"/>
                  </a:buClr>
                  <a:buFont typeface="Wingdings" panose="05000000000000000000" pitchFamily="2" charset="2"/>
                  <a:buChar char="ü"/>
                </a:pPr>
                <a:r>
                  <a:rPr lang="fr-FR" altLang="en-US" i="1" dirty="0">
                    <a:latin typeface="Cambria Math" panose="02040503050406030204" pitchFamily="18" charset="0"/>
                    <a:ea typeface="Cambria Math" panose="02040503050406030204" pitchFamily="18" charset="0"/>
                  </a:rPr>
                  <a:t>langages de la forme </a:t>
                </a:r>
                <a14:m>
                  <m:oMath xmlns:m="http://schemas.openxmlformats.org/officeDocument/2006/math">
                    <m:r>
                      <a:rPr lang="fr-FR" altLang="en-US" i="1">
                        <a:latin typeface="Cambria Math" panose="02040503050406030204" pitchFamily="18" charset="0"/>
                        <a:ea typeface="Cambria Math" panose="02040503050406030204" pitchFamily="18" charset="0"/>
                      </a:rPr>
                      <m:t>{</m:t>
                    </m:r>
                    <m:r>
                      <a:rPr lang="fr-FR" altLang="en-US" i="1">
                        <a:latin typeface="Cambria Math" panose="02040503050406030204" pitchFamily="18" charset="0"/>
                        <a:ea typeface="Cambria Math" panose="02040503050406030204" pitchFamily="18" charset="0"/>
                      </a:rPr>
                      <m:t>𝑎</m:t>
                    </m:r>
                    <m:r>
                      <a:rPr lang="fr-FR" altLang="en-US" i="1">
                        <a:latin typeface="Cambria Math" panose="02040503050406030204" pitchFamily="18" charset="0"/>
                        <a:ea typeface="Cambria Math" panose="02040503050406030204" pitchFamily="18" charset="0"/>
                      </a:rPr>
                      <m:t>}</m:t>
                    </m:r>
                  </m:oMath>
                </a14:m>
                <a:r>
                  <a:rPr lang="fr-FR" altLang="en-US" i="1" dirty="0">
                    <a:latin typeface="Cambria Math" panose="02040503050406030204" pitchFamily="18" charset="0"/>
                    <a:ea typeface="Cambria Math" panose="02040503050406030204" pitchFamily="18" charset="0"/>
                  </a:rPr>
                  <a:t>, avec </a:t>
                </a:r>
                <a14:m>
                  <m:oMath xmlns:m="http://schemas.openxmlformats.org/officeDocument/2006/math">
                    <m:r>
                      <a:rPr lang="fr-FR" altLang="en-US" i="1">
                        <a:latin typeface="Cambria Math" panose="02040503050406030204" pitchFamily="18" charset="0"/>
                        <a:ea typeface="Cambria Math" panose="02040503050406030204" pitchFamily="18" charset="0"/>
                      </a:rPr>
                      <m:t>𝑎</m:t>
                    </m:r>
                    <m:r>
                      <a:rPr lang="fr-FR" altLang="en-US" i="1">
                        <a:latin typeface="Cambria Math" panose="02040503050406030204" pitchFamily="18" charset="0"/>
                        <a:ea typeface="Cambria Math" panose="02040503050406030204" pitchFamily="18" charset="0"/>
                      </a:rPr>
                      <m:t> </m:t>
                    </m:r>
                    <m:r>
                      <a:rPr lang="fr-FR" altLang="en-US" i="1">
                        <a:latin typeface="Cambria Math" panose="02040503050406030204" pitchFamily="18" charset="0"/>
                        <a:ea typeface="Cambria Math" panose="02040503050406030204" pitchFamily="18" charset="0"/>
                      </a:rPr>
                      <m:t>𝜖</m:t>
                    </m:r>
                    <m:r>
                      <a:rPr lang="fr-FR" altLang="en-US" i="1">
                        <a:latin typeface="Cambria Math" panose="02040503050406030204" pitchFamily="18" charset="0"/>
                        <a:ea typeface="Cambria Math" panose="02040503050406030204" pitchFamily="18" charset="0"/>
                      </a:rPr>
                      <m:t> </m:t>
                    </m:r>
                    <m:r>
                      <m:rPr>
                        <m:sty m:val="p"/>
                      </m:rPr>
                      <a:rPr lang="el-GR" altLang="en-US" i="1">
                        <a:latin typeface="Cambria Math" panose="02040503050406030204" pitchFamily="18" charset="0"/>
                        <a:ea typeface="Cambria Math" panose="02040503050406030204" pitchFamily="18" charset="0"/>
                      </a:rPr>
                      <m:t>Σ</m:t>
                    </m:r>
                  </m:oMath>
                </a14:m>
                <a:r>
                  <a:rPr lang="fr-FR" altLang="en-US" i="1" dirty="0">
                    <a:latin typeface="Cambria Math" panose="02040503050406030204" pitchFamily="18" charset="0"/>
                    <a:ea typeface="Cambria Math" panose="02040503050406030204" pitchFamily="18" charset="0"/>
                  </a:rPr>
                  <a:t>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et à l'aide des seules opérations</a:t>
                </a:r>
              </a:p>
              <a:p>
                <a:pPr marL="1258887" indent="-457200" eaLnBrk="0" hangingPunct="0">
                  <a:spcBef>
                    <a:spcPct val="20000"/>
                  </a:spcBef>
                  <a:buClr>
                    <a:srgbClr val="000090"/>
                  </a:buClr>
                  <a:buFont typeface="Wingdings" panose="05000000000000000000" pitchFamily="2" charset="2"/>
                  <a:buChar char="ü"/>
                </a:pPr>
                <a:r>
                  <a:rPr lang="fr-FR" altLang="en-US" i="1" dirty="0">
                    <a:latin typeface="Cambria Math" panose="02040503050406030204" pitchFamily="18" charset="0"/>
                    <a:ea typeface="Cambria Math" panose="02040503050406030204" pitchFamily="18" charset="0"/>
                  </a:rPr>
                  <a:t>réunion</a:t>
                </a:r>
              </a:p>
              <a:p>
                <a:pPr marL="1258887" indent="-457200" eaLnBrk="0" hangingPunct="0">
                  <a:spcBef>
                    <a:spcPct val="20000"/>
                  </a:spcBef>
                  <a:buClr>
                    <a:srgbClr val="000090"/>
                  </a:buClr>
                  <a:buFont typeface="Wingdings" panose="05000000000000000000" pitchFamily="2" charset="2"/>
                  <a:buChar char="ü"/>
                </a:pPr>
                <a:r>
                  <a:rPr lang="fr-FR" altLang="en-US" i="1" dirty="0">
                    <a:latin typeface="Cambria Math" panose="02040503050406030204" pitchFamily="18" charset="0"/>
                    <a:ea typeface="Cambria Math" panose="02040503050406030204" pitchFamily="18" charset="0"/>
                  </a:rPr>
                  <a:t>concaténation</a:t>
                </a:r>
              </a:p>
              <a:p>
                <a:pPr marL="1258887" indent="-457200" eaLnBrk="0" hangingPunct="0">
                  <a:spcBef>
                    <a:spcPct val="20000"/>
                  </a:spcBef>
                  <a:buClr>
                    <a:srgbClr val="000090"/>
                  </a:buClr>
                  <a:buFont typeface="Wingdings" panose="05000000000000000000" pitchFamily="2" charset="2"/>
                  <a:buChar char="ü"/>
                </a:pPr>
                <a:r>
                  <a:rPr lang="fr-FR" altLang="en-US" i="1" dirty="0">
                    <a:latin typeface="Cambria Math" panose="02040503050406030204" pitchFamily="18" charset="0"/>
                    <a:ea typeface="Cambria Math" panose="02040503050406030204" pitchFamily="18" charset="0"/>
                  </a:rPr>
                  <a:t>étoile de Kleene</a:t>
                </a:r>
              </a:p>
              <a:p>
                <a:pPr marL="287338" indent="-287338" eaLnBrk="0" hangingPunct="0">
                  <a:spcBef>
                    <a:spcPct val="20000"/>
                  </a:spcBef>
                  <a:buClr>
                    <a:srgbClr val="000090"/>
                  </a:buClr>
                </a:pPr>
                <a:r>
                  <a:rPr lang="fr-FR" altLang="en-US" b="1" i="1" dirty="0">
                    <a:solidFill>
                      <a:srgbClr val="C00000"/>
                    </a:solidFill>
                  </a:rPr>
                  <a:t>Remarque importante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sym typeface="Symbol" panose="05050102010706020507" pitchFamily="18" charset="2"/>
                  </a:rPr>
                  <a:t>« Par récursivité » veut dire qu’on applique un nombre fini de fois de telles opérations, à partir des langages " de base ".</a:t>
                </a:r>
                <a:endParaRPr lang="fr-FR" altLang="en-US" b="0" dirty="0">
                  <a:ea typeface="Cambria Math" panose="02040503050406030204" pitchFamily="18" charset="0"/>
                  <a:sym typeface="Symbol" panose="05050102010706020507" pitchFamily="18" charset="2"/>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941" t="-3539" b="-131"/>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600845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importance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dirty="0"/>
              <a:t>L’importance des langages réguliers (et des expressions régulières qui les décrivent), vient :</a:t>
            </a:r>
          </a:p>
          <a:p>
            <a:pPr marL="717550" indent="-266700" eaLnBrk="0" hangingPunct="0">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du point de vue théorique : de ce qu’ils forment une classe à la fois suffisamment simple </a:t>
            </a:r>
            <a:r>
              <a:rPr lang="fr-FR" altLang="en-US" dirty="0"/>
              <a:t>pour pouvoir être étudiée, suffisamment riche pour contenir toutes sortes de langages intéressants, suffisamment naturelle pour être définie de plusieurs manières différentes, et suffisamment flexible pour être stable un certain nombre d’opérations;</a:t>
            </a:r>
          </a:p>
          <a:p>
            <a:pPr marL="717550" indent="-266700" eaLnBrk="0" hangingPunct="0">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du point de vue pratique et informatique : de ce qu’ils sont algorithmiquement commodes à manier (grâce à la théorie) et suffisent à représenter beaucoup de « recherches » qu’on a naturellement envie de faire dans un texte, de « motifs » qu’on peut vouloir trouver, ou de « contraintes » qu’on peut vouloir imposer à une chaîne de caractères.</a:t>
            </a:r>
          </a:p>
        </p:txBody>
      </p:sp>
    </p:spTree>
    <p:extLst>
      <p:ext uri="{BB962C8B-B14F-4D97-AF65-F5344CB8AC3E}">
        <p14:creationId xmlns:p14="http://schemas.microsoft.com/office/powerpoint/2010/main" val="679413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Attention !</a:t>
            </a:r>
            <a:r>
              <a:rPr lang="fr-FR" altLang="en-US" dirty="0"/>
              <a:t> </a:t>
            </a:r>
          </a:p>
          <a:p>
            <a:pPr marL="908050" indent="-457200" eaLnBrk="0" hangingPunct="0">
              <a:spcBef>
                <a:spcPct val="20000"/>
              </a:spcBef>
              <a:buClr>
                <a:srgbClr val="000090"/>
              </a:buClr>
              <a:buFont typeface="Arial" panose="020B0604020202020204" pitchFamily="34" charset="0"/>
              <a:buChar char="•"/>
            </a:pPr>
            <a:r>
              <a:rPr lang="fr-FR" altLang="en-US" dirty="0"/>
              <a:t>dans la définition, l’intersection ne figure pas comme une opération autorisée. En fait, on peut démontrer (mais c’est difficile…) que l’intersection de deux langages réguliers est encore un langage régulier </a:t>
            </a:r>
            <a:endParaRPr lang="fr-FR" altLang="en-US" dirty="0">
              <a:sym typeface="Symbol" panose="05050102010706020507" pitchFamily="18" charset="2"/>
            </a:endParaRPr>
          </a:p>
        </p:txBody>
      </p:sp>
    </p:spTree>
    <p:extLst>
      <p:ext uri="{BB962C8B-B14F-4D97-AF65-F5344CB8AC3E}">
        <p14:creationId xmlns:p14="http://schemas.microsoft.com/office/powerpoint/2010/main" val="3002791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Langage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Proposition 1 :</a:t>
                </a:r>
              </a:p>
              <a:p>
                <a:pPr marL="717550" indent="-266700" eaLnBrk="0" hangingPunct="0">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Tout langage fini est régulier.</a:t>
                </a:r>
              </a:p>
              <a:p>
                <a:pPr marL="717550" indent="-266700" eaLnBrk="0" hangingPunct="0">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Si </a:t>
                </a:r>
                <a14:m>
                  <m:oMath xmlns:m="http://schemas.openxmlformats.org/officeDocument/2006/math">
                    <m:r>
                      <a:rPr lang="fr-FR" altLang="en-US" sz="2700" b="0" i="1" smtClean="0">
                        <a:latin typeface="Cambria Math" panose="02040503050406030204" pitchFamily="18" charset="0"/>
                        <a:ea typeface="Cambria Math" panose="02040503050406030204" pitchFamily="18" charset="0"/>
                      </a:rPr>
                      <m:t>𝐿</m:t>
                    </m:r>
                  </m:oMath>
                </a14:m>
                <a:r>
                  <a:rPr lang="fr-FR" altLang="en-US" sz="2700" dirty="0">
                    <a:ea typeface="Cambria Math" panose="02040503050406030204" pitchFamily="18" charset="0"/>
                  </a:rPr>
                  <a:t> est un langage régulier, alors </a:t>
                </a:r>
                <a14:m>
                  <m:oMath xmlns:m="http://schemas.openxmlformats.org/officeDocument/2006/math">
                    <m:sSup>
                      <m:sSupPr>
                        <m:ctrlPr>
                          <a:rPr lang="fr-FR" altLang="en-US" sz="2700" i="1" smtClean="0">
                            <a:latin typeface="Cambria Math" panose="02040503050406030204" pitchFamily="18" charset="0"/>
                            <a:ea typeface="Cambria Math" panose="02040503050406030204" pitchFamily="18" charset="0"/>
                          </a:rPr>
                        </m:ctrlPr>
                      </m:sSupPr>
                      <m:e>
                        <m:r>
                          <a:rPr lang="fr-FR" altLang="en-US" sz="2700" b="0" i="1" smtClean="0">
                            <a:latin typeface="Cambria Math" panose="02040503050406030204" pitchFamily="18" charset="0"/>
                            <a:ea typeface="Cambria Math" panose="02040503050406030204" pitchFamily="18" charset="0"/>
                          </a:rPr>
                          <m:t>𝐿</m:t>
                        </m:r>
                      </m:e>
                      <m:sup>
                        <m:r>
                          <a:rPr lang="fr-FR" altLang="en-US" sz="2700" b="0" i="1" smtClean="0">
                            <a:latin typeface="Cambria Math" panose="02040503050406030204" pitchFamily="18" charset="0"/>
                            <a:ea typeface="Cambria Math" panose="02040503050406030204" pitchFamily="18" charset="0"/>
                          </a:rPr>
                          <m:t>∗</m:t>
                        </m:r>
                      </m:sup>
                    </m:sSup>
                  </m:oMath>
                </a14:m>
                <a:r>
                  <a:rPr lang="fr-FR" altLang="en-US" sz="2700" dirty="0">
                    <a:ea typeface="Cambria Math" panose="02040503050406030204" pitchFamily="18" charset="0"/>
                  </a:rPr>
                  <a:t> est régulier.</a:t>
                </a:r>
              </a:p>
              <a:p>
                <a:pPr marL="717550" indent="-266700" eaLnBrk="0" hangingPunct="0">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Si </a:t>
                </a:r>
                <a14:m>
                  <m:oMath xmlns:m="http://schemas.openxmlformats.org/officeDocument/2006/math">
                    <m:sSub>
                      <m:sSubPr>
                        <m:ctrlPr>
                          <a:rPr lang="fr-FR" altLang="en-US" sz="270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𝐿</m:t>
                        </m:r>
                      </m:e>
                      <m:sub>
                        <m:r>
                          <a:rPr lang="fr-FR" altLang="en-US" sz="2700" b="0" i="1" smtClean="0">
                            <a:latin typeface="Cambria Math" panose="02040503050406030204" pitchFamily="18" charset="0"/>
                            <a:ea typeface="Cambria Math" panose="02040503050406030204" pitchFamily="18" charset="0"/>
                          </a:rPr>
                          <m:t>1</m:t>
                        </m:r>
                      </m:sub>
                    </m:sSub>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𝑒𝑡</m:t>
                    </m:r>
                    <m:r>
                      <a:rPr lang="fr-FR" altLang="en-US" sz="2700" b="0" i="1" smtClean="0">
                        <a:latin typeface="Cambria Math" panose="02040503050406030204" pitchFamily="18" charset="0"/>
                        <a:ea typeface="Cambria Math" panose="02040503050406030204" pitchFamily="18" charset="0"/>
                      </a:rPr>
                      <m:t> </m:t>
                    </m:r>
                    <m:sSub>
                      <m:sSubPr>
                        <m:ctrlPr>
                          <a:rPr lang="fr-FR" altLang="en-US" sz="2700" b="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𝐿</m:t>
                        </m:r>
                      </m:e>
                      <m:sub>
                        <m:r>
                          <a:rPr lang="fr-FR" altLang="en-US" sz="2700" b="0" i="1" smtClean="0">
                            <a:latin typeface="Cambria Math" panose="02040503050406030204" pitchFamily="18" charset="0"/>
                            <a:ea typeface="Cambria Math" panose="02040503050406030204" pitchFamily="18" charset="0"/>
                          </a:rPr>
                          <m:t>2</m:t>
                        </m:r>
                      </m:sub>
                    </m:sSub>
                  </m:oMath>
                </a14:m>
                <a:r>
                  <a:rPr lang="fr-FR" altLang="en-US" sz="2700" dirty="0">
                    <a:ea typeface="Cambria Math" panose="02040503050406030204" pitchFamily="18" charset="0"/>
                  </a:rPr>
                  <a:t> sont des langages réguliers, alors les langages </a:t>
                </a:r>
                <a14:m>
                  <m:oMath xmlns:m="http://schemas.openxmlformats.org/officeDocument/2006/math">
                    <m:sSub>
                      <m:sSubPr>
                        <m:ctrlPr>
                          <a:rPr lang="fr-FR" altLang="en-US" sz="270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𝐿</m:t>
                        </m:r>
                      </m:e>
                      <m:sub>
                        <m:r>
                          <a:rPr lang="fr-FR" altLang="en-US" sz="2700" b="0" i="1" smtClean="0">
                            <a:latin typeface="Cambria Math" panose="02040503050406030204" pitchFamily="18" charset="0"/>
                            <a:ea typeface="Cambria Math" panose="02040503050406030204" pitchFamily="18" charset="0"/>
                          </a:rPr>
                          <m:t>1</m:t>
                        </m:r>
                      </m:sub>
                    </m:sSub>
                    <m:r>
                      <a:rPr lang="fr-FR" altLang="en-US" sz="2700" i="1" smtClean="0">
                        <a:latin typeface="Cambria Math" panose="02040503050406030204" pitchFamily="18" charset="0"/>
                        <a:ea typeface="Cambria Math" panose="02040503050406030204" pitchFamily="18" charset="0"/>
                      </a:rPr>
                      <m:t>∪</m:t>
                    </m:r>
                    <m:sSub>
                      <m:sSubPr>
                        <m:ctrlPr>
                          <a:rPr lang="fr-FR" altLang="en-US" sz="270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𝐿</m:t>
                        </m:r>
                      </m:e>
                      <m:sub>
                        <m:r>
                          <a:rPr lang="fr-FR" altLang="en-US" sz="2700" b="0" i="1" smtClean="0">
                            <a:latin typeface="Cambria Math" panose="02040503050406030204" pitchFamily="18" charset="0"/>
                            <a:ea typeface="Cambria Math" panose="02040503050406030204" pitchFamily="18" charset="0"/>
                          </a:rPr>
                          <m:t>2</m:t>
                        </m:r>
                      </m:sub>
                    </m:sSub>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𝑒𝑡</m:t>
                    </m:r>
                    <m:r>
                      <a:rPr lang="fr-FR" altLang="en-US" sz="2700" b="0" i="1" smtClean="0">
                        <a:latin typeface="Cambria Math" panose="02040503050406030204" pitchFamily="18" charset="0"/>
                        <a:ea typeface="Cambria Math" panose="02040503050406030204" pitchFamily="18" charset="0"/>
                      </a:rPr>
                      <m:t> </m:t>
                    </m:r>
                    <m:sSub>
                      <m:sSubPr>
                        <m:ctrlPr>
                          <a:rPr lang="fr-FR" altLang="en-US" sz="2700" b="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𝐿</m:t>
                        </m:r>
                      </m:e>
                      <m:sub>
                        <m:r>
                          <a:rPr lang="fr-FR" altLang="en-US" sz="2700" b="0" i="1" smtClean="0">
                            <a:latin typeface="Cambria Math" panose="02040503050406030204" pitchFamily="18" charset="0"/>
                            <a:ea typeface="Cambria Math" panose="02040503050406030204" pitchFamily="18" charset="0"/>
                          </a:rPr>
                          <m:t>1</m:t>
                        </m:r>
                      </m:sub>
                    </m:sSub>
                    <m:r>
                      <a:rPr lang="fr-FR" altLang="en-US" sz="2700" b="0" i="1" smtClean="0">
                        <a:latin typeface="Cambria Math" panose="02040503050406030204" pitchFamily="18" charset="0"/>
                        <a:ea typeface="Cambria Math" panose="02040503050406030204" pitchFamily="18" charset="0"/>
                      </a:rPr>
                      <m:t>.</m:t>
                    </m:r>
                    <m:sSub>
                      <m:sSubPr>
                        <m:ctrlPr>
                          <a:rPr lang="fr-FR" altLang="en-US" sz="2700" b="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𝐿</m:t>
                        </m:r>
                      </m:e>
                      <m:sub>
                        <m:r>
                          <a:rPr lang="fr-FR" altLang="en-US" sz="2700" b="0" i="1" smtClean="0">
                            <a:latin typeface="Cambria Math" panose="02040503050406030204" pitchFamily="18" charset="0"/>
                            <a:ea typeface="Cambria Math" panose="02040503050406030204" pitchFamily="18" charset="0"/>
                          </a:rPr>
                          <m:t>2</m:t>
                        </m:r>
                      </m:sub>
                    </m:sSub>
                  </m:oMath>
                </a14:m>
                <a:r>
                  <a:rPr lang="fr-FR" altLang="en-US" sz="2700" dirty="0">
                    <a:ea typeface="Cambria Math" panose="02040503050406030204" pitchFamily="18" charset="0"/>
                  </a:rPr>
                  <a:t> sont aussi réguliers.</a:t>
                </a:r>
              </a:p>
              <a:p>
                <a:pPr marL="287338" indent="-287338" eaLnBrk="0" hangingPunct="0">
                  <a:spcBef>
                    <a:spcPct val="20000"/>
                  </a:spcBef>
                  <a:buClr>
                    <a:srgbClr val="000090"/>
                  </a:buClr>
                </a:pPr>
                <a:r>
                  <a:rPr lang="fr-FR" altLang="en-US" b="1" i="1" dirty="0">
                    <a:solidFill>
                      <a:srgbClr val="C00000"/>
                    </a:solidFill>
                  </a:rPr>
                  <a:t>Proposition 2 :</a:t>
                </a:r>
                <a:r>
                  <a:rPr lang="fr-FR" altLang="en-US" dirty="0"/>
                  <a:t> </a:t>
                </a:r>
              </a:p>
              <a:p>
                <a:pPr marL="908050" indent="-457200" eaLnBrk="0" hangingPunct="0">
                  <a:spcBef>
                    <a:spcPct val="20000"/>
                  </a:spcBef>
                  <a:buClr>
                    <a:srgbClr val="000090"/>
                  </a:buClr>
                  <a:buFont typeface="Arial" panose="020B0604020202020204" pitchFamily="34" charset="0"/>
                  <a:buChar char="•"/>
                </a:pPr>
                <a:r>
                  <a:rPr lang="fr-FR" altLang="en-US" dirty="0"/>
                  <a:t>Si </a:t>
                </a:r>
                <a14:m>
                  <m:oMath xmlns:m="http://schemas.openxmlformats.org/officeDocument/2006/math">
                    <m:sSub>
                      <m:sSubPr>
                        <m:ctrlPr>
                          <a:rPr lang="fr-FR" altLang="en-US" i="1" smtClean="0">
                            <a:latin typeface="Cambria Math" panose="02040503050406030204" pitchFamily="18" charset="0"/>
                          </a:rPr>
                        </m:ctrlPr>
                      </m:sSubPr>
                      <m:e>
                        <m:r>
                          <a:rPr lang="fr-FR" altLang="en-US" b="0" i="1" smtClean="0">
                            <a:latin typeface="Cambria Math" panose="02040503050406030204" pitchFamily="18" charset="0"/>
                          </a:rPr>
                          <m:t>𝐿</m:t>
                        </m:r>
                      </m:e>
                      <m:sub>
                        <m:r>
                          <a:rPr lang="fr-FR" altLang="en-US" b="0" i="1" smtClean="0">
                            <a:latin typeface="Cambria Math" panose="02040503050406030204" pitchFamily="18" charset="0"/>
                          </a:rPr>
                          <m:t>1</m:t>
                        </m:r>
                      </m:sub>
                    </m:sSub>
                    <m:r>
                      <a:rPr lang="fr-FR" altLang="en-US" b="0" i="1" smtClean="0">
                        <a:latin typeface="Cambria Math" panose="02040503050406030204" pitchFamily="18" charset="0"/>
                      </a:rPr>
                      <m:t>𝑒𝑡</m:t>
                    </m:r>
                    <m:r>
                      <a:rPr lang="fr-FR" altLang="en-US" b="0" i="1" smtClean="0">
                        <a:latin typeface="Cambria Math" panose="02040503050406030204" pitchFamily="18" charset="0"/>
                      </a:rPr>
                      <m:t> </m:t>
                    </m:r>
                    <m:sSub>
                      <m:sSubPr>
                        <m:ctrlPr>
                          <a:rPr lang="fr-FR" altLang="en-US" b="0" i="1" smtClean="0">
                            <a:latin typeface="Cambria Math" panose="02040503050406030204" pitchFamily="18" charset="0"/>
                          </a:rPr>
                        </m:ctrlPr>
                      </m:sSubPr>
                      <m:e>
                        <m:r>
                          <a:rPr lang="fr-FR" altLang="en-US" b="0" i="1" smtClean="0">
                            <a:latin typeface="Cambria Math" panose="02040503050406030204" pitchFamily="18" charset="0"/>
                          </a:rPr>
                          <m:t>𝐿</m:t>
                        </m:r>
                      </m:e>
                      <m:sub>
                        <m:r>
                          <a:rPr lang="fr-FR" altLang="en-US" b="0" i="1" smtClean="0">
                            <a:latin typeface="Cambria Math" panose="02040503050406030204" pitchFamily="18" charset="0"/>
                          </a:rPr>
                          <m:t>2</m:t>
                        </m:r>
                      </m:sub>
                    </m:sSub>
                  </m:oMath>
                </a14:m>
                <a:r>
                  <a:rPr lang="fr-FR" altLang="en-US" dirty="0"/>
                  <a:t> sont des langages réguliers, alors </a:t>
                </a:r>
                <a14:m>
                  <m:oMath xmlns:m="http://schemas.openxmlformats.org/officeDocument/2006/math">
                    <m:sSub>
                      <m:sSubPr>
                        <m:ctrlPr>
                          <a:rPr lang="fr-FR" altLang="en-US" i="1" smtClean="0">
                            <a:latin typeface="Cambria Math" panose="02040503050406030204" pitchFamily="18" charset="0"/>
                          </a:rPr>
                        </m:ctrlPr>
                      </m:sSubPr>
                      <m:e>
                        <m:r>
                          <a:rPr lang="fr-FR" altLang="en-US" b="0" i="1" smtClean="0">
                            <a:latin typeface="Cambria Math" panose="02040503050406030204" pitchFamily="18" charset="0"/>
                          </a:rPr>
                          <m:t>𝐿</m:t>
                        </m:r>
                      </m:e>
                      <m:sub>
                        <m:r>
                          <a:rPr lang="fr-FR" altLang="en-US" b="0" i="1" smtClean="0">
                            <a:latin typeface="Cambria Math" panose="02040503050406030204" pitchFamily="18" charset="0"/>
                          </a:rPr>
                          <m:t>1</m:t>
                        </m:r>
                      </m:sub>
                    </m:sSub>
                    <m:r>
                      <a:rPr lang="fr-FR" altLang="en-US" i="1" smtClean="0">
                        <a:latin typeface="Cambria Math" panose="02040503050406030204" pitchFamily="18" charset="0"/>
                        <a:ea typeface="Cambria Math" panose="02040503050406030204" pitchFamily="18" charset="0"/>
                      </a:rPr>
                      <m:t>∩</m:t>
                    </m:r>
                    <m:sSub>
                      <m:sSubPr>
                        <m:ctrlPr>
                          <a:rPr lang="fr-FR" altLang="en-US"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𝐿</m:t>
                        </m:r>
                      </m:e>
                      <m:sub>
                        <m:r>
                          <a:rPr lang="fr-FR" altLang="en-US" b="0" i="1" smtClean="0">
                            <a:latin typeface="Cambria Math" panose="02040503050406030204" pitchFamily="18" charset="0"/>
                            <a:ea typeface="Cambria Math" panose="02040503050406030204" pitchFamily="18" charset="0"/>
                          </a:rPr>
                          <m:t>2</m:t>
                        </m:r>
                      </m:sub>
                    </m:sSub>
                  </m:oMath>
                </a14:m>
                <a:r>
                  <a:rPr lang="fr-FR" altLang="en-US" dirty="0"/>
                  <a:t> est régulier.</a:t>
                </a:r>
              </a:p>
              <a:p>
                <a:pPr marL="287338" indent="-287338" eaLnBrk="0" hangingPunct="0">
                  <a:spcBef>
                    <a:spcPct val="20000"/>
                  </a:spcBef>
                  <a:buClr>
                    <a:srgbClr val="000090"/>
                  </a:buClr>
                </a:pPr>
                <a:r>
                  <a:rPr lang="fr-FR" altLang="en-US" dirty="0"/>
                  <a:t>La proposition 1 découle directement de la définition.</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r="-412"/>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461555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Expréssion</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introduction</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dirty="0"/>
                  <a:t>Soit l’alphabet </a:t>
                </a:r>
                <a14:m>
                  <m:oMath xmlns:m="http://schemas.openxmlformats.org/officeDocument/2006/math">
                    <m:r>
                      <m:rPr>
                        <m:sty m:val="p"/>
                      </m:rPr>
                      <a:rPr lang="el-GR" altLang="en-US">
                        <a:latin typeface="Cambria Math" panose="02040503050406030204" pitchFamily="18" charset="0"/>
                      </a:rPr>
                      <m:t>Σ</m:t>
                    </m:r>
                    <m:r>
                      <a:rPr lang="fr-FR" altLang="en-US">
                        <a:latin typeface="Cambria Math" panose="02040503050406030204" pitchFamily="18" charset="0"/>
                      </a:rPr>
                      <m:t>={</m:t>
                    </m:r>
                    <m:r>
                      <a:rPr lang="fr-FR" altLang="en-US">
                        <a:latin typeface="Cambria Math" panose="02040503050406030204" pitchFamily="18" charset="0"/>
                      </a:rPr>
                      <m:t>𝑎</m:t>
                    </m:r>
                    <m:r>
                      <a:rPr lang="fr-FR" altLang="en-US">
                        <a:latin typeface="Cambria Math" panose="02040503050406030204" pitchFamily="18" charset="0"/>
                      </a:rPr>
                      <m:t>, </m:t>
                    </m:r>
                    <m:r>
                      <a:rPr lang="fr-FR" altLang="en-US">
                        <a:latin typeface="Cambria Math" panose="02040503050406030204" pitchFamily="18" charset="0"/>
                      </a:rPr>
                      <m:t>𝑏</m:t>
                    </m:r>
                    <m:r>
                      <a:rPr lang="fr-FR" altLang="en-US">
                        <a:latin typeface="Cambria Math" panose="02040503050406030204" pitchFamily="18" charset="0"/>
                      </a:rPr>
                      <m:t>, </m:t>
                    </m:r>
                    <m:r>
                      <a:rPr lang="fr-FR" altLang="en-US">
                        <a:latin typeface="Cambria Math" panose="02040503050406030204" pitchFamily="18" charset="0"/>
                      </a:rPr>
                      <m:t>𝑐</m:t>
                    </m:r>
                    <m:r>
                      <a:rPr lang="fr-FR" altLang="en-US">
                        <a:latin typeface="Cambria Math" panose="02040503050406030204" pitchFamily="18" charset="0"/>
                      </a:rPr>
                      <m:t>}</m:t>
                    </m:r>
                  </m:oMath>
                </a14:m>
                <a:r>
                  <a:rPr lang="fr-FR" altLang="en-US" dirty="0"/>
                  <a:t>, on définit le langage régulier </a:t>
                </a:r>
                <a14:m>
                  <m:oMath xmlns:m="http://schemas.openxmlformats.org/officeDocument/2006/math">
                    <m:r>
                      <a:rPr lang="fr-FR" altLang="en-US">
                        <a:latin typeface="Cambria Math" panose="02040503050406030204" pitchFamily="18" charset="0"/>
                      </a:rPr>
                      <m:t>𝐿</m:t>
                    </m:r>
                  </m:oMath>
                </a14:m>
                <a:r>
                  <a:rPr lang="fr-FR" altLang="en-US" dirty="0"/>
                  <a:t> des chaînes commençant par a de la façon suivante </a:t>
                </a:r>
                <a14:m>
                  <m:oMath xmlns:m="http://schemas.openxmlformats.org/officeDocument/2006/math">
                    <m:r>
                      <a:rPr lang="fr-FR" altLang="en-US">
                        <a:latin typeface="Cambria Math" panose="02040503050406030204" pitchFamily="18" charset="0"/>
                      </a:rPr>
                      <m:t>𝐿</m:t>
                    </m:r>
                    <m:r>
                      <a:rPr lang="fr-FR" altLang="en-US">
                        <a:latin typeface="Cambria Math" panose="02040503050406030204" pitchFamily="18" charset="0"/>
                      </a:rPr>
                      <m:t>=</m:t>
                    </m:r>
                    <m:d>
                      <m:dPr>
                        <m:begChr m:val="{"/>
                        <m:endChr m:val="}"/>
                        <m:ctrlPr>
                          <a:rPr lang="fr-FR" altLang="en-US" i="1">
                            <a:latin typeface="Cambria Math" panose="02040503050406030204" pitchFamily="18" charset="0"/>
                          </a:rPr>
                        </m:ctrlPr>
                      </m:dPr>
                      <m:e>
                        <m:r>
                          <a:rPr lang="fr-FR" altLang="en-US">
                            <a:latin typeface="Cambria Math" panose="02040503050406030204" pitchFamily="18" charset="0"/>
                          </a:rPr>
                          <m:t>𝑎</m:t>
                        </m:r>
                      </m:e>
                    </m:d>
                    <m:r>
                      <a:rPr lang="fr-FR" altLang="en-US">
                        <a:latin typeface="Cambria Math" panose="02040503050406030204" pitchFamily="18" charset="0"/>
                      </a:rPr>
                      <m:t>.</m:t>
                    </m:r>
                    <m:sSup>
                      <m:sSupPr>
                        <m:ctrlPr>
                          <a:rPr lang="fr-FR" altLang="en-US" i="1">
                            <a:latin typeface="Cambria Math" panose="02040503050406030204" pitchFamily="18" charset="0"/>
                          </a:rPr>
                        </m:ctrlPr>
                      </m:sSupPr>
                      <m:e>
                        <m:r>
                          <a:rPr lang="fr-FR" altLang="en-US">
                            <a:latin typeface="Cambria Math" panose="02040503050406030204" pitchFamily="18" charset="0"/>
                          </a:rPr>
                          <m:t>({</m:t>
                        </m:r>
                        <m:r>
                          <a:rPr lang="fr-FR" altLang="en-US">
                            <a:latin typeface="Cambria Math" panose="02040503050406030204" pitchFamily="18" charset="0"/>
                          </a:rPr>
                          <m:t>𝑎</m:t>
                        </m:r>
                        <m:r>
                          <a:rPr lang="fr-FR" altLang="en-US">
                            <a:latin typeface="Cambria Math" panose="02040503050406030204" pitchFamily="18" charset="0"/>
                          </a:rPr>
                          <m:t>}∪{</m:t>
                        </m:r>
                        <m:r>
                          <a:rPr lang="fr-FR" altLang="en-US">
                            <a:latin typeface="Cambria Math" panose="02040503050406030204" pitchFamily="18" charset="0"/>
                          </a:rPr>
                          <m:t>𝑏</m:t>
                        </m:r>
                        <m:r>
                          <a:rPr lang="fr-FR" altLang="en-US">
                            <a:latin typeface="Cambria Math" panose="02040503050406030204" pitchFamily="18" charset="0"/>
                          </a:rPr>
                          <m:t>}∪{</m:t>
                        </m:r>
                        <m:r>
                          <a:rPr lang="fr-FR" altLang="en-US">
                            <a:latin typeface="Cambria Math" panose="02040503050406030204" pitchFamily="18" charset="0"/>
                          </a:rPr>
                          <m:t>𝑐</m:t>
                        </m:r>
                        <m:r>
                          <a:rPr lang="fr-FR" altLang="en-US">
                            <a:latin typeface="Cambria Math" panose="02040503050406030204" pitchFamily="18" charset="0"/>
                          </a:rPr>
                          <m:t>})</m:t>
                        </m:r>
                      </m:e>
                      <m:sup>
                        <m:r>
                          <a:rPr lang="fr-FR" altLang="en-US">
                            <a:latin typeface="Cambria Math" panose="02040503050406030204" pitchFamily="18" charset="0"/>
                          </a:rPr>
                          <m:t>∗</m:t>
                        </m:r>
                      </m:sup>
                    </m:sSup>
                  </m:oMath>
                </a14:m>
                <a:endParaRPr lang="fr-FR" altLang="en-US" dirty="0"/>
              </a:p>
              <a:p>
                <a:pPr marL="287338" indent="-287338" eaLnBrk="0" hangingPunct="0">
                  <a:spcBef>
                    <a:spcPct val="20000"/>
                  </a:spcBef>
                  <a:buClr>
                    <a:srgbClr val="000090"/>
                  </a:buClr>
                </a:pPr>
                <a:r>
                  <a:rPr lang="fr-FR" altLang="en-US" dirty="0"/>
                  <a:t>comme il est malcommode d’écrire quelque chose comme </a:t>
                </a:r>
                <a14:m>
                  <m:oMath xmlns:m="http://schemas.openxmlformats.org/officeDocument/2006/math">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m:t>
                        </m:r>
                      </m:e>
                    </m:d>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𝑏</m:t>
                            </m:r>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m:t>
                        </m:r>
                      </m:e>
                      <m:sup>
                        <m:r>
                          <a:rPr lang="fr-FR" altLang="en-US" b="0" i="1" smtClean="0">
                            <a:latin typeface="Cambria Math" panose="02040503050406030204" pitchFamily="18" charset="0"/>
                          </a:rPr>
                          <m:t>∗</m:t>
                        </m:r>
                      </m:sup>
                    </m:sSup>
                  </m:oMath>
                </a14:m>
                <a:r>
                  <a:rPr lang="fr-FR" altLang="en-US" dirty="0"/>
                  <a:t>, on introduit un nouvel objet, les expressions régulières), qui sont des expressions servant à dénoter un langage régulier.</a:t>
                </a:r>
              </a:p>
              <a:p>
                <a:pPr marL="908050" indent="-457200" eaLnBrk="0" hangingPunct="0">
                  <a:spcBef>
                    <a:spcPct val="20000"/>
                  </a:spcBef>
                  <a:buClr>
                    <a:srgbClr val="000090"/>
                  </a:buClr>
                  <a:buFont typeface="Arial" panose="020B0604020202020204" pitchFamily="34" charset="0"/>
                  <a:buChar char="•"/>
                </a:pPr>
                <a:r>
                  <a:rPr lang="fr-FR" altLang="en-US" sz="2900" dirty="0"/>
                  <a:t>Par exemple, plutôt que d’écrire </a:t>
                </a:r>
                <a14:m>
                  <m:oMath xmlns:m="http://schemas.openxmlformats.org/officeDocument/2006/math">
                    <m:r>
                      <a:rPr lang="fr-FR" altLang="en-US" sz="2900">
                        <a:latin typeface="Cambria Math" panose="02040503050406030204" pitchFamily="18" charset="0"/>
                      </a:rPr>
                      <m:t>𝐿</m:t>
                    </m:r>
                    <m:r>
                      <a:rPr lang="fr-FR" altLang="en-US" sz="2900">
                        <a:latin typeface="Cambria Math" panose="02040503050406030204" pitchFamily="18" charset="0"/>
                      </a:rPr>
                      <m:t>=</m:t>
                    </m:r>
                    <m:d>
                      <m:dPr>
                        <m:begChr m:val="{"/>
                        <m:endChr m:val="}"/>
                        <m:ctrlPr>
                          <a:rPr lang="fr-FR" altLang="en-US" sz="2900" i="1">
                            <a:latin typeface="Cambria Math" panose="02040503050406030204" pitchFamily="18" charset="0"/>
                          </a:rPr>
                        </m:ctrlPr>
                      </m:dPr>
                      <m:e>
                        <m:r>
                          <a:rPr lang="fr-FR" altLang="en-US" sz="2900">
                            <a:latin typeface="Cambria Math" panose="02040503050406030204" pitchFamily="18" charset="0"/>
                          </a:rPr>
                          <m:t>𝑎</m:t>
                        </m:r>
                      </m:e>
                    </m:d>
                    <m:r>
                      <a:rPr lang="fr-FR" altLang="en-US" sz="2900">
                        <a:latin typeface="Cambria Math" panose="02040503050406030204" pitchFamily="18" charset="0"/>
                      </a:rPr>
                      <m:t>.</m:t>
                    </m:r>
                    <m:sSup>
                      <m:sSupPr>
                        <m:ctrlPr>
                          <a:rPr lang="fr-FR" altLang="en-US" sz="2900" i="1">
                            <a:latin typeface="Cambria Math" panose="02040503050406030204" pitchFamily="18" charset="0"/>
                          </a:rPr>
                        </m:ctrlPr>
                      </m:sSupPr>
                      <m:e>
                        <m:r>
                          <a:rPr lang="fr-FR" altLang="en-US" sz="2900">
                            <a:latin typeface="Cambria Math" panose="02040503050406030204" pitchFamily="18" charset="0"/>
                          </a:rPr>
                          <m:t>({</m:t>
                        </m:r>
                        <m:r>
                          <a:rPr lang="fr-FR" altLang="en-US" sz="2900">
                            <a:latin typeface="Cambria Math" panose="02040503050406030204" pitchFamily="18" charset="0"/>
                          </a:rPr>
                          <m:t>𝑐</m:t>
                        </m:r>
                        <m:r>
                          <a:rPr lang="fr-FR" altLang="en-US" sz="2900">
                            <a:latin typeface="Cambria Math" panose="02040503050406030204" pitchFamily="18" charset="0"/>
                          </a:rPr>
                          <m:t>})</m:t>
                        </m:r>
                      </m:e>
                      <m:sup>
                        <m:r>
                          <a:rPr lang="fr-FR" altLang="en-US" sz="2900">
                            <a:latin typeface="Cambria Math" panose="02040503050406030204" pitchFamily="18" charset="0"/>
                          </a:rPr>
                          <m:t>∗</m:t>
                        </m:r>
                      </m:sup>
                    </m:sSup>
                  </m:oMath>
                </a14:m>
                <a:r>
                  <a:rPr lang="fr-FR" altLang="en-US" sz="2900" dirty="0"/>
                  <a:t>, on écrit </a:t>
                </a:r>
                <a14:m>
                  <m:oMath xmlns:m="http://schemas.openxmlformats.org/officeDocument/2006/math">
                    <m:r>
                      <a:rPr lang="fr-FR" altLang="en-US" sz="2900">
                        <a:latin typeface="Cambria Math" panose="02040503050406030204" pitchFamily="18" charset="0"/>
                      </a:rPr>
                      <m:t>𝐿</m:t>
                    </m:r>
                    <m:r>
                      <a:rPr lang="fr-FR" altLang="en-US" sz="2900" b="0" i="0" smtClean="0">
                        <a:latin typeface="Cambria Math" panose="02040503050406030204" pitchFamily="18" charset="0"/>
                      </a:rPr>
                      <m:t>=</m:t>
                    </m:r>
                    <m:r>
                      <a:rPr lang="fr-FR" altLang="en-US" sz="2900">
                        <a:latin typeface="Cambria Math" panose="02040503050406030204" pitchFamily="18" charset="0"/>
                      </a:rPr>
                      <m:t>𝑎</m:t>
                    </m:r>
                    <m:d>
                      <m:dPr>
                        <m:ctrlPr>
                          <a:rPr lang="fr-FR" altLang="en-US" sz="2900" b="0" i="1" smtClean="0">
                            <a:latin typeface="Cambria Math" panose="02040503050406030204" pitchFamily="18" charset="0"/>
                          </a:rPr>
                        </m:ctrlPr>
                      </m:dPr>
                      <m:e>
                        <m:r>
                          <m:rPr>
                            <m:sty m:val="p"/>
                          </m:rPr>
                          <a:rPr lang="fr-FR" altLang="en-US" sz="2900" b="0" i="0" smtClean="0">
                            <a:latin typeface="Cambria Math" panose="02040503050406030204" pitchFamily="18" charset="0"/>
                          </a:rPr>
                          <m:t>c</m:t>
                        </m:r>
                      </m:e>
                    </m:d>
                    <m:r>
                      <a:rPr lang="fr-FR" altLang="en-US" sz="2900" b="0" i="0" smtClean="0">
                        <a:latin typeface="Cambria Math" panose="02040503050406030204" pitchFamily="18" charset="0"/>
                      </a:rPr>
                      <m:t>∗</m:t>
                    </m:r>
                  </m:oMath>
                </a14:m>
                <a:r>
                  <a:rPr lang="fr-FR" altLang="en-US" sz="2900" dirty="0"/>
                  <a:t> ou plus simplement </a:t>
                </a:r>
                <a14:m>
                  <m:oMath xmlns:m="http://schemas.openxmlformats.org/officeDocument/2006/math">
                    <m:r>
                      <a:rPr lang="fr-FR" altLang="en-US" sz="2900" b="0" i="1" smtClean="0">
                        <a:latin typeface="Cambria Math" panose="02040503050406030204" pitchFamily="18" charset="0"/>
                      </a:rPr>
                      <m:t>𝐿</m:t>
                    </m:r>
                    <m:r>
                      <a:rPr lang="fr-FR" altLang="en-US" sz="2900" b="0" i="0" smtClean="0">
                        <a:latin typeface="Cambria Math" panose="02040503050406030204" pitchFamily="18" charset="0"/>
                      </a:rPr>
                      <m:t>=</m:t>
                    </m:r>
                    <m:r>
                      <a:rPr lang="fr-FR" altLang="en-US" sz="2900">
                        <a:latin typeface="Cambria Math" panose="02040503050406030204" pitchFamily="18" charset="0"/>
                      </a:rPr>
                      <m:t>𝑎</m:t>
                    </m:r>
                    <m:r>
                      <m:rPr>
                        <m:sty m:val="p"/>
                      </m:rPr>
                      <a:rPr lang="fr-FR" altLang="en-US" sz="2900" b="0" i="0" smtClean="0">
                        <a:latin typeface="Cambria Math" panose="02040503050406030204" pitchFamily="18" charset="0"/>
                      </a:rPr>
                      <m:t>c</m:t>
                    </m:r>
                    <m:r>
                      <a:rPr lang="fr-FR" altLang="en-US" sz="2900" b="0" i="0" smtClean="0">
                        <a:latin typeface="Cambria Math" panose="02040503050406030204" pitchFamily="18" charset="0"/>
                      </a:rPr>
                      <m:t>∗</m:t>
                    </m:r>
                  </m:oMath>
                </a14:m>
                <a:endParaRPr lang="fr-FR" altLang="en-US" sz="2900" dirty="0"/>
              </a:p>
              <a:p>
                <a:pPr marL="908050" indent="-457200" eaLnBrk="0" hangingPunct="0">
                  <a:spcBef>
                    <a:spcPct val="20000"/>
                  </a:spcBef>
                  <a:buClr>
                    <a:srgbClr val="000090"/>
                  </a:buClr>
                  <a:buFont typeface="Arial" panose="020B0604020202020204" pitchFamily="34" charset="0"/>
                  <a:buChar char="•"/>
                </a:pPr>
                <a:r>
                  <a:rPr lang="fr-FR" altLang="en-US" sz="2900" dirty="0"/>
                  <a:t>on parlera du langage « dénoté » par l’expression régulière </a:t>
                </a:r>
                <a14:m>
                  <m:oMath xmlns:m="http://schemas.openxmlformats.org/officeDocument/2006/math">
                    <m:r>
                      <a:rPr lang="fr-FR" altLang="en-US" sz="2900">
                        <a:latin typeface="Cambria Math" panose="02040503050406030204" pitchFamily="18" charset="0"/>
                      </a:rPr>
                      <m:t>𝑎</m:t>
                    </m:r>
                    <m:sSup>
                      <m:sSupPr>
                        <m:ctrlPr>
                          <a:rPr lang="fr-FR" altLang="en-US" sz="2900" i="1">
                            <a:latin typeface="Cambria Math" panose="02040503050406030204" pitchFamily="18" charset="0"/>
                          </a:rPr>
                        </m:ctrlPr>
                      </m:sSupPr>
                      <m:e>
                        <m:r>
                          <a:rPr lang="fr-FR" altLang="en-US" sz="2900">
                            <a:latin typeface="Cambria Math" panose="02040503050406030204" pitchFamily="18" charset="0"/>
                          </a:rPr>
                          <m:t>𝑐</m:t>
                        </m:r>
                      </m:e>
                      <m:sup>
                        <m:r>
                          <a:rPr lang="fr-FR" altLang="en-US" sz="2900">
                            <a:latin typeface="Cambria Math" panose="02040503050406030204" pitchFamily="18" charset="0"/>
                          </a:rPr>
                          <m:t>∗</m:t>
                        </m:r>
                      </m:sup>
                    </m:sSup>
                  </m:oMath>
                </a14:m>
                <a:r>
                  <a:rPr lang="fr-FR" altLang="en-US" sz="2900" dirty="0"/>
                  <a:t> </a:t>
                </a:r>
              </a:p>
              <a:p>
                <a:pPr marL="908050" indent="-457200" eaLnBrk="0" hangingPunct="0">
                  <a:spcBef>
                    <a:spcPct val="20000"/>
                  </a:spcBef>
                  <a:buClr>
                    <a:srgbClr val="000090"/>
                  </a:buClr>
                  <a:buFont typeface="Arial" panose="020B0604020202020204" pitchFamily="34" charset="0"/>
                  <a:buChar char="•"/>
                </a:pPr>
                <a:r>
                  <a:rPr lang="fr-FR" altLang="en-US" sz="2900" i="1" dirty="0"/>
                  <a:t>Ceci fournit du même coup une nouvelle définition des langages réguliers : ce sont les langages dénotés par une expression régulière.</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941" t="-1966"/>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1833334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b="1" i="1" dirty="0">
                    <a:solidFill>
                      <a:srgbClr val="C00000"/>
                    </a:solidFill>
                  </a:rPr>
                  <a:t>Définition : </a:t>
                </a:r>
                <a:r>
                  <a:rPr lang="fr-FR" altLang="en-US" dirty="0">
                    <a:solidFill>
                      <a:schemeClr val="tx1"/>
                    </a:solidFill>
                  </a:rPr>
                  <a:t>Une expression régulière sur un alphabet </a:t>
                </a:r>
                <a14:m>
                  <m:oMath xmlns:m="http://schemas.openxmlformats.org/officeDocument/2006/math">
                    <m:r>
                      <m:rPr>
                        <m:sty m:val="p"/>
                      </m:rPr>
                      <a:rPr lang="el-GR" altLang="en-US" i="1" smtClean="0">
                        <a:solidFill>
                          <a:schemeClr val="tx1"/>
                        </a:solidFill>
                        <a:latin typeface="Cambria Math" panose="02040503050406030204" pitchFamily="18" charset="0"/>
                        <a:ea typeface="Cambria Math" panose="02040503050406030204" pitchFamily="18" charset="0"/>
                      </a:rPr>
                      <m:t>Σ</m:t>
                    </m:r>
                  </m:oMath>
                </a14:m>
                <a:r>
                  <a:rPr lang="fr-FR" altLang="en-US" dirty="0">
                    <a:solidFill>
                      <a:schemeClr val="tx1"/>
                    </a:solidFill>
                  </a:rPr>
                  <a:t>  est un mot sur l'alphabet </a:t>
                </a:r>
                <a14:m>
                  <m:oMath xmlns:m="http://schemas.openxmlformats.org/officeDocument/2006/math">
                    <m:r>
                      <m:rPr>
                        <m:sty m:val="p"/>
                      </m:rPr>
                      <a:rPr lang="el-GR" altLang="en-US" i="1" smtClean="0">
                        <a:solidFill>
                          <a:schemeClr val="tx1"/>
                        </a:solidFill>
                        <a:latin typeface="Cambria Math" panose="02040503050406030204" pitchFamily="18" charset="0"/>
                        <a:ea typeface="Cambria Math" panose="02040503050406030204" pitchFamily="18" charset="0"/>
                      </a:rPr>
                      <m:t>Σ</m:t>
                    </m:r>
                    <m:r>
                      <a:rPr lang="el-GR" altLang="en-US"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𝜀</m:t>
                    </m:r>
                    <m:r>
                      <a:rPr lang="fr-FR" altLang="en-US" b="0" i="1" smtClean="0">
                        <a:solidFill>
                          <a:schemeClr val="tx1"/>
                        </a:solidFill>
                        <a:latin typeface="Cambria Math" panose="02040503050406030204" pitchFamily="18" charset="0"/>
                        <a:ea typeface="Cambria Math" panose="02040503050406030204" pitchFamily="18" charset="0"/>
                      </a:rPr>
                      <m:t>, </m:t>
                    </m:r>
                    <m:d>
                      <m:dPr>
                        <m:ctrlPr>
                          <a:rPr lang="fr-FR" altLang="en-US" b="0" i="1" smtClean="0">
                            <a:solidFill>
                              <a:schemeClr val="tx1"/>
                            </a:solidFill>
                            <a:latin typeface="Cambria Math" panose="02040503050406030204" pitchFamily="18" charset="0"/>
                            <a:ea typeface="Cambria Math" panose="02040503050406030204" pitchFamily="18" charset="0"/>
                          </a:rPr>
                        </m:ctrlPr>
                      </m:dPr>
                      <m:e>
                        <m:r>
                          <a:rPr lang="fr-FR" altLang="en-US" b="0" i="1" smtClean="0">
                            <a:solidFill>
                              <a:schemeClr val="tx1"/>
                            </a:solidFill>
                            <a:latin typeface="Cambria Math" panose="02040503050406030204" pitchFamily="18" charset="0"/>
                            <a:ea typeface="Cambria Math" panose="02040503050406030204" pitchFamily="18" charset="0"/>
                          </a:rPr>
                          <m:t>, </m:t>
                        </m:r>
                      </m:e>
                    </m:d>
                    <m:r>
                      <a:rPr lang="fr-FR" altLang="en-US" b="0" i="1" smtClean="0">
                        <a:solidFill>
                          <a:schemeClr val="tx1"/>
                        </a:solidFill>
                        <a:latin typeface="Cambria Math" panose="02040503050406030204" pitchFamily="18" charset="0"/>
                        <a:ea typeface="Cambria Math" panose="02040503050406030204" pitchFamily="18" charset="0"/>
                      </a:rPr>
                      <m:t>, ∪, ∗}</m:t>
                    </m:r>
                  </m:oMath>
                </a14:m>
                <a:r>
                  <a:rPr lang="fr-FR" altLang="en-US" dirty="0"/>
                  <a:t> où </a:t>
                </a:r>
                <a14:m>
                  <m:oMath xmlns:m="http://schemas.openxmlformats.org/officeDocument/2006/math">
                    <m:r>
                      <a:rPr lang="fr-FR" altLang="en-US" i="1">
                        <a:latin typeface="Cambria Math" panose="02040503050406030204" pitchFamily="18" charset="0"/>
                        <a:ea typeface="Cambria Math" panose="02040503050406030204" pitchFamily="18" charset="0"/>
                      </a:rPr>
                      <m:t>∅, </m:t>
                    </m:r>
                    <m:r>
                      <a:rPr lang="fr-FR" altLang="en-US" i="1">
                        <a:latin typeface="Cambria Math" panose="02040503050406030204" pitchFamily="18" charset="0"/>
                        <a:ea typeface="Cambria Math" panose="02040503050406030204" pitchFamily="18" charset="0"/>
                      </a:rPr>
                      <m:t>𝜀</m:t>
                    </m:r>
                    <m:r>
                      <a:rPr lang="fr-FR" altLang="en-US" i="1">
                        <a:latin typeface="Cambria Math" panose="02040503050406030204" pitchFamily="18" charset="0"/>
                        <a:ea typeface="Cambria Math" panose="02040503050406030204" pitchFamily="18" charset="0"/>
                      </a:rPr>
                      <m:t>, </m:t>
                    </m:r>
                    <m:d>
                      <m:dPr>
                        <m:ctrlPr>
                          <a:rPr lang="fr-FR" altLang="en-US" i="1">
                            <a:latin typeface="Cambria Math" panose="02040503050406030204" pitchFamily="18" charset="0"/>
                            <a:ea typeface="Cambria Math" panose="02040503050406030204" pitchFamily="18" charset="0"/>
                          </a:rPr>
                        </m:ctrlPr>
                      </m:dPr>
                      <m:e>
                        <m:r>
                          <a:rPr lang="fr-FR" altLang="en-US" i="1">
                            <a:latin typeface="Cambria Math" panose="02040503050406030204" pitchFamily="18" charset="0"/>
                            <a:ea typeface="Cambria Math" panose="02040503050406030204" pitchFamily="18" charset="0"/>
                          </a:rPr>
                          <m:t>, </m:t>
                        </m:r>
                      </m:e>
                    </m:d>
                    <m:r>
                      <a:rPr lang="fr-FR" altLang="en-US" i="1">
                        <a:latin typeface="Cambria Math" panose="02040503050406030204" pitchFamily="18" charset="0"/>
                        <a:ea typeface="Cambria Math" panose="02040503050406030204" pitchFamily="18" charset="0"/>
                      </a:rPr>
                      <m:t>, </m:t>
                    </m:r>
                    <m:r>
                      <a:rPr lang="fr-FR" altLang="en-US" i="1" smtClean="0">
                        <a:latin typeface="Cambria Math" panose="02040503050406030204" pitchFamily="18" charset="0"/>
                        <a:ea typeface="Cambria Math" panose="02040503050406030204" pitchFamily="18" charset="0"/>
                      </a:rPr>
                      <m:t>∪</m:t>
                    </m:r>
                    <m:r>
                      <a:rPr lang="fr-FR" altLang="en-US" i="1">
                        <a:latin typeface="Cambria Math" panose="02040503050406030204" pitchFamily="18" charset="0"/>
                        <a:ea typeface="Cambria Math" panose="02040503050406030204" pitchFamily="18" charset="0"/>
                      </a:rPr>
                      <m:t>, ∗</m:t>
                    </m:r>
                  </m:oMath>
                </a14:m>
                <a:r>
                  <a:rPr lang="fr-FR" altLang="en-US" dirty="0"/>
                  <a:t> sont de nouveaux symboles n’appartenant pas à l’alphabet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oMath>
                </a14:m>
                <a:r>
                  <a:rPr lang="fr-FR" altLang="en-US" dirty="0"/>
                  <a:t>, appelés métacaractères, tel que :</a:t>
                </a:r>
                <a:endParaRPr lang="fr-FR" altLang="en-US" dirty="0">
                  <a:solidFill>
                    <a:schemeClr val="tx1"/>
                  </a:solidFill>
                </a:endParaRP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tout symbole de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el-GR" altLang="en-US"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𝜀</m:t>
                    </m:r>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est une expression régulière</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si </a:t>
                </a:r>
                <a14:m>
                  <m:oMath xmlns:m="http://schemas.openxmlformats.org/officeDocument/2006/math">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1 </m:t>
                    </m:r>
                    <m:r>
                      <a:rPr lang="fr-FR" altLang="en-US" b="0" i="1" smtClean="0">
                        <a:latin typeface="Cambria Math" panose="02040503050406030204" pitchFamily="18" charset="0"/>
                        <a:ea typeface="Cambria Math" panose="02040503050406030204" pitchFamily="18" charset="0"/>
                      </a:rPr>
                      <m:t>𝑒𝑡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oMath>
                </a14:m>
                <a:r>
                  <a:rPr lang="fr-FR" altLang="en-US" dirty="0">
                    <a:ea typeface="Cambria Math" panose="02040503050406030204" pitchFamily="18" charset="0"/>
                  </a:rPr>
                  <a:t> sont deux expressions régulières alors :</a:t>
                </a:r>
              </a:p>
              <a:p>
                <a:pPr marL="1258887" indent="-457200" eaLnBrk="0" hangingPunct="0">
                  <a:spcBef>
                    <a:spcPct val="20000"/>
                  </a:spcBef>
                  <a:buClr>
                    <a:srgbClr val="000090"/>
                  </a:buClr>
                  <a:buFont typeface="Wingdings" panose="05000000000000000000" pitchFamily="2" charset="2"/>
                  <a:buChar char="ü"/>
                </a:pPr>
                <a14:m>
                  <m:oMath xmlns:m="http://schemas.openxmlformats.org/officeDocument/2006/math">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oMath>
                </a14:m>
                <a:r>
                  <a:rPr lang="fr-FR" altLang="en-US" dirty="0">
                    <a:ea typeface="Cambria Math" panose="02040503050406030204" pitchFamily="18" charset="0"/>
                  </a:rPr>
                  <a:t> est une expression régulière</a:t>
                </a:r>
              </a:p>
              <a:p>
                <a:pPr marL="1258887" indent="-457200" eaLnBrk="0" hangingPunct="0">
                  <a:spcBef>
                    <a:spcPct val="20000"/>
                  </a:spcBef>
                  <a:buClr>
                    <a:srgbClr val="000090"/>
                  </a:buClr>
                  <a:buFont typeface="Wingdings" panose="05000000000000000000" pitchFamily="2" charset="2"/>
                  <a:buChar char="ü"/>
                </a:pPr>
                <a14:m>
                  <m:oMath xmlns:m="http://schemas.openxmlformats.org/officeDocument/2006/math">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oMath>
                </a14:m>
                <a:r>
                  <a:rPr lang="fr-FR" altLang="en-US" dirty="0">
                    <a:ea typeface="Cambria Math" panose="02040503050406030204" pitchFamily="18" charset="0"/>
                  </a:rPr>
                  <a:t> est une expression régulière</a:t>
                </a:r>
              </a:p>
              <a:p>
                <a:pPr marL="1258887" indent="-457200" eaLnBrk="0" hangingPunct="0">
                  <a:spcBef>
                    <a:spcPct val="20000"/>
                  </a:spcBef>
                  <a:buClr>
                    <a:srgbClr val="000090"/>
                  </a:buClr>
                  <a:buFont typeface="Wingdings" panose="05000000000000000000" pitchFamily="2" charset="2"/>
                  <a:buChar char="ü"/>
                </a:pPr>
                <a14:m>
                  <m:oMath xmlns:m="http://schemas.openxmlformats.org/officeDocument/2006/math">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oMath>
                </a14:m>
                <a:r>
                  <a:rPr lang="fr-FR" altLang="en-US" dirty="0">
                    <a:ea typeface="Cambria Math" panose="02040503050406030204" pitchFamily="18" charset="0"/>
                  </a:rPr>
                  <a:t> est une expression régulière</a:t>
                </a:r>
              </a:p>
              <a:p>
                <a:pPr marL="1258887" indent="-457200" eaLnBrk="0" hangingPunct="0">
                  <a:spcBef>
                    <a:spcPct val="20000"/>
                  </a:spcBef>
                  <a:buClr>
                    <a:srgbClr val="000090"/>
                  </a:buClr>
                  <a:buFont typeface="Wingdings" panose="05000000000000000000" pitchFamily="2" charset="2"/>
                  <a:buChar char="ü"/>
                </a:pPr>
                <a14:m>
                  <m:oMath xmlns:m="http://schemas.openxmlformats.org/officeDocument/2006/math">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oMath>
                </a14:m>
                <a:r>
                  <a:rPr lang="fr-FR" altLang="en-US" dirty="0">
                    <a:ea typeface="Cambria Math" panose="02040503050406030204" pitchFamily="18" charset="0"/>
                  </a:rPr>
                  <a:t> est une expression régulière</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dirty="0">
                    <a:ea typeface="Cambria Math" panose="02040503050406030204" pitchFamily="18" charset="0"/>
                  </a:rPr>
                  <a:t>C’est la seule façon de construire des expressions régulières</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3145" r="-1176" b="-131"/>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1661007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interprétation</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lnSpc>
                    <a:spcPct val="100000"/>
                  </a:lnSpc>
                  <a:spcBef>
                    <a:spcPct val="20000"/>
                  </a:spcBef>
                  <a:buClr>
                    <a:srgbClr val="000090"/>
                  </a:buClr>
                </a:pPr>
                <a:r>
                  <a:rPr lang="fr-FR" altLang="en-US" sz="3000" b="1" i="1" dirty="0">
                    <a:solidFill>
                      <a:srgbClr val="C00000"/>
                    </a:solidFill>
                  </a:rPr>
                  <a:t>Définition : </a:t>
                </a:r>
                <a:r>
                  <a:rPr lang="fr-FR" altLang="en-US" sz="3000" dirty="0"/>
                  <a:t>Une expression régulière définit (on dit aussi désigne ou dénote) un langage. Le langage défini par une expression régulière r,  </a:t>
                </a:r>
                <a:r>
                  <a:rPr lang="fr-FR" altLang="en-US" sz="3000" dirty="0">
                    <a:solidFill>
                      <a:schemeClr val="tx1"/>
                    </a:solidFill>
                  </a:rPr>
                  <a:t>noté </a:t>
                </a:r>
                <a14:m>
                  <m:oMath xmlns:m="http://schemas.openxmlformats.org/officeDocument/2006/math">
                    <m:r>
                      <m:rPr>
                        <m:sty m:val="p"/>
                      </m:rPr>
                      <a:rPr lang="fr-FR" altLang="en-US" sz="3000" b="0" i="0">
                        <a:solidFill>
                          <a:schemeClr val="tx1"/>
                        </a:solidFill>
                        <a:latin typeface="Cambria Math" panose="02040503050406030204" pitchFamily="18" charset="0"/>
                      </a:rPr>
                      <m:t>L</m:t>
                    </m:r>
                    <m:d>
                      <m:dPr>
                        <m:ctrlPr>
                          <a:rPr lang="fr-FR" altLang="en-US" sz="3000" i="1">
                            <a:solidFill>
                              <a:schemeClr val="tx1"/>
                            </a:solidFill>
                            <a:latin typeface="Cambria Math" panose="02040503050406030204" pitchFamily="18" charset="0"/>
                          </a:rPr>
                        </m:ctrlPr>
                      </m:dPr>
                      <m:e>
                        <m:r>
                          <m:rPr>
                            <m:sty m:val="p"/>
                          </m:rPr>
                          <a:rPr lang="fr-FR" altLang="en-US" sz="3000" b="0" i="0">
                            <a:solidFill>
                              <a:schemeClr val="tx1"/>
                            </a:solidFill>
                            <a:latin typeface="Cambria Math" panose="02040503050406030204" pitchFamily="18" charset="0"/>
                          </a:rPr>
                          <m:t>r</m:t>
                        </m:r>
                      </m:e>
                    </m:d>
                    <m:r>
                      <a:rPr lang="fr-FR" altLang="en-US" sz="3000" b="0" i="0">
                        <a:solidFill>
                          <a:schemeClr val="tx1"/>
                        </a:solidFill>
                        <a:latin typeface="Cambria Math" panose="02040503050406030204" pitchFamily="18" charset="0"/>
                      </a:rPr>
                      <m:t> </m:t>
                    </m:r>
                    <m:r>
                      <m:rPr>
                        <m:sty m:val="p"/>
                      </m:rPr>
                      <a:rPr lang="fr-FR" altLang="en-US" sz="3000" b="0" i="0">
                        <a:solidFill>
                          <a:schemeClr val="tx1"/>
                        </a:solidFill>
                        <a:latin typeface="Cambria Math" panose="02040503050406030204" pitchFamily="18" charset="0"/>
                      </a:rPr>
                      <m:t>ou</m:t>
                    </m:r>
                    <m:r>
                      <a:rPr lang="fr-FR" altLang="en-US" sz="3000" b="0" i="0">
                        <a:solidFill>
                          <a:schemeClr val="tx1"/>
                        </a:solidFill>
                        <a:latin typeface="Cambria Math" panose="02040503050406030204" pitchFamily="18" charset="0"/>
                      </a:rPr>
                      <m:t> </m:t>
                    </m:r>
                    <m:r>
                      <m:rPr>
                        <m:sty m:val="p"/>
                      </m:rPr>
                      <a:rPr lang="fr-FR" altLang="en-US" sz="3000" b="0" i="0">
                        <a:solidFill>
                          <a:schemeClr val="tx1"/>
                        </a:solidFill>
                        <a:latin typeface="Cambria Math" panose="02040503050406030204" pitchFamily="18" charset="0"/>
                      </a:rPr>
                      <m:t>Lr</m:t>
                    </m:r>
                  </m:oMath>
                </a14:m>
                <a:r>
                  <a:rPr lang="fr-FR" altLang="en-US" sz="3000" dirty="0">
                    <a:solidFill>
                      <a:schemeClr val="tx1"/>
                    </a:solidFill>
                  </a:rPr>
                  <a:t>, s’obtient de la manière suivante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le langage dénoté par l’expression régulière </a:t>
                </a:r>
                <a14:m>
                  <m:oMath xmlns:m="http://schemas.openxmlformats.org/officeDocument/2006/math">
                    <m:r>
                      <a:rPr lang="el-GR" altLang="en-US"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el-GR" altLang="en-US" i="1">
                            <a:latin typeface="Cambria Math" panose="02040503050406030204" pitchFamily="18" charset="0"/>
                            <a:ea typeface="Cambria Math" panose="02040503050406030204" pitchFamily="18" charset="0"/>
                          </a:rPr>
                          <m:t>∅</m:t>
                        </m:r>
                      </m:e>
                    </m:d>
                    <m:r>
                      <a:rPr lang="fr-FR" altLang="en-US" b="0" i="1" smtClean="0">
                        <a:latin typeface="Cambria Math" panose="02040503050406030204" pitchFamily="18" charset="0"/>
                        <a:ea typeface="Cambria Math" panose="02040503050406030204" pitchFamily="18" charset="0"/>
                      </a:rPr>
                      <m:t>=</m:t>
                    </m:r>
                    <m:r>
                      <a:rPr lang="el-GR" altLang="en-US" i="1">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le langage dénoté par l’expression régulière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ε</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𝜀</m:t>
                        </m:r>
                      </m:e>
                    </m:d>
                    <m:r>
                      <a:rPr lang="fr-FR" altLang="en-US" b="0" i="1" smtClean="0">
                        <a:latin typeface="Cambria Math" panose="02040503050406030204" pitchFamily="18" charset="0"/>
                        <a:ea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𝜀</m:t>
                        </m:r>
                      </m:e>
                    </m:d>
                  </m:oMath>
                </a14:m>
                <a:endParaRPr lang="fr-FR" altLang="en-US" b="0" dirty="0">
                  <a:ea typeface="Cambria Math" panose="02040503050406030204" pitchFamily="18" charset="0"/>
                </a:endParaRP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le langage dénoté par l’expression régulière </a:t>
                </a:r>
                <a14:m>
                  <m:oMath xmlns:m="http://schemas.openxmlformats.org/officeDocument/2006/math">
                    <m:r>
                      <m:rPr>
                        <m:sty m:val="p"/>
                      </m:rPr>
                      <a:rPr lang="fr-FR" altLang="en-US">
                        <a:latin typeface="Cambria Math" panose="02040503050406030204" pitchFamily="18" charset="0"/>
                        <a:ea typeface="Cambria Math" panose="02040503050406030204" pitchFamily="18" charset="0"/>
                      </a:rPr>
                      <m:t>a</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𝑜</m:t>
                    </m:r>
                    <m:r>
                      <a:rPr lang="fr-FR" altLang="en-US" b="0" i="1" smtClean="0">
                        <a:latin typeface="Cambria Math" panose="02040503050406030204" pitchFamily="18" charset="0"/>
                        <a:ea typeface="Cambria Math" panose="02040503050406030204" pitchFamily="18" charset="0"/>
                      </a:rPr>
                      <m:t>ù </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𝑢𝑛</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𝑠𝑦𝑚𝑏𝑜𝑙𝑒</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𝑑𝑒</m:t>
                    </m:r>
                    <m:r>
                      <a:rPr lang="fr-FR" altLang="en-US" b="0" i="1" smtClean="0">
                        <a:latin typeface="Cambria Math" panose="02040503050406030204" pitchFamily="18" charset="0"/>
                        <a:ea typeface="Cambria Math" panose="02040503050406030204" pitchFamily="18" charset="0"/>
                      </a:rPr>
                      <m:t> </m:t>
                    </m:r>
                    <m:sSup>
                      <m:sSupPr>
                        <m:ctrlPr>
                          <a:rPr lang="fr-FR" altLang="en-US" b="0" i="1" smtClean="0">
                            <a:latin typeface="Cambria Math" panose="02040503050406030204" pitchFamily="18" charset="0"/>
                            <a:ea typeface="Cambria Math" panose="02040503050406030204" pitchFamily="18" charset="0"/>
                          </a:rPr>
                        </m:ctrlPr>
                      </m:sSupPr>
                      <m:e>
                        <m:r>
                          <a:rPr lang="fr-FR" altLang="en-US" b="0" i="1" smtClean="0">
                            <a:latin typeface="Cambria Math" panose="02040503050406030204" pitchFamily="18" charset="0"/>
                            <a:ea typeface="Cambria Math" panose="02040503050406030204" pitchFamily="18" charset="0"/>
                          </a:rPr>
                          <m:t>𝑙</m:t>
                        </m:r>
                      </m:e>
                      <m:sup>
                        <m:r>
                          <a:rPr lang="fr-FR" altLang="en-US" b="0" i="1" smtClean="0">
                            <a:latin typeface="Cambria Math" panose="02040503050406030204" pitchFamily="18" charset="0"/>
                            <a:ea typeface="Cambria Math" panose="02040503050406030204" pitchFamily="18" charset="0"/>
                          </a:rPr>
                          <m:t>′</m:t>
                        </m:r>
                      </m:sup>
                    </m:sSup>
                    <m:r>
                      <a:rPr lang="fr-FR" altLang="en-US" b="0" i="1" smtClean="0">
                        <a:latin typeface="Cambria Math" panose="02040503050406030204" pitchFamily="18" charset="0"/>
                        <a:ea typeface="Cambria Math" panose="02040503050406030204" pitchFamily="18" charset="0"/>
                      </a:rPr>
                      <m:t>𝑎𝑙𝑝h𝑎𝑏𝑒𝑡</m:t>
                    </m:r>
                    <m:r>
                      <a:rPr lang="fr-FR" altLang="en-US" b="0" i="1" smtClean="0">
                        <a:latin typeface="Cambria Math" panose="02040503050406030204" pitchFamily="18" charset="0"/>
                        <a:ea typeface="Cambria Math" panose="02040503050406030204" pitchFamily="18" charset="0"/>
                      </a:rPr>
                      <m:t> </m:t>
                    </m:r>
                    <m:r>
                      <m:rPr>
                        <m:sty m:val="p"/>
                      </m:rPr>
                      <a:rPr lang="el-GR" altLang="en-US" b="0" i="1" smtClean="0">
                        <a:latin typeface="Cambria Math" panose="02040503050406030204" pitchFamily="18" charset="0"/>
                        <a:ea typeface="Cambria Math" panose="02040503050406030204" pitchFamily="18" charset="0"/>
                      </a:rPr>
                      <m:t>Σ</m:t>
                    </m:r>
                  </m:oMath>
                </a14:m>
                <a:r>
                  <a:rPr lang="fr-FR" altLang="en-US" dirty="0">
                    <a:ea typeface="Cambria Math" panose="02040503050406030204" pitchFamily="18" charset="0"/>
                  </a:rPr>
                  <a:t>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le langage dénoté par l’expression régulière </a:t>
                </a:r>
                <a14:m>
                  <m:oMath xmlns:m="http://schemas.openxmlformats.org/officeDocument/2006/math">
                    <m:r>
                      <a:rPr lang="fr-FR" altLang="en-US" b="0" i="0" smtClean="0">
                        <a:latin typeface="Cambria Math" panose="02040503050406030204" pitchFamily="18" charset="0"/>
                        <a:ea typeface="Cambria Math" panose="02040503050406030204" pitchFamily="18" charset="0"/>
                      </a:rPr>
                      <m:t>(</m:t>
                    </m:r>
                    <m:r>
                      <m:rPr>
                        <m:sty m:val="p"/>
                      </m:rPr>
                      <a:rPr lang="fr-FR" altLang="en-US" b="0" i="0" smtClean="0">
                        <a:latin typeface="Cambria Math" panose="02040503050406030204" pitchFamily="18" charset="0"/>
                        <a:ea typeface="Cambria Math" panose="02040503050406030204" pitchFamily="18" charset="0"/>
                      </a:rPr>
                      <m:t>r</m:t>
                    </m:r>
                    <m:r>
                      <a:rPr lang="fr-FR" altLang="en-US" b="0" i="0"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𝑟</m:t>
                            </m:r>
                          </m:e>
                        </m:d>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𝐿</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le langage dénoté par l’expression régulière </a:t>
                </a:r>
                <a14:m>
                  <m:oMath xmlns:m="http://schemas.openxmlformats.org/officeDocument/2006/math">
                    <m:r>
                      <m:rPr>
                        <m:sty m:val="p"/>
                      </m:rPr>
                      <a:rPr lang="fr-FR" altLang="en-US" b="0" i="0" smtClean="0">
                        <a:latin typeface="Cambria Math" panose="02040503050406030204" pitchFamily="18" charset="0"/>
                        <a:ea typeface="Cambria Math" panose="02040503050406030204" pitchFamily="18" charset="0"/>
                      </a:rPr>
                      <m:t>r</m:t>
                    </m:r>
                    <m:r>
                      <a:rPr lang="fr-FR" altLang="en-US" b="0" i="0" smtClean="0">
                        <a:latin typeface="Cambria Math" panose="02040503050406030204" pitchFamily="18" charset="0"/>
                        <a:ea typeface="Cambria Math" panose="02040503050406030204" pitchFamily="18" charset="0"/>
                      </a:rPr>
                      <m:t>1</m:t>
                    </m:r>
                    <m:r>
                      <m:rPr>
                        <m:sty m:val="p"/>
                      </m:rPr>
                      <a:rPr lang="fr-FR" altLang="en-US" b="0" i="0" smtClean="0">
                        <a:latin typeface="Cambria Math" panose="02040503050406030204" pitchFamily="18" charset="0"/>
                        <a:ea typeface="Cambria Math" panose="02040503050406030204" pitchFamily="18" charset="0"/>
                      </a:rPr>
                      <m:t>r</m:t>
                    </m:r>
                    <m:r>
                      <a:rPr lang="fr-FR" altLang="en-US" b="0" i="0" smtClean="0">
                        <a:latin typeface="Cambria Math" panose="02040503050406030204" pitchFamily="18" charset="0"/>
                        <a:ea typeface="Cambria Math" panose="02040503050406030204" pitchFamily="18" charset="0"/>
                      </a:rPr>
                      <m:t>2</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𝐿</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oMath>
                </a14:m>
                <a:r>
                  <a:rPr lang="fr-FR" altLang="en-US" dirty="0">
                    <a:ea typeface="Cambria Math" panose="02040503050406030204" pitchFamily="18" charset="0"/>
                  </a:rPr>
                  <a:t>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le langage dénoté par l’expression régulière </a:t>
                </a:r>
                <a14:m>
                  <m:oMath xmlns:m="http://schemas.openxmlformats.org/officeDocument/2006/math">
                    <m:r>
                      <m:rPr>
                        <m:sty m:val="p"/>
                      </m:rPr>
                      <a:rPr lang="fr-FR" altLang="en-US" b="0" i="0" smtClean="0">
                        <a:latin typeface="Cambria Math" panose="02040503050406030204" pitchFamily="18" charset="0"/>
                        <a:ea typeface="Cambria Math" panose="02040503050406030204" pitchFamily="18" charset="0"/>
                      </a:rPr>
                      <m:t>r</m:t>
                    </m:r>
                    <m:r>
                      <a:rPr lang="fr-FR" altLang="en-US" b="0" i="0" smtClean="0">
                        <a:latin typeface="Cambria Math" panose="02040503050406030204" pitchFamily="18" charset="0"/>
                        <a:ea typeface="Cambria Math" panose="02040503050406030204" pitchFamily="18" charset="0"/>
                      </a:rPr>
                      <m:t>1</m:t>
                    </m:r>
                    <m:r>
                      <a:rPr lang="fr-FR" altLang="en-US" b="0" i="1" smtClean="0">
                        <a:latin typeface="Cambria Math" panose="02040503050406030204" pitchFamily="18" charset="0"/>
                        <a:ea typeface="Cambria Math" panose="02040503050406030204" pitchFamily="18" charset="0"/>
                      </a:rPr>
                      <m:t>∪</m:t>
                    </m:r>
                    <m:r>
                      <m:rPr>
                        <m:sty m:val="p"/>
                      </m:rPr>
                      <a:rPr lang="fr-FR" altLang="en-US" b="0" i="0" smtClean="0">
                        <a:latin typeface="Cambria Math" panose="02040503050406030204" pitchFamily="18" charset="0"/>
                        <a:ea typeface="Cambria Math" panose="02040503050406030204" pitchFamily="18" charset="0"/>
                      </a:rPr>
                      <m:t>r</m:t>
                    </m:r>
                    <m:r>
                      <a:rPr lang="fr-FR" altLang="en-US" b="0" i="0" smtClean="0">
                        <a:latin typeface="Cambria Math" panose="02040503050406030204" pitchFamily="18" charset="0"/>
                        <a:ea typeface="Cambria Math" panose="02040503050406030204" pitchFamily="18" charset="0"/>
                      </a:rPr>
                      <m:t>2</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𝐿</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oMath>
                </a14:m>
                <a:r>
                  <a:rPr lang="fr-FR" altLang="en-US" dirty="0">
                    <a:ea typeface="Cambria Math" panose="02040503050406030204" pitchFamily="18" charset="0"/>
                  </a:rPr>
                  <a:t>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 le langage dénoté par l’expression régulière </a:t>
                </a:r>
                <a14:m>
                  <m:oMath xmlns:m="http://schemas.openxmlformats.org/officeDocument/2006/math">
                    <m:r>
                      <m:rPr>
                        <m:sty m:val="p"/>
                      </m:rPr>
                      <a:rPr lang="fr-FR" altLang="en-US" b="0" i="0" smtClean="0">
                        <a:latin typeface="Cambria Math" panose="02040503050406030204" pitchFamily="18" charset="0"/>
                        <a:ea typeface="Cambria Math" panose="02040503050406030204" pitchFamily="18" charset="0"/>
                      </a:rPr>
                      <m:t>r</m:t>
                    </m:r>
                    <m:r>
                      <a:rPr lang="fr-FR" altLang="en-US" b="0" i="0"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𝑒𝑠𝑡</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𝐿</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m:t>
                        </m:r>
                      </m:e>
                    </m:d>
                    <m:r>
                      <a:rPr lang="fr-FR" altLang="en-US" b="0" i="1" smtClean="0">
                        <a:latin typeface="Cambria Math" panose="02040503050406030204" pitchFamily="18" charset="0"/>
                        <a:ea typeface="Cambria Math" panose="02040503050406030204" pitchFamily="18" charset="0"/>
                      </a:rPr>
                      <m:t>=</m:t>
                    </m:r>
                    <m:sSup>
                      <m:sSupPr>
                        <m:ctrlPr>
                          <a:rPr lang="fr-FR" altLang="en-US" b="0" i="1" smtClean="0">
                            <a:latin typeface="Cambria Math" panose="02040503050406030204" pitchFamily="18" charset="0"/>
                            <a:ea typeface="Cambria Math" panose="02040503050406030204" pitchFamily="18" charset="0"/>
                          </a:rPr>
                        </m:ctrlPr>
                      </m:sSupPr>
                      <m:e>
                        <m:r>
                          <a:rPr lang="fr-FR" altLang="en-US" b="0" i="1" smtClean="0">
                            <a:latin typeface="Cambria Math" panose="02040503050406030204" pitchFamily="18" charset="0"/>
                            <a:ea typeface="Cambria Math" panose="02040503050406030204" pitchFamily="18" charset="0"/>
                          </a:rPr>
                          <m:t>𝑙</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m:t>
                        </m:r>
                      </m:e>
                      <m:sup>
                        <m:r>
                          <a:rPr lang="fr-FR" altLang="en-US" b="0" i="1" smtClean="0">
                            <a:latin typeface="Cambria Math" panose="02040503050406030204" pitchFamily="18" charset="0"/>
                            <a:ea typeface="Cambria Math" panose="02040503050406030204" pitchFamily="18" charset="0"/>
                          </a:rPr>
                          <m:t>∗</m:t>
                        </m:r>
                      </m:sup>
                    </m:sSup>
                  </m:oMath>
                </a14:m>
                <a:endParaRPr lang="fr-FR" altLang="en-US" dirty="0">
                  <a:ea typeface="Cambria Math" panose="02040503050406030204" pitchFamily="18" charset="0"/>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3145" r="-2059" b="-131"/>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369044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interprétation</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lnSpc>
                    <a:spcPct val="100000"/>
                  </a:lnSpc>
                  <a:spcBef>
                    <a:spcPct val="20000"/>
                  </a:spcBef>
                  <a:buClr>
                    <a:srgbClr val="000090"/>
                  </a:buClr>
                </a:pPr>
                <a:r>
                  <a:rPr lang="fr-FR" altLang="en-US" dirty="0"/>
                  <a:t>Pour interpréter sans ambiguïté une expression régulière on utilise les conventions suivantes sur la priorité des opérations est la suivante :</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l’opération d’étoile * est la plus prioritaire (c’est-à-dire que </a:t>
                </a:r>
                <a14:m>
                  <m:oMath xmlns:m="http://schemas.openxmlformats.org/officeDocument/2006/math">
                    <m:r>
                      <a:rPr lang="fr-FR" altLang="en-US" b="0" i="1" smtClean="0">
                        <a:latin typeface="Cambria Math" panose="02040503050406030204" pitchFamily="18" charset="0"/>
                        <a:ea typeface="Cambria Math" panose="02040503050406030204" pitchFamily="18" charset="0"/>
                      </a:rPr>
                      <m:t>𝑎𝑏</m:t>
                    </m:r>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se lit comme </a:t>
                </a:r>
                <a14:m>
                  <m:oMath xmlns:m="http://schemas.openxmlformats.org/officeDocument/2006/math">
                    <m:r>
                      <a:rPr lang="fr-FR" altLang="en-US" b="0" i="1" smtClean="0">
                        <a:latin typeface="Cambria Math" panose="02040503050406030204" pitchFamily="18" charset="0"/>
                        <a:ea typeface="Cambria Math" panose="02040503050406030204" pitchFamily="18" charset="0"/>
                      </a:rPr>
                      <m:t>𝑎</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𝑏</m:t>
                        </m:r>
                      </m:e>
                    </m:d>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et non pas comme </a:t>
                </a:r>
                <a14:m>
                  <m:oMath xmlns:m="http://schemas.openxmlformats.org/officeDocument/2006/math">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𝑎𝑏</m:t>
                        </m:r>
                      </m:e>
                    </m:d>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la concaténation est de priorité intermédiaire,</a:t>
                </a:r>
              </a:p>
              <a:p>
                <a:pPr marL="717550" indent="-266700" eaLnBrk="0" hangingPunct="0">
                  <a:spcBef>
                    <a:spcPct val="20000"/>
                  </a:spcBef>
                  <a:buClr>
                    <a:srgbClr val="000090"/>
                  </a:buClr>
                  <a:buFont typeface="Arial" panose="020B0604020202020204" pitchFamily="34" charset="0"/>
                  <a:buChar char="•"/>
                </a:pPr>
                <a:r>
                  <a:rPr lang="fr-FR" altLang="en-US" dirty="0">
                    <a:ea typeface="Cambria Math" panose="02040503050406030204" pitchFamily="18" charset="0"/>
                  </a:rPr>
                  <a:t>et l’opérateur de disjonction </a:t>
                </a:r>
                <a14:m>
                  <m:oMath xmlns:m="http://schemas.openxmlformats.org/officeDocument/2006/math">
                    <m:r>
                      <a:rPr lang="fr-FR" altLang="en-US"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est la moins prioritaire (c’est-à-dire que </a:t>
                </a:r>
                <a14:m>
                  <m:oMath xmlns:m="http://schemas.openxmlformats.org/officeDocument/2006/math">
                    <m:r>
                      <a:rPr lang="fr-FR" altLang="en-US" b="0" i="0"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𝑎𝑏</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𝑐𝑑</m:t>
                    </m:r>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se lit comme </a:t>
                </a:r>
                <a14:m>
                  <m:oMath xmlns:m="http://schemas.openxmlformats.org/officeDocument/2006/math">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𝑎𝑏</m:t>
                        </m:r>
                      </m:e>
                    </m:d>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𝑐𝑑</m:t>
                    </m:r>
                    <m:r>
                      <a:rPr lang="fr-FR" altLang="en-US" b="0" i="1" smtClean="0">
                        <a:latin typeface="Cambria Math" panose="02040503050406030204" pitchFamily="18" charset="0"/>
                        <a:ea typeface="Cambria Math" panose="02040503050406030204" pitchFamily="18" charset="0"/>
                      </a:rPr>
                      <m:t>)</m:t>
                    </m:r>
                  </m:oMath>
                </a14:m>
                <a:r>
                  <a:rPr lang="fr-FR" altLang="en-US" dirty="0">
                    <a:ea typeface="Cambria Math" panose="02040503050406030204" pitchFamily="18" charset="0"/>
                  </a:rPr>
                  <a:t> et pas comme </a:t>
                </a:r>
                <a14:m>
                  <m:oMath xmlns:m="http://schemas.openxmlformats.org/officeDocument/2006/math">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𝑑</m:t>
                    </m:r>
                  </m:oMath>
                </a14:m>
                <a:endParaRPr lang="fr-FR" altLang="en-US" dirty="0">
                  <a:ea typeface="Cambria Math" panose="02040503050406030204" pitchFamily="18" charset="0"/>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1311"/>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503386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b="1" i="1" dirty="0">
                    <a:solidFill>
                      <a:srgbClr val="C00000"/>
                    </a:solidFill>
                  </a:rPr>
                  <a:t>Proposition : </a:t>
                </a:r>
                <a:r>
                  <a:rPr lang="fr-FR" altLang="en-US" dirty="0"/>
                  <a:t>Un langage est régulier si et seulement si il est défini par une expression régulière</a:t>
                </a:r>
              </a:p>
              <a:p>
                <a:pPr marL="266700" indent="-266700" eaLnBrk="0" hangingPunct="0">
                  <a:spcBef>
                    <a:spcPct val="20000"/>
                  </a:spcBef>
                  <a:buClr>
                    <a:srgbClr val="000090"/>
                  </a:buClr>
                </a:pPr>
                <a:r>
                  <a:rPr lang="fr-FR" altLang="en-US" i="1" dirty="0"/>
                  <a:t>Démonstration :</a:t>
                </a:r>
                <a:r>
                  <a:rPr lang="fr-FR" altLang="en-US" dirty="0"/>
                  <a:t> triviale à faire comme exercice</a:t>
                </a:r>
              </a:p>
              <a:p>
                <a:pPr marL="266700" indent="-266700" eaLnBrk="0" hangingPunct="0">
                  <a:spcBef>
                    <a:spcPct val="20000"/>
                  </a:spcBef>
                  <a:buClr>
                    <a:srgbClr val="000090"/>
                  </a:buClr>
                </a:pPr>
                <a:r>
                  <a:rPr lang="fr-FR" altLang="en-US" b="1" i="1" dirty="0">
                    <a:solidFill>
                      <a:srgbClr val="C00000"/>
                    </a:solidFill>
                  </a:rPr>
                  <a:t>Définition : </a:t>
                </a:r>
                <a:r>
                  <a:rPr lang="fr-FR" altLang="en-US" dirty="0"/>
                  <a:t>On dira qu’un mot w vérifie une expression régulière r lorsque ce mot appartient au langage qu’elle dénote (i.e., </a:t>
                </a:r>
                <a14:m>
                  <m:oMath xmlns:m="http://schemas.openxmlformats.org/officeDocument/2006/math">
                    <m:r>
                      <a:rPr lang="fr-FR" altLang="en-US" b="0" i="1" smtClean="0">
                        <a:latin typeface="Cambria Math" panose="02040503050406030204" pitchFamily="18" charset="0"/>
                      </a:rPr>
                      <m:t>𝑤</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𝐿</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m:t>
                    </m:r>
                  </m:oMath>
                </a14:m>
                <a:r>
                  <a:rPr lang="fr-FR" altLang="en-US" dirty="0"/>
                  <a:t>).</a:t>
                </a:r>
              </a:p>
              <a:p>
                <a:pPr marL="266700" indent="-266700" eaLnBrk="0" hangingPunct="0">
                  <a:spcBef>
                    <a:spcPct val="20000"/>
                  </a:spcBef>
                  <a:buClr>
                    <a:srgbClr val="000090"/>
                  </a:buClr>
                </a:pPr>
                <a:r>
                  <a:rPr lang="fr-FR" altLang="en-US" dirty="0"/>
                  <a:t>Exemple : dccc vérifie l’expression régulière </a:t>
                </a:r>
                <a14:m>
                  <m:oMath xmlns:m="http://schemas.openxmlformats.org/officeDocument/2006/math">
                    <m:r>
                      <a:rPr lang="fr-FR" altLang="en-US" b="0" i="1" smtClean="0">
                        <a:latin typeface="Cambria Math" panose="02040503050406030204" pitchFamily="18" charset="0"/>
                      </a:rPr>
                      <m:t>𝑑</m:t>
                    </m:r>
                    <m:d>
                      <m:dPr>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𝑐</m:t>
                        </m:r>
                      </m:e>
                    </m:d>
                    <m:r>
                      <a:rPr lang="fr-FR" altLang="en-US" b="0" i="1" smtClean="0">
                        <a:latin typeface="Cambria Math" panose="02040503050406030204" pitchFamily="18" charset="0"/>
                      </a:rPr>
                      <m:t>∗</m:t>
                    </m:r>
                  </m:oMath>
                </a14:m>
                <a:r>
                  <a:rPr lang="fr-FR" altLang="en-US" dirty="0"/>
                  <a:t>.</a:t>
                </a:r>
              </a:p>
              <a:p>
                <a:pPr marL="266700" indent="-266700" eaLnBrk="0" hangingPunct="0">
                  <a:spcBef>
                    <a:spcPct val="20000"/>
                  </a:spcBef>
                  <a:buClr>
                    <a:srgbClr val="000090"/>
                  </a:buClr>
                </a:pPr>
                <a:endParaRPr lang="fr-FR" altLang="en-US"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r="-412"/>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679115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b="1" i="1" dirty="0">
                    <a:solidFill>
                      <a:srgbClr val="C00000"/>
                    </a:solidFill>
                  </a:rPr>
                  <a:t>Exemples : </a:t>
                </a:r>
              </a:p>
              <a:p>
                <a:pPr marL="266700" indent="-266700" eaLnBrk="0" hangingPunct="0">
                  <a:spcBef>
                    <a:spcPct val="20000"/>
                  </a:spcBef>
                  <a:buClr>
                    <a:srgbClr val="000090"/>
                  </a:buClr>
                </a:pPr>
                <a:r>
                  <a:rPr lang="fr-FR" altLang="en-US" dirty="0"/>
                  <a:t>À titre d’exemple, sur l’alphabet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𝑑</m:t>
                    </m:r>
                    <m:r>
                      <a:rPr lang="fr-FR" altLang="en-US" b="0" i="1" smtClean="0">
                        <a:latin typeface="Cambria Math" panose="02040503050406030204" pitchFamily="18" charset="0"/>
                        <a:ea typeface="Cambria Math" panose="02040503050406030204" pitchFamily="18" charset="0"/>
                      </a:rPr>
                      <m:t>}</m:t>
                    </m:r>
                  </m:oMath>
                </a14:m>
                <a:r>
                  <a:rPr lang="fr-FR" altLang="en-US" dirty="0"/>
                  <a:t> :</a:t>
                </a:r>
              </a:p>
              <a:p>
                <a:pPr marL="908050" indent="-457200" eaLnBrk="0" hangingPunct="0">
                  <a:spcBef>
                    <a:spcPct val="20000"/>
                  </a:spcBef>
                  <a:buClr>
                    <a:srgbClr val="000090"/>
                  </a:buClr>
                  <a:buFont typeface="Arial" panose="020B0604020202020204" pitchFamily="34" charset="0"/>
                  <a:buChar char="•"/>
                </a:pPr>
                <a:r>
                  <a:rPr lang="fr-FR" altLang="en-US" dirty="0"/>
                  <a:t>c est une expression régulière qui dénote le langage </a:t>
                </a:r>
                <a14:m>
                  <m:oMath xmlns:m="http://schemas.openxmlformats.org/officeDocument/2006/math">
                    <m:r>
                      <a:rPr lang="fr-FR" altLang="en-US" b="0" i="1" smtClean="0">
                        <a:latin typeface="Cambria Math" panose="02040503050406030204" pitchFamily="18" charset="0"/>
                      </a:rPr>
                      <m:t>{</m:t>
                    </m:r>
                    <m:r>
                      <a:rPr lang="fr-FR" altLang="en-US" b="0" i="1" smtClean="0">
                        <a:latin typeface="Cambria Math" panose="02040503050406030204" pitchFamily="18" charset="0"/>
                      </a:rPr>
                      <m:t>𝑐</m:t>
                    </m:r>
                    <m:r>
                      <a:rPr lang="fr-FR" altLang="en-US" b="0" i="1" smtClean="0">
                        <a:latin typeface="Cambria Math" panose="02040503050406030204" pitchFamily="18" charset="0"/>
                      </a:rPr>
                      <m:t>}</m:t>
                    </m:r>
                  </m:oMath>
                </a14:m>
                <a:r>
                  <a:rPr lang="fr-FR" altLang="en-US" dirty="0"/>
                  <a:t>,</a:t>
                </a:r>
              </a:p>
              <a:p>
                <a:pPr marL="908050" indent="-457200" eaLnBrk="0" hangingPunct="0">
                  <a:spcBef>
                    <a:spcPct val="20000"/>
                  </a:spcBef>
                  <a:buClr>
                    <a:srgbClr val="000090"/>
                  </a:buClr>
                  <a:buFont typeface="Arial" panose="020B0604020202020204" pitchFamily="34" charset="0"/>
                  <a:buChar char="•"/>
                </a:pPr>
                <a:r>
                  <a:rPr lang="fr-FR" altLang="en-US" dirty="0"/>
                  <a:t>donc </a:t>
                </a:r>
                <a14:m>
                  <m:oMath xmlns:m="http://schemas.openxmlformats.org/officeDocument/2006/math">
                    <m:r>
                      <m:rPr>
                        <m:sty m:val="p"/>
                      </m:rPr>
                      <a:rPr lang="fr-FR" altLang="en-US" b="0" i="0" smtClean="0">
                        <a:latin typeface="Cambria Math" panose="02040503050406030204" pitchFamily="18" charset="0"/>
                      </a:rPr>
                      <m:t>c</m:t>
                    </m:r>
                    <m:r>
                      <a:rPr lang="fr-FR" altLang="en-US" b="0" i="1" smtClean="0">
                        <a:latin typeface="Cambria Math" panose="02040503050406030204" pitchFamily="18" charset="0"/>
                      </a:rPr>
                      <m:t>∗</m:t>
                    </m:r>
                  </m:oMath>
                </a14:m>
                <a:r>
                  <a:rPr lang="fr-FR" altLang="en-US" dirty="0"/>
                  <a:t> en est une qui dénote le langage </a:t>
                </a:r>
                <a14:m>
                  <m:oMath xmlns:m="http://schemas.openxmlformats.org/officeDocument/2006/math">
                    <m:sSup>
                      <m:sSupPr>
                        <m:ctrlPr>
                          <a:rPr lang="fr-FR" altLang="en-US" i="1" smtClean="0">
                            <a:latin typeface="Cambria Math" panose="02040503050406030204" pitchFamily="18" charset="0"/>
                          </a:rPr>
                        </m:ctrlPr>
                      </m:sSupPr>
                      <m:e>
                        <m:r>
                          <a:rPr lang="fr-FR" altLang="en-US" b="0" i="1" smtClean="0">
                            <a:latin typeface="Cambria Math" panose="02040503050406030204" pitchFamily="18" charset="0"/>
                          </a:rPr>
                          <m:t>{</m:t>
                        </m:r>
                        <m:r>
                          <a:rPr lang="fr-FR" altLang="en-US" b="0" i="1" smtClean="0">
                            <a:latin typeface="Cambria Math" panose="02040503050406030204" pitchFamily="18" charset="0"/>
                          </a:rPr>
                          <m:t>𝑐</m:t>
                        </m:r>
                        <m:r>
                          <a:rPr lang="fr-FR" altLang="en-US" b="0" i="1" smtClean="0">
                            <a:latin typeface="Cambria Math" panose="02040503050406030204" pitchFamily="18" charset="0"/>
                          </a:rPr>
                          <m:t>}</m:t>
                        </m:r>
                      </m:e>
                      <m:sup>
                        <m:r>
                          <a:rPr lang="fr-FR" altLang="en-US" b="0" i="1" smtClean="0">
                            <a:latin typeface="Cambria Math" panose="02040503050406030204" pitchFamily="18" charset="0"/>
                          </a:rPr>
                          <m:t>∗</m:t>
                        </m:r>
                      </m:sup>
                    </m:sSup>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𝜀</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𝑐𝑐</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𝑐𝑐𝑐</m:t>
                        </m:r>
                        <m:r>
                          <a:rPr lang="fr-FR" altLang="en-US" b="0" i="1" smtClean="0">
                            <a:latin typeface="Cambria Math" panose="02040503050406030204" pitchFamily="18" charset="0"/>
                            <a:ea typeface="Cambria Math" panose="02040503050406030204" pitchFamily="18" charset="0"/>
                          </a:rPr>
                          <m:t>, …</m:t>
                        </m:r>
                      </m:e>
                    </m:d>
                  </m:oMath>
                </a14:m>
                <a:endParaRPr lang="fr-FR" altLang="en-US" b="0" dirty="0"/>
              </a:p>
              <a:p>
                <a:pPr marL="908050" indent="-457200" eaLnBrk="0" hangingPunct="0">
                  <a:spcBef>
                    <a:spcPct val="20000"/>
                  </a:spcBef>
                  <a:buClr>
                    <a:srgbClr val="000090"/>
                  </a:buClr>
                  <a:buFont typeface="Arial" panose="020B0604020202020204" pitchFamily="34" charset="0"/>
                  <a:buChar char="•"/>
                </a:pPr>
                <a:r>
                  <a:rPr lang="fr-FR" altLang="en-US" dirty="0"/>
                  <a:t>et enfin </a:t>
                </a:r>
                <a14:m>
                  <m:oMath xmlns:m="http://schemas.openxmlformats.org/officeDocument/2006/math">
                    <m:r>
                      <a:rPr lang="fr-FR" altLang="en-US" b="0" i="1" smtClean="0">
                        <a:latin typeface="Cambria Math" panose="02040503050406030204" pitchFamily="18" charset="0"/>
                      </a:rPr>
                      <m:t>𝑑</m:t>
                    </m:r>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𝑐</m:t>
                        </m:r>
                      </m:e>
                      <m:sup>
                        <m:r>
                          <a:rPr lang="fr-FR" altLang="en-US" b="0" i="1" smtClean="0">
                            <a:latin typeface="Cambria Math" panose="02040503050406030204" pitchFamily="18" charset="0"/>
                          </a:rPr>
                          <m:t>∗</m:t>
                        </m:r>
                      </m:sup>
                    </m:sSup>
                  </m:oMath>
                </a14:m>
                <a:r>
                  <a:rPr lang="fr-FR" altLang="en-US" dirty="0"/>
                  <a:t> en est une qui dénote le langage </a:t>
                </a:r>
                <a14:m>
                  <m:oMath xmlns:m="http://schemas.openxmlformats.org/officeDocument/2006/math">
                    <m:r>
                      <a:rPr lang="fr-FR" altLang="en-US" b="0" i="1" smtClean="0">
                        <a:latin typeface="Cambria Math" panose="02040503050406030204" pitchFamily="18" charset="0"/>
                      </a:rPr>
                      <m:t>{</m:t>
                    </m:r>
                    <m:r>
                      <a:rPr lang="fr-FR" altLang="en-US" b="0" i="1" smtClean="0">
                        <a:latin typeface="Cambria Math" panose="02040503050406030204" pitchFamily="18" charset="0"/>
                      </a:rPr>
                      <m:t>𝑑</m:t>
                    </m:r>
                    <m:r>
                      <a:rPr lang="fr-FR" altLang="en-US" b="0" i="1" smtClean="0">
                        <a:latin typeface="Cambria Math" panose="02040503050406030204" pitchFamily="18" charset="0"/>
                      </a:rPr>
                      <m:t>, </m:t>
                    </m:r>
                    <m:r>
                      <a:rPr lang="fr-FR" altLang="en-US" b="0" i="1" smtClean="0">
                        <a:latin typeface="Cambria Math" panose="02040503050406030204" pitchFamily="18" charset="0"/>
                      </a:rPr>
                      <m:t>𝑑𝑐</m:t>
                    </m:r>
                    <m:r>
                      <a:rPr lang="fr-FR" altLang="en-US" b="0" i="1" smtClean="0">
                        <a:latin typeface="Cambria Math" panose="02040503050406030204" pitchFamily="18" charset="0"/>
                      </a:rPr>
                      <m:t>, </m:t>
                    </m:r>
                    <m:r>
                      <a:rPr lang="fr-FR" altLang="en-US" b="0" i="1" smtClean="0">
                        <a:latin typeface="Cambria Math" panose="02040503050406030204" pitchFamily="18" charset="0"/>
                      </a:rPr>
                      <m:t>𝑑𝑐𝑐</m:t>
                    </m:r>
                    <m:r>
                      <a:rPr lang="fr-FR" altLang="en-US" b="0" i="1" smtClean="0">
                        <a:latin typeface="Cambria Math" panose="02040503050406030204" pitchFamily="18" charset="0"/>
                      </a:rPr>
                      <m:t>, </m:t>
                    </m:r>
                    <m:r>
                      <a:rPr lang="fr-FR" altLang="en-US" b="0" i="1" smtClean="0">
                        <a:latin typeface="Cambria Math" panose="02040503050406030204" pitchFamily="18" charset="0"/>
                      </a:rPr>
                      <m:t>𝑑𝑐𝑐𝑐</m:t>
                    </m:r>
                    <m:r>
                      <a:rPr lang="fr-FR" altLang="en-US" b="0" i="1" smtClean="0">
                        <a:latin typeface="Cambria Math" panose="02040503050406030204" pitchFamily="18" charset="0"/>
                      </a:rPr>
                      <m:t>, …}</m:t>
                    </m:r>
                  </m:oMath>
                </a14:m>
                <a:r>
                  <a:rPr lang="fr-FR" altLang="en-US" dirty="0"/>
                  <a:t> des mots formés d’un d et d’une succession quelconques de c.</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009252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b="1" i="1" dirty="0">
                    <a:solidFill>
                      <a:srgbClr val="C00000"/>
                    </a:solidFill>
                  </a:rPr>
                  <a:t>Exemples : </a:t>
                </a:r>
              </a:p>
              <a:p>
                <a:pPr marL="266700" indent="-266700" eaLnBrk="0" hangingPunct="0">
                  <a:spcBef>
                    <a:spcPct val="20000"/>
                  </a:spcBef>
                  <a:buClr>
                    <a:srgbClr val="000090"/>
                  </a:buClr>
                </a:pPr>
                <a:r>
                  <a:rPr lang="fr-FR" altLang="en-US" dirty="0"/>
                  <a:t>Voici quelques autres exemples, toujours sur sur l’alphabet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𝑑</m:t>
                    </m:r>
                    <m:r>
                      <a:rPr lang="fr-FR" altLang="en-US" b="0" i="1" smtClean="0">
                        <a:latin typeface="Cambria Math" panose="02040503050406030204" pitchFamily="18" charset="0"/>
                        <a:ea typeface="Cambria Math" panose="02040503050406030204" pitchFamily="18" charset="0"/>
                      </a:rPr>
                      <m:t>}</m:t>
                    </m:r>
                  </m:oMath>
                </a14:m>
                <a:r>
                  <a:rPr lang="fr-FR" altLang="en-US"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𝑎</m:t>
                    </m:r>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rPr>
                      <m:t>𝑏</m:t>
                    </m:r>
                    <m:r>
                      <a:rPr lang="fr-FR" altLang="en-US" sz="2700" b="0" i="1" smtClean="0">
                        <a:latin typeface="Cambria Math" panose="02040503050406030204" pitchFamily="18" charset="0"/>
                      </a:rPr>
                      <m:t>)</m:t>
                    </m:r>
                  </m:oMath>
                </a14:m>
                <a:r>
                  <a:rPr lang="fr-FR" altLang="en-US" sz="2700" dirty="0"/>
                  <a:t> dénote le langage </a:t>
                </a:r>
                <a14:m>
                  <m:oMath xmlns:m="http://schemas.openxmlformats.org/officeDocument/2006/math">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𝑎</m:t>
                        </m:r>
                      </m:e>
                    </m:d>
                    <m:r>
                      <a:rPr lang="fr-FR" altLang="en-US" sz="2700" b="0" i="1" smtClean="0">
                        <a:latin typeface="Cambria Math" panose="02040503050406030204" pitchFamily="18" charset="0"/>
                        <a:ea typeface="Cambria Math" panose="02040503050406030204" pitchFamily="18" charset="0"/>
                      </a:rPr>
                      <m:t>∪</m:t>
                    </m:r>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𝑏</m:t>
                        </m:r>
                      </m:e>
                    </m:d>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𝑎</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𝑏</m:t>
                    </m:r>
                    <m:r>
                      <a:rPr lang="fr-FR" altLang="en-US" sz="2700" b="0" i="1" smtClean="0">
                        <a:latin typeface="Cambria Math" panose="02040503050406030204" pitchFamily="18" charset="0"/>
                      </a:rPr>
                      <m:t>}</m:t>
                    </m:r>
                  </m:oMath>
                </a14:m>
                <a:r>
                  <a:rPr lang="fr-FR" altLang="en-US" sz="2700" dirty="0"/>
                  <a:t> constitué des deux mots d’une seule lettre a et b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b="0" i="0" smtClean="0">
                        <a:latin typeface="Cambria Math" panose="02040503050406030204" pitchFamily="18" charset="0"/>
                      </a:rPr>
                      <m:t>(</m:t>
                    </m:r>
                    <m:r>
                      <m:rPr>
                        <m:sty m:val="p"/>
                      </m:rPr>
                      <a:rPr lang="fr-FR" altLang="en-US" sz="2700" b="0" i="0" smtClean="0">
                        <a:latin typeface="Cambria Math" panose="02040503050406030204" pitchFamily="18" charset="0"/>
                      </a:rPr>
                      <m:t>a</m:t>
                    </m:r>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𝑏</m:t>
                    </m:r>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rPr>
                      <m:t>𝑐</m:t>
                    </m:r>
                  </m:oMath>
                </a14:m>
                <a:r>
                  <a:rPr lang="fr-FR" altLang="en-US" sz="2700" dirty="0"/>
                  <a:t> dénote le langage </a:t>
                </a:r>
                <a14:m>
                  <m:oMath xmlns:m="http://schemas.openxmlformats.org/officeDocument/2006/math">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𝑎</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𝑏</m:t>
                        </m:r>
                      </m:e>
                    </m:d>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𝑐</m:t>
                        </m:r>
                      </m:e>
                    </m:d>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𝑎𝑐</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𝑏𝑐</m:t>
                    </m:r>
                    <m:r>
                      <a:rPr lang="fr-FR" altLang="en-US" sz="2700" b="0" i="1" smtClean="0">
                        <a:latin typeface="Cambria Math" panose="02040503050406030204" pitchFamily="18" charset="0"/>
                      </a:rPr>
                      <m:t>}</m:t>
                    </m:r>
                  </m:oMath>
                </a14:m>
                <a:r>
                  <a:rPr lang="fr-FR" altLang="en-US" sz="2700" dirty="0"/>
                  <a:t>, de même que </a:t>
                </a:r>
                <a14:m>
                  <m:oMath xmlns:m="http://schemas.openxmlformats.org/officeDocument/2006/math">
                    <m:r>
                      <a:rPr lang="fr-FR" altLang="en-US" sz="2700" b="0" i="1" smtClean="0">
                        <a:latin typeface="Cambria Math" panose="02040503050406030204" pitchFamily="18" charset="0"/>
                      </a:rPr>
                      <m:t>𝑎𝑐</m:t>
                    </m:r>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rPr>
                      <m:t>𝑏𝑐</m:t>
                    </m:r>
                  </m:oMath>
                </a14:m>
                <a:r>
                  <a:rPr lang="fr-FR" altLang="en-US" sz="2700"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d>
                      <m:dPr>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𝑏𝑐</m:t>
                        </m:r>
                      </m:e>
                    </m:d>
                    <m:r>
                      <a:rPr lang="fr-FR" altLang="en-US" sz="2700" b="0" i="1" smtClean="0">
                        <a:latin typeface="Cambria Math" panose="02040503050406030204" pitchFamily="18" charset="0"/>
                      </a:rPr>
                      <m:t>∗</m:t>
                    </m:r>
                  </m:oMath>
                </a14:m>
                <a:r>
                  <a:rPr lang="fr-FR" altLang="en-US" sz="2700" dirty="0"/>
                  <a:t> dénote le langage </a:t>
                </a:r>
                <a14:m>
                  <m:oMath xmlns:m="http://schemas.openxmlformats.org/officeDocument/2006/math">
                    <m:sSup>
                      <m:sSupPr>
                        <m:ctrlPr>
                          <a:rPr lang="fr-FR" altLang="en-US" sz="2700" i="1" smtClean="0">
                            <a:latin typeface="Cambria Math" panose="02040503050406030204" pitchFamily="18" charset="0"/>
                          </a:rPr>
                        </m:ctrlPr>
                      </m:sSupPr>
                      <m:e>
                        <m:r>
                          <a:rPr lang="fr-FR" altLang="en-US" sz="2700" b="0" i="1" smtClean="0">
                            <a:latin typeface="Cambria Math" panose="02040503050406030204" pitchFamily="18" charset="0"/>
                          </a:rPr>
                          <m:t>(</m:t>
                        </m:r>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𝑏</m:t>
                            </m:r>
                          </m:e>
                        </m:d>
                        <m:r>
                          <a:rPr lang="fr-FR" altLang="en-US" sz="2700" b="0" i="1" smtClean="0">
                            <a:latin typeface="Cambria Math" panose="02040503050406030204" pitchFamily="18" charset="0"/>
                          </a:rPr>
                          <m:t>.</m:t>
                        </m:r>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𝑐</m:t>
                            </m:r>
                          </m:e>
                        </m:d>
                        <m:r>
                          <a:rPr lang="fr-FR" altLang="en-US" sz="2700" b="0" i="1" smtClean="0">
                            <a:latin typeface="Cambria Math" panose="02040503050406030204" pitchFamily="18" charset="0"/>
                          </a:rPr>
                          <m:t>)</m:t>
                        </m:r>
                      </m:e>
                      <m:sup>
                        <m:r>
                          <a:rPr lang="fr-FR" altLang="en-US" sz="2700" b="0" i="1" smtClean="0">
                            <a:latin typeface="Cambria Math" panose="02040503050406030204" pitchFamily="18" charset="0"/>
                          </a:rPr>
                          <m:t>∗</m:t>
                        </m:r>
                      </m:sup>
                    </m:sSup>
                    <m:r>
                      <a:rPr lang="fr-FR" altLang="en-US" sz="2700" b="0" i="1" smtClean="0">
                        <a:latin typeface="Cambria Math" panose="02040503050406030204" pitchFamily="18" charset="0"/>
                      </a:rPr>
                      <m:t>=</m:t>
                    </m:r>
                    <m:sSup>
                      <m:sSupPr>
                        <m:ctrlPr>
                          <a:rPr lang="fr-FR" altLang="en-US" sz="2700" b="0" i="1" smtClean="0">
                            <a:latin typeface="Cambria Math" panose="02040503050406030204" pitchFamily="18" charset="0"/>
                          </a:rPr>
                        </m:ctrlPr>
                      </m:sSupPr>
                      <m:e>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𝑏𝑐</m:t>
                        </m:r>
                        <m:r>
                          <a:rPr lang="fr-FR" altLang="en-US" sz="2700" b="0" i="1" smtClean="0">
                            <a:latin typeface="Cambria Math" panose="02040503050406030204" pitchFamily="18" charset="0"/>
                          </a:rPr>
                          <m:t>}</m:t>
                        </m:r>
                      </m:e>
                      <m:sup>
                        <m:r>
                          <a:rPr lang="fr-FR" altLang="en-US" sz="2700" b="0" i="1" smtClean="0">
                            <a:latin typeface="Cambria Math" panose="02040503050406030204" pitchFamily="18" charset="0"/>
                          </a:rPr>
                          <m:t>∗</m:t>
                        </m:r>
                      </m:sup>
                    </m:sSup>
                    <m:r>
                      <a:rPr lang="fr-FR" altLang="en-US" sz="2700" b="0" i="1" smtClean="0">
                        <a:latin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𝜀</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𝑏𝑐</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𝑏𝑐𝑏𝑐</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𝑏𝑐𝑏𝑐𝑏𝑐</m:t>
                    </m:r>
                    <m:r>
                      <a:rPr lang="fr-FR" altLang="en-US" sz="2700" b="0" i="1" smtClean="0">
                        <a:latin typeface="Cambria Math" panose="02040503050406030204" pitchFamily="18" charset="0"/>
                        <a:ea typeface="Cambria Math" panose="02040503050406030204" pitchFamily="18" charset="0"/>
                      </a:rPr>
                      <m:t>, …}</m:t>
                    </m:r>
                  </m:oMath>
                </a14:m>
                <a:r>
                  <a:rPr lang="fr-FR" altLang="en-US" sz="2700"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d>
                      <m:dPr>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𝑎</m:t>
                        </m:r>
                        <m:r>
                          <a:rPr lang="fr-FR" altLang="en-US" sz="2700" b="0" i="1" smtClean="0">
                            <a:latin typeface="Cambria Math" panose="02040503050406030204" pitchFamily="18" charset="0"/>
                            <a:ea typeface="Cambria Math" panose="02040503050406030204" pitchFamily="18" charset="0"/>
                          </a:rPr>
                          <m:t>∪</m:t>
                        </m:r>
                        <m:d>
                          <m:dPr>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𝑏𝑐</m:t>
                            </m:r>
                          </m:e>
                        </m:d>
                        <m:r>
                          <a:rPr lang="fr-FR" altLang="en-US" sz="2700" b="0" i="1" smtClean="0">
                            <a:latin typeface="Cambria Math" panose="02040503050406030204" pitchFamily="18" charset="0"/>
                          </a:rPr>
                          <m:t>∗</m:t>
                        </m:r>
                      </m:e>
                    </m:d>
                  </m:oMath>
                </a14:m>
                <a:r>
                  <a:rPr lang="fr-FR" altLang="en-US" sz="2700" dirty="0"/>
                  <a:t> dénote le langage </a:t>
                </a:r>
                <a14:m>
                  <m:oMath xmlns:m="http://schemas.openxmlformats.org/officeDocument/2006/math">
                    <m:d>
                      <m:dPr>
                        <m:begChr m:val="{"/>
                        <m:endChr m:val="}"/>
                        <m:ctrlPr>
                          <a:rPr lang="fr-FR" altLang="en-US" sz="2700" b="0" i="1" smtClean="0">
                            <a:latin typeface="Cambria Math" panose="02040503050406030204" pitchFamily="18" charset="0"/>
                          </a:rPr>
                        </m:ctrlPr>
                      </m:dPr>
                      <m:e>
                        <m:r>
                          <a:rPr lang="fr-FR" altLang="en-US" sz="2700" b="0" i="1" smtClean="0">
                            <a:latin typeface="Cambria Math" panose="02040503050406030204" pitchFamily="18" charset="0"/>
                          </a:rPr>
                          <m:t>𝑎</m:t>
                        </m:r>
                      </m:e>
                    </m:d>
                    <m:r>
                      <a:rPr lang="fr-FR" altLang="en-US" sz="2700" b="0" i="1" smtClean="0">
                        <a:latin typeface="Cambria Math" panose="02040503050406030204" pitchFamily="18" charset="0"/>
                        <a:ea typeface="Cambria Math" panose="02040503050406030204" pitchFamily="18" charset="0"/>
                      </a:rPr>
                      <m:t>∪</m:t>
                    </m:r>
                    <m:sSup>
                      <m:sSupPr>
                        <m:ctrlPr>
                          <a:rPr lang="fr-FR" altLang="en-US" sz="2700" b="0" i="1" smtClean="0">
                            <a:latin typeface="Cambria Math" panose="02040503050406030204" pitchFamily="18" charset="0"/>
                            <a:ea typeface="Cambria Math" panose="02040503050406030204" pitchFamily="18" charset="0"/>
                          </a:rPr>
                        </m:ctrlPr>
                      </m:sSupPr>
                      <m:e>
                        <m:d>
                          <m:dPr>
                            <m:begChr m:val="{"/>
                            <m:endChr m:val="}"/>
                            <m:ctrlPr>
                              <a:rPr lang="fr-FR" altLang="en-US" sz="2700" b="0" i="1" smtClean="0">
                                <a:latin typeface="Cambria Math" panose="02040503050406030204" pitchFamily="18" charset="0"/>
                                <a:ea typeface="Cambria Math" panose="02040503050406030204" pitchFamily="18" charset="0"/>
                              </a:rPr>
                            </m:ctrlPr>
                          </m:dPr>
                          <m:e>
                            <m:r>
                              <a:rPr lang="fr-FR" altLang="en-US" sz="2700" b="0" i="1" smtClean="0">
                                <a:latin typeface="Cambria Math" panose="02040503050406030204" pitchFamily="18" charset="0"/>
                                <a:ea typeface="Cambria Math" panose="02040503050406030204" pitchFamily="18" charset="0"/>
                              </a:rPr>
                              <m:t>𝑏𝑐</m:t>
                            </m:r>
                          </m:e>
                        </m:d>
                      </m:e>
                      <m:sup>
                        <m:r>
                          <a:rPr lang="fr-FR" altLang="en-US" sz="2700" b="0" i="1" smtClean="0">
                            <a:latin typeface="Cambria Math" panose="02040503050406030204" pitchFamily="18" charset="0"/>
                            <a:ea typeface="Cambria Math" panose="02040503050406030204" pitchFamily="18" charset="0"/>
                          </a:rPr>
                          <m:t>∗</m:t>
                        </m:r>
                      </m:sup>
                    </m:sSup>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𝑎</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𝜀</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𝑏𝑐</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𝑏𝑐𝑏𝑐</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𝑏𝑐𝑏𝑐𝑏𝑐</m:t>
                    </m:r>
                    <m:r>
                      <a:rPr lang="fr-FR" altLang="en-US" sz="2700" b="0" i="1" smtClean="0">
                        <a:latin typeface="Cambria Math" panose="02040503050406030204" pitchFamily="18" charset="0"/>
                        <a:ea typeface="Cambria Math" panose="02040503050406030204" pitchFamily="18" charset="0"/>
                      </a:rPr>
                      <m:t>, …}</m:t>
                    </m:r>
                  </m:oMath>
                </a14:m>
                <a:r>
                  <a:rPr lang="fr-FR" altLang="en-US" sz="2700" dirty="0"/>
                  <a:t> ;</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b="-2883"/>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4193291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régulier</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b="1" i="1" dirty="0">
                    <a:solidFill>
                      <a:srgbClr val="C00000"/>
                    </a:solidFill>
                  </a:rPr>
                  <a:t>Exemples (suite) : </a:t>
                </a:r>
              </a:p>
              <a:p>
                <a:pPr marL="266700" indent="-266700" eaLnBrk="0" hangingPunct="0">
                  <a:spcBef>
                    <a:spcPct val="20000"/>
                  </a:spcBef>
                  <a:buClr>
                    <a:srgbClr val="000090"/>
                  </a:buClr>
                </a:pPr>
                <a:r>
                  <a:rPr lang="fr-FR" altLang="en-US" dirty="0"/>
                  <a:t>Voici quelques autres exemples, toujours sur sur l’alphabet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𝑑</m:t>
                    </m:r>
                    <m:r>
                      <a:rPr lang="fr-FR" altLang="en-US" b="0" i="1" smtClean="0">
                        <a:latin typeface="Cambria Math" panose="02040503050406030204" pitchFamily="18" charset="0"/>
                        <a:ea typeface="Cambria Math" panose="02040503050406030204" pitchFamily="18" charset="0"/>
                      </a:rPr>
                      <m:t>}</m:t>
                    </m:r>
                  </m:oMath>
                </a14:m>
                <a:r>
                  <a:rPr lang="fr-FR" altLang="en-US"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b="0" i="0" smtClean="0">
                        <a:latin typeface="Cambria Math" panose="02040503050406030204" pitchFamily="18" charset="0"/>
                      </a:rPr>
                      <m:t>(</m:t>
                    </m:r>
                    <m:r>
                      <m:rPr>
                        <m:sty m:val="p"/>
                      </m:rPr>
                      <a:rPr lang="fr-FR" altLang="en-US" sz="2700" b="0" i="0" smtClean="0">
                        <a:latin typeface="Cambria Math" panose="02040503050406030204" pitchFamily="18" charset="0"/>
                      </a:rPr>
                      <m:t>a</m:t>
                    </m:r>
                    <m:r>
                      <a:rPr lang="fr-FR" altLang="en-US" sz="2700" b="0" i="1" smtClean="0">
                        <a:latin typeface="Cambria Math" panose="02040503050406030204" pitchFamily="18" charset="0"/>
                        <a:ea typeface="Cambria Math" panose="02040503050406030204" pitchFamily="18" charset="0"/>
                      </a:rPr>
                      <m:t>∪</m:t>
                    </m:r>
                    <m:d>
                      <m:dPr>
                        <m:ctrlPr>
                          <a:rPr lang="fr-FR" altLang="en-US" sz="2700" b="0" i="1" smtClean="0">
                            <a:latin typeface="Cambria Math" panose="02040503050406030204" pitchFamily="18" charset="0"/>
                            <a:ea typeface="Cambria Math" panose="02040503050406030204" pitchFamily="18" charset="0"/>
                          </a:rPr>
                        </m:ctrlPr>
                      </m:dPr>
                      <m:e>
                        <m:r>
                          <a:rPr lang="fr-FR" altLang="en-US" sz="2700" b="0" i="1" smtClean="0">
                            <a:latin typeface="Cambria Math" panose="02040503050406030204" pitchFamily="18" charset="0"/>
                            <a:ea typeface="Cambria Math" panose="02040503050406030204" pitchFamily="18" charset="0"/>
                          </a:rPr>
                          <m:t>𝑏𝑐</m:t>
                        </m:r>
                      </m:e>
                    </m:d>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rPr>
                      <m:t>𝑑</m:t>
                    </m:r>
                  </m:oMath>
                </a14:m>
                <a:r>
                  <a:rPr lang="fr-FR" altLang="en-US" sz="2700" dirty="0"/>
                  <a:t> dénote le langage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𝑑</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𝑎𝑑</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𝑏𝑐𝑑</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𝑏𝑐𝑏𝑐𝑑</m:t>
                    </m:r>
                    <m:r>
                      <a:rPr lang="fr-FR" altLang="en-US" sz="2700" b="0" i="1" smtClean="0">
                        <a:latin typeface="Cambria Math" panose="02040503050406030204" pitchFamily="18" charset="0"/>
                      </a:rPr>
                      <m:t>, </m:t>
                    </m:r>
                    <m:r>
                      <a:rPr lang="fr-FR" altLang="en-US" sz="2700" b="0" i="1" smtClean="0">
                        <a:latin typeface="Cambria Math" panose="02040503050406030204" pitchFamily="18" charset="0"/>
                      </a:rPr>
                      <m:t>𝑏𝑐𝑏𝑐𝑏𝑐𝑑</m:t>
                    </m:r>
                    <m:r>
                      <a:rPr lang="fr-FR" altLang="en-US" sz="2700" b="0" i="1" smtClean="0">
                        <a:latin typeface="Cambria Math" panose="02040503050406030204" pitchFamily="18" charset="0"/>
                      </a:rPr>
                      <m:t>, …}</m:t>
                    </m:r>
                  </m:oMath>
                </a14:m>
                <a:r>
                  <a:rPr lang="fr-FR" altLang="en-US" sz="2700"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𝑑</m:t>
                    </m:r>
                  </m:oMath>
                </a14:m>
                <a:r>
                  <a:rPr lang="fr-FR" altLang="en-US" sz="2700" dirty="0"/>
                  <a:t> dénote le langage vide </a:t>
                </a:r>
                <a14:m>
                  <m:oMath xmlns:m="http://schemas.openxmlformats.org/officeDocument/2006/math">
                    <m:r>
                      <a:rPr lang="fr-FR" altLang="en-US" sz="2700" i="1" smtClean="0">
                        <a:latin typeface="Cambria Math" panose="02040503050406030204" pitchFamily="18" charset="0"/>
                        <a:ea typeface="Cambria Math" panose="02040503050406030204" pitchFamily="18" charset="0"/>
                      </a:rPr>
                      <m:t>∅</m:t>
                    </m:r>
                  </m:oMath>
                </a14:m>
                <a:r>
                  <a:rPr lang="fr-FR" altLang="en-US" sz="2700" dirty="0"/>
                  <a:t> (car il n’y a pas de mot dans le langage vide, donc pas non plus de mot dans sa concaténation avec le langage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𝑑</m:t>
                    </m:r>
                    <m:r>
                      <a:rPr lang="fr-FR" altLang="en-US" sz="2700" b="0" i="1" smtClean="0">
                        <a:latin typeface="Cambria Math" panose="02040503050406030204" pitchFamily="18" charset="0"/>
                      </a:rPr>
                      <m:t>}</m:t>
                    </m:r>
                  </m:oMath>
                </a14:m>
                <a:r>
                  <a:rPr lang="fr-FR" altLang="en-US" sz="2700"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i="1" smtClean="0">
                        <a:latin typeface="Cambria Math" panose="02040503050406030204" pitchFamily="18" charset="0"/>
                        <a:ea typeface="Cambria Math" panose="02040503050406030204" pitchFamily="18" charset="0"/>
                      </a:rPr>
                      <m:t>𝜀</m:t>
                    </m:r>
                    <m:r>
                      <a:rPr lang="fr-FR" altLang="en-US" sz="2700" b="0" i="1" smtClean="0">
                        <a:latin typeface="Cambria Math" panose="02040503050406030204" pitchFamily="18" charset="0"/>
                        <a:ea typeface="Cambria Math" panose="02040503050406030204" pitchFamily="18" charset="0"/>
                      </a:rPr>
                      <m:t>𝑑</m:t>
                    </m:r>
                  </m:oMath>
                </a14:m>
                <a:r>
                  <a:rPr lang="fr-FR" altLang="en-US" sz="2700" dirty="0"/>
                  <a:t> dénote le langage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𝑑</m:t>
                    </m:r>
                    <m:r>
                      <a:rPr lang="fr-FR" altLang="en-US" sz="2700" b="0" i="1" smtClean="0">
                        <a:latin typeface="Cambria Math" panose="02040503050406030204" pitchFamily="18" charset="0"/>
                      </a:rPr>
                      <m:t>}</m:t>
                    </m:r>
                  </m:oMath>
                </a14:m>
                <a:r>
                  <a:rPr lang="fr-FR" altLang="en-US" sz="2700"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𝑑</m:t>
                    </m:r>
                    <m:r>
                      <a:rPr lang="fr-FR" altLang="en-US" sz="2700" b="0" i="1" smtClean="0">
                        <a:latin typeface="Cambria Math" panose="02040503050406030204" pitchFamily="18" charset="0"/>
                        <a:ea typeface="Cambria Math" panose="02040503050406030204" pitchFamily="18" charset="0"/>
                      </a:rPr>
                      <m:t>)</m:t>
                    </m:r>
                  </m:oMath>
                </a14:m>
                <a:r>
                  <a:rPr lang="fr-FR" altLang="en-US" sz="2700" dirty="0"/>
                  <a:t> dénote le langage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rPr>
                      <m:t>𝑑</m:t>
                    </m:r>
                    <m:r>
                      <a:rPr lang="fr-FR" altLang="en-US" sz="2700" b="0" i="1" smtClean="0">
                        <a:latin typeface="Cambria Math" panose="02040503050406030204" pitchFamily="18" charset="0"/>
                      </a:rPr>
                      <m:t>}</m:t>
                    </m:r>
                  </m:oMath>
                </a14:m>
                <a:r>
                  <a:rPr lang="fr-FR" altLang="en-US" sz="2700" dirty="0"/>
                  <a:t> ;</a:t>
                </a:r>
              </a:p>
              <a:p>
                <a:pPr marL="908050" indent="-457200" eaLnBrk="0" hangingPunct="0">
                  <a:spcBef>
                    <a:spcPct val="20000"/>
                  </a:spcBef>
                  <a:buClr>
                    <a:srgbClr val="000090"/>
                  </a:buClr>
                  <a:buFont typeface="Arial" panose="020B0604020202020204" pitchFamily="34" charset="0"/>
                  <a:buChar char="•"/>
                </a:pPr>
                <a:r>
                  <a:rPr lang="fr-FR" altLang="en-US" sz="2700" dirty="0"/>
                  <a:t>l’expression régulière </a:t>
                </a:r>
                <a14:m>
                  <m:oMath xmlns:m="http://schemas.openxmlformats.org/officeDocument/2006/math">
                    <m:r>
                      <a:rPr lang="fr-FR" altLang="en-US" sz="2700" b="0" i="0" smtClean="0">
                        <a:latin typeface="Cambria Math" panose="02040503050406030204" pitchFamily="18" charset="0"/>
                        <a:ea typeface="Cambria Math" panose="02040503050406030204" pitchFamily="18" charset="0"/>
                      </a:rPr>
                      <m:t>(</m:t>
                    </m:r>
                    <m:r>
                      <a:rPr lang="fr-FR" altLang="en-US" sz="2700" i="1" smtClean="0">
                        <a:latin typeface="Cambria Math" panose="02040503050406030204" pitchFamily="18" charset="0"/>
                        <a:ea typeface="Cambria Math" panose="02040503050406030204" pitchFamily="18" charset="0"/>
                      </a:rPr>
                      <m:t>𝜀</m:t>
                    </m:r>
                    <m:r>
                      <a:rPr lang="fr-FR" altLang="en-US" sz="270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𝑑</m:t>
                    </m:r>
                    <m:r>
                      <a:rPr lang="fr-FR" altLang="en-US" sz="2700" b="0" i="1" smtClean="0">
                        <a:latin typeface="Cambria Math" panose="02040503050406030204" pitchFamily="18" charset="0"/>
                        <a:ea typeface="Cambria Math" panose="02040503050406030204" pitchFamily="18" charset="0"/>
                      </a:rPr>
                      <m:t>)</m:t>
                    </m:r>
                  </m:oMath>
                </a14:m>
                <a:r>
                  <a:rPr lang="fr-FR" altLang="en-US" sz="2700" dirty="0"/>
                  <a:t> dénote le langage </a:t>
                </a:r>
                <a14:m>
                  <m:oMath xmlns:m="http://schemas.openxmlformats.org/officeDocument/2006/math">
                    <m:r>
                      <a:rPr lang="fr-FR" altLang="en-US" sz="2700" b="0" i="1" smtClean="0">
                        <a:latin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𝜀</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𝑑</m:t>
                    </m:r>
                    <m:r>
                      <a:rPr lang="fr-FR" altLang="en-US" sz="2700" b="0" i="1" smtClean="0">
                        <a:latin typeface="Cambria Math" panose="02040503050406030204" pitchFamily="18" charset="0"/>
                        <a:ea typeface="Cambria Math" panose="02040503050406030204" pitchFamily="18" charset="0"/>
                      </a:rPr>
                      <m:t>}</m:t>
                    </m:r>
                  </m:oMath>
                </a14:m>
                <a:endParaRPr lang="fr-FR" altLang="en-US" sz="27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3145" r="-471"/>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443516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Equivalence</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b="1" i="1" dirty="0">
                    <a:solidFill>
                      <a:srgbClr val="C00000"/>
                    </a:solidFill>
                  </a:rPr>
                  <a:t>Définition : </a:t>
                </a:r>
                <a:r>
                  <a:rPr lang="fr-FR" altLang="en-US" dirty="0"/>
                  <a:t>Deux expressions rationnelles r1, r2 sont dites équivalentes lorsqu’elles dénotent le même langage.</a:t>
                </a:r>
              </a:p>
              <a:p>
                <a:pPr marL="266700" indent="-266700" eaLnBrk="0" hangingPunct="0">
                  <a:spcBef>
                    <a:spcPct val="20000"/>
                  </a:spcBef>
                  <a:buClr>
                    <a:srgbClr val="000090"/>
                  </a:buClr>
                </a:pPr>
                <a:r>
                  <a:rPr lang="fr-FR" altLang="en-US" dirty="0"/>
                  <a:t>Exemple : sur l’alphabet </a:t>
                </a:r>
                <a14:m>
                  <m:oMath xmlns:m="http://schemas.openxmlformats.org/officeDocument/2006/math">
                    <m:r>
                      <a:rPr lang="fr-FR" altLang="en-US" b="0" i="1" smtClean="0">
                        <a:latin typeface="Cambria Math" panose="02040503050406030204" pitchFamily="18" charset="0"/>
                      </a:rPr>
                      <m:t>{</m:t>
                    </m:r>
                    <m:r>
                      <a:rPr lang="fr-FR" altLang="en-US" b="0" i="1" smtClean="0">
                        <a:latin typeface="Cambria Math" panose="02040503050406030204" pitchFamily="18" charset="0"/>
                      </a:rPr>
                      <m:t>𝑎</m:t>
                    </m:r>
                    <m:r>
                      <a:rPr lang="fr-FR" altLang="en-US" b="0" i="1" smtClean="0">
                        <a:latin typeface="Cambria Math" panose="02040503050406030204" pitchFamily="18" charset="0"/>
                      </a:rPr>
                      <m:t>, </m:t>
                    </m:r>
                    <m:r>
                      <a:rPr lang="fr-FR" altLang="en-US" b="0" i="1" smtClean="0">
                        <a:latin typeface="Cambria Math" panose="02040503050406030204" pitchFamily="18" charset="0"/>
                      </a:rPr>
                      <m:t>𝑏</m:t>
                    </m:r>
                    <m:r>
                      <a:rPr lang="fr-FR" altLang="en-US" b="0" i="1" smtClean="0">
                        <a:latin typeface="Cambria Math" panose="02040503050406030204" pitchFamily="18" charset="0"/>
                      </a:rPr>
                      <m:t>}</m:t>
                    </m:r>
                  </m:oMath>
                </a14:m>
                <a:r>
                  <a:rPr lang="fr-FR" altLang="en-US" dirty="0"/>
                  <a:t>, les deux expressions régulières </a:t>
                </a:r>
                <a14:m>
                  <m:oMath xmlns:m="http://schemas.openxmlformats.org/officeDocument/2006/math">
                    <m:d>
                      <m:dPr>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𝑎𝑏</m:t>
                        </m:r>
                      </m:e>
                    </m:d>
                    <m:r>
                      <a:rPr lang="fr-FR" altLang="en-US" b="0" i="1" smtClean="0">
                        <a:latin typeface="Cambria Math" panose="02040503050406030204" pitchFamily="18" charset="0"/>
                      </a:rPr>
                      <m:t>∗</m:t>
                    </m:r>
                    <m:r>
                      <a:rPr lang="fr-FR" altLang="en-US" b="0" i="1" smtClean="0">
                        <a:latin typeface="Cambria Math" panose="02040503050406030204" pitchFamily="18" charset="0"/>
                      </a:rPr>
                      <m:t>𝑎</m:t>
                    </m:r>
                    <m:r>
                      <a:rPr lang="fr-FR" altLang="en-US" b="0" i="1" smtClean="0">
                        <a:latin typeface="Cambria Math" panose="02040503050406030204" pitchFamily="18" charset="0"/>
                      </a:rPr>
                      <m:t> </m:t>
                    </m:r>
                    <m:r>
                      <a:rPr lang="fr-FR" altLang="en-US" b="0" i="1" smtClean="0">
                        <a:latin typeface="Cambria Math" panose="02040503050406030204" pitchFamily="18" charset="0"/>
                      </a:rPr>
                      <m:t>𝑒𝑡</m:t>
                    </m:r>
                    <m:r>
                      <a:rPr lang="fr-FR" altLang="en-US" b="0" i="1" smtClean="0">
                        <a:latin typeface="Cambria Math" panose="02040503050406030204" pitchFamily="18" charset="0"/>
                      </a:rPr>
                      <m:t> </m:t>
                    </m:r>
                    <m:r>
                      <a:rPr lang="fr-FR" altLang="en-US" b="0" i="1" smtClean="0">
                        <a:latin typeface="Cambria Math" panose="02040503050406030204" pitchFamily="18" charset="0"/>
                      </a:rPr>
                      <m:t>𝑎</m:t>
                    </m:r>
                    <m:d>
                      <m:dPr>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𝑏𝑎</m:t>
                        </m:r>
                      </m:e>
                    </m:d>
                    <m:r>
                      <a:rPr lang="fr-FR" altLang="en-US" b="0" i="1" smtClean="0">
                        <a:latin typeface="Cambria Math" panose="02040503050406030204" pitchFamily="18" charset="0"/>
                      </a:rPr>
                      <m:t>∗</m:t>
                    </m:r>
                  </m:oMath>
                </a14:m>
                <a:r>
                  <a:rPr lang="fr-FR" altLang="en-US" dirty="0"/>
                  <a:t> sont équivalentes (toutes les deux dénotent le langage </a:t>
                </a:r>
                <a14:m>
                  <m:oMath xmlns:m="http://schemas.openxmlformats.org/officeDocument/2006/math">
                    <m:r>
                      <a:rPr lang="fr-FR" altLang="en-US" b="0" i="1" smtClean="0">
                        <a:latin typeface="Cambria Math" panose="02040503050406030204" pitchFamily="18" charset="0"/>
                      </a:rPr>
                      <m:t>{</m:t>
                    </m:r>
                    <m:r>
                      <a:rPr lang="fr-FR" altLang="en-US" b="0" i="1" smtClean="0">
                        <a:latin typeface="Cambria Math" panose="02040503050406030204" pitchFamily="18" charset="0"/>
                      </a:rPr>
                      <m:t>𝑎</m:t>
                    </m:r>
                    <m:r>
                      <a:rPr lang="fr-FR" altLang="en-US" b="0" i="1" smtClean="0">
                        <a:latin typeface="Cambria Math" panose="02040503050406030204" pitchFamily="18" charset="0"/>
                      </a:rPr>
                      <m:t>, </m:t>
                    </m:r>
                    <m:r>
                      <a:rPr lang="fr-FR" altLang="en-US" b="0" i="1" smtClean="0">
                        <a:latin typeface="Cambria Math" panose="02040503050406030204" pitchFamily="18" charset="0"/>
                      </a:rPr>
                      <m:t>𝑎𝑏𝑎</m:t>
                    </m:r>
                    <m:r>
                      <a:rPr lang="fr-FR" altLang="en-US" b="0" i="1" smtClean="0">
                        <a:latin typeface="Cambria Math" panose="02040503050406030204" pitchFamily="18" charset="0"/>
                      </a:rPr>
                      <m:t>, </m:t>
                    </m:r>
                    <m:r>
                      <a:rPr lang="fr-FR" altLang="en-US" b="0" i="1" smtClean="0">
                        <a:latin typeface="Cambria Math" panose="02040503050406030204" pitchFamily="18" charset="0"/>
                      </a:rPr>
                      <m:t>𝑎𝑏𝑎𝑏𝑎</m:t>
                    </m:r>
                    <m:r>
                      <a:rPr lang="fr-FR" altLang="en-US" b="0" i="1" smtClean="0">
                        <a:latin typeface="Cambria Math" panose="02040503050406030204" pitchFamily="18" charset="0"/>
                      </a:rPr>
                      <m:t>, …}</m:t>
                    </m:r>
                  </m:oMath>
                </a14:m>
                <a:r>
                  <a:rPr lang="fr-FR" altLang="en-US" dirty="0"/>
                  <a:t> constitué des mots commençant et finissant par un a et dans lesquels chaque paire de a est séparée par un unique b).</a:t>
                </a:r>
              </a:p>
              <a:p>
                <a:pPr marL="266700" indent="-266700" eaLnBrk="0" hangingPunct="0">
                  <a:spcBef>
                    <a:spcPct val="20000"/>
                  </a:spcBef>
                  <a:buClr>
                    <a:srgbClr val="000090"/>
                  </a:buClr>
                </a:pPr>
                <a:r>
                  <a:rPr lang="fr-FR" altLang="en-US" b="1" i="1" dirty="0">
                    <a:solidFill>
                      <a:srgbClr val="C00000"/>
                    </a:solidFill>
                  </a:rPr>
                  <a:t>Remarque : </a:t>
                </a:r>
                <a:r>
                  <a:rPr lang="fr-FR" altLang="en-US" dirty="0"/>
                  <a:t>On verra plus loin qu’on dispose d’un algorithme permettant de décider si deux expressions régulières sont équivalentes.</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r="-11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866117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Expression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Equivalence</a:t>
            </a:r>
            <a:endParaRPr lang="en-US" altLang="fr-FR" dirty="0">
              <a:latin typeface="+mj-lt"/>
              <a:ea typeface="MS PGothic" panose="020B0600070205080204" pitchFamily="34" charset="-128"/>
              <a:cs typeface="+mj-cs"/>
            </a:endParaRPr>
          </a:p>
        </p:txBody>
      </p:sp>
      <mc:AlternateContent xmlns:mc="http://schemas.openxmlformats.org/markup-compatibility/2006">
        <mc:Choice xmlns:a14="http://schemas.microsoft.com/office/drawing/2010/main"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pt-BR" altLang="en-US" dirty="0">
                    <a:solidFill>
                      <a:schemeClr val="tx1"/>
                    </a:solidFill>
                  </a:rPr>
                  <a:t>identités « triviales » : </a:t>
                </a:r>
                <a14:m>
                  <m:oMath xmlns:m="http://schemas.openxmlformats.org/officeDocument/2006/math">
                    <m:r>
                      <m:rPr>
                        <m:sty m:val="p"/>
                      </m:rPr>
                      <a:rPr lang="fr-FR" altLang="en-US" b="0" i="0" smtClean="0">
                        <a:solidFill>
                          <a:schemeClr val="tx1"/>
                        </a:solidFill>
                        <a:latin typeface="Cambria Math" panose="02040503050406030204" pitchFamily="18" charset="0"/>
                        <a:ea typeface="Cambria Math" panose="02040503050406030204" pitchFamily="18" charset="0"/>
                      </a:rPr>
                      <m:t>r</m:t>
                    </m:r>
                    <m:r>
                      <a:rPr lang="fr-FR" altLang="en-US" b="0" i="1" smtClean="0">
                        <a:solidFill>
                          <a:schemeClr val="tx1"/>
                        </a:solidFill>
                        <a:latin typeface="Cambria Math" panose="02040503050406030204" pitchFamily="18" charset="0"/>
                        <a:ea typeface="Cambria Math" panose="02040503050406030204" pitchFamily="18" charset="0"/>
                      </a:rPr>
                      <m:t>∪∅≡</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𝜀</m:t>
                    </m:r>
                    <m:r>
                      <a:rPr lang="fr-FR" altLang="en-US" b="0" i="1" smtClean="0">
                        <a:solidFill>
                          <a:schemeClr val="tx1"/>
                        </a:solidFill>
                        <a:latin typeface="Cambria Math" panose="02040503050406030204" pitchFamily="18" charset="0"/>
                        <a:ea typeface="Cambria Math" panose="02040503050406030204" pitchFamily="18" charset="0"/>
                      </a:rPr>
                      <m:t>≡</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𝜀</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 ∅∗=</m:t>
                    </m:r>
                    <m:r>
                      <a:rPr lang="fr-FR" altLang="en-US" b="0" i="1" smtClean="0">
                        <a:solidFill>
                          <a:schemeClr val="tx1"/>
                        </a:solidFill>
                        <a:latin typeface="Cambria Math" panose="02040503050406030204" pitchFamily="18" charset="0"/>
                        <a:ea typeface="Cambria Math" panose="02040503050406030204" pitchFamily="18" charset="0"/>
                      </a:rPr>
                      <m:t>𝜀</m:t>
                    </m:r>
                  </m:oMath>
                </a14:m>
                <a:r>
                  <a:rPr lang="pt-BR" altLang="en-US" dirty="0">
                    <a:solidFill>
                      <a:schemeClr val="tx1"/>
                    </a:solidFill>
                  </a:rPr>
                  <a:t> ;</a:t>
                </a:r>
              </a:p>
              <a:p>
                <a:pPr marL="266700" indent="-266700" eaLnBrk="0" hangingPunct="0">
                  <a:spcBef>
                    <a:spcPct val="20000"/>
                  </a:spcBef>
                  <a:buClr>
                    <a:srgbClr val="000090"/>
                  </a:buClr>
                </a:pPr>
                <a:r>
                  <a:rPr lang="pt-BR" altLang="en-US" dirty="0">
                    <a:solidFill>
                      <a:schemeClr val="tx1"/>
                    </a:solidFill>
                  </a:rPr>
                  <a:t>identité d’associativité : </a:t>
                </a:r>
                <a14:m>
                  <m:oMath xmlns:m="http://schemas.openxmlformats.org/officeDocument/2006/math">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1∪</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2∪</m:t>
                    </m:r>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3≡(</m:t>
                    </m:r>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1∪</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2)∪</m:t>
                    </m:r>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3≡</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1∪(</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2∪</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3)</m:t>
                    </m:r>
                  </m:oMath>
                </a14:m>
                <a:r>
                  <a:rPr lang="pt-BR" altLang="en-US" dirty="0">
                    <a:solidFill>
                      <a:schemeClr val="tx1"/>
                    </a:solidFill>
                  </a:rPr>
                  <a:t> ;</a:t>
                </a:r>
              </a:p>
              <a:p>
                <a:pPr marL="266700" indent="-266700" eaLnBrk="0" hangingPunct="0">
                  <a:spcBef>
                    <a:spcPct val="20000"/>
                  </a:spcBef>
                  <a:buClr>
                    <a:srgbClr val="000090"/>
                  </a:buClr>
                </a:pPr>
                <a:r>
                  <a:rPr lang="pt-BR" altLang="en-US" dirty="0">
                    <a:solidFill>
                      <a:schemeClr val="tx1"/>
                    </a:solidFill>
                  </a:rPr>
                  <a:t>identités de distributivité : </a:t>
                </a:r>
                <a14:m>
                  <m:oMath xmlns:m="http://schemas.openxmlformats.org/officeDocument/2006/math">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m:t>
                    </m:r>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1∪</m:t>
                    </m:r>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2)≡</m:t>
                    </m:r>
                    <m:r>
                      <a:rPr lang="fr-FR" altLang="en-US" b="0" i="1" smtClean="0">
                        <a:solidFill>
                          <a:schemeClr val="tx1"/>
                        </a:solidFill>
                        <a:latin typeface="Cambria Math" panose="02040503050406030204" pitchFamily="18" charset="0"/>
                        <a:ea typeface="Cambria Math" panose="02040503050406030204" pitchFamily="18" charset="0"/>
                      </a:rPr>
                      <m:t>𝑟𝑟</m:t>
                    </m:r>
                    <m:r>
                      <a:rPr lang="fr-FR" altLang="en-US" b="0" i="1" smtClean="0">
                        <a:solidFill>
                          <a:schemeClr val="tx1"/>
                        </a:solidFill>
                        <a:latin typeface="Cambria Math" panose="02040503050406030204" pitchFamily="18" charset="0"/>
                        <a:ea typeface="Cambria Math" panose="02040503050406030204" pitchFamily="18" charset="0"/>
                      </a:rPr>
                      <m:t>1∪</m:t>
                    </m:r>
                    <m:r>
                      <a:rPr lang="fr-FR" altLang="en-US" b="0" i="1" smtClean="0">
                        <a:solidFill>
                          <a:schemeClr val="tx1"/>
                        </a:solidFill>
                        <a:latin typeface="Cambria Math" panose="02040503050406030204" pitchFamily="18" charset="0"/>
                        <a:ea typeface="Cambria Math" panose="02040503050406030204" pitchFamily="18" charset="0"/>
                      </a:rPr>
                      <m:t>𝑟𝑟</m:t>
                    </m:r>
                    <m:r>
                      <a:rPr lang="fr-FR" altLang="en-US" b="0" i="1" smtClean="0">
                        <a:solidFill>
                          <a:schemeClr val="tx1"/>
                        </a:solidFill>
                        <a:latin typeface="Cambria Math" panose="02040503050406030204" pitchFamily="18" charset="0"/>
                        <a:ea typeface="Cambria Math" panose="02040503050406030204" pitchFamily="18" charset="0"/>
                      </a:rPr>
                      <m:t>2, (</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1∪</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2)</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1</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2</m:t>
                    </m:r>
                    <m:r>
                      <a:rPr lang="fr-FR" altLang="en-US" b="0" i="1" smtClean="0">
                        <a:solidFill>
                          <a:schemeClr val="tx1"/>
                        </a:solidFill>
                        <a:latin typeface="Cambria Math" panose="02040503050406030204" pitchFamily="18" charset="0"/>
                        <a:ea typeface="Cambria Math" panose="02040503050406030204" pitchFamily="18" charset="0"/>
                      </a:rPr>
                      <m:t>𝑟</m:t>
                    </m:r>
                  </m:oMath>
                </a14:m>
                <a:r>
                  <a:rPr lang="pt-BR" altLang="en-US" dirty="0">
                    <a:solidFill>
                      <a:schemeClr val="tx1"/>
                    </a:solidFill>
                  </a:rPr>
                  <a:t> ;</a:t>
                </a:r>
              </a:p>
              <a:p>
                <a:pPr marL="266700" indent="-266700" eaLnBrk="0" hangingPunct="0">
                  <a:spcBef>
                    <a:spcPct val="20000"/>
                  </a:spcBef>
                  <a:buClr>
                    <a:srgbClr val="000090"/>
                  </a:buClr>
                </a:pPr>
                <a:r>
                  <a:rPr lang="pt-BR" altLang="en-US" dirty="0">
                    <a:solidFill>
                      <a:schemeClr val="tx1"/>
                    </a:solidFill>
                  </a:rPr>
                  <a:t>identité de commutativité : </a:t>
                </a:r>
                <a14:m>
                  <m:oMath xmlns:m="http://schemas.openxmlformats.org/officeDocument/2006/math">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1∪</m:t>
                    </m:r>
                    <m:r>
                      <a:rPr lang="fr-FR" altLang="en-US" b="0" i="1" smtClean="0">
                        <a:solidFill>
                          <a:schemeClr val="tx1"/>
                        </a:solidFill>
                        <a:latin typeface="Cambria Math" panose="02040503050406030204" pitchFamily="18" charset="0"/>
                      </a:rPr>
                      <m:t>𝑟</m:t>
                    </m:r>
                    <m:r>
                      <a:rPr lang="fr-FR" altLang="en-US" b="0" i="1" smtClean="0">
                        <a:solidFill>
                          <a:schemeClr val="tx1"/>
                        </a:solidFill>
                        <a:latin typeface="Cambria Math" panose="02040503050406030204" pitchFamily="18" charset="0"/>
                      </a:rPr>
                      <m:t>2≡</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2∪</m:t>
                    </m:r>
                    <m:r>
                      <a:rPr lang="fr-FR" altLang="en-US" b="0" i="1" smtClean="0">
                        <a:solidFill>
                          <a:schemeClr val="tx1"/>
                        </a:solidFill>
                        <a:latin typeface="Cambria Math" panose="02040503050406030204" pitchFamily="18" charset="0"/>
                        <a:ea typeface="Cambria Math" panose="02040503050406030204" pitchFamily="18" charset="0"/>
                      </a:rPr>
                      <m:t>𝑟</m:t>
                    </m:r>
                    <m:r>
                      <a:rPr lang="fr-FR" altLang="en-US" b="0" i="1" smtClean="0">
                        <a:solidFill>
                          <a:schemeClr val="tx1"/>
                        </a:solidFill>
                        <a:latin typeface="Cambria Math" panose="02040503050406030204" pitchFamily="18" charset="0"/>
                        <a:ea typeface="Cambria Math" panose="02040503050406030204" pitchFamily="18" charset="0"/>
                      </a:rPr>
                      <m:t>1</m:t>
                    </m:r>
                  </m:oMath>
                </a14:m>
                <a:r>
                  <a:rPr lang="pt-BR" altLang="en-US" dirty="0">
                    <a:solidFill>
                      <a:schemeClr val="tx1"/>
                    </a:solidFill>
                  </a:rPr>
                  <a:t> ;</a:t>
                </a:r>
              </a:p>
              <a:p>
                <a:pPr marL="266700" indent="-266700" eaLnBrk="0" hangingPunct="0">
                  <a:spcBef>
                    <a:spcPct val="20000"/>
                  </a:spcBef>
                  <a:buClr>
                    <a:srgbClr val="000090"/>
                  </a:buClr>
                </a:pPr>
                <a:r>
                  <a:rPr lang="pt-BR" altLang="en-US" dirty="0">
                    <a:solidFill>
                      <a:schemeClr val="tx1"/>
                    </a:solidFill>
                  </a:rPr>
                  <a:t>identités « apériodiques » : </a:t>
                </a:r>
                <a:r>
                  <a:rPr lang="pt-BR" altLang="en-US" dirty="0">
                    <a:solidFill>
                      <a:schemeClr val="tx1"/>
                    </a:solidFill>
                    <a:latin typeface="Cambria Math" panose="02040503050406030204" pitchFamily="18" charset="0"/>
                    <a:ea typeface="Cambria Math" panose="02040503050406030204" pitchFamily="18" charset="0"/>
                  </a:rPr>
                  <a:t>(r1</a:t>
                </a:r>
                <a:r>
                  <a:rPr lang="pt-BR" alt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a:t>
                </a:r>
                <a:r>
                  <a:rPr lang="pt-BR" altLang="en-US" dirty="0">
                    <a:solidFill>
                      <a:schemeClr val="tx1"/>
                    </a:solidFill>
                    <a:latin typeface="Cambria Math" panose="02040503050406030204" pitchFamily="18" charset="0"/>
                    <a:ea typeface="Cambria Math" panose="02040503050406030204" pitchFamily="18" charset="0"/>
                  </a:rPr>
                  <a:t>r2)* </a:t>
                </a:r>
                <a:r>
                  <a:rPr lang="pt-BR" alt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 (r1)*(r2(r1)*)*, (r1r2)*  ((r1)*r2)*(r1)* et (r1r2)*  (</a:t>
                </a:r>
                <a:r>
                  <a:rPr lang="pt-BR" altLang="en-US" dirty="0">
                    <a:solidFill>
                      <a:schemeClr val="tx1"/>
                    </a:solidFill>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a:t>ɛr1(r2r1)*r2)</a:t>
                </a:r>
                <a:r>
                  <a:rPr lang="pt-BR" altLang="en-US" dirty="0">
                    <a:solidFill>
                      <a:schemeClr val="tx1"/>
                    </a:solidFill>
                    <a:latin typeface="Cambria Math" panose="02040503050406030204" pitchFamily="18" charset="0"/>
                    <a:ea typeface="Cambria Math" panose="02040503050406030204" pitchFamily="18" charset="0"/>
                  </a:rPr>
                  <a:t> </a:t>
                </a:r>
                <a:r>
                  <a:rPr lang="pt-BR" altLang="en-US" dirty="0">
                    <a:solidFill>
                      <a:schemeClr val="tx1"/>
                    </a:solidFill>
                  </a:rPr>
                  <a:t>;</a:t>
                </a:r>
              </a:p>
              <a:p>
                <a:pPr marL="266700" indent="-266700" eaLnBrk="0" hangingPunct="0">
                  <a:spcBef>
                    <a:spcPct val="20000"/>
                  </a:spcBef>
                  <a:buClr>
                    <a:srgbClr val="000090"/>
                  </a:buClr>
                </a:pPr>
                <a:r>
                  <a:rPr lang="pt-BR" altLang="en-US" dirty="0">
                    <a:solidFill>
                      <a:schemeClr val="tx1"/>
                    </a:solidFill>
                  </a:rPr>
                  <a:t>identités « cycliques » : </a:t>
                </a:r>
                <a:r>
                  <a:rPr lang="pt-BR" altLang="en-US" dirty="0">
                    <a:solidFill>
                      <a:schemeClr val="tx1"/>
                    </a:solidFill>
                    <a:latin typeface="Cambria Math" panose="02040503050406030204" pitchFamily="18" charset="0"/>
                    <a:ea typeface="Cambria Math" panose="02040503050406030204" pitchFamily="18" charset="0"/>
                  </a:rPr>
                  <a:t>r* </a:t>
                </a:r>
                <a:r>
                  <a:rPr lang="pt-BR" alt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a:t>
                </a:r>
                <a:r>
                  <a:rPr lang="pt-BR" altLang="en-US" dirty="0">
                    <a:solidFill>
                      <a:schemeClr val="tx1"/>
                    </a:solidFill>
                    <a:latin typeface="Cambria Math" panose="02040503050406030204" pitchFamily="18" charset="0"/>
                    <a:ea typeface="Cambria Math" panose="02040503050406030204" pitchFamily="18" charset="0"/>
                  </a:rPr>
                  <a:t> (</a:t>
                </a:r>
                <a:r>
                  <a:rPr lang="pt-BR" altLang="en-US" dirty="0">
                    <a:solidFill>
                      <a:schemeClr val="tx1"/>
                    </a:solidFill>
                    <a:latin typeface="Cambria Math" panose="02040503050406030204" pitchFamily="18" charset="0"/>
                    <a:ea typeface="Cambria Math" panose="02040503050406030204" pitchFamily="18" charset="0"/>
                    <a:cs typeface="Calibri" panose="020F0502020204030204" pitchFamily="34" charset="0"/>
                  </a:rPr>
                  <a:t>ɛ</a:t>
                </a:r>
                <a:r>
                  <a:rPr lang="pt-BR" altLang="en-US" dirty="0">
                    <a:solidFill>
                      <a:schemeClr val="tx1"/>
                    </a:solidFill>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a:t></a:t>
                </a:r>
                <a:r>
                  <a:rPr lang="pt-BR" altLang="en-US" dirty="0">
                    <a:solidFill>
                      <a:schemeClr val="tx1"/>
                    </a:solidFill>
                    <a:latin typeface="Cambria Math" panose="02040503050406030204" pitchFamily="18" charset="0"/>
                    <a:ea typeface="Cambria Math" panose="02040503050406030204" pitchFamily="18" charset="0"/>
                    <a:cs typeface="Calibri" panose="020F0502020204030204" pitchFamily="34" charset="0"/>
                  </a:rPr>
                  <a:t>r)(rr)* </a:t>
                </a:r>
                <a:r>
                  <a:rPr lang="pt-BR" altLang="en-US" dirty="0">
                    <a:solidFill>
                      <a:schemeClr val="tx1"/>
                    </a:solidFill>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a:t> (ɛrrr)(rrr)*  </a:t>
                </a:r>
                <a:r>
                  <a:rPr lang="pt-BR" altLang="en-US">
                    <a:solidFill>
                      <a:schemeClr val="tx1"/>
                    </a:solidFill>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a:t>(ɛrrrrrr</a:t>
                </a:r>
                <a:r>
                  <a:rPr lang="pt-BR" altLang="en-US" dirty="0">
                    <a:solidFill>
                      <a:schemeClr val="tx1"/>
                    </a:solidFill>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rPr>
                  <a:t>)(rrrr)*  ...</a:t>
                </a:r>
                <a:r>
                  <a:rPr lang="pt-BR" altLang="en-US" dirty="0">
                    <a:solidFill>
                      <a:schemeClr val="tx1"/>
                    </a:solidFill>
                    <a:latin typeface="Calibri" panose="020F0502020204030204" pitchFamily="34" charset="0"/>
                    <a:cs typeface="Calibri" panose="020F0502020204030204" pitchFamily="34" charset="0"/>
                    <a:sym typeface="Symbol" panose="05050102010706020507" pitchFamily="18" charset="2"/>
                  </a:rPr>
                  <a:t> </a:t>
                </a:r>
                <a:r>
                  <a:rPr lang="pt-BR" altLang="en-US" dirty="0">
                    <a:solidFill>
                      <a:schemeClr val="tx1"/>
                    </a:solidFill>
                  </a:rPr>
                  <a:t>;</a:t>
                </a:r>
              </a:p>
              <a:p>
                <a:pPr marL="266700" indent="-266700" eaLnBrk="0" hangingPunct="0">
                  <a:spcBef>
                    <a:spcPct val="20000"/>
                  </a:spcBef>
                  <a:buClr>
                    <a:srgbClr val="000090"/>
                  </a:buClr>
                </a:pPr>
                <a:r>
                  <a:rPr lang="pt-BR" altLang="en-US" dirty="0">
                    <a:solidFill>
                      <a:schemeClr val="tx1"/>
                    </a:solidFill>
                  </a:rPr>
                  <a:t>identités d’« idempotence » : </a:t>
                </a:r>
                <a:r>
                  <a:rPr lang="pt-BR" altLang="en-US" dirty="0">
                    <a:solidFill>
                      <a:schemeClr val="tx1"/>
                    </a:solidFill>
                    <a:latin typeface="Cambria Math" panose="02040503050406030204" pitchFamily="18" charset="0"/>
                    <a:ea typeface="Cambria Math" panose="02040503050406030204" pitchFamily="18" charset="0"/>
                  </a:rPr>
                  <a:t>(r</a:t>
                </a:r>
                <a:r>
                  <a:rPr lang="pt-BR" alt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a:t>
                </a:r>
                <a:r>
                  <a:rPr lang="pt-BR" altLang="en-US" dirty="0">
                    <a:solidFill>
                      <a:schemeClr val="tx1"/>
                    </a:solidFill>
                    <a:latin typeface="Cambria Math" panose="02040503050406030204" pitchFamily="18" charset="0"/>
                    <a:ea typeface="Cambria Math" panose="02040503050406030204" pitchFamily="18" charset="0"/>
                  </a:rPr>
                  <a:t>r) </a:t>
                </a:r>
                <a:r>
                  <a:rPr lang="pt-BR" alt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 r, (r*)*</a:t>
                </a:r>
                <a:r>
                  <a:rPr lang="pt-BR" altLang="en-US" dirty="0">
                    <a:solidFill>
                      <a:schemeClr val="tx1"/>
                    </a:solidFill>
                    <a:latin typeface="Cambria Math" panose="02040503050406030204" pitchFamily="18" charset="0"/>
                    <a:ea typeface="Cambria Math" panose="02040503050406030204" pitchFamily="18" charset="0"/>
                  </a:rPr>
                  <a:t> </a:t>
                </a:r>
                <a:r>
                  <a:rPr lang="pt-BR" altLang="en-US" dirty="0">
                    <a:solidFill>
                      <a:schemeClr val="tx1"/>
                    </a:solidFill>
                    <a:latin typeface="Cambria Math" panose="02040503050406030204" pitchFamily="18" charset="0"/>
                    <a:ea typeface="Cambria Math" panose="02040503050406030204" pitchFamily="18" charset="0"/>
                    <a:sym typeface="Symbol" panose="05050102010706020507" pitchFamily="18" charset="2"/>
                  </a:rPr>
                  <a:t> r* </a:t>
                </a:r>
                <a:r>
                  <a:rPr lang="pt-BR" altLang="en-US" dirty="0">
                    <a:solidFill>
                      <a:schemeClr val="tx1"/>
                    </a:solidFill>
                  </a:rPr>
                  <a:t>;</a:t>
                </a:r>
                <a:endParaRPr lang="fr-FR" altLang="en-US" dirty="0">
                  <a:solidFill>
                    <a:schemeClr val="tx1"/>
                  </a:solidFill>
                </a:endParaRPr>
              </a:p>
            </p:txBody>
          </p:sp>
        </mc:Choice>
        <mc:Fallback>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941" t="-2883"/>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1289063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dirty="0"/>
                  <a:t>Pour des raisons de commodité, il est possible de donner des noms explicites à des expressions régulières. On utilise pour cela des définitions régulières,</a:t>
                </a:r>
              </a:p>
              <a:p>
                <a:pPr marL="266700" indent="-266700" eaLnBrk="0" hangingPunct="0">
                  <a:spcBef>
                    <a:spcPct val="20000"/>
                  </a:spcBef>
                  <a:buClr>
                    <a:srgbClr val="000090"/>
                  </a:buClr>
                </a:pPr>
                <a:r>
                  <a:rPr lang="fr-FR" altLang="en-US" b="1" i="1" dirty="0">
                    <a:solidFill>
                      <a:srgbClr val="C00000"/>
                    </a:solidFill>
                  </a:rPr>
                  <a:t>Définition régulière : </a:t>
                </a:r>
                <a:r>
                  <a:rPr lang="fr-FR" altLang="en-US" dirty="0"/>
                  <a:t>Soit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oMath>
                </a14:m>
                <a:r>
                  <a:rPr lang="fr-FR" altLang="en-US" dirty="0"/>
                  <a:t> un alphabet, et un ensemble de couples :</a:t>
                </a:r>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b="0" i="1" smtClean="0">
                          <a:latin typeface="Cambria Math" panose="02040503050406030204" pitchFamily="18" charset="0"/>
                        </a:rPr>
                        <m:t>𝑑</m:t>
                      </m:r>
                      <m:r>
                        <a:rPr lang="fr-FR" altLang="en-US" b="0" i="1" smtClean="0">
                          <a:latin typeface="Cambria Math" panose="02040503050406030204" pitchFamily="18" charset="0"/>
                        </a:rPr>
                        <m:t>1 →</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1</m:t>
                      </m:r>
                    </m:oMath>
                  </m:oMathPara>
                </a14:m>
                <a:endParaRPr lang="fr-FR" altLang="en-US" dirty="0"/>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b="0" i="1" smtClean="0">
                          <a:latin typeface="Cambria Math" panose="02040503050406030204" pitchFamily="18" charset="0"/>
                        </a:rPr>
                        <m:t>𝑑</m:t>
                      </m:r>
                      <m:r>
                        <a:rPr lang="fr-FR" altLang="en-US" b="0" i="1" smtClean="0">
                          <a:latin typeface="Cambria Math" panose="02040503050406030204" pitchFamily="18" charset="0"/>
                        </a:rPr>
                        <m:t>2 →</m:t>
                      </m:r>
                      <m:r>
                        <a:rPr lang="fr-FR" altLang="en-US" b="0" i="1" smtClean="0">
                          <a:latin typeface="Cambria Math" panose="02040503050406030204" pitchFamily="18" charset="0"/>
                          <a:ea typeface="Cambria Math" panose="02040503050406030204" pitchFamily="18" charset="0"/>
                        </a:rPr>
                        <m:t>𝑟</m:t>
                      </m:r>
                      <m:r>
                        <a:rPr lang="fr-FR" altLang="en-US" b="0" i="1" smtClean="0">
                          <a:latin typeface="Cambria Math" panose="02040503050406030204" pitchFamily="18" charset="0"/>
                          <a:ea typeface="Cambria Math" panose="02040503050406030204" pitchFamily="18" charset="0"/>
                        </a:rPr>
                        <m:t>2</m:t>
                      </m:r>
                    </m:oMath>
                  </m:oMathPara>
                </a14:m>
                <a:endParaRPr lang="fr-FR" altLang="en-US" dirty="0"/>
              </a:p>
              <a:p>
                <a:pPr marL="0" indent="0" eaLnBrk="0" hangingPunct="0">
                  <a:spcBef>
                    <a:spcPct val="20000"/>
                  </a:spcBef>
                  <a:buClr>
                    <a:srgbClr val="000090"/>
                  </a:buClr>
                  <a:buNone/>
                </a:pPr>
                <a:r>
                  <a:rPr lang="fr-FR" altLang="en-US" dirty="0"/>
                  <a:t>					       ...</a:t>
                </a:r>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b="0" i="1" smtClean="0">
                          <a:latin typeface="Cambria Math" panose="02040503050406030204" pitchFamily="18" charset="0"/>
                        </a:rPr>
                        <m:t>𝑑𝑛</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𝑟𝑛</m:t>
                      </m:r>
                    </m:oMath>
                  </m:oMathPara>
                </a14:m>
                <a:endParaRPr lang="fr-FR" altLang="en-US" dirty="0"/>
              </a:p>
              <a:p>
                <a:pPr marL="0" indent="0" eaLnBrk="0" hangingPunct="0">
                  <a:spcBef>
                    <a:spcPct val="20000"/>
                  </a:spcBef>
                  <a:buClr>
                    <a:srgbClr val="000090"/>
                  </a:buClr>
                  <a:buNone/>
                </a:pPr>
                <a:r>
                  <a:rPr lang="fr-FR" altLang="en-US" dirty="0"/>
                  <a:t>   où ri est une expression régulière et di son nom associé.</a:t>
                </a:r>
              </a:p>
              <a:p>
                <a:pPr marL="0" indent="0" eaLnBrk="0" hangingPunct="0">
                  <a:spcBef>
                    <a:spcPct val="20000"/>
                  </a:spcBef>
                  <a:buClr>
                    <a:srgbClr val="000090"/>
                  </a:buClr>
                  <a:buNone/>
                </a:pPr>
                <a:r>
                  <a:rPr lang="fr-FR" altLang="en-US" dirty="0"/>
                  <a:t>Cette définition est appelée régulière si chaque ri représente une expression régulière construite sur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el-GR" altLang="en-US" i="1" smtClean="0">
                        <a:latin typeface="Cambria Math" panose="02040503050406030204" pitchFamily="18" charset="0"/>
                        <a:ea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𝑑</m:t>
                        </m:r>
                        <m:r>
                          <a:rPr lang="fr-FR" altLang="en-US" b="0" i="1" smtClean="0">
                            <a:latin typeface="Cambria Math" panose="02040503050406030204" pitchFamily="18" charset="0"/>
                            <a:ea typeface="Cambria Math" panose="02040503050406030204" pitchFamily="18" charset="0"/>
                          </a:rPr>
                          <m:t>1, </m:t>
                        </m:r>
                        <m:r>
                          <a:rPr lang="fr-FR" altLang="en-US" b="0" i="1" smtClean="0">
                            <a:latin typeface="Cambria Math" panose="02040503050406030204" pitchFamily="18" charset="0"/>
                            <a:ea typeface="Cambria Math" panose="02040503050406030204" pitchFamily="18" charset="0"/>
                          </a:rPr>
                          <m:t>𝑑</m:t>
                        </m:r>
                        <m:r>
                          <a:rPr lang="fr-FR" altLang="en-US" b="0" i="1" smtClean="0">
                            <a:latin typeface="Cambria Math" panose="02040503050406030204" pitchFamily="18" charset="0"/>
                            <a:ea typeface="Cambria Math" panose="02040503050406030204" pitchFamily="18" charset="0"/>
                          </a:rPr>
                          <m:t>2, …, </m:t>
                        </m:r>
                        <m:r>
                          <a:rPr lang="fr-FR" altLang="en-US" b="0" i="1" smtClean="0">
                            <a:latin typeface="Cambria Math" panose="02040503050406030204" pitchFamily="18" charset="0"/>
                            <a:ea typeface="Cambria Math" panose="02040503050406030204" pitchFamily="18" charset="0"/>
                          </a:rPr>
                          <m:t>𝑑𝑛</m:t>
                        </m:r>
                      </m:e>
                    </m:d>
                  </m:oMath>
                </a14:m>
                <a:r>
                  <a:rPr lang="fr-FR" altLang="en-US" dirty="0"/>
                  <a:t>.</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1966" r="-1765"/>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554204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dirty="0"/>
                  <a:t>Exemples :</a:t>
                </a:r>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i="1" dirty="0" smtClean="0">
                        <a:latin typeface="Cambria Math" panose="02040503050406030204" pitchFamily="18" charset="0"/>
                      </a:rPr>
                      <m:t>𝑙𝑒𝑡𝑡𝑟𝑒</m:t>
                    </m:r>
                    <m:r>
                      <a:rPr lang="fr-FR" altLang="en-US" b="0" i="1" dirty="0" smtClean="0">
                        <a:latin typeface="Cambria Math" panose="02040503050406030204" pitchFamily="18" charset="0"/>
                      </a:rPr>
                      <m:t> </m:t>
                    </m:r>
                    <m:r>
                      <a:rPr lang="fr-FR" altLang="en-US" b="0" i="1" dirty="0" smtClean="0">
                        <a:latin typeface="Cambria Math" panose="02040503050406030204" pitchFamily="18" charset="0"/>
                        <a:ea typeface="Cambria Math" panose="02040503050406030204" pitchFamily="18" charset="0"/>
                      </a:rPr>
                      <m:t>→{</m:t>
                    </m:r>
                    <m:r>
                      <a:rPr lang="fr-FR" altLang="en-US" b="0" i="1" dirty="0" smtClean="0">
                        <a:latin typeface="Cambria Math" panose="02040503050406030204" pitchFamily="18" charset="0"/>
                        <a:ea typeface="Cambria Math" panose="02040503050406030204" pitchFamily="18" charset="0"/>
                      </a:rPr>
                      <m:t>𝐴</m:t>
                    </m:r>
                    <m:r>
                      <a:rPr lang="fr-FR" altLang="en-US" b="0" i="1" dirty="0" smtClean="0">
                        <a:latin typeface="Cambria Math" panose="02040503050406030204" pitchFamily="18" charset="0"/>
                        <a:ea typeface="Cambria Math" panose="02040503050406030204" pitchFamily="18" charset="0"/>
                      </a:rPr>
                      <m:t>, </m:t>
                    </m:r>
                    <m:r>
                      <a:rPr lang="fr-FR" altLang="en-US" b="0" i="1" dirty="0" smtClean="0">
                        <a:latin typeface="Cambria Math" panose="02040503050406030204" pitchFamily="18" charset="0"/>
                        <a:ea typeface="Cambria Math" panose="02040503050406030204" pitchFamily="18" charset="0"/>
                      </a:rPr>
                      <m:t>𝐵</m:t>
                    </m:r>
                    <m:r>
                      <a:rPr lang="fr-FR" altLang="en-US" b="0" i="1" dirty="0" smtClean="0">
                        <a:latin typeface="Cambria Math" panose="02040503050406030204" pitchFamily="18" charset="0"/>
                        <a:ea typeface="Cambria Math" panose="02040503050406030204" pitchFamily="18" charset="0"/>
                      </a:rPr>
                      <m:t>, …, </m:t>
                    </m:r>
                    <m:r>
                      <a:rPr lang="fr-FR" altLang="en-US" b="0" i="1" dirty="0" smtClean="0">
                        <a:latin typeface="Cambria Math" panose="02040503050406030204" pitchFamily="18" charset="0"/>
                        <a:ea typeface="Cambria Math" panose="02040503050406030204" pitchFamily="18" charset="0"/>
                      </a:rPr>
                      <m:t>𝑍</m:t>
                    </m:r>
                    <m:r>
                      <a:rPr lang="fr-FR" altLang="en-US" b="0" i="1" dirty="0" smtClean="0">
                        <a:latin typeface="Cambria Math" panose="02040503050406030204" pitchFamily="18" charset="0"/>
                        <a:ea typeface="Cambria Math" panose="02040503050406030204" pitchFamily="18" charset="0"/>
                      </a:rPr>
                      <m:t>, </m:t>
                    </m:r>
                    <m:r>
                      <a:rPr lang="fr-FR" altLang="en-US" b="0" i="1" dirty="0" smtClean="0">
                        <a:latin typeface="Cambria Math" panose="02040503050406030204" pitchFamily="18" charset="0"/>
                        <a:ea typeface="Cambria Math" panose="02040503050406030204" pitchFamily="18" charset="0"/>
                      </a:rPr>
                      <m:t>𝑎</m:t>
                    </m:r>
                    <m:r>
                      <a:rPr lang="fr-FR" altLang="en-US" b="0" i="1" dirty="0" smtClean="0">
                        <a:latin typeface="Cambria Math" panose="02040503050406030204" pitchFamily="18" charset="0"/>
                        <a:ea typeface="Cambria Math" panose="02040503050406030204" pitchFamily="18" charset="0"/>
                      </a:rPr>
                      <m:t>, </m:t>
                    </m:r>
                    <m:r>
                      <a:rPr lang="fr-FR" altLang="en-US" b="0" i="1" dirty="0" smtClean="0">
                        <a:latin typeface="Cambria Math" panose="02040503050406030204" pitchFamily="18" charset="0"/>
                        <a:ea typeface="Cambria Math" panose="02040503050406030204" pitchFamily="18" charset="0"/>
                      </a:rPr>
                      <m:t>𝑏</m:t>
                    </m:r>
                    <m:r>
                      <a:rPr lang="fr-FR" altLang="en-US" b="0" i="1" dirty="0" smtClean="0">
                        <a:latin typeface="Cambria Math" panose="02040503050406030204" pitchFamily="18" charset="0"/>
                        <a:ea typeface="Cambria Math" panose="02040503050406030204" pitchFamily="18" charset="0"/>
                      </a:rPr>
                      <m:t>, </m:t>
                    </m:r>
                    <m:r>
                      <a:rPr lang="fr-FR" altLang="en-US" b="0" i="1" dirty="0" smtClean="0">
                        <a:latin typeface="Cambria Math" panose="02040503050406030204" pitchFamily="18" charset="0"/>
                        <a:ea typeface="Cambria Math" panose="02040503050406030204" pitchFamily="18" charset="0"/>
                      </a:rPr>
                      <m:t>𝑐</m:t>
                    </m:r>
                    <m:r>
                      <a:rPr lang="fr-FR" altLang="en-US" b="0" i="1" dirty="0" smtClean="0">
                        <a:latin typeface="Cambria Math" panose="02040503050406030204" pitchFamily="18" charset="0"/>
                        <a:ea typeface="Cambria Math" panose="02040503050406030204" pitchFamily="18" charset="0"/>
                      </a:rPr>
                      <m:t>, …, </m:t>
                    </m:r>
                    <m:r>
                      <a:rPr lang="fr-FR" altLang="en-US" b="0" i="1" dirty="0" smtClean="0">
                        <a:latin typeface="Cambria Math" panose="02040503050406030204" pitchFamily="18" charset="0"/>
                        <a:ea typeface="Cambria Math" panose="02040503050406030204" pitchFamily="18" charset="0"/>
                      </a:rPr>
                      <m:t>𝑧</m:t>
                    </m:r>
                    <m:r>
                      <a:rPr lang="fr-FR" altLang="en-US" b="0" i="1" dirty="0" smtClean="0">
                        <a:latin typeface="Cambria Math" panose="02040503050406030204" pitchFamily="18" charset="0"/>
                        <a:ea typeface="Cambria Math" panose="02040503050406030204" pitchFamily="18" charset="0"/>
                      </a:rPr>
                      <m:t>}</m:t>
                    </m:r>
                  </m:oMath>
                </a14:m>
                <a:endParaRPr lang="fr-FR" altLang="en-US" dirty="0"/>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𝑐h𝑖𝑓𝑓𝑟𝑒</m:t>
                    </m:r>
                    <m:r>
                      <a:rPr lang="fr-FR" altLang="en-US" b="0" i="1" smtClean="0">
                        <a:latin typeface="Cambria Math" panose="02040503050406030204" pitchFamily="18" charset="0"/>
                      </a:rPr>
                      <m:t> →{0, 1, 2, 3, 4, 5, 6, 7, 8, 9}</m:t>
                    </m:r>
                  </m:oMath>
                </a14:m>
                <a:endParaRPr lang="fr-FR" altLang="en-US" dirty="0"/>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𝑖𝑑</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𝑙𝑒𝑡𝑡𝑟𝑒</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𝑙𝑒𝑡𝑡𝑟𝑒</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𝑐h𝑖𝑓𝑓𝑟𝑒</m:t>
                    </m:r>
                    <m:r>
                      <a:rPr lang="fr-FR" altLang="en-US" b="0" i="1" smtClean="0">
                        <a:latin typeface="Cambria Math" panose="02040503050406030204" pitchFamily="18" charset="0"/>
                        <a:ea typeface="Cambria Math" panose="02040503050406030204" pitchFamily="18" charset="0"/>
                      </a:rPr>
                      <m:t>)∗</m:t>
                    </m:r>
                  </m:oMath>
                </a14:m>
                <a:endParaRPr lang="fr-FR" altLang="en-US" dirty="0"/>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𝑐h𝑖𝑓𝑓𝑟𝑒𝑠</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𝑐h𝑖𝑓𝑓𝑟𝑒</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𝑐h𝑖𝑓𝑓𝑟𝑒</m:t>
                        </m:r>
                      </m:e>
                    </m:d>
                    <m:r>
                      <a:rPr lang="fr-FR" altLang="en-US" b="0" i="1" smtClean="0">
                        <a:latin typeface="Cambria Math" panose="02040503050406030204" pitchFamily="18" charset="0"/>
                        <a:ea typeface="Cambria Math" panose="02040503050406030204" pitchFamily="18" charset="0"/>
                      </a:rPr>
                      <m:t>∗</m:t>
                    </m:r>
                  </m:oMath>
                </a14:m>
                <a:endParaRPr lang="fr-FR" altLang="en-US" dirty="0"/>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𝑓𝑟𝑎𝑐𝑡𝑖𝑜𝑛</m:t>
                    </m:r>
                    <m:r>
                      <a:rPr lang="fr-FR" altLang="en-US" b="0" i="1" smtClean="0">
                        <a:latin typeface="Cambria Math" panose="02040503050406030204" pitchFamily="18" charset="0"/>
                      </a:rPr>
                      <m:t> → .</m:t>
                    </m:r>
                    <m:r>
                      <a:rPr lang="fr-FR" altLang="en-US" b="0" i="1" smtClean="0">
                        <a:latin typeface="Cambria Math" panose="02040503050406030204" pitchFamily="18" charset="0"/>
                        <a:ea typeface="Cambria Math" panose="02040503050406030204" pitchFamily="18" charset="0"/>
                      </a:rPr>
                      <m:t>𝑐h𝑖𝑓𝑓𝑟𝑒𝑠</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𝜀</m:t>
                    </m:r>
                  </m:oMath>
                </a14:m>
                <a:endParaRPr lang="fr-FR" altLang="en-US" dirty="0"/>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𝑒𝑥𝑝𝑜𝑠𝑎𝑛𝑡</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𝐸</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𝜀</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𝑐h𝑖𝑓𝑓𝑟𝑒𝑠</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𝜀</m:t>
                    </m:r>
                  </m:oMath>
                </a14:m>
                <a:endParaRPr lang="fr-FR" altLang="en-US" dirty="0"/>
              </a:p>
              <a:p>
                <a:pPr marL="90805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𝑛𝑜𝑚𝑏𝑟𝑒</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𝑐h𝑖𝑓𝑓𝑟𝑒𝑠</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𝑓𝑟𝑎𝑐𝑡𝑖𝑜𝑛</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𝑒𝑥𝑝𝑜𝑠𝑎𝑛𝑡</m:t>
                    </m:r>
                  </m:oMath>
                </a14:m>
                <a:endParaRPr lang="fr-FR" altLang="en-US"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826791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dirty="0"/>
              <a:t>A partir des définitions précédentes :</a:t>
            </a:r>
          </a:p>
          <a:p>
            <a:pPr marL="801688" indent="-350838" eaLnBrk="0" hangingPunct="0">
              <a:spcBef>
                <a:spcPct val="20000"/>
              </a:spcBef>
              <a:buClr>
                <a:srgbClr val="000090"/>
              </a:buClr>
              <a:buFont typeface="Arial" panose="020B0604020202020204" pitchFamily="34" charset="0"/>
              <a:buChar char="•"/>
            </a:pPr>
            <a:r>
              <a:rPr lang="fr-FR" altLang="en-US" dirty="0"/>
              <a:t>a, a0b, </a:t>
            </a:r>
            <a:r>
              <a:rPr lang="fr-FR" altLang="en-US" dirty="0" err="1"/>
              <a:t>begin</a:t>
            </a:r>
            <a:r>
              <a:rPr lang="fr-FR" altLang="en-US" dirty="0"/>
              <a:t> vérifient id</a:t>
            </a:r>
          </a:p>
          <a:p>
            <a:pPr marL="801688" indent="-350838" eaLnBrk="0" hangingPunct="0">
              <a:spcBef>
                <a:spcPct val="20000"/>
              </a:spcBef>
              <a:buClr>
                <a:srgbClr val="000090"/>
              </a:buClr>
              <a:buFont typeface="Arial" panose="020B0604020202020204" pitchFamily="34" charset="0"/>
              <a:buChar char="•"/>
            </a:pPr>
            <a:r>
              <a:rPr lang="fr-FR" altLang="en-US" dirty="0"/>
              <a:t>0, 1.0, 2E4, 1.5E-8, 0.25E-0 vérifient nombre</a:t>
            </a:r>
          </a:p>
          <a:p>
            <a:pPr marL="801688" indent="-350838" eaLnBrk="0" hangingPunct="0">
              <a:spcBef>
                <a:spcPct val="20000"/>
              </a:spcBef>
              <a:buClr>
                <a:srgbClr val="000090"/>
              </a:buClr>
              <a:buFont typeface="Arial" panose="020B0604020202020204" pitchFamily="34" charset="0"/>
              <a:buChar char="•"/>
            </a:pPr>
            <a:r>
              <a:rPr lang="fr-FR" altLang="en-US" dirty="0"/>
              <a:t>0., .1, 1E2.0 ne vérifient pas nombre</a:t>
            </a:r>
          </a:p>
        </p:txBody>
      </p:sp>
    </p:spTree>
    <p:extLst>
      <p:ext uri="{BB962C8B-B14F-4D97-AF65-F5344CB8AC3E}">
        <p14:creationId xmlns:p14="http://schemas.microsoft.com/office/powerpoint/2010/main" val="1490947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Limites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des expressions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régulières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eaLnBrk="0" hangingPunct="0">
                  <a:spcBef>
                    <a:spcPct val="20000"/>
                  </a:spcBef>
                  <a:buClr>
                    <a:srgbClr val="000090"/>
                  </a:buClr>
                </a:pPr>
                <a:r>
                  <a:rPr lang="fr-FR" altLang="en-US" dirty="0"/>
                  <a:t>Ayez bien conscience que les expressions régulières ne permettent de coder qu'un nombre limité de langages. En particulier, les expressions régulières ne permettent pas de « compter ». Ainsi le langage :</a:t>
                </a:r>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b="0" i="1" smtClean="0">
                          <a:latin typeface="Cambria Math" panose="02040503050406030204" pitchFamily="18" charset="0"/>
                        </a:rPr>
                        <m:t>𝐿</m:t>
                      </m:r>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𝑤𝑐𝑤</m:t>
                          </m:r>
                          <m:r>
                            <a:rPr lang="fr-FR" altLang="en-US" b="0" i="1" smtClean="0">
                              <a:latin typeface="Cambria Math" panose="02040503050406030204" pitchFamily="18" charset="0"/>
                            </a:rPr>
                            <m:t> </m:t>
                          </m:r>
                        </m:e>
                      </m:d>
                      <m:r>
                        <a:rPr lang="fr-FR" altLang="en-US" b="0" i="1" smtClean="0">
                          <a:latin typeface="Cambria Math" panose="02040503050406030204" pitchFamily="18" charset="0"/>
                        </a:rPr>
                        <m:t> </m:t>
                      </m:r>
                      <m:r>
                        <a:rPr lang="fr-FR" altLang="en-US" b="0" i="1" smtClean="0">
                          <a:latin typeface="Cambria Math" panose="02040503050406030204" pitchFamily="18" charset="0"/>
                        </a:rPr>
                        <m:t>𝑤</m:t>
                      </m:r>
                      <m:r>
                        <a:rPr lang="fr-FR" altLang="en-US" b="0" i="1" smtClean="0">
                          <a:latin typeface="Cambria Math" panose="02040503050406030204" pitchFamily="18" charset="0"/>
                          <a:ea typeface="Cambria Math" panose="02040503050406030204" pitchFamily="18" charset="0"/>
                        </a:rPr>
                        <m:t>𝜖</m:t>
                      </m:r>
                      <m:r>
                        <a:rPr lang="fr-FR" altLang="en-US" b="0" i="1" smtClean="0">
                          <a:latin typeface="Cambria Math" panose="02040503050406030204" pitchFamily="18" charset="0"/>
                          <a:ea typeface="Cambria Math" panose="02040503050406030204" pitchFamily="18" charset="0"/>
                        </a:rPr>
                        <m:t> </m:t>
                      </m:r>
                      <m:sSup>
                        <m:sSupPr>
                          <m:ctrlPr>
                            <a:rPr lang="fr-FR" altLang="en-US" b="0" i="1" smtClean="0">
                              <a:latin typeface="Cambria Math" panose="02040503050406030204" pitchFamily="18" charset="0"/>
                              <a:ea typeface="Cambria Math" panose="02040503050406030204" pitchFamily="18" charset="0"/>
                            </a:rPr>
                          </m:ctrlPr>
                        </m:sSupPr>
                        <m:e>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m:t>
                          </m:r>
                        </m:e>
                        <m:sup>
                          <m:r>
                            <a:rPr lang="fr-FR" altLang="en-US" b="0" i="1" smtClean="0">
                              <a:latin typeface="Cambria Math" panose="02040503050406030204" pitchFamily="18" charset="0"/>
                              <a:ea typeface="Cambria Math" panose="02040503050406030204" pitchFamily="18" charset="0"/>
                            </a:rPr>
                            <m:t>∗</m:t>
                          </m:r>
                        </m:sup>
                      </m:sSup>
                      <m:r>
                        <a:rPr lang="fr-FR" altLang="en-US" b="0" i="1" smtClean="0">
                          <a:latin typeface="Cambria Math" panose="02040503050406030204" pitchFamily="18" charset="0"/>
                          <a:ea typeface="Cambria Math" panose="02040503050406030204" pitchFamily="18" charset="0"/>
                        </a:rPr>
                        <m:t>}</m:t>
                      </m:r>
                    </m:oMath>
                  </m:oMathPara>
                </a14:m>
                <a:endParaRPr lang="fr-FR" altLang="en-US" dirty="0"/>
              </a:p>
              <a:p>
                <a:pPr marL="0" indent="0" algn="ctr" eaLnBrk="0" hangingPunct="0">
                  <a:spcBef>
                    <a:spcPct val="20000"/>
                  </a:spcBef>
                  <a:buClr>
                    <a:srgbClr val="000090"/>
                  </a:buClr>
                  <a:buNone/>
                </a:pPr>
                <a:r>
                  <a:rPr lang="fr-FR" altLang="en-US" dirty="0"/>
                  <a:t>n'est pas régulier.</a:t>
                </a:r>
              </a:p>
              <a:p>
                <a:pPr marL="266700" indent="-266700" eaLnBrk="0" hangingPunct="0">
                  <a:spcBef>
                    <a:spcPct val="20000"/>
                  </a:spcBef>
                  <a:buClr>
                    <a:srgbClr val="000090"/>
                  </a:buClr>
                </a:pPr>
                <a:r>
                  <a:rPr lang="fr-FR" altLang="en-US" dirty="0"/>
                  <a:t>Autre langage non régulier :</a:t>
                </a:r>
              </a:p>
              <a:p>
                <a:pPr marL="801688" indent="-350838"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𝐿</m:t>
                    </m:r>
                    <m:r>
                      <a:rPr lang="fr-FR" altLang="en-US" b="0" i="1" smtClean="0">
                        <a:latin typeface="Cambria Math" panose="02040503050406030204" pitchFamily="18" charset="0"/>
                      </a:rPr>
                      <m:t>={</m:t>
                    </m:r>
                    <m:r>
                      <a:rPr lang="fr-FR" altLang="en-US" b="0" i="1" smtClean="0">
                        <a:latin typeface="Cambria Math" panose="02040503050406030204" pitchFamily="18" charset="0"/>
                      </a:rPr>
                      <m:t>𝑤</m:t>
                    </m:r>
                    <m:r>
                      <a:rPr lang="fr-FR" altLang="en-US" b="0" i="1" smtClean="0">
                        <a:latin typeface="Cambria Math" panose="02040503050406030204" pitchFamily="18" charset="0"/>
                      </a:rPr>
                      <m:t>=</m:t>
                    </m:r>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𝑎</m:t>
                        </m:r>
                      </m:e>
                      <m:sup>
                        <m:r>
                          <a:rPr lang="fr-FR" altLang="en-US" b="0" i="1" smtClean="0">
                            <a:latin typeface="Cambria Math" panose="02040503050406030204" pitchFamily="18" charset="0"/>
                          </a:rPr>
                          <m:t>𝑛</m:t>
                        </m:r>
                      </m:sup>
                    </m:sSup>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𝑏</m:t>
                        </m:r>
                      </m:e>
                      <m:sup>
                        <m:r>
                          <a:rPr lang="fr-FR" altLang="en-US" b="0" i="1" smtClean="0">
                            <a:latin typeface="Cambria Math" panose="02040503050406030204" pitchFamily="18" charset="0"/>
                          </a:rPr>
                          <m:t>𝑛</m:t>
                        </m:r>
                      </m:sup>
                    </m:sSup>
                    <m:r>
                      <a:rPr lang="fr-FR" altLang="en-US" b="0" i="1" smtClean="0">
                        <a:latin typeface="Cambria Math" panose="02040503050406030204" pitchFamily="18" charset="0"/>
                      </a:rPr>
                      <m:t> ;</m:t>
                    </m:r>
                    <m:r>
                      <a:rPr lang="fr-FR" altLang="en-US" b="0" i="1" smtClean="0">
                        <a:latin typeface="Cambria Math" panose="02040503050406030204" pitchFamily="18" charset="0"/>
                      </a:rPr>
                      <m:t>𝑛</m:t>
                    </m:r>
                    <m:r>
                      <a:rPr lang="fr-FR" altLang="en-US" b="0" i="1" smtClean="0">
                        <a:latin typeface="Cambria Math" panose="02040503050406030204" pitchFamily="18" charset="0"/>
                      </a:rPr>
                      <m:t> ≥0}</m:t>
                    </m:r>
                  </m:oMath>
                </a14:m>
                <a:endParaRPr lang="fr-FR" altLang="en-US" dirty="0"/>
              </a:p>
              <a:p>
                <a:pPr marL="266700" indent="-266700" eaLnBrk="0" hangingPunct="0">
                  <a:spcBef>
                    <a:spcPct val="20000"/>
                  </a:spcBef>
                  <a:buClr>
                    <a:srgbClr val="000090"/>
                  </a:buClr>
                </a:pPr>
                <a:r>
                  <a:rPr lang="fr-FR" altLang="en-US" i="1" dirty="0">
                    <a:solidFill>
                      <a:srgbClr val="C00000"/>
                    </a:solidFill>
                  </a:rPr>
                  <a:t>Il existe donc des langages qui ne sont pas réguliers !!!</a:t>
                </a:r>
              </a:p>
              <a:p>
                <a:pPr marL="801688" indent="-350838" eaLnBrk="0" hangingPunct="0">
                  <a:spcBef>
                    <a:spcPct val="20000"/>
                  </a:spcBef>
                  <a:buClr>
                    <a:srgbClr val="000090"/>
                  </a:buClr>
                  <a:buFont typeface="Arial" panose="020B0604020202020204" pitchFamily="34" charset="0"/>
                  <a:buChar char="•"/>
                </a:pPr>
                <a:endParaRPr lang="fr-FR" altLang="en-US"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310051956"/>
      </p:ext>
    </p:extLst>
  </p:cSld>
  <p:clrMapOvr>
    <a:masterClrMapping/>
  </p:clrMapOvr>
</p:sld>
</file>

<file path=ppt/theme/theme1.xml><?xml version="1.0" encoding="utf-8"?>
<a:theme xmlns:a="http://schemas.openxmlformats.org/drawingml/2006/main" name="12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55171</TotalTime>
  <Words>2416</Words>
  <Application>Microsoft Office PowerPoint</Application>
  <PresentationFormat>Grand écran</PresentationFormat>
  <Paragraphs>182</Paragraphs>
  <Slides>24</Slides>
  <Notes>23</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24</vt:i4>
      </vt:variant>
    </vt:vector>
  </HeadingPairs>
  <TitlesOfParts>
    <vt:vector size="35" baseType="lpstr">
      <vt:lpstr>Arial</vt:lpstr>
      <vt:lpstr>Calibri</vt:lpstr>
      <vt:lpstr>Cambria Math</vt:lpstr>
      <vt:lpstr>Comic Sans MS</vt:lpstr>
      <vt:lpstr>Gill Sans MT</vt:lpstr>
      <vt:lpstr>Tahoma</vt:lpstr>
      <vt:lpstr>Times New Roman</vt:lpstr>
      <vt:lpstr>Wingdings</vt:lpstr>
      <vt:lpstr>ZapfDingbats</vt:lpstr>
      <vt:lpstr>12_Default Design</vt:lpstr>
      <vt:lpstr>Default Design</vt:lpstr>
      <vt:lpstr>Présentation PowerPoint</vt:lpstr>
      <vt:lpstr>Chapitre II : Langages réguliers et expressions régulières</vt:lpstr>
      <vt:lpstr>Problématique</vt:lpstr>
      <vt:lpstr>Exercices </vt:lpstr>
      <vt:lpstr>Exercices </vt:lpstr>
      <vt:lpstr>Langage régulier : définition informelle</vt:lpstr>
      <vt:lpstr>Langage régulier</vt:lpstr>
      <vt:lpstr>Langage régulier : importance</vt:lpstr>
      <vt:lpstr>Langage régulier</vt:lpstr>
      <vt:lpstr>Langage régulier</vt:lpstr>
      <vt:lpstr>Expréssion régulière : introduction</vt:lpstr>
      <vt:lpstr>Expression régulière : définition</vt:lpstr>
      <vt:lpstr>Expression régulière : interprétation</vt:lpstr>
      <vt:lpstr>Expression régulière : interprétation</vt:lpstr>
      <vt:lpstr>Expression régulière : langage régulier</vt:lpstr>
      <vt:lpstr>Expression régulière : langage régulier</vt:lpstr>
      <vt:lpstr>Expression régulière : langage régulier</vt:lpstr>
      <vt:lpstr>Expression régulière : langage régulier</vt:lpstr>
      <vt:lpstr>Expression régulière : Equivalence</vt:lpstr>
      <vt:lpstr>Expression régulière : Equivalence</vt:lpstr>
      <vt:lpstr>Définitions régulières </vt:lpstr>
      <vt:lpstr>Définitions régulières </vt:lpstr>
      <vt:lpstr>Définitions régulières </vt:lpstr>
      <vt:lpstr>Limites des expressions régulières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Edition: Chapter 1</dc:title>
  <dc:creator>Jim Kurose and Keith Ross</dc:creator>
  <cp:lastModifiedBy>TLILI RADHOUANE</cp:lastModifiedBy>
  <cp:revision>900</cp:revision>
  <cp:lastPrinted>2023-02-08T18:02:02Z</cp:lastPrinted>
  <dcterms:created xsi:type="dcterms:W3CDTF">1999-10-08T19:08:27Z</dcterms:created>
  <dcterms:modified xsi:type="dcterms:W3CDTF">2023-02-08T18:02:12Z</dcterms:modified>
</cp:coreProperties>
</file>